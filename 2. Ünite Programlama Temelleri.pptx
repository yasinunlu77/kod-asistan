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0.xml"/>
  <Override ContentType="application/vnd.openxmlformats-officedocument.presentationml.slide+xml" PartName="/ppt/slides/slide111.xml"/>
  <Override ContentType="application/vnd.openxmlformats-officedocument.presentationml.slide+xml" PartName="/ppt/slides/slide112.xml"/>
  <Override ContentType="application/vnd.openxmlformats-officedocument.presentationml.slide+xml" PartName="/ppt/slides/slide113.xml"/>
  <Override ContentType="application/vnd.openxmlformats-officedocument.presentationml.slide+xml" PartName="/ppt/slides/slide114.xml"/>
  <Override ContentType="application/vnd.openxmlformats-officedocument.presentationml.slide+xml" PartName="/ppt/slides/slide115.xml"/>
  <Override ContentType="application/vnd.openxmlformats-officedocument.presentationml.slide+xml" PartName="/ppt/slides/slide116.xml"/>
  <Override ContentType="application/vnd.openxmlformats-officedocument.presentationml.slide+xml" PartName="/ppt/slides/slide117.xml"/>
  <Override ContentType="application/vnd.openxmlformats-officedocument.presentationml.slide+xml" PartName="/ppt/slides/slide118.xml"/>
  <Override ContentType="application/vnd.openxmlformats-officedocument.presentationml.slide+xml" PartName="/ppt/slides/slide119.xml"/>
  <Override ContentType="application/vnd.openxmlformats-officedocument.presentationml.slide+xml" PartName="/ppt/slides/slide120.xml"/>
  <Override ContentType="application/vnd.openxmlformats-officedocument.presentationml.slide+xml" PartName="/ppt/slides/slide121.xml"/>
  <Override ContentType="application/vnd.openxmlformats-officedocument.presentationml.slide+xml" PartName="/ppt/slides/slide122.xml"/>
  <Override ContentType="application/vnd.openxmlformats-officedocument.presentationml.slide+xml" PartName="/ppt/slides/slide123.xml"/>
  <Override ContentType="application/vnd.openxmlformats-officedocument.presentationml.slide+xml" PartName="/ppt/slides/slide124.xml"/>
  <Override ContentType="application/vnd.openxmlformats-officedocument.presentationml.slide+xml" PartName="/ppt/slides/slide125.xml"/>
  <Override ContentType="application/vnd.openxmlformats-officedocument.presentationml.slide+xml" PartName="/ppt/slides/slide126.xml"/>
  <Override ContentType="application/vnd.openxmlformats-officedocument.presentationml.slide+xml" PartName="/ppt/slides/slide127.xml"/>
  <Override ContentType="application/vnd.openxmlformats-officedocument.presentationml.slide+xml" PartName="/ppt/slides/slide128.xml"/>
  <Override ContentType="application/vnd.openxmlformats-officedocument.presentationml.slide+xml" PartName="/ppt/slides/slide129.xml"/>
  <Override ContentType="application/vnd.openxmlformats-officedocument.presentationml.slide+xml" PartName="/ppt/slides/slide130.xml"/>
  <Override ContentType="application/vnd.openxmlformats-officedocument.presentationml.slide+xml" PartName="/ppt/slides/slide131.xml"/>
  <Override ContentType="application/vnd.openxmlformats-officedocument.presentationml.slide+xml" PartName="/ppt/slides/slide132.xml"/>
  <Override ContentType="application/vnd.openxmlformats-officedocument.presentationml.slide+xml" PartName="/ppt/slides/slide133.xml"/>
  <Override ContentType="application/vnd.openxmlformats-officedocument.presentationml.slide+xml" PartName="/ppt/slides/slide134.xml"/>
  <Override ContentType="application/vnd.openxmlformats-officedocument.presentationml.slide+xml" PartName="/ppt/slides/slide135.xml"/>
  <Override ContentType="application/vnd.openxmlformats-officedocument.presentationml.slide+xml" PartName="/ppt/slides/slide136.xml"/>
  <Override ContentType="application/vnd.openxmlformats-officedocument.presentationml.slide+xml" PartName="/ppt/slides/slide137.xml"/>
  <Override ContentType="application/vnd.openxmlformats-officedocument.presentationml.slide+xml" PartName="/ppt/slides/slide138.xml"/>
  <Override ContentType="application/vnd.openxmlformats-officedocument.presentationml.slide+xml" PartName="/ppt/slides/slide139.xml"/>
  <Override ContentType="application/vnd.openxmlformats-officedocument.presentationml.slide+xml" PartName="/ppt/slides/slide140.xml"/>
  <Override ContentType="application/vnd.openxmlformats-officedocument.presentationml.slide+xml" PartName="/ppt/slides/slide141.xml"/>
  <Override ContentType="application/vnd.openxmlformats-officedocument.presentationml.slide+xml" PartName="/ppt/slides/slide142.xml"/>
  <Override ContentType="application/vnd.openxmlformats-officedocument.presentationml.slide+xml" PartName="/ppt/slides/slide143.xml"/>
  <Override ContentType="application/vnd.openxmlformats-officedocument.presentationml.slide+xml" PartName="/ppt/slides/slide144.xml"/>
  <Override ContentType="application/vnd.openxmlformats-officedocument.presentationml.slide+xml" PartName="/ppt/slides/slide145.xml"/>
  <Override ContentType="application/vnd.openxmlformats-officedocument.presentationml.slide+xml" PartName="/ppt/slides/slide146.xml"/>
  <Override ContentType="application/vnd.openxmlformats-officedocument.presentationml.slide+xml" PartName="/ppt/slides/slide147.xml"/>
  <Override ContentType="application/vnd.openxmlformats-officedocument.presentationml.slide+xml" PartName="/ppt/slides/slide148.xml"/>
  <Override ContentType="application/vnd.openxmlformats-officedocument.presentationml.slide+xml" PartName="/ppt/slides/slide149.xml"/>
  <Override ContentType="application/vnd.openxmlformats-officedocument.presentationml.slide+xml" PartName="/ppt/slides/slide150.xml"/>
  <Override ContentType="application/vnd.openxmlformats-officedocument.presentationml.slide+xml" PartName="/ppt/slides/slide151.xml"/>
  <Override ContentType="application/vnd.openxmlformats-officedocument.presentationml.slide+xml" PartName="/ppt/slides/slide152.xml"/>
  <Override ContentType="application/vnd.openxmlformats-officedocument.presentationml.slide+xml" PartName="/ppt/slides/slide153.xml"/>
  <Override ContentType="application/vnd.openxmlformats-officedocument.presentationml.slide+xml" PartName="/ppt/slides/slide15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Lst>
  <p:sldSz cx="18288000" cy="10287000"/>
  <p:notesSz cx="6858000" cy="9144000"/>
  <p:embeddedFontLst>
    <p:embeddedFont>
      <p:font typeface="Raleway Heavy" charset="1" panose="00000000000000000000"/>
      <p:regular r:id="rId160"/>
    </p:embeddedFont>
    <p:embeddedFont>
      <p:font typeface="Raleway" charset="1" panose="00000000000000000000"/>
      <p:regular r:id="rId161"/>
    </p:embeddedFont>
    <p:embeddedFont>
      <p:font typeface="Raleway Semi-Bold" charset="1" panose="00000000000000000000"/>
      <p:regular r:id="rId162"/>
    </p:embeddedFont>
    <p:embeddedFont>
      <p:font typeface="Raleway Bold" charset="1" panose="00000000000000000000"/>
      <p:regular r:id="rId163"/>
    </p:embeddedFont>
    <p:embeddedFont>
      <p:font typeface="Raleway Ultra-Bold" charset="1" panose="00000000000000000000"/>
      <p:regular r:id="rId1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slides/slide95.xml" Type="http://schemas.openxmlformats.org/officeDocument/2006/relationships/slide"/><Relationship Id="rId101" Target="slides/slide96.xml" Type="http://schemas.openxmlformats.org/officeDocument/2006/relationships/slide"/><Relationship Id="rId102" Target="slides/slide97.xml" Type="http://schemas.openxmlformats.org/officeDocument/2006/relationships/slide"/><Relationship Id="rId103" Target="slides/slide98.xml" Type="http://schemas.openxmlformats.org/officeDocument/2006/relationships/slide"/><Relationship Id="rId104" Target="slides/slide99.xml" Type="http://schemas.openxmlformats.org/officeDocument/2006/relationships/slide"/><Relationship Id="rId105" Target="slides/slide100.xml" Type="http://schemas.openxmlformats.org/officeDocument/2006/relationships/slide"/><Relationship Id="rId106" Target="slides/slide101.xml" Type="http://schemas.openxmlformats.org/officeDocument/2006/relationships/slide"/><Relationship Id="rId107" Target="slides/slide102.xml" Type="http://schemas.openxmlformats.org/officeDocument/2006/relationships/slide"/><Relationship Id="rId108" Target="slides/slide103.xml" Type="http://schemas.openxmlformats.org/officeDocument/2006/relationships/slide"/><Relationship Id="rId109" Target="slides/slide104.xml" Type="http://schemas.openxmlformats.org/officeDocument/2006/relationships/slide"/><Relationship Id="rId11" Target="slides/slide6.xml" Type="http://schemas.openxmlformats.org/officeDocument/2006/relationships/slide"/><Relationship Id="rId110" Target="slides/slide105.xml" Type="http://schemas.openxmlformats.org/officeDocument/2006/relationships/slide"/><Relationship Id="rId111" Target="slides/slide106.xml" Type="http://schemas.openxmlformats.org/officeDocument/2006/relationships/slide"/><Relationship Id="rId112" Target="slides/slide107.xml" Type="http://schemas.openxmlformats.org/officeDocument/2006/relationships/slide"/><Relationship Id="rId113" Target="slides/slide108.xml" Type="http://schemas.openxmlformats.org/officeDocument/2006/relationships/slide"/><Relationship Id="rId114" Target="slides/slide109.xml" Type="http://schemas.openxmlformats.org/officeDocument/2006/relationships/slide"/><Relationship Id="rId115" Target="slides/slide110.xml" Type="http://schemas.openxmlformats.org/officeDocument/2006/relationships/slide"/><Relationship Id="rId116" Target="slides/slide111.xml" Type="http://schemas.openxmlformats.org/officeDocument/2006/relationships/slide"/><Relationship Id="rId117" Target="slides/slide112.xml" Type="http://schemas.openxmlformats.org/officeDocument/2006/relationships/slide"/><Relationship Id="rId118" Target="slides/slide113.xml" Type="http://schemas.openxmlformats.org/officeDocument/2006/relationships/slide"/><Relationship Id="rId119" Target="slides/slide114.xml" Type="http://schemas.openxmlformats.org/officeDocument/2006/relationships/slide"/><Relationship Id="rId12" Target="slides/slide7.xml" Type="http://schemas.openxmlformats.org/officeDocument/2006/relationships/slide"/><Relationship Id="rId120" Target="slides/slide115.xml" Type="http://schemas.openxmlformats.org/officeDocument/2006/relationships/slide"/><Relationship Id="rId121" Target="slides/slide116.xml" Type="http://schemas.openxmlformats.org/officeDocument/2006/relationships/slide"/><Relationship Id="rId122" Target="slides/slide117.xml" Type="http://schemas.openxmlformats.org/officeDocument/2006/relationships/slide"/><Relationship Id="rId123" Target="slides/slide118.xml" Type="http://schemas.openxmlformats.org/officeDocument/2006/relationships/slide"/><Relationship Id="rId124" Target="slides/slide119.xml" Type="http://schemas.openxmlformats.org/officeDocument/2006/relationships/slide"/><Relationship Id="rId125" Target="slides/slide120.xml" Type="http://schemas.openxmlformats.org/officeDocument/2006/relationships/slide"/><Relationship Id="rId126" Target="slides/slide121.xml" Type="http://schemas.openxmlformats.org/officeDocument/2006/relationships/slide"/><Relationship Id="rId127" Target="slides/slide122.xml" Type="http://schemas.openxmlformats.org/officeDocument/2006/relationships/slide"/><Relationship Id="rId128" Target="slides/slide123.xml" Type="http://schemas.openxmlformats.org/officeDocument/2006/relationships/slide"/><Relationship Id="rId129" Target="slides/slide124.xml" Type="http://schemas.openxmlformats.org/officeDocument/2006/relationships/slide"/><Relationship Id="rId13" Target="slides/slide8.xml" Type="http://schemas.openxmlformats.org/officeDocument/2006/relationships/slide"/><Relationship Id="rId130" Target="slides/slide125.xml" Type="http://schemas.openxmlformats.org/officeDocument/2006/relationships/slide"/><Relationship Id="rId131" Target="slides/slide126.xml" Type="http://schemas.openxmlformats.org/officeDocument/2006/relationships/slide"/><Relationship Id="rId132" Target="slides/slide127.xml" Type="http://schemas.openxmlformats.org/officeDocument/2006/relationships/slide"/><Relationship Id="rId133" Target="slides/slide128.xml" Type="http://schemas.openxmlformats.org/officeDocument/2006/relationships/slide"/><Relationship Id="rId134" Target="slides/slide129.xml" Type="http://schemas.openxmlformats.org/officeDocument/2006/relationships/slide"/><Relationship Id="rId135" Target="slides/slide130.xml" Type="http://schemas.openxmlformats.org/officeDocument/2006/relationships/slide"/><Relationship Id="rId136" Target="slides/slide131.xml" Type="http://schemas.openxmlformats.org/officeDocument/2006/relationships/slide"/><Relationship Id="rId137" Target="slides/slide132.xml" Type="http://schemas.openxmlformats.org/officeDocument/2006/relationships/slide"/><Relationship Id="rId138" Target="slides/slide133.xml" Type="http://schemas.openxmlformats.org/officeDocument/2006/relationships/slide"/><Relationship Id="rId139" Target="slides/slide134.xml" Type="http://schemas.openxmlformats.org/officeDocument/2006/relationships/slide"/><Relationship Id="rId14" Target="slides/slide9.xml" Type="http://schemas.openxmlformats.org/officeDocument/2006/relationships/slide"/><Relationship Id="rId140" Target="slides/slide135.xml" Type="http://schemas.openxmlformats.org/officeDocument/2006/relationships/slide"/><Relationship Id="rId141" Target="slides/slide136.xml" Type="http://schemas.openxmlformats.org/officeDocument/2006/relationships/slide"/><Relationship Id="rId142" Target="slides/slide137.xml" Type="http://schemas.openxmlformats.org/officeDocument/2006/relationships/slide"/><Relationship Id="rId143" Target="slides/slide138.xml" Type="http://schemas.openxmlformats.org/officeDocument/2006/relationships/slide"/><Relationship Id="rId144" Target="slides/slide139.xml" Type="http://schemas.openxmlformats.org/officeDocument/2006/relationships/slide"/><Relationship Id="rId145" Target="slides/slide140.xml" Type="http://schemas.openxmlformats.org/officeDocument/2006/relationships/slide"/><Relationship Id="rId146" Target="slides/slide141.xml" Type="http://schemas.openxmlformats.org/officeDocument/2006/relationships/slide"/><Relationship Id="rId147" Target="slides/slide142.xml" Type="http://schemas.openxmlformats.org/officeDocument/2006/relationships/slide"/><Relationship Id="rId148" Target="slides/slide143.xml" Type="http://schemas.openxmlformats.org/officeDocument/2006/relationships/slide"/><Relationship Id="rId149" Target="slides/slide144.xml" Type="http://schemas.openxmlformats.org/officeDocument/2006/relationships/slide"/><Relationship Id="rId15" Target="slides/slide10.xml" Type="http://schemas.openxmlformats.org/officeDocument/2006/relationships/slide"/><Relationship Id="rId150" Target="slides/slide145.xml" Type="http://schemas.openxmlformats.org/officeDocument/2006/relationships/slide"/><Relationship Id="rId151" Target="slides/slide146.xml" Type="http://schemas.openxmlformats.org/officeDocument/2006/relationships/slide"/><Relationship Id="rId152" Target="slides/slide147.xml" Type="http://schemas.openxmlformats.org/officeDocument/2006/relationships/slide"/><Relationship Id="rId153" Target="slides/slide148.xml" Type="http://schemas.openxmlformats.org/officeDocument/2006/relationships/slide"/><Relationship Id="rId154" Target="slides/slide149.xml" Type="http://schemas.openxmlformats.org/officeDocument/2006/relationships/slide"/><Relationship Id="rId155" Target="slides/slide150.xml" Type="http://schemas.openxmlformats.org/officeDocument/2006/relationships/slide"/><Relationship Id="rId156" Target="slides/slide151.xml" Type="http://schemas.openxmlformats.org/officeDocument/2006/relationships/slide"/><Relationship Id="rId157" Target="slides/slide152.xml" Type="http://schemas.openxmlformats.org/officeDocument/2006/relationships/slide"/><Relationship Id="rId158" Target="slides/slide153.xml" Type="http://schemas.openxmlformats.org/officeDocument/2006/relationships/slide"/><Relationship Id="rId159" Target="slides/slide154.xml" Type="http://schemas.openxmlformats.org/officeDocument/2006/relationships/slide"/><Relationship Id="rId16" Target="slides/slide11.xml" Type="http://schemas.openxmlformats.org/officeDocument/2006/relationships/slide"/><Relationship Id="rId160" Target="fonts/font160.fntdata" Type="http://schemas.openxmlformats.org/officeDocument/2006/relationships/font"/><Relationship Id="rId161" Target="fonts/font161.fntdata" Type="http://schemas.openxmlformats.org/officeDocument/2006/relationships/font"/><Relationship Id="rId162" Target="fonts/font162.fntdata" Type="http://schemas.openxmlformats.org/officeDocument/2006/relationships/font"/><Relationship Id="rId163" Target="fonts/font163.fntdata" Type="http://schemas.openxmlformats.org/officeDocument/2006/relationships/font"/><Relationship Id="rId164" Target="fonts/font164.fntdata" Type="http://schemas.openxmlformats.org/officeDocument/2006/relationships/font"/><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slides/slide84.xml" Type="http://schemas.openxmlformats.org/officeDocument/2006/relationships/slide"/><Relationship Id="rId9" Target="slides/slide4.xml" Type="http://schemas.openxmlformats.org/officeDocument/2006/relationships/slide"/><Relationship Id="rId90" Target="slides/slide85.xml" Type="http://schemas.openxmlformats.org/officeDocument/2006/relationships/slide"/><Relationship Id="rId91" Target="slides/slide86.xml" Type="http://schemas.openxmlformats.org/officeDocument/2006/relationships/slide"/><Relationship Id="rId92" Target="slides/slide87.xml" Type="http://schemas.openxmlformats.org/officeDocument/2006/relationships/slide"/><Relationship Id="rId93" Target="slides/slide88.xml" Type="http://schemas.openxmlformats.org/officeDocument/2006/relationships/slide"/><Relationship Id="rId94" Target="slides/slide89.xml" Type="http://schemas.openxmlformats.org/officeDocument/2006/relationships/slide"/><Relationship Id="rId95" Target="slides/slide90.xml" Type="http://schemas.openxmlformats.org/officeDocument/2006/relationships/slide"/><Relationship Id="rId96" Target="slides/slide91.xml" Type="http://schemas.openxmlformats.org/officeDocument/2006/relationships/slide"/><Relationship Id="rId97" Target="slides/slide92.xml" Type="http://schemas.openxmlformats.org/officeDocument/2006/relationships/slide"/><Relationship Id="rId98" Target="slides/slide93.xml" Type="http://schemas.openxmlformats.org/officeDocument/2006/relationships/slide"/><Relationship Id="rId99" Target="slides/slide9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svg" Type="http://schemas.openxmlformats.org/officeDocument/2006/relationships/image"/><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http://www.replit.com"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https://www.python.org"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6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 Id="rId5" Target="../media/image71.png" Type="http://schemas.openxmlformats.org/officeDocument/2006/relationships/image"/><Relationship Id="rId6" Target="https://code.visualstudio.com" TargetMode="External" Type="http://schemas.openxmlformats.org/officeDocument/2006/relationships/hyperlink"/></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png" Type="http://schemas.openxmlformats.org/officeDocument/2006/relationships/image"/><Relationship Id="rId3" Target="../media/image73.png" Type="http://schemas.openxmlformats.org/officeDocument/2006/relationships/image"/><Relationship Id="rId4" Target="../media/image74.pn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 Id="rId3" Target="../media/image77.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0.pn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2.png" Type="http://schemas.openxmlformats.org/officeDocument/2006/relationships/image"/><Relationship Id="rId3" Target="../media/image83.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4.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 TargetMode="External" Type="http://schemas.openxmlformats.org/officeDocument/2006/relationships/hyperlink"/></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88.pn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0.pn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5.png" Type="http://schemas.openxmlformats.org/officeDocument/2006/relationships/image"/><Relationship Id="rId3" Target="../media/image96.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7.png" Type="http://schemas.openxmlformats.org/officeDocument/2006/relationships/image"/><Relationship Id="rId3" Target="../media/image98.sv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9.pn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0.png" Type="http://schemas.openxmlformats.org/officeDocument/2006/relationships/image"/><Relationship Id="rId3" Target="../media/image101.pn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2.png" Type="http://schemas.openxmlformats.org/officeDocument/2006/relationships/image"/></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3.png" Type="http://schemas.openxmlformats.org/officeDocument/2006/relationships/image"/></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4.png" Type="http://schemas.openxmlformats.org/officeDocument/2006/relationships/image"/></Relationships>
</file>

<file path=ppt/slides/_rels/slide8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5.png" Type="http://schemas.openxmlformats.org/officeDocument/2006/relationships/image"/><Relationship Id="rId3" Target="../media/image106.svg" Type="http://schemas.openxmlformats.org/officeDocument/2006/relationships/image"/></Relationships>
</file>

<file path=ppt/slides/_rels/slide8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7.png" Type="http://schemas.openxmlformats.org/officeDocument/2006/relationships/image"/><Relationship Id="rId3" Target="../media/image108.svg" Type="http://schemas.openxmlformats.org/officeDocument/2006/relationships/image"/></Relationships>
</file>

<file path=ppt/slides/_rels/slide8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9.png" Type="http://schemas.openxmlformats.org/officeDocument/2006/relationships/image"/><Relationship Id="rId3" Target="../media/image110.svg" Type="http://schemas.openxmlformats.org/officeDocument/2006/relationships/image"/></Relationships>
</file>

<file path=ppt/slides/_rels/slide8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1.png" Type="http://schemas.openxmlformats.org/officeDocument/2006/relationships/image"/><Relationship Id="rId3" Target="../media/image112.png" Type="http://schemas.openxmlformats.org/officeDocument/2006/relationships/image"/></Relationships>
</file>

<file path=ppt/slides/_rels/slide9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3.png" Type="http://schemas.openxmlformats.org/officeDocument/2006/relationships/image"/></Relationships>
</file>

<file path=ppt/slides/_rels/slide9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9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9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s>
</file>

<file path=ppt/slides/_rels/slide9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s>
</file>

<file path=ppt/slides/_rels/slide10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s>
</file>

<file path=ppt/slides/_rels/slide10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6.png" Type="http://schemas.openxmlformats.org/officeDocument/2006/relationships/image"/></Relationships>
</file>

<file path=ppt/slides/_rels/slide10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6.png" Type="http://schemas.openxmlformats.org/officeDocument/2006/relationships/image"/></Relationships>
</file>

<file path=ppt/slides/_rels/slide10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7.png" Type="http://schemas.openxmlformats.org/officeDocument/2006/relationships/image"/></Relationships>
</file>

<file path=ppt/slides/_rels/slide10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8.pn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s>
</file>

<file path=ppt/slides/_rels/slide10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9.pn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 Id="rId5" Target="../media/image120.png" Type="http://schemas.openxmlformats.org/officeDocument/2006/relationships/image"/></Relationships>
</file>

<file path=ppt/slides/_rels/slide10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1.png" Type="http://schemas.openxmlformats.org/officeDocument/2006/relationships/image"/></Relationships>
</file>

<file path=ppt/slides/_rels/slide10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2.png" Type="http://schemas.openxmlformats.org/officeDocument/2006/relationships/image"/></Relationships>
</file>

<file path=ppt/slides/_rels/slide10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1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3.png" Type="http://schemas.openxmlformats.org/officeDocument/2006/relationships/image"/></Relationships>
</file>

<file path=ppt/slides/_rels/slide1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4.png" Type="http://schemas.openxmlformats.org/officeDocument/2006/relationships/image"/></Relationships>
</file>

<file path=ppt/slides/_rels/slide1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4.png" Type="http://schemas.openxmlformats.org/officeDocument/2006/relationships/image"/></Relationships>
</file>

<file path=ppt/slides/_rels/slide1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5.png" Type="http://schemas.openxmlformats.org/officeDocument/2006/relationships/image"/></Relationships>
</file>

<file path=ppt/slides/_rels/slide1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6.png" Type="http://schemas.openxmlformats.org/officeDocument/2006/relationships/image"/><Relationship Id="rId3" Target="../media/image127.png" Type="http://schemas.openxmlformats.org/officeDocument/2006/relationships/image"/></Relationships>
</file>

<file path=ppt/slides/_rels/slide1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8.png" Type="http://schemas.openxmlformats.org/officeDocument/2006/relationships/image"/><Relationship Id="rId3" Target="../media/image129.png" Type="http://schemas.openxmlformats.org/officeDocument/2006/relationships/image"/></Relationships>
</file>

<file path=ppt/slides/_rels/slide1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0.png" Type="http://schemas.openxmlformats.org/officeDocument/2006/relationships/image"/><Relationship Id="rId3" Target="../media/image131.png" Type="http://schemas.openxmlformats.org/officeDocument/2006/relationships/image"/><Relationship Id="rId4" Target="../media/image132.png" Type="http://schemas.openxmlformats.org/officeDocument/2006/relationships/image"/><Relationship Id="rId5" Target="../media/image133.png" Type="http://schemas.openxmlformats.org/officeDocument/2006/relationships/image"/></Relationships>
</file>

<file path=ppt/slides/_rels/slide1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1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1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1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4.png" Type="http://schemas.openxmlformats.org/officeDocument/2006/relationships/image"/></Relationships>
</file>

<file path=ppt/slides/_rels/slide1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4.png" Type="http://schemas.openxmlformats.org/officeDocument/2006/relationships/image"/></Relationships>
</file>

<file path=ppt/slides/_rels/slide1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5.png" Type="http://schemas.openxmlformats.org/officeDocument/2006/relationships/image"/></Relationships>
</file>

<file path=ppt/slides/_rels/slide1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6.png" Type="http://schemas.openxmlformats.org/officeDocument/2006/relationships/image"/><Relationship Id="rId3" Target="../media/image137.svg" Type="http://schemas.openxmlformats.org/officeDocument/2006/relationships/image"/></Relationships>
</file>

<file path=ppt/slides/_rels/slide1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8.png" Type="http://schemas.openxmlformats.org/officeDocument/2006/relationships/image"/><Relationship Id="rId3" Target="../media/image139.png" Type="http://schemas.openxmlformats.org/officeDocument/2006/relationships/image"/><Relationship Id="rId4" Target="../media/image140.png" Type="http://schemas.openxmlformats.org/officeDocument/2006/relationships/image"/><Relationship Id="rId5" Target="../media/image141.png" Type="http://schemas.openxmlformats.org/officeDocument/2006/relationships/image"/></Relationships>
</file>

<file path=ppt/slides/_rels/slide1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1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1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s>
</file>

<file path=ppt/slides/_rels/slide1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2.xml.rels><?xml version="1.0" encoding="UTF-8" standalone="yes"?><Relationships xmlns="http://schemas.openxmlformats.org/package/2006/relationships"><Relationship Id="rId1" Target="../slideLayouts/slideLayout7.xml" Type="http://schemas.openxmlformats.org/officeDocument/2006/relationships/slideLayout"/><Relationship Id="rId2" Target="https://python.org" TargetMode="External" Type="http://schemas.openxmlformats.org/officeDocument/2006/relationships/hyperlink"/></Relationships>
</file>

<file path=ppt/slides/_rels/slide1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4">
              <a:alphaModFix amt="21999"/>
            </a:blip>
            <a:stretch>
              <a:fillRect l="0" t="0" r="0" b="0"/>
            </a:stretch>
          </a:blipFill>
        </p:spPr>
      </p:sp>
      <p:sp>
        <p:nvSpPr>
          <p:cNvPr name="Freeform 4" id="4"/>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5">
              <a:alphaModFix amt="12000"/>
            </a:blip>
            <a:stretch>
              <a:fillRect l="0" t="0" r="0" b="0"/>
            </a:stretch>
          </a:blipFill>
        </p:spPr>
      </p:sp>
      <p:sp>
        <p:nvSpPr>
          <p:cNvPr name="AutoShape 5" id="5"/>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6" id="6"/>
          <p:cNvSpPr/>
          <p:nvPr/>
        </p:nvSpPr>
        <p:spPr>
          <a:xfrm flipH="false" flipV="false" rot="0">
            <a:off x="11817194" y="5617829"/>
            <a:ext cx="5075186" cy="4669171"/>
          </a:xfrm>
          <a:custGeom>
            <a:avLst/>
            <a:gdLst/>
            <a:ahLst/>
            <a:cxnLst/>
            <a:rect r="r" b="b" t="t" l="l"/>
            <a:pathLst>
              <a:path h="4669171" w="5075186">
                <a:moveTo>
                  <a:pt x="0" y="0"/>
                </a:moveTo>
                <a:lnTo>
                  <a:pt x="5075186" y="0"/>
                </a:lnTo>
                <a:lnTo>
                  <a:pt x="5075186" y="4669171"/>
                </a:lnTo>
                <a:lnTo>
                  <a:pt x="0" y="4669171"/>
                </a:lnTo>
                <a:lnTo>
                  <a:pt x="0" y="0"/>
                </a:lnTo>
                <a:close/>
              </a:path>
            </a:pathLst>
          </a:custGeom>
          <a:blipFill>
            <a:blip r:embed="rId6"/>
            <a:stretch>
              <a:fillRect l="0" t="0" r="0" b="0"/>
            </a:stretch>
          </a:blipFill>
        </p:spPr>
      </p:sp>
      <p:sp>
        <p:nvSpPr>
          <p:cNvPr name="TextBox 7" id="7"/>
          <p:cNvSpPr txBox="true"/>
          <p:nvPr/>
        </p:nvSpPr>
        <p:spPr>
          <a:xfrm rot="0">
            <a:off x="1045163" y="2674156"/>
            <a:ext cx="14786364" cy="5248275"/>
          </a:xfrm>
          <a:prstGeom prst="rect">
            <a:avLst/>
          </a:prstGeom>
        </p:spPr>
        <p:txBody>
          <a:bodyPr anchor="t" rtlCol="false" tIns="0" lIns="0" bIns="0" rIns="0">
            <a:spAutoFit/>
          </a:bodyPr>
          <a:lstStyle/>
          <a:p>
            <a:pPr algn="l">
              <a:lnSpc>
                <a:spcPts val="21000"/>
              </a:lnSpc>
            </a:pPr>
            <a:r>
              <a:rPr lang="en-US" sz="15000" spc="-705" b="true">
                <a:solidFill>
                  <a:srgbClr val="424242"/>
                </a:solidFill>
                <a:latin typeface="Raleway Heavy"/>
                <a:ea typeface="Raleway Heavy"/>
                <a:cs typeface="Raleway Heavy"/>
                <a:sym typeface="Raleway Heavy"/>
              </a:rPr>
              <a:t>Programlama Temelleri</a:t>
            </a:r>
          </a:p>
        </p:txBody>
      </p:sp>
      <p:sp>
        <p:nvSpPr>
          <p:cNvPr name="TextBox 8" id="8"/>
          <p:cNvSpPr txBox="true"/>
          <p:nvPr/>
        </p:nvSpPr>
        <p:spPr>
          <a:xfrm rot="0">
            <a:off x="1045163" y="640883"/>
            <a:ext cx="12874924" cy="597479"/>
          </a:xfrm>
          <a:prstGeom prst="rect">
            <a:avLst/>
          </a:prstGeom>
        </p:spPr>
        <p:txBody>
          <a:bodyPr anchor="t" rtlCol="false" tIns="0" lIns="0" bIns="0" rIns="0">
            <a:spAutoFit/>
          </a:bodyPr>
          <a:lstStyle/>
          <a:p>
            <a:pPr algn="l">
              <a:lnSpc>
                <a:spcPts val="4868"/>
              </a:lnSpc>
            </a:pPr>
            <a:r>
              <a:rPr lang="en-US" sz="3477" spc="-163">
                <a:solidFill>
                  <a:srgbClr val="424242"/>
                </a:solidFill>
                <a:latin typeface="Raleway"/>
                <a:ea typeface="Raleway"/>
                <a:cs typeface="Raleway"/>
                <a:sym typeface="Raleway"/>
              </a:rPr>
              <a:t>Şehit Yüzbaşı Yusuf Kenan Mesleki ve Teknik Anadolu Lisesi</a:t>
            </a:r>
          </a:p>
        </p:txBody>
      </p:sp>
      <p:sp>
        <p:nvSpPr>
          <p:cNvPr name="TextBox 9" id="9"/>
          <p:cNvSpPr txBox="true"/>
          <p:nvPr/>
        </p:nvSpPr>
        <p:spPr>
          <a:xfrm rot="0">
            <a:off x="13809146" y="792175"/>
            <a:ext cx="3450154" cy="327660"/>
          </a:xfrm>
          <a:prstGeom prst="rect">
            <a:avLst/>
          </a:prstGeom>
        </p:spPr>
        <p:txBody>
          <a:bodyPr anchor="t" rtlCol="false" tIns="0" lIns="0" bIns="0" rIns="0">
            <a:spAutoFit/>
          </a:bodyPr>
          <a:lstStyle/>
          <a:p>
            <a:pPr algn="r">
              <a:lnSpc>
                <a:spcPts val="2520"/>
              </a:lnSpc>
            </a:pPr>
            <a:r>
              <a:rPr lang="en-US" sz="2000" spc="-112">
                <a:solidFill>
                  <a:srgbClr val="424242"/>
                </a:solidFill>
                <a:latin typeface="Raleway"/>
                <a:ea typeface="Raleway"/>
                <a:cs typeface="Raleway"/>
                <a:sym typeface="Raleway"/>
              </a:rPr>
              <a:t>UNLU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865531" y="3313830"/>
            <a:ext cx="8393769" cy="849847"/>
            <a:chOff x="0" y="0"/>
            <a:chExt cx="2210705" cy="223828"/>
          </a:xfrm>
        </p:grpSpPr>
        <p:sp>
          <p:nvSpPr>
            <p:cNvPr name="Freeform 4" id="4"/>
            <p:cNvSpPr/>
            <p:nvPr/>
          </p:nvSpPr>
          <p:spPr>
            <a:xfrm flipH="false" flipV="false" rot="0">
              <a:off x="0" y="0"/>
              <a:ext cx="2210705" cy="223828"/>
            </a:xfrm>
            <a:custGeom>
              <a:avLst/>
              <a:gdLst/>
              <a:ahLst/>
              <a:cxnLst/>
              <a:rect r="r" b="b" t="t" l="l"/>
              <a:pathLst>
                <a:path h="223828" w="2210705">
                  <a:moveTo>
                    <a:pt x="23059" y="0"/>
                  </a:moveTo>
                  <a:lnTo>
                    <a:pt x="2187646" y="0"/>
                  </a:lnTo>
                  <a:cubicBezTo>
                    <a:pt x="2200381" y="0"/>
                    <a:pt x="2210705" y="10324"/>
                    <a:pt x="2210705" y="23059"/>
                  </a:cubicBezTo>
                  <a:lnTo>
                    <a:pt x="2210705" y="200769"/>
                  </a:lnTo>
                  <a:cubicBezTo>
                    <a:pt x="2210705" y="213504"/>
                    <a:pt x="2200381" y="223828"/>
                    <a:pt x="2187646" y="223828"/>
                  </a:cubicBezTo>
                  <a:lnTo>
                    <a:pt x="23059" y="223828"/>
                  </a:lnTo>
                  <a:cubicBezTo>
                    <a:pt x="10324" y="223828"/>
                    <a:pt x="0" y="213504"/>
                    <a:pt x="0" y="200769"/>
                  </a:cubicBezTo>
                  <a:lnTo>
                    <a:pt x="0" y="23059"/>
                  </a:lnTo>
                  <a:cubicBezTo>
                    <a:pt x="0" y="10324"/>
                    <a:pt x="10324" y="0"/>
                    <a:pt x="23059" y="0"/>
                  </a:cubicBezTo>
                  <a:close/>
                </a:path>
              </a:pathLst>
            </a:custGeom>
            <a:solidFill>
              <a:srgbClr val="D0D7DD"/>
            </a:solidFill>
            <a:ln w="19050" cap="rnd">
              <a:solidFill>
                <a:srgbClr val="424242"/>
              </a:solidFill>
              <a:prstDash val="solid"/>
              <a:round/>
            </a:ln>
          </p:spPr>
        </p:sp>
        <p:sp>
          <p:nvSpPr>
            <p:cNvPr name="TextBox 5" id="5"/>
            <p:cNvSpPr txBox="true"/>
            <p:nvPr/>
          </p:nvSpPr>
          <p:spPr>
            <a:xfrm>
              <a:off x="0" y="-19050"/>
              <a:ext cx="2210705" cy="242878"/>
            </a:xfrm>
            <a:prstGeom prst="rect">
              <a:avLst/>
            </a:prstGeom>
          </p:spPr>
          <p:txBody>
            <a:bodyPr anchor="ctr" rtlCol="false" tIns="50800" lIns="50800" bIns="50800" rIns="50800"/>
            <a:lstStyle/>
            <a:p>
              <a:pPr algn="ctr">
                <a:lnSpc>
                  <a:spcPts val="2015"/>
                </a:lnSpc>
              </a:pPr>
            </a:p>
          </p:txBody>
        </p:sp>
      </p:grpSp>
      <p:sp>
        <p:nvSpPr>
          <p:cNvPr name="Freeform 6" id="6"/>
          <p:cNvSpPr/>
          <p:nvPr/>
        </p:nvSpPr>
        <p:spPr>
          <a:xfrm flipH="false" flipV="false" rot="0">
            <a:off x="10343327" y="-1437860"/>
            <a:ext cx="12858845" cy="4933121"/>
          </a:xfrm>
          <a:custGeom>
            <a:avLst/>
            <a:gdLst/>
            <a:ahLst/>
            <a:cxnLst/>
            <a:rect r="r" b="b" t="t" l="l"/>
            <a:pathLst>
              <a:path h="4933121" w="12858845">
                <a:moveTo>
                  <a:pt x="0" y="0"/>
                </a:moveTo>
                <a:lnTo>
                  <a:pt x="12858845" y="0"/>
                </a:lnTo>
                <a:lnTo>
                  <a:pt x="12858845" y="4933120"/>
                </a:lnTo>
                <a:lnTo>
                  <a:pt x="0" y="4933120"/>
                </a:lnTo>
                <a:lnTo>
                  <a:pt x="0" y="0"/>
                </a:lnTo>
                <a:close/>
              </a:path>
            </a:pathLst>
          </a:custGeom>
          <a:blipFill>
            <a:blip r:embed="rId4">
              <a:alphaModFix amt="15000"/>
            </a:blip>
            <a:stretch>
              <a:fillRect l="0" t="0" r="0" b="0"/>
            </a:stretch>
          </a:blipFill>
        </p:spPr>
      </p:sp>
      <p:sp>
        <p:nvSpPr>
          <p:cNvPr name="TextBox 7" id="7"/>
          <p:cNvSpPr txBox="true"/>
          <p:nvPr/>
        </p:nvSpPr>
        <p:spPr>
          <a:xfrm rot="0">
            <a:off x="1028700" y="3663885"/>
            <a:ext cx="7628749" cy="3035429"/>
          </a:xfrm>
          <a:prstGeom prst="rect">
            <a:avLst/>
          </a:prstGeom>
        </p:spPr>
        <p:txBody>
          <a:bodyPr anchor="t" rtlCol="false" tIns="0" lIns="0" bIns="0" rIns="0">
            <a:spAutoFit/>
          </a:bodyPr>
          <a:lstStyle/>
          <a:p>
            <a:pPr algn="l">
              <a:lnSpc>
                <a:spcPts val="7884"/>
              </a:lnSpc>
            </a:pPr>
            <a:r>
              <a:rPr lang="en-US" sz="7300" spc="-343" b="true">
                <a:solidFill>
                  <a:srgbClr val="424242"/>
                </a:solidFill>
                <a:latin typeface="Raleway Heavy"/>
                <a:ea typeface="Raleway Heavy"/>
                <a:cs typeface="Raleway Heavy"/>
                <a:sym typeface="Raleway Heavy"/>
              </a:rPr>
              <a:t>TEMEL PROGRAMLAMA YAPILARI</a:t>
            </a:r>
          </a:p>
        </p:txBody>
      </p:sp>
      <p:sp>
        <p:nvSpPr>
          <p:cNvPr name="TextBox 8" id="8"/>
          <p:cNvSpPr txBox="true"/>
          <p:nvPr/>
        </p:nvSpPr>
        <p:spPr>
          <a:xfrm rot="0">
            <a:off x="9086414" y="2652359"/>
            <a:ext cx="1285678" cy="370938"/>
          </a:xfrm>
          <a:prstGeom prst="rect">
            <a:avLst/>
          </a:prstGeom>
        </p:spPr>
        <p:txBody>
          <a:bodyPr anchor="t" rtlCol="false" tIns="0" lIns="0" bIns="0" rIns="0">
            <a:spAutoFit/>
          </a:bodyPr>
          <a:lstStyle/>
          <a:p>
            <a:pPr algn="ctr">
              <a:lnSpc>
                <a:spcPts val="2696"/>
              </a:lnSpc>
            </a:pPr>
            <a:r>
              <a:rPr lang="en-US" b="true" sz="2868" spc="-134">
                <a:solidFill>
                  <a:srgbClr val="424242"/>
                </a:solidFill>
                <a:latin typeface="Raleway Heavy"/>
                <a:ea typeface="Raleway Heavy"/>
                <a:cs typeface="Raleway Heavy"/>
                <a:sym typeface="Raleway Heavy"/>
              </a:rPr>
              <a:t>01</a:t>
            </a:r>
          </a:p>
        </p:txBody>
      </p:sp>
      <p:sp>
        <p:nvSpPr>
          <p:cNvPr name="TextBox 9" id="9"/>
          <p:cNvSpPr txBox="true"/>
          <p:nvPr/>
        </p:nvSpPr>
        <p:spPr>
          <a:xfrm rot="0">
            <a:off x="9086414" y="3586058"/>
            <a:ext cx="1285678" cy="370938"/>
          </a:xfrm>
          <a:prstGeom prst="rect">
            <a:avLst/>
          </a:prstGeom>
        </p:spPr>
        <p:txBody>
          <a:bodyPr anchor="t" rtlCol="false" tIns="0" lIns="0" bIns="0" rIns="0">
            <a:spAutoFit/>
          </a:bodyPr>
          <a:lstStyle/>
          <a:p>
            <a:pPr algn="ctr">
              <a:lnSpc>
                <a:spcPts val="2696"/>
              </a:lnSpc>
            </a:pPr>
            <a:r>
              <a:rPr lang="en-US" b="true" sz="2868" spc="-134">
                <a:solidFill>
                  <a:srgbClr val="424242"/>
                </a:solidFill>
                <a:latin typeface="Raleway Heavy"/>
                <a:ea typeface="Raleway Heavy"/>
                <a:cs typeface="Raleway Heavy"/>
                <a:sym typeface="Raleway Heavy"/>
              </a:rPr>
              <a:t>02</a:t>
            </a:r>
          </a:p>
        </p:txBody>
      </p:sp>
      <p:sp>
        <p:nvSpPr>
          <p:cNvPr name="TextBox 10" id="10"/>
          <p:cNvSpPr txBox="true"/>
          <p:nvPr/>
        </p:nvSpPr>
        <p:spPr>
          <a:xfrm rot="0">
            <a:off x="10736944" y="2652359"/>
            <a:ext cx="6522356" cy="370938"/>
          </a:xfrm>
          <a:prstGeom prst="rect">
            <a:avLst/>
          </a:prstGeom>
        </p:spPr>
        <p:txBody>
          <a:bodyPr anchor="t" rtlCol="false" tIns="0" lIns="0" bIns="0" rIns="0">
            <a:spAutoFit/>
          </a:bodyPr>
          <a:lstStyle/>
          <a:p>
            <a:pPr algn="l">
              <a:lnSpc>
                <a:spcPts val="2696"/>
              </a:lnSpc>
            </a:pPr>
            <a:r>
              <a:rPr lang="en-US" sz="2868" spc="-134">
                <a:solidFill>
                  <a:srgbClr val="424242"/>
                </a:solidFill>
                <a:latin typeface="Raleway"/>
                <a:ea typeface="Raleway"/>
                <a:cs typeface="Raleway"/>
                <a:sym typeface="Raleway"/>
              </a:rPr>
              <a:t>Algoritmik Düşünme ve Tasarım</a:t>
            </a:r>
          </a:p>
        </p:txBody>
      </p:sp>
      <p:sp>
        <p:nvSpPr>
          <p:cNvPr name="TextBox 11" id="11"/>
          <p:cNvSpPr txBox="true"/>
          <p:nvPr/>
        </p:nvSpPr>
        <p:spPr>
          <a:xfrm rot="0">
            <a:off x="10736944" y="3586058"/>
            <a:ext cx="6522356" cy="370938"/>
          </a:xfrm>
          <a:prstGeom prst="rect">
            <a:avLst/>
          </a:prstGeom>
        </p:spPr>
        <p:txBody>
          <a:bodyPr anchor="t" rtlCol="false" tIns="0" lIns="0" bIns="0" rIns="0">
            <a:spAutoFit/>
          </a:bodyPr>
          <a:lstStyle/>
          <a:p>
            <a:pPr algn="l">
              <a:lnSpc>
                <a:spcPts val="2696"/>
              </a:lnSpc>
            </a:pPr>
            <a:r>
              <a:rPr lang="en-US" sz="2868" spc="-134">
                <a:solidFill>
                  <a:srgbClr val="424242"/>
                </a:solidFill>
                <a:latin typeface="Raleway"/>
                <a:ea typeface="Raleway"/>
                <a:cs typeface="Raleway"/>
                <a:sym typeface="Raleway"/>
              </a:rPr>
              <a:t>Temel Programlama Yapıları</a:t>
            </a:r>
          </a:p>
        </p:txBody>
      </p:sp>
      <p:sp>
        <p:nvSpPr>
          <p:cNvPr name="TextBox 12" id="12"/>
          <p:cNvSpPr txBox="true"/>
          <p:nvPr/>
        </p:nvSpPr>
        <p:spPr>
          <a:xfrm rot="0">
            <a:off x="9086414" y="4519756"/>
            <a:ext cx="1285678" cy="370938"/>
          </a:xfrm>
          <a:prstGeom prst="rect">
            <a:avLst/>
          </a:prstGeom>
        </p:spPr>
        <p:txBody>
          <a:bodyPr anchor="t" rtlCol="false" tIns="0" lIns="0" bIns="0" rIns="0">
            <a:spAutoFit/>
          </a:bodyPr>
          <a:lstStyle/>
          <a:p>
            <a:pPr algn="ctr">
              <a:lnSpc>
                <a:spcPts val="2696"/>
              </a:lnSpc>
            </a:pPr>
            <a:r>
              <a:rPr lang="en-US" b="true" sz="2868" spc="-134">
                <a:solidFill>
                  <a:srgbClr val="424242"/>
                </a:solidFill>
                <a:latin typeface="Raleway Heavy"/>
                <a:ea typeface="Raleway Heavy"/>
                <a:cs typeface="Raleway Heavy"/>
                <a:sym typeface="Raleway Heavy"/>
              </a:rPr>
              <a:t>03</a:t>
            </a:r>
          </a:p>
        </p:txBody>
      </p:sp>
      <p:sp>
        <p:nvSpPr>
          <p:cNvPr name="TextBox 13" id="13"/>
          <p:cNvSpPr txBox="true"/>
          <p:nvPr/>
        </p:nvSpPr>
        <p:spPr>
          <a:xfrm rot="0">
            <a:off x="10736944" y="4519756"/>
            <a:ext cx="6522356" cy="370938"/>
          </a:xfrm>
          <a:prstGeom prst="rect">
            <a:avLst/>
          </a:prstGeom>
        </p:spPr>
        <p:txBody>
          <a:bodyPr anchor="t" rtlCol="false" tIns="0" lIns="0" bIns="0" rIns="0">
            <a:spAutoFit/>
          </a:bodyPr>
          <a:lstStyle/>
          <a:p>
            <a:pPr algn="l">
              <a:lnSpc>
                <a:spcPts val="2696"/>
              </a:lnSpc>
            </a:pPr>
            <a:r>
              <a:rPr lang="en-US" sz="2868" spc="-134">
                <a:solidFill>
                  <a:srgbClr val="424242"/>
                </a:solidFill>
                <a:latin typeface="Raleway"/>
                <a:ea typeface="Raleway"/>
                <a:cs typeface="Raleway"/>
                <a:sym typeface="Raleway"/>
              </a:rPr>
              <a:t>Karar Yapıları ve Döngüler</a:t>
            </a:r>
          </a:p>
        </p:txBody>
      </p:sp>
      <p:sp>
        <p:nvSpPr>
          <p:cNvPr name="TextBox 14" id="14"/>
          <p:cNvSpPr txBox="true"/>
          <p:nvPr/>
        </p:nvSpPr>
        <p:spPr>
          <a:xfrm rot="0">
            <a:off x="9086414" y="5453455"/>
            <a:ext cx="1285678" cy="370938"/>
          </a:xfrm>
          <a:prstGeom prst="rect">
            <a:avLst/>
          </a:prstGeom>
        </p:spPr>
        <p:txBody>
          <a:bodyPr anchor="t" rtlCol="false" tIns="0" lIns="0" bIns="0" rIns="0">
            <a:spAutoFit/>
          </a:bodyPr>
          <a:lstStyle/>
          <a:p>
            <a:pPr algn="ctr">
              <a:lnSpc>
                <a:spcPts val="2696"/>
              </a:lnSpc>
            </a:pPr>
            <a:r>
              <a:rPr lang="en-US" b="true" sz="2868" spc="-134">
                <a:solidFill>
                  <a:srgbClr val="424242"/>
                </a:solidFill>
                <a:latin typeface="Raleway Heavy"/>
                <a:ea typeface="Raleway Heavy"/>
                <a:cs typeface="Raleway Heavy"/>
                <a:sym typeface="Raleway Heavy"/>
              </a:rPr>
              <a:t>04</a:t>
            </a:r>
          </a:p>
        </p:txBody>
      </p:sp>
      <p:sp>
        <p:nvSpPr>
          <p:cNvPr name="TextBox 15" id="15"/>
          <p:cNvSpPr txBox="true"/>
          <p:nvPr/>
        </p:nvSpPr>
        <p:spPr>
          <a:xfrm rot="0">
            <a:off x="10736944" y="5453455"/>
            <a:ext cx="6522356" cy="370938"/>
          </a:xfrm>
          <a:prstGeom prst="rect">
            <a:avLst/>
          </a:prstGeom>
        </p:spPr>
        <p:txBody>
          <a:bodyPr anchor="t" rtlCol="false" tIns="0" lIns="0" bIns="0" rIns="0">
            <a:spAutoFit/>
          </a:bodyPr>
          <a:lstStyle/>
          <a:p>
            <a:pPr algn="l">
              <a:lnSpc>
                <a:spcPts val="2696"/>
              </a:lnSpc>
            </a:pPr>
            <a:r>
              <a:rPr lang="en-US" sz="2868" spc="-134">
                <a:solidFill>
                  <a:srgbClr val="424242"/>
                </a:solidFill>
                <a:latin typeface="Raleway"/>
                <a:ea typeface="Raleway"/>
                <a:cs typeface="Raleway"/>
                <a:sym typeface="Raleway"/>
              </a:rPr>
              <a:t>Modüler Programlama ve Fonksiyonlar</a:t>
            </a:r>
          </a:p>
        </p:txBody>
      </p:sp>
      <p:sp>
        <p:nvSpPr>
          <p:cNvPr name="TextBox 16" id="16"/>
          <p:cNvSpPr txBox="true"/>
          <p:nvPr/>
        </p:nvSpPr>
        <p:spPr>
          <a:xfrm rot="0">
            <a:off x="9086414" y="6387154"/>
            <a:ext cx="1285678" cy="370938"/>
          </a:xfrm>
          <a:prstGeom prst="rect">
            <a:avLst/>
          </a:prstGeom>
        </p:spPr>
        <p:txBody>
          <a:bodyPr anchor="t" rtlCol="false" tIns="0" lIns="0" bIns="0" rIns="0">
            <a:spAutoFit/>
          </a:bodyPr>
          <a:lstStyle/>
          <a:p>
            <a:pPr algn="ctr">
              <a:lnSpc>
                <a:spcPts val="2696"/>
              </a:lnSpc>
            </a:pPr>
            <a:r>
              <a:rPr lang="en-US" b="true" sz="2868" spc="-134">
                <a:solidFill>
                  <a:srgbClr val="424242"/>
                </a:solidFill>
                <a:latin typeface="Raleway Heavy"/>
                <a:ea typeface="Raleway Heavy"/>
                <a:cs typeface="Raleway Heavy"/>
                <a:sym typeface="Raleway Heavy"/>
              </a:rPr>
              <a:t>05</a:t>
            </a:r>
          </a:p>
        </p:txBody>
      </p:sp>
      <p:sp>
        <p:nvSpPr>
          <p:cNvPr name="TextBox 17" id="17"/>
          <p:cNvSpPr txBox="true"/>
          <p:nvPr/>
        </p:nvSpPr>
        <p:spPr>
          <a:xfrm rot="0">
            <a:off x="10736944" y="6387154"/>
            <a:ext cx="6522356" cy="370938"/>
          </a:xfrm>
          <a:prstGeom prst="rect">
            <a:avLst/>
          </a:prstGeom>
        </p:spPr>
        <p:txBody>
          <a:bodyPr anchor="t" rtlCol="false" tIns="0" lIns="0" bIns="0" rIns="0">
            <a:spAutoFit/>
          </a:bodyPr>
          <a:lstStyle/>
          <a:p>
            <a:pPr algn="l">
              <a:lnSpc>
                <a:spcPts val="2696"/>
              </a:lnSpc>
            </a:pPr>
            <a:r>
              <a:rPr lang="en-US" sz="2868" spc="-134">
                <a:solidFill>
                  <a:srgbClr val="424242"/>
                </a:solidFill>
                <a:latin typeface="Raleway"/>
                <a:ea typeface="Raleway"/>
                <a:cs typeface="Raleway"/>
                <a:sym typeface="Raleway"/>
              </a:rPr>
              <a:t>Veri Yönetimi ve Kalıcı Program Yapıları</a:t>
            </a:r>
          </a:p>
        </p:txBody>
      </p:sp>
      <p:sp>
        <p:nvSpPr>
          <p:cNvPr name="TextBox 18" id="18"/>
          <p:cNvSpPr txBox="true"/>
          <p:nvPr/>
        </p:nvSpPr>
        <p:spPr>
          <a:xfrm rot="0">
            <a:off x="9086414" y="7320852"/>
            <a:ext cx="1285678" cy="370938"/>
          </a:xfrm>
          <a:prstGeom prst="rect">
            <a:avLst/>
          </a:prstGeom>
        </p:spPr>
        <p:txBody>
          <a:bodyPr anchor="t" rtlCol="false" tIns="0" lIns="0" bIns="0" rIns="0">
            <a:spAutoFit/>
          </a:bodyPr>
          <a:lstStyle/>
          <a:p>
            <a:pPr algn="ctr">
              <a:lnSpc>
                <a:spcPts val="2696"/>
              </a:lnSpc>
            </a:pPr>
            <a:r>
              <a:rPr lang="en-US" b="true" sz="2868" spc="-134">
                <a:solidFill>
                  <a:srgbClr val="424242"/>
                </a:solidFill>
                <a:latin typeface="Raleway Heavy"/>
                <a:ea typeface="Raleway Heavy"/>
                <a:cs typeface="Raleway Heavy"/>
                <a:sym typeface="Raleway Heavy"/>
              </a:rPr>
              <a:t>06</a:t>
            </a:r>
          </a:p>
        </p:txBody>
      </p:sp>
      <p:sp>
        <p:nvSpPr>
          <p:cNvPr name="TextBox 19" id="19"/>
          <p:cNvSpPr txBox="true"/>
          <p:nvPr/>
        </p:nvSpPr>
        <p:spPr>
          <a:xfrm rot="0">
            <a:off x="10736944" y="7320852"/>
            <a:ext cx="6522356" cy="370938"/>
          </a:xfrm>
          <a:prstGeom prst="rect">
            <a:avLst/>
          </a:prstGeom>
        </p:spPr>
        <p:txBody>
          <a:bodyPr anchor="t" rtlCol="false" tIns="0" lIns="0" bIns="0" rIns="0">
            <a:spAutoFit/>
          </a:bodyPr>
          <a:lstStyle/>
          <a:p>
            <a:pPr algn="l">
              <a:lnSpc>
                <a:spcPts val="2696"/>
              </a:lnSpc>
            </a:pPr>
            <a:r>
              <a:rPr lang="en-US" sz="2868" spc="-134">
                <a:solidFill>
                  <a:srgbClr val="424242"/>
                </a:solidFill>
                <a:latin typeface="Raleway"/>
                <a:ea typeface="Raleway"/>
                <a:cs typeface="Raleway"/>
                <a:sym typeface="Raleway"/>
              </a:rPr>
              <a:t>Dayanıklılık, Etik ve Sunum</a:t>
            </a:r>
          </a:p>
        </p:txBody>
      </p:sp>
      <p:sp>
        <p:nvSpPr>
          <p:cNvPr name="AutoShape 20" id="20"/>
          <p:cNvSpPr/>
          <p:nvPr/>
        </p:nvSpPr>
        <p:spPr>
          <a:xfrm flipV="true">
            <a:off x="0" y="1480091"/>
            <a:ext cx="17259300" cy="0"/>
          </a:xfrm>
          <a:prstGeom prst="line">
            <a:avLst/>
          </a:prstGeom>
          <a:ln cap="flat" w="19050">
            <a:solidFill>
              <a:srgbClr val="424242"/>
            </a:solidFill>
            <a:prstDash val="solid"/>
            <a:headEnd type="none" len="sm" w="sm"/>
            <a:tailEnd type="none" len="sm" w="sm"/>
          </a:ln>
        </p:spPr>
      </p:sp>
      <p:sp>
        <p:nvSpPr>
          <p:cNvPr name="AutoShape 21" id="21"/>
          <p:cNvSpPr/>
          <p:nvPr/>
        </p:nvSpPr>
        <p:spPr>
          <a:xfrm>
            <a:off x="1045163" y="9267825"/>
            <a:ext cx="17826667" cy="0"/>
          </a:xfrm>
          <a:prstGeom prst="line">
            <a:avLst/>
          </a:prstGeom>
          <a:ln cap="flat" w="19050">
            <a:solidFill>
              <a:srgbClr val="424242"/>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sz="3999" spc="-187" b="true">
                <a:solidFill>
                  <a:srgbClr val="424242"/>
                </a:solidFill>
                <a:latin typeface="Raleway Heavy"/>
                <a:ea typeface="Raleway Heavy"/>
                <a:cs typeface="Raleway Heavy"/>
                <a:sym typeface="Raleway Heavy"/>
              </a:rPr>
              <a:t>📌 BU ÜNİTEDE NELER ÖĞRENECEĞİZ?</a:t>
            </a:r>
          </a:p>
        </p:txBody>
      </p:sp>
      <p:sp>
        <p:nvSpPr>
          <p:cNvPr name="TextBox 4" id="4"/>
          <p:cNvSpPr txBox="true"/>
          <p:nvPr/>
        </p:nvSpPr>
        <p:spPr>
          <a:xfrm rot="0">
            <a:off x="1028700" y="1901213"/>
            <a:ext cx="16230600" cy="74422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Bu ünitenin sonunda;</a:t>
            </a:r>
          </a:p>
          <a:p>
            <a:pPr algn="l">
              <a:lnSpc>
                <a:spcPts val="3499"/>
              </a:lnSpc>
            </a:pP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Program</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yazılım</a:t>
            </a:r>
            <a:r>
              <a:rPr lang="en-US" sz="2499" spc="-117">
                <a:solidFill>
                  <a:srgbClr val="424242"/>
                </a:solidFill>
                <a:latin typeface="Raleway"/>
                <a:ea typeface="Raleway"/>
                <a:cs typeface="Raleway"/>
                <a:sym typeface="Raleway"/>
              </a:rPr>
              <a:t> kavramlarının ne olduğunu ve aralarındaki farkı,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Programlama dili</a:t>
            </a:r>
            <a:r>
              <a:rPr lang="en-US" sz="2499" spc="-117">
                <a:solidFill>
                  <a:srgbClr val="424242"/>
                </a:solidFill>
                <a:latin typeface="Raleway"/>
                <a:ea typeface="Raleway"/>
                <a:cs typeface="Raleway"/>
                <a:sym typeface="Raleway"/>
              </a:rPr>
              <a:t> nedir, seviyeleri nelerdir (düşük, orta, yüksek seviyeli diller),</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Derleyici (compiler)</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yorumlayıcı (interpreter)</a:t>
            </a:r>
            <a:r>
              <a:rPr lang="en-US" sz="2499" spc="-117">
                <a:solidFill>
                  <a:srgbClr val="424242"/>
                </a:solidFill>
                <a:latin typeface="Raleway"/>
                <a:ea typeface="Raleway"/>
                <a:cs typeface="Raleway"/>
                <a:sym typeface="Raleway"/>
              </a:rPr>
              <a:t> arasındaki temel farkları,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Python</a:t>
            </a:r>
            <a:r>
              <a:rPr lang="en-US" sz="2499" spc="-117">
                <a:solidFill>
                  <a:srgbClr val="424242"/>
                </a:solidFill>
                <a:latin typeface="Raleway"/>
                <a:ea typeface="Raleway"/>
                <a:cs typeface="Raleway"/>
                <a:sym typeface="Raleway"/>
              </a:rPr>
              <a:t> dilini, nasıl kurulacağını ve hangi çalışma ortamlarında kullanılacağını (Interactive Shell, IDLE),</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Kaynak kod editörü</a:t>
            </a:r>
            <a:r>
              <a:rPr lang="en-US" sz="2499" spc="-117">
                <a:solidFill>
                  <a:srgbClr val="424242"/>
                </a:solidFill>
                <a:latin typeface="Raleway"/>
                <a:ea typeface="Raleway"/>
                <a:cs typeface="Raleway"/>
                <a:sym typeface="Raleway"/>
              </a:rPr>
              <a:t> ile </a:t>
            </a:r>
            <a:r>
              <a:rPr lang="en-US" b="true" sz="2499" spc="-117">
                <a:solidFill>
                  <a:srgbClr val="424242"/>
                </a:solidFill>
                <a:latin typeface="Raleway Semi-Bold"/>
                <a:ea typeface="Raleway Semi-Bold"/>
                <a:cs typeface="Raleway Semi-Bold"/>
                <a:sym typeface="Raleway Semi-Bold"/>
              </a:rPr>
              <a:t>IDE</a:t>
            </a:r>
            <a:r>
              <a:rPr lang="en-US" sz="2499" spc="-117">
                <a:solidFill>
                  <a:srgbClr val="424242"/>
                </a:solidFill>
                <a:latin typeface="Raleway"/>
                <a:ea typeface="Raleway"/>
                <a:cs typeface="Raleway"/>
                <a:sym typeface="Raleway"/>
              </a:rPr>
              <a:t> arasındaki farkı ve popüler Python geliştirme ortamlarını,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Değişken</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sabit</a:t>
            </a:r>
            <a:r>
              <a:rPr lang="en-US" sz="2499" spc="-117">
                <a:solidFill>
                  <a:srgbClr val="424242"/>
                </a:solidFill>
                <a:latin typeface="Raleway"/>
                <a:ea typeface="Raleway"/>
                <a:cs typeface="Raleway"/>
                <a:sym typeface="Raleway"/>
              </a:rPr>
              <a:t> kavramlarını, aralarındaki farkı,</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Temel </a:t>
            </a:r>
            <a:r>
              <a:rPr lang="en-US" b="true" sz="2499" spc="-117">
                <a:solidFill>
                  <a:srgbClr val="424242"/>
                </a:solidFill>
                <a:latin typeface="Raleway Semi-Bold"/>
                <a:ea typeface="Raleway Semi-Bold"/>
                <a:cs typeface="Raleway Semi-Bold"/>
                <a:sym typeface="Raleway Semi-Bold"/>
              </a:rPr>
              <a:t>veri türlerini</a:t>
            </a:r>
            <a:r>
              <a:rPr lang="en-US" sz="2499" spc="-117">
                <a:solidFill>
                  <a:srgbClr val="424242"/>
                </a:solidFill>
                <a:latin typeface="Raleway"/>
                <a:ea typeface="Raleway"/>
                <a:cs typeface="Raleway"/>
                <a:sym typeface="Raleway"/>
              </a:rPr>
              <a:t> (int, float, str, bool) ve bu türlerin hangi verileri sakladığını,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type()</a:t>
            </a:r>
            <a:r>
              <a:rPr lang="en-US" sz="2499" spc="-117">
                <a:solidFill>
                  <a:srgbClr val="424242"/>
                </a:solidFill>
                <a:latin typeface="Raleway"/>
                <a:ea typeface="Raleway"/>
                <a:cs typeface="Raleway"/>
                <a:sym typeface="Raleway"/>
              </a:rPr>
              <a:t> fonksiyonu ile bir değişkenin veri türünü nasıl kontrol edeceğinizi,</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Değişken tanımlama kurallarını</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adlandırma standartlarını</a:t>
            </a:r>
            <a:r>
              <a:rPr lang="en-US" sz="2499" spc="-117">
                <a:solidFill>
                  <a:srgbClr val="424242"/>
                </a:solidFill>
                <a:latin typeface="Raleway"/>
                <a:ea typeface="Raleway"/>
                <a:cs typeface="Raleway"/>
                <a:sym typeface="Raleway"/>
              </a:rPr>
              <a:t> (snake_case, camelCase, PEP 8),</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input()</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print()</a:t>
            </a:r>
            <a:r>
              <a:rPr lang="en-US" sz="2499" spc="-117">
                <a:solidFill>
                  <a:srgbClr val="424242"/>
                </a:solidFill>
                <a:latin typeface="Raleway"/>
                <a:ea typeface="Raleway"/>
                <a:cs typeface="Raleway"/>
                <a:sym typeface="Raleway"/>
              </a:rPr>
              <a:t> fonksiyonları ile kullanıcı etkileşimini nasıl sağlayacağınızı,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Tip dönüşüm fonksiyonlarını</a:t>
            </a:r>
            <a:r>
              <a:rPr lang="en-US" sz="2499" spc="-117">
                <a:solidFill>
                  <a:srgbClr val="424242"/>
                </a:solidFill>
                <a:latin typeface="Raleway"/>
                <a:ea typeface="Raleway"/>
                <a:cs typeface="Raleway"/>
                <a:sym typeface="Raleway"/>
              </a:rPr>
              <a:t> (int(), float(), str(), bool()) ve sınır durumlarını,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Operatörleri</a:t>
            </a:r>
            <a:r>
              <a:rPr lang="en-US" sz="2499" spc="-117">
                <a:solidFill>
                  <a:srgbClr val="424242"/>
                </a:solidFill>
                <a:latin typeface="Raleway"/>
                <a:ea typeface="Raleway"/>
                <a:cs typeface="Raleway"/>
                <a:sym typeface="Raleway"/>
              </a:rPr>
              <a:t> (aritmetik, karşılaştırma, mantıksal) ve </a:t>
            </a:r>
            <a:r>
              <a:rPr lang="en-US" b="true" sz="2499" spc="-117">
                <a:solidFill>
                  <a:srgbClr val="424242"/>
                </a:solidFill>
                <a:latin typeface="Raleway Semi-Bold"/>
                <a:ea typeface="Raleway Semi-Bold"/>
                <a:cs typeface="Raleway Semi-Bold"/>
                <a:sym typeface="Raleway Semi-Bold"/>
              </a:rPr>
              <a:t>işlem önceliği</a:t>
            </a:r>
            <a:r>
              <a:rPr lang="en-US" sz="2499" spc="-117">
                <a:solidFill>
                  <a:srgbClr val="424242"/>
                </a:solidFill>
                <a:latin typeface="Raleway"/>
                <a:ea typeface="Raleway"/>
                <a:cs typeface="Raleway"/>
                <a:sym typeface="Raleway"/>
              </a:rPr>
              <a:t> kurallarını,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Yapay zekâ kod denetimini</a:t>
            </a:r>
            <a:r>
              <a:rPr lang="en-US" sz="2499" spc="-117">
                <a:solidFill>
                  <a:srgbClr val="424242"/>
                </a:solidFill>
                <a:latin typeface="Raleway"/>
                <a:ea typeface="Raleway"/>
                <a:cs typeface="Raleway"/>
                <a:sym typeface="Raleway"/>
              </a:rPr>
              <a:t>, </a:t>
            </a:r>
            <a:r>
              <a:rPr lang="en-US" b="true" sz="2499" spc="-117">
                <a:solidFill>
                  <a:srgbClr val="424242"/>
                </a:solidFill>
                <a:latin typeface="Raleway Semi-Bold"/>
                <a:ea typeface="Raleway Semi-Bold"/>
                <a:cs typeface="Raleway Semi-Bold"/>
                <a:sym typeface="Raleway Semi-Bold"/>
              </a:rPr>
              <a:t>İnsan Denetimi (Human-in-the-Loop)</a:t>
            </a:r>
            <a:r>
              <a:rPr lang="en-US" sz="2499" spc="-117">
                <a:solidFill>
                  <a:srgbClr val="424242"/>
                </a:solidFill>
                <a:latin typeface="Raleway"/>
                <a:ea typeface="Raleway"/>
                <a:cs typeface="Raleway"/>
                <a:sym typeface="Raleway"/>
              </a:rPr>
              <a:t> prensibini ve </a:t>
            </a:r>
            <a:r>
              <a:rPr lang="en-US" b="true" sz="2499" spc="-117">
                <a:solidFill>
                  <a:srgbClr val="424242"/>
                </a:solidFill>
                <a:latin typeface="Raleway Semi-Bold"/>
                <a:ea typeface="Raleway Semi-Bold"/>
                <a:cs typeface="Raleway Semi-Bold"/>
                <a:sym typeface="Raleway Semi-Bold"/>
              </a:rPr>
              <a:t>yapay zekâ halüsinasyonu</a:t>
            </a:r>
            <a:r>
              <a:rPr lang="en-US" sz="2499" spc="-117">
                <a:solidFill>
                  <a:srgbClr val="424242"/>
                </a:solidFill>
                <a:latin typeface="Raleway"/>
                <a:ea typeface="Raleway"/>
                <a:cs typeface="Raleway"/>
                <a:sym typeface="Raleway"/>
              </a:rPr>
              <a:t> kavramını öğreneceksiniz.</a:t>
            </a:r>
          </a:p>
          <a:p>
            <a:pPr algn="l">
              <a:lnSpc>
                <a:spcPts val="34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sz="3999" spc="-187" b="true">
                <a:solidFill>
                  <a:srgbClr val="424242"/>
                </a:solidFill>
                <a:latin typeface="Raleway Heavy"/>
                <a:ea typeface="Raleway Heavy"/>
                <a:cs typeface="Raleway Heavy"/>
                <a:sym typeface="Raleway Heavy"/>
              </a:rPr>
              <a:t>2.1. DEĞİŞKENLER, SABİTLER VE VERİ TÜRLERİ</a:t>
            </a:r>
          </a:p>
        </p:txBody>
      </p:sp>
      <p:sp>
        <p:nvSpPr>
          <p:cNvPr name="TextBox 4" id="4"/>
          <p:cNvSpPr txBox="true"/>
          <p:nvPr/>
        </p:nvSpPr>
        <p:spPr>
          <a:xfrm rot="0">
            <a:off x="1028700" y="2682263"/>
            <a:ext cx="16230600" cy="39370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Günlük hayatta "</a:t>
            </a:r>
            <a:r>
              <a:rPr lang="en-US" sz="2499" spc="-117" b="true">
                <a:solidFill>
                  <a:srgbClr val="424242"/>
                </a:solidFill>
                <a:latin typeface="Raleway Bold"/>
                <a:ea typeface="Raleway Bold"/>
                <a:cs typeface="Raleway Bold"/>
                <a:sym typeface="Raleway Bold"/>
              </a:rPr>
              <a:t>program</a:t>
            </a:r>
            <a:r>
              <a:rPr lang="en-US" sz="2499" spc="-117">
                <a:solidFill>
                  <a:srgbClr val="424242"/>
                </a:solidFill>
                <a:latin typeface="Raleway"/>
                <a:ea typeface="Raleway"/>
                <a:cs typeface="Raleway"/>
                <a:sym typeface="Raleway"/>
              </a:rPr>
              <a:t>" ve "</a:t>
            </a:r>
            <a:r>
              <a:rPr lang="en-US" sz="2499" spc="-117" b="true">
                <a:solidFill>
                  <a:srgbClr val="424242"/>
                </a:solidFill>
                <a:latin typeface="Raleway Bold"/>
                <a:ea typeface="Raleway Bold"/>
                <a:cs typeface="Raleway Bold"/>
                <a:sym typeface="Raleway Bold"/>
              </a:rPr>
              <a:t>yazılım</a:t>
            </a:r>
            <a:r>
              <a:rPr lang="en-US" sz="2499" spc="-117">
                <a:solidFill>
                  <a:srgbClr val="424242"/>
                </a:solidFill>
                <a:latin typeface="Raleway"/>
                <a:ea typeface="Raleway"/>
                <a:cs typeface="Raleway"/>
                <a:sym typeface="Raleway"/>
              </a:rPr>
              <a:t>" kelimelerini sıklıkla birbirinin yerine kullanırız. Ancak bilgisayar bilimlerinde bu iki kavram arasında ince ama önemli bir fark vardır. Bu farkı bir yemek tarifi örneğiyle anlayalım:</a:t>
            </a:r>
          </a:p>
          <a:p>
            <a:pPr algn="l">
              <a:lnSpc>
                <a:spcPts val="3499"/>
              </a:lnSpc>
            </a:pPr>
          </a:p>
          <a:p>
            <a:pPr algn="l">
              <a:lnSpc>
                <a:spcPts val="3499"/>
              </a:lnSpc>
            </a:pPr>
            <a:r>
              <a:rPr lang="en-US" sz="2499" spc="-117" b="true">
                <a:solidFill>
                  <a:srgbClr val="CEAF69"/>
                </a:solidFill>
                <a:latin typeface="Raleway Semi-Bold"/>
                <a:ea typeface="Raleway Semi-Bold"/>
                <a:cs typeface="Raleway Semi-Bold"/>
                <a:sym typeface="Raleway Semi-Bold"/>
              </a:rPr>
              <a:t>Günlük Hayat Benzetmesi:</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Bir aşçının mutfakta adım adım uyguladığı </a:t>
            </a:r>
            <a:r>
              <a:rPr lang="en-US" b="true" sz="2499" spc="-117">
                <a:solidFill>
                  <a:srgbClr val="424242"/>
                </a:solidFill>
                <a:latin typeface="Raleway Semi-Bold"/>
                <a:ea typeface="Raleway Semi-Bold"/>
                <a:cs typeface="Raleway Semi-Bold"/>
                <a:sym typeface="Raleway Semi-Bold"/>
              </a:rPr>
              <a:t>yemek tarifi</a:t>
            </a:r>
            <a:r>
              <a:rPr lang="en-US" sz="2499" spc="-117">
                <a:solidFill>
                  <a:srgbClr val="424242"/>
                </a:solidFill>
                <a:latin typeface="Raleway"/>
                <a:ea typeface="Raleway"/>
                <a:cs typeface="Raleway"/>
                <a:sym typeface="Raleway"/>
              </a:rPr>
              <a:t> aslında bir </a:t>
            </a:r>
            <a:r>
              <a:rPr lang="en-US" b="true" sz="2499" spc="-117">
                <a:solidFill>
                  <a:srgbClr val="424242"/>
                </a:solidFill>
                <a:latin typeface="Raleway Semi-Bold"/>
                <a:ea typeface="Raleway Semi-Bold"/>
                <a:cs typeface="Raleway Semi-Bold"/>
                <a:sym typeface="Raleway Semi-Bold"/>
              </a:rPr>
              <a:t>programdır</a:t>
            </a:r>
            <a:r>
              <a:rPr lang="en-US" sz="2499" spc="-117">
                <a:solidFill>
                  <a:srgbClr val="424242"/>
                </a:solidFill>
                <a:latin typeface="Raleway"/>
                <a:ea typeface="Raleway"/>
                <a:cs typeface="Raleway"/>
                <a:sym typeface="Raleway"/>
              </a:rPr>
              <a:t>. Tarif, belirli bir işi yapmak için sıralı adımlardan oluşur.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Bu tarifin yer aldığı </a:t>
            </a:r>
            <a:r>
              <a:rPr lang="en-US" b="true" sz="2499" spc="-117">
                <a:solidFill>
                  <a:srgbClr val="424242"/>
                </a:solidFill>
                <a:latin typeface="Raleway Semi-Bold"/>
                <a:ea typeface="Raleway Semi-Bold"/>
                <a:cs typeface="Raleway Semi-Bold"/>
                <a:sym typeface="Raleway Semi-Bold"/>
              </a:rPr>
              <a:t>yemek kitabının tamamı</a:t>
            </a:r>
            <a:r>
              <a:rPr lang="en-US" sz="2499" spc="-117">
                <a:solidFill>
                  <a:srgbClr val="424242"/>
                </a:solidFill>
                <a:latin typeface="Raleway"/>
                <a:ea typeface="Raleway"/>
                <a:cs typeface="Raleway"/>
                <a:sym typeface="Raleway"/>
              </a:rPr>
              <a:t>, kullanılacak malzeme listeleri, mutfak aletlerinin kullanım kılavuzları ve diğer tüm belgeler bir araya geldiğinde ise çok daha geniş bir ekosistem olan </a:t>
            </a:r>
            <a:r>
              <a:rPr lang="en-US" b="true" sz="2499" spc="-117">
                <a:solidFill>
                  <a:srgbClr val="424242"/>
                </a:solidFill>
                <a:latin typeface="Raleway Semi-Bold"/>
                <a:ea typeface="Raleway Semi-Bold"/>
                <a:cs typeface="Raleway Semi-Bold"/>
                <a:sym typeface="Raleway Semi-Bold"/>
              </a:rPr>
              <a:t>yazılım</a:t>
            </a:r>
            <a:r>
              <a:rPr lang="en-US" sz="2499" spc="-117">
                <a:solidFill>
                  <a:srgbClr val="424242"/>
                </a:solidFill>
                <a:latin typeface="Raleway"/>
                <a:ea typeface="Raleway"/>
                <a:cs typeface="Raleway"/>
                <a:sym typeface="Raleway"/>
              </a:rPr>
              <a:t> ortaya çıkar.</a:t>
            </a:r>
          </a:p>
          <a:p>
            <a:pPr algn="l">
              <a:lnSpc>
                <a:spcPts val="3499"/>
              </a:lnSpc>
            </a:pPr>
          </a:p>
        </p:txBody>
      </p:sp>
      <p:sp>
        <p:nvSpPr>
          <p:cNvPr name="TextBox 5" id="5"/>
          <p:cNvSpPr txBox="true"/>
          <p:nvPr/>
        </p:nvSpPr>
        <p:spPr>
          <a:xfrm rot="0">
            <a:off x="1028700" y="1891688"/>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2.1.0. Program ve Yazılım Arasındaki Fark Nedir?</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Bilişim Dünyasındaki Karşılığı:</a:t>
            </a:r>
          </a:p>
        </p:txBody>
      </p:sp>
      <p:graphicFrame>
        <p:nvGraphicFramePr>
          <p:cNvPr name="Table 3" id="3"/>
          <p:cNvGraphicFramePr>
            <a:graphicFrameLocks noGrp="true"/>
          </p:cNvGraphicFramePr>
          <p:nvPr/>
        </p:nvGraphicFramePr>
        <p:xfrm>
          <a:off x="1028700" y="1675447"/>
          <a:ext cx="16230600" cy="2171700"/>
        </p:xfrm>
        <a:graphic>
          <a:graphicData uri="http://schemas.openxmlformats.org/drawingml/2006/table">
            <a:tbl>
              <a:tblPr/>
              <a:tblGrid>
                <a:gridCol w="2771968"/>
                <a:gridCol w="8088405"/>
                <a:gridCol w="5370227"/>
              </a:tblGrid>
              <a:tr h="669687">
                <a:tc>
                  <a:txBody>
                    <a:bodyPr anchor="t" rtlCol="false"/>
                    <a:lstStyle/>
                    <a:p>
                      <a:pPr algn="l">
                        <a:lnSpc>
                          <a:spcPts val="3499"/>
                        </a:lnSpc>
                        <a:defRPr/>
                      </a:pPr>
                      <a:r>
                        <a:rPr lang="en-US" sz="2499" b="true">
                          <a:solidFill>
                            <a:srgbClr val="000000"/>
                          </a:solidFill>
                          <a:latin typeface="Raleway Bold"/>
                          <a:ea typeface="Raleway Bold"/>
                          <a:cs typeface="Raleway Bold"/>
                          <a:sym typeface="Raleway Bold"/>
                        </a:rPr>
                        <a:t>Kavram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sz="2499" b="true">
                          <a:solidFill>
                            <a:srgbClr val="000000"/>
                          </a:solidFill>
                          <a:latin typeface="Raleway Bold"/>
                          <a:ea typeface="Raleway Bold"/>
                          <a:cs typeface="Raleway Bold"/>
                          <a:sym typeface="Raleway Bold"/>
                        </a:rPr>
                        <a:t>Tanım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sz="2499" b="true">
                          <a:solidFill>
                            <a:srgbClr val="000000"/>
                          </a:solidFill>
                          <a:latin typeface="Raleway Bold"/>
                          <a:ea typeface="Raleway Bold"/>
                          <a:cs typeface="Raleway Bold"/>
                          <a:sym typeface="Raleway Bold"/>
                        </a:rPr>
                        <a:t>Günlük Hayat Benzetmesi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57401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Program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Bilgisayara belirli bir işi yaptırmak için verilen sıralı komutlar dizisidir.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Yemek tarifi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7995">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Yazılım (Software)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Programları, bu programların nasıl kullanılacağını anlatan belgeleri, kütüphaneleri ve verileri kapsayan bütüncül yapıdır.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Yemek kitabı + malzeme listesi + kullanım kılavuzu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TextBox 4" id="4"/>
          <p:cNvSpPr txBox="true"/>
          <p:nvPr/>
        </p:nvSpPr>
        <p:spPr>
          <a:xfrm rot="0">
            <a:off x="1028700" y="3951922"/>
            <a:ext cx="16230600" cy="174625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Semi-Bold"/>
                <a:ea typeface="Raleway Semi-Bold"/>
                <a:cs typeface="Raleway Semi-Bold"/>
                <a:sym typeface="Raleway Semi-Bold"/>
              </a:rPr>
              <a:t>Ör</a:t>
            </a:r>
            <a:r>
              <a:rPr lang="en-US" sz="2499" spc="-117" b="true">
                <a:solidFill>
                  <a:srgbClr val="CEAF69"/>
                </a:solidFill>
                <a:latin typeface="Raleway Semi-Bold"/>
                <a:ea typeface="Raleway Semi-Bold"/>
                <a:cs typeface="Raleway Semi-Bold"/>
                <a:sym typeface="Raleway Semi-Bold"/>
              </a:rPr>
              <a:t>nek:</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Bir hesap makinesi uygulaması → </a:t>
            </a:r>
            <a:r>
              <a:rPr lang="en-US" b="true" sz="2499" spc="-117">
                <a:solidFill>
                  <a:srgbClr val="424242"/>
                </a:solidFill>
                <a:latin typeface="Raleway Bold"/>
                <a:ea typeface="Raleway Bold"/>
                <a:cs typeface="Raleway Bold"/>
                <a:sym typeface="Raleway Bold"/>
              </a:rPr>
              <a:t>Program</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Hesap makinesi uygulaması + kullanıcı kılavuzu + güncelleme notları + lisans belgesi → </a:t>
            </a:r>
            <a:r>
              <a:rPr lang="en-US" b="true" sz="2499" spc="-117">
                <a:solidFill>
                  <a:srgbClr val="424242"/>
                </a:solidFill>
                <a:latin typeface="Raleway Bold"/>
                <a:ea typeface="Raleway Bold"/>
                <a:cs typeface="Raleway Bold"/>
                <a:sym typeface="Raleway Bold"/>
              </a:rPr>
              <a:t>Yazılım</a:t>
            </a:r>
          </a:p>
          <a:p>
            <a:pPr algn="l">
              <a:lnSpc>
                <a:spcPts val="34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2.1.1. Programlama Dili Nedir?</a:t>
            </a:r>
          </a:p>
        </p:txBody>
      </p:sp>
      <p:sp>
        <p:nvSpPr>
          <p:cNvPr name="TextBox 4" id="4"/>
          <p:cNvSpPr txBox="true"/>
          <p:nvPr/>
        </p:nvSpPr>
        <p:spPr>
          <a:xfrm rot="0">
            <a:off x="1028700" y="1756117"/>
            <a:ext cx="16230600" cy="26225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İnsanlar kendi aralarında anlaşmak için dili kullanır. Peki ya bilgisayarlarla nasıl anlaşırız? İşte bu noktada </a:t>
            </a:r>
            <a:r>
              <a:rPr lang="en-US" sz="2499" spc="-117" b="true">
                <a:solidFill>
                  <a:srgbClr val="424242"/>
                </a:solidFill>
                <a:latin typeface="Raleway Semi-Bold"/>
                <a:ea typeface="Raleway Semi-Bold"/>
                <a:cs typeface="Raleway Semi-Bold"/>
                <a:sym typeface="Raleway Semi-Bold"/>
              </a:rPr>
              <a:t>programlama dili</a:t>
            </a:r>
            <a:r>
              <a:rPr lang="en-US" sz="2499" spc="-117">
                <a:solidFill>
                  <a:srgbClr val="424242"/>
                </a:solidFill>
                <a:latin typeface="Raleway"/>
                <a:ea typeface="Raleway"/>
                <a:cs typeface="Raleway"/>
                <a:sym typeface="Raleway"/>
              </a:rPr>
              <a:t> devreye girer.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Programlama Dili: </a:t>
            </a:r>
            <a:r>
              <a:rPr lang="en-US" sz="2499" spc="-117">
                <a:solidFill>
                  <a:srgbClr val="424242"/>
                </a:solidFill>
                <a:latin typeface="Raleway"/>
                <a:ea typeface="Raleway"/>
                <a:cs typeface="Raleway"/>
                <a:sym typeface="Raleway"/>
              </a:rPr>
              <a:t>Geliştiricilerin bilgisayarlara, cep telefonlarına, robotlara veya akıllı cihazlara belirli görevleri nasıl gerçekleştireceklerini iletmek için kullandıkları yapılandırılmış sisteme denir. Her programlama dilinin, konuşma dillerinde olduğu gibi kendine özgü kesin dil bilgisi (söz dizimi) kuralları bulunur.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3047326" y="6788139"/>
            <a:ext cx="1864972" cy="2470161"/>
          </a:xfrm>
          <a:custGeom>
            <a:avLst/>
            <a:gdLst/>
            <a:ahLst/>
            <a:cxnLst/>
            <a:rect r="r" b="b" t="t" l="l"/>
            <a:pathLst>
              <a:path h="2470161" w="1864972">
                <a:moveTo>
                  <a:pt x="0" y="0"/>
                </a:moveTo>
                <a:lnTo>
                  <a:pt x="1864972" y="0"/>
                </a:lnTo>
                <a:lnTo>
                  <a:pt x="1864972" y="2470161"/>
                </a:lnTo>
                <a:lnTo>
                  <a:pt x="0" y="24701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91941" y="6788139"/>
            <a:ext cx="1667359" cy="2470161"/>
          </a:xfrm>
          <a:custGeom>
            <a:avLst/>
            <a:gdLst/>
            <a:ahLst/>
            <a:cxnLst/>
            <a:rect r="r" b="b" t="t" l="l"/>
            <a:pathLst>
              <a:path h="2470161" w="1667359">
                <a:moveTo>
                  <a:pt x="0" y="0"/>
                </a:moveTo>
                <a:lnTo>
                  <a:pt x="1667359" y="0"/>
                </a:lnTo>
                <a:lnTo>
                  <a:pt x="1667359" y="2470161"/>
                </a:lnTo>
                <a:lnTo>
                  <a:pt x="0" y="24701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076956" y="5143500"/>
            <a:ext cx="4269105" cy="5143500"/>
          </a:xfrm>
          <a:custGeom>
            <a:avLst/>
            <a:gdLst/>
            <a:ahLst/>
            <a:cxnLst/>
            <a:rect r="r" b="b" t="t" l="l"/>
            <a:pathLst>
              <a:path h="5143500" w="4269105">
                <a:moveTo>
                  <a:pt x="0" y="0"/>
                </a:moveTo>
                <a:lnTo>
                  <a:pt x="4269105" y="0"/>
                </a:lnTo>
                <a:lnTo>
                  <a:pt x="4269105" y="5143500"/>
                </a:lnTo>
                <a:lnTo>
                  <a:pt x="0" y="5143500"/>
                </a:lnTo>
                <a:lnTo>
                  <a:pt x="0" y="0"/>
                </a:lnTo>
                <a:close/>
              </a:path>
            </a:pathLst>
          </a:custGeom>
          <a:blipFill>
            <a:blip r:embed="rId6"/>
            <a:stretch>
              <a:fillRect l="0" t="0" r="0" b="0"/>
            </a:stretch>
          </a:blipFill>
        </p:spPr>
      </p:sp>
      <p:sp>
        <p:nvSpPr>
          <p:cNvPr name="TextBox 5" id="5"/>
          <p:cNvSpPr txBox="true"/>
          <p:nvPr/>
        </p:nvSpPr>
        <p:spPr>
          <a:xfrm rot="0">
            <a:off x="1028700" y="962025"/>
            <a:ext cx="16230600" cy="315912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Bold"/>
                <a:ea typeface="Raleway Bold"/>
                <a:cs typeface="Raleway Bold"/>
                <a:sym typeface="Raleway Bold"/>
              </a:rPr>
              <a:t>Bilgisayarlar Aslında Nasıl Çalışır?</a:t>
            </a:r>
          </a:p>
          <a:p>
            <a:pPr algn="l">
              <a:lnSpc>
                <a:spcPts val="3499"/>
              </a:lnSpc>
            </a:pPr>
          </a:p>
          <a:p>
            <a:pPr algn="l">
              <a:lnSpc>
                <a:spcPts val="3499"/>
              </a:lnSpc>
            </a:pPr>
            <a:r>
              <a:rPr lang="en-US" sz="2499" spc="-117">
                <a:solidFill>
                  <a:srgbClr val="424242"/>
                </a:solidFill>
                <a:latin typeface="Raleway"/>
                <a:ea typeface="Raleway"/>
                <a:cs typeface="Raleway"/>
                <a:sym typeface="Raleway"/>
              </a:rPr>
              <a:t>Bilgisayarlar ve diğer elektronik sistemler; temelde sıfır ve birlerden (0 ve 1) oluşan, donanım mimarisine doğrudan hitap eden </a:t>
            </a:r>
            <a:r>
              <a:rPr lang="en-US" sz="2499" spc="-117" b="true">
                <a:solidFill>
                  <a:srgbClr val="424242"/>
                </a:solidFill>
                <a:latin typeface="Raleway Bold"/>
                <a:ea typeface="Raleway Bold"/>
                <a:cs typeface="Raleway Bold"/>
                <a:sym typeface="Raleway Bold"/>
              </a:rPr>
              <a:t>makine dili </a:t>
            </a:r>
            <a:r>
              <a:rPr lang="en-US" sz="2499" spc="-117">
                <a:solidFill>
                  <a:srgbClr val="424242"/>
                </a:solidFill>
                <a:latin typeface="Raleway"/>
                <a:ea typeface="Raleway"/>
                <a:cs typeface="Raleway"/>
                <a:sym typeface="Raleway"/>
              </a:rPr>
              <a:t>seviyesinde çalışır.</a:t>
            </a:r>
          </a:p>
          <a:p>
            <a:pPr algn="l">
              <a:lnSpc>
                <a:spcPts val="3499"/>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Makine dili, işlemci tarafından doğrudan yürütülebilir.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Ancak insanlar tarafından yazılması ve hata ayıklanması oldukça zordur.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grpSp>
        <p:nvGrpSpPr>
          <p:cNvPr name="Group 2" id="2"/>
          <p:cNvGrpSpPr/>
          <p:nvPr/>
        </p:nvGrpSpPr>
        <p:grpSpPr>
          <a:xfrm rot="0">
            <a:off x="1375375" y="5188363"/>
            <a:ext cx="2789877" cy="1179304"/>
            <a:chOff x="0" y="0"/>
            <a:chExt cx="734782" cy="310598"/>
          </a:xfrm>
        </p:grpSpPr>
        <p:sp>
          <p:nvSpPr>
            <p:cNvPr name="Freeform 3" id="3"/>
            <p:cNvSpPr/>
            <p:nvPr/>
          </p:nvSpPr>
          <p:spPr>
            <a:xfrm flipH="false" flipV="false" rot="0">
              <a:off x="0" y="0"/>
              <a:ext cx="734782" cy="310598"/>
            </a:xfrm>
            <a:custGeom>
              <a:avLst/>
              <a:gdLst/>
              <a:ahLst/>
              <a:cxnLst/>
              <a:rect r="r" b="b" t="t" l="l"/>
              <a:pathLst>
                <a:path h="310598" w="734782">
                  <a:moveTo>
                    <a:pt x="47175" y="0"/>
                  </a:moveTo>
                  <a:lnTo>
                    <a:pt x="687607" y="0"/>
                  </a:lnTo>
                  <a:cubicBezTo>
                    <a:pt x="713661" y="0"/>
                    <a:pt x="734782" y="21121"/>
                    <a:pt x="734782" y="47175"/>
                  </a:cubicBezTo>
                  <a:lnTo>
                    <a:pt x="734782" y="263423"/>
                  </a:lnTo>
                  <a:cubicBezTo>
                    <a:pt x="734782" y="275935"/>
                    <a:pt x="729812" y="287934"/>
                    <a:pt x="720965" y="296781"/>
                  </a:cubicBezTo>
                  <a:cubicBezTo>
                    <a:pt x="712118" y="305628"/>
                    <a:pt x="700119" y="310598"/>
                    <a:pt x="687607" y="310598"/>
                  </a:cubicBezTo>
                  <a:lnTo>
                    <a:pt x="47175" y="310598"/>
                  </a:lnTo>
                  <a:cubicBezTo>
                    <a:pt x="34663" y="310598"/>
                    <a:pt x="22664" y="305628"/>
                    <a:pt x="13817" y="296781"/>
                  </a:cubicBezTo>
                  <a:cubicBezTo>
                    <a:pt x="4970" y="287934"/>
                    <a:pt x="0" y="275935"/>
                    <a:pt x="0" y="263423"/>
                  </a:cubicBezTo>
                  <a:lnTo>
                    <a:pt x="0" y="47175"/>
                  </a:lnTo>
                  <a:cubicBezTo>
                    <a:pt x="0" y="34663"/>
                    <a:pt x="4970" y="22664"/>
                    <a:pt x="13817" y="13817"/>
                  </a:cubicBezTo>
                  <a:cubicBezTo>
                    <a:pt x="22664" y="4970"/>
                    <a:pt x="34663" y="0"/>
                    <a:pt x="47175" y="0"/>
                  </a:cubicBezTo>
                  <a:close/>
                </a:path>
              </a:pathLst>
            </a:custGeom>
            <a:solidFill>
              <a:srgbClr val="D8E6E7"/>
            </a:solidFill>
          </p:spPr>
        </p:sp>
        <p:sp>
          <p:nvSpPr>
            <p:cNvPr name="TextBox 4" id="4"/>
            <p:cNvSpPr txBox="true"/>
            <p:nvPr/>
          </p:nvSpPr>
          <p:spPr>
            <a:xfrm>
              <a:off x="0" y="-57150"/>
              <a:ext cx="734782" cy="367748"/>
            </a:xfrm>
            <a:prstGeom prst="rect">
              <a:avLst/>
            </a:prstGeom>
          </p:spPr>
          <p:txBody>
            <a:bodyPr anchor="ctr" rtlCol="false" tIns="50800" lIns="50800" bIns="50800" rIns="50800"/>
            <a:lstStyle/>
            <a:p>
              <a:pPr algn="ctr">
                <a:lnSpc>
                  <a:spcPts val="3499"/>
                </a:lnSpc>
              </a:pPr>
              <a:r>
                <a:rPr lang="en-US" sz="2499" spc="-117">
                  <a:solidFill>
                    <a:srgbClr val="000000"/>
                  </a:solidFill>
                  <a:latin typeface="Raleway"/>
                  <a:ea typeface="Raleway"/>
                  <a:cs typeface="Raleway"/>
                  <a:sym typeface="Raleway"/>
                </a:rPr>
                <a:t>İnsan Düşüncesi</a:t>
              </a:r>
            </a:p>
          </p:txBody>
        </p:sp>
      </p:grpSp>
      <p:grpSp>
        <p:nvGrpSpPr>
          <p:cNvPr name="Group 5" id="5"/>
          <p:cNvGrpSpPr/>
          <p:nvPr/>
        </p:nvGrpSpPr>
        <p:grpSpPr>
          <a:xfrm rot="0">
            <a:off x="4564838" y="5188363"/>
            <a:ext cx="2789877" cy="1179304"/>
            <a:chOff x="0" y="0"/>
            <a:chExt cx="734782" cy="310598"/>
          </a:xfrm>
        </p:grpSpPr>
        <p:sp>
          <p:nvSpPr>
            <p:cNvPr name="Freeform 6" id="6"/>
            <p:cNvSpPr/>
            <p:nvPr/>
          </p:nvSpPr>
          <p:spPr>
            <a:xfrm flipH="false" flipV="false" rot="0">
              <a:off x="0" y="0"/>
              <a:ext cx="734782" cy="310598"/>
            </a:xfrm>
            <a:custGeom>
              <a:avLst/>
              <a:gdLst/>
              <a:ahLst/>
              <a:cxnLst/>
              <a:rect r="r" b="b" t="t" l="l"/>
              <a:pathLst>
                <a:path h="310598" w="734782">
                  <a:moveTo>
                    <a:pt x="47175" y="0"/>
                  </a:moveTo>
                  <a:lnTo>
                    <a:pt x="687607" y="0"/>
                  </a:lnTo>
                  <a:cubicBezTo>
                    <a:pt x="713661" y="0"/>
                    <a:pt x="734782" y="21121"/>
                    <a:pt x="734782" y="47175"/>
                  </a:cubicBezTo>
                  <a:lnTo>
                    <a:pt x="734782" y="263423"/>
                  </a:lnTo>
                  <a:cubicBezTo>
                    <a:pt x="734782" y="275935"/>
                    <a:pt x="729812" y="287934"/>
                    <a:pt x="720965" y="296781"/>
                  </a:cubicBezTo>
                  <a:cubicBezTo>
                    <a:pt x="712118" y="305628"/>
                    <a:pt x="700119" y="310598"/>
                    <a:pt x="687607" y="310598"/>
                  </a:cubicBezTo>
                  <a:lnTo>
                    <a:pt x="47175" y="310598"/>
                  </a:lnTo>
                  <a:cubicBezTo>
                    <a:pt x="34663" y="310598"/>
                    <a:pt x="22664" y="305628"/>
                    <a:pt x="13817" y="296781"/>
                  </a:cubicBezTo>
                  <a:cubicBezTo>
                    <a:pt x="4970" y="287934"/>
                    <a:pt x="0" y="275935"/>
                    <a:pt x="0" y="263423"/>
                  </a:cubicBezTo>
                  <a:lnTo>
                    <a:pt x="0" y="47175"/>
                  </a:lnTo>
                  <a:cubicBezTo>
                    <a:pt x="0" y="34663"/>
                    <a:pt x="4970" y="22664"/>
                    <a:pt x="13817" y="13817"/>
                  </a:cubicBezTo>
                  <a:cubicBezTo>
                    <a:pt x="22664" y="4970"/>
                    <a:pt x="34663" y="0"/>
                    <a:pt x="47175" y="0"/>
                  </a:cubicBezTo>
                  <a:close/>
                </a:path>
              </a:pathLst>
            </a:custGeom>
            <a:solidFill>
              <a:srgbClr val="9DC3C1"/>
            </a:solidFill>
          </p:spPr>
        </p:sp>
        <p:sp>
          <p:nvSpPr>
            <p:cNvPr name="TextBox 7" id="7"/>
            <p:cNvSpPr txBox="true"/>
            <p:nvPr/>
          </p:nvSpPr>
          <p:spPr>
            <a:xfrm>
              <a:off x="0" y="-57150"/>
              <a:ext cx="734782" cy="367748"/>
            </a:xfrm>
            <a:prstGeom prst="rect">
              <a:avLst/>
            </a:prstGeom>
          </p:spPr>
          <p:txBody>
            <a:bodyPr anchor="ctr" rtlCol="false" tIns="50800" lIns="50800" bIns="50800" rIns="50800"/>
            <a:lstStyle/>
            <a:p>
              <a:pPr algn="ctr">
                <a:lnSpc>
                  <a:spcPts val="3499"/>
                </a:lnSpc>
              </a:pPr>
              <a:r>
                <a:rPr lang="en-US" sz="2499" spc="-117">
                  <a:solidFill>
                    <a:srgbClr val="000000"/>
                  </a:solidFill>
                  <a:latin typeface="Raleway"/>
                  <a:ea typeface="Raleway"/>
                  <a:cs typeface="Raleway"/>
                  <a:sym typeface="Raleway"/>
                </a:rPr>
                <a:t>Algoritma</a:t>
              </a:r>
            </a:p>
          </p:txBody>
        </p:sp>
      </p:grpSp>
      <p:grpSp>
        <p:nvGrpSpPr>
          <p:cNvPr name="Group 8" id="8"/>
          <p:cNvGrpSpPr/>
          <p:nvPr/>
        </p:nvGrpSpPr>
        <p:grpSpPr>
          <a:xfrm rot="0">
            <a:off x="7750808" y="5188363"/>
            <a:ext cx="2789877" cy="1179304"/>
            <a:chOff x="0" y="0"/>
            <a:chExt cx="734782" cy="310598"/>
          </a:xfrm>
        </p:grpSpPr>
        <p:sp>
          <p:nvSpPr>
            <p:cNvPr name="Freeform 9" id="9"/>
            <p:cNvSpPr/>
            <p:nvPr/>
          </p:nvSpPr>
          <p:spPr>
            <a:xfrm flipH="false" flipV="false" rot="0">
              <a:off x="0" y="0"/>
              <a:ext cx="734782" cy="310598"/>
            </a:xfrm>
            <a:custGeom>
              <a:avLst/>
              <a:gdLst/>
              <a:ahLst/>
              <a:cxnLst/>
              <a:rect r="r" b="b" t="t" l="l"/>
              <a:pathLst>
                <a:path h="310598" w="734782">
                  <a:moveTo>
                    <a:pt x="47175" y="0"/>
                  </a:moveTo>
                  <a:lnTo>
                    <a:pt x="687607" y="0"/>
                  </a:lnTo>
                  <a:cubicBezTo>
                    <a:pt x="713661" y="0"/>
                    <a:pt x="734782" y="21121"/>
                    <a:pt x="734782" y="47175"/>
                  </a:cubicBezTo>
                  <a:lnTo>
                    <a:pt x="734782" y="263423"/>
                  </a:lnTo>
                  <a:cubicBezTo>
                    <a:pt x="734782" y="275935"/>
                    <a:pt x="729812" y="287934"/>
                    <a:pt x="720965" y="296781"/>
                  </a:cubicBezTo>
                  <a:cubicBezTo>
                    <a:pt x="712118" y="305628"/>
                    <a:pt x="700119" y="310598"/>
                    <a:pt x="687607" y="310598"/>
                  </a:cubicBezTo>
                  <a:lnTo>
                    <a:pt x="47175" y="310598"/>
                  </a:lnTo>
                  <a:cubicBezTo>
                    <a:pt x="34663" y="310598"/>
                    <a:pt x="22664" y="305628"/>
                    <a:pt x="13817" y="296781"/>
                  </a:cubicBezTo>
                  <a:cubicBezTo>
                    <a:pt x="4970" y="287934"/>
                    <a:pt x="0" y="275935"/>
                    <a:pt x="0" y="263423"/>
                  </a:cubicBezTo>
                  <a:lnTo>
                    <a:pt x="0" y="47175"/>
                  </a:lnTo>
                  <a:cubicBezTo>
                    <a:pt x="0" y="34663"/>
                    <a:pt x="4970" y="22664"/>
                    <a:pt x="13817" y="13817"/>
                  </a:cubicBezTo>
                  <a:cubicBezTo>
                    <a:pt x="22664" y="4970"/>
                    <a:pt x="34663" y="0"/>
                    <a:pt x="47175" y="0"/>
                  </a:cubicBezTo>
                  <a:close/>
                </a:path>
              </a:pathLst>
            </a:custGeom>
            <a:solidFill>
              <a:srgbClr val="FF5757"/>
            </a:solidFill>
          </p:spPr>
        </p:sp>
        <p:sp>
          <p:nvSpPr>
            <p:cNvPr name="TextBox 10" id="10"/>
            <p:cNvSpPr txBox="true"/>
            <p:nvPr/>
          </p:nvSpPr>
          <p:spPr>
            <a:xfrm>
              <a:off x="0" y="-57150"/>
              <a:ext cx="734782" cy="367748"/>
            </a:xfrm>
            <a:prstGeom prst="rect">
              <a:avLst/>
            </a:prstGeom>
          </p:spPr>
          <p:txBody>
            <a:bodyPr anchor="ctr" rtlCol="false" tIns="50800" lIns="50800" bIns="50800" rIns="50800"/>
            <a:lstStyle/>
            <a:p>
              <a:pPr algn="ctr">
                <a:lnSpc>
                  <a:spcPts val="3499"/>
                </a:lnSpc>
              </a:pPr>
              <a:r>
                <a:rPr lang="en-US" sz="2499" spc="-117">
                  <a:solidFill>
                    <a:srgbClr val="000000"/>
                  </a:solidFill>
                  <a:latin typeface="Raleway"/>
                  <a:ea typeface="Raleway"/>
                  <a:cs typeface="Raleway"/>
                  <a:sym typeface="Raleway"/>
                </a:rPr>
                <a:t>Programlama Dili</a:t>
              </a:r>
            </a:p>
          </p:txBody>
        </p:sp>
      </p:grpSp>
      <p:grpSp>
        <p:nvGrpSpPr>
          <p:cNvPr name="Group 11" id="11"/>
          <p:cNvGrpSpPr/>
          <p:nvPr/>
        </p:nvGrpSpPr>
        <p:grpSpPr>
          <a:xfrm rot="0">
            <a:off x="10936778" y="5188363"/>
            <a:ext cx="2789877" cy="1179304"/>
            <a:chOff x="0" y="0"/>
            <a:chExt cx="734782" cy="310598"/>
          </a:xfrm>
        </p:grpSpPr>
        <p:sp>
          <p:nvSpPr>
            <p:cNvPr name="Freeform 12" id="12"/>
            <p:cNvSpPr/>
            <p:nvPr/>
          </p:nvSpPr>
          <p:spPr>
            <a:xfrm flipH="false" flipV="false" rot="0">
              <a:off x="0" y="0"/>
              <a:ext cx="734782" cy="310598"/>
            </a:xfrm>
            <a:custGeom>
              <a:avLst/>
              <a:gdLst/>
              <a:ahLst/>
              <a:cxnLst/>
              <a:rect r="r" b="b" t="t" l="l"/>
              <a:pathLst>
                <a:path h="310598" w="734782">
                  <a:moveTo>
                    <a:pt x="47175" y="0"/>
                  </a:moveTo>
                  <a:lnTo>
                    <a:pt x="687607" y="0"/>
                  </a:lnTo>
                  <a:cubicBezTo>
                    <a:pt x="713661" y="0"/>
                    <a:pt x="734782" y="21121"/>
                    <a:pt x="734782" y="47175"/>
                  </a:cubicBezTo>
                  <a:lnTo>
                    <a:pt x="734782" y="263423"/>
                  </a:lnTo>
                  <a:cubicBezTo>
                    <a:pt x="734782" y="275935"/>
                    <a:pt x="729812" y="287934"/>
                    <a:pt x="720965" y="296781"/>
                  </a:cubicBezTo>
                  <a:cubicBezTo>
                    <a:pt x="712118" y="305628"/>
                    <a:pt x="700119" y="310598"/>
                    <a:pt x="687607" y="310598"/>
                  </a:cubicBezTo>
                  <a:lnTo>
                    <a:pt x="47175" y="310598"/>
                  </a:lnTo>
                  <a:cubicBezTo>
                    <a:pt x="34663" y="310598"/>
                    <a:pt x="22664" y="305628"/>
                    <a:pt x="13817" y="296781"/>
                  </a:cubicBezTo>
                  <a:cubicBezTo>
                    <a:pt x="4970" y="287934"/>
                    <a:pt x="0" y="275935"/>
                    <a:pt x="0" y="263423"/>
                  </a:cubicBezTo>
                  <a:lnTo>
                    <a:pt x="0" y="47175"/>
                  </a:lnTo>
                  <a:cubicBezTo>
                    <a:pt x="0" y="34663"/>
                    <a:pt x="4970" y="22664"/>
                    <a:pt x="13817" y="13817"/>
                  </a:cubicBezTo>
                  <a:cubicBezTo>
                    <a:pt x="22664" y="4970"/>
                    <a:pt x="34663" y="0"/>
                    <a:pt x="47175" y="0"/>
                  </a:cubicBezTo>
                  <a:close/>
                </a:path>
              </a:pathLst>
            </a:custGeom>
            <a:solidFill>
              <a:srgbClr val="E2A9F1"/>
            </a:solidFill>
          </p:spPr>
        </p:sp>
        <p:sp>
          <p:nvSpPr>
            <p:cNvPr name="TextBox 13" id="13"/>
            <p:cNvSpPr txBox="true"/>
            <p:nvPr/>
          </p:nvSpPr>
          <p:spPr>
            <a:xfrm>
              <a:off x="0" y="-57150"/>
              <a:ext cx="734782" cy="367748"/>
            </a:xfrm>
            <a:prstGeom prst="rect">
              <a:avLst/>
            </a:prstGeom>
          </p:spPr>
          <p:txBody>
            <a:bodyPr anchor="ctr" rtlCol="false" tIns="50800" lIns="50800" bIns="50800" rIns="50800"/>
            <a:lstStyle/>
            <a:p>
              <a:pPr algn="ctr">
                <a:lnSpc>
                  <a:spcPts val="3499"/>
                </a:lnSpc>
              </a:pPr>
              <a:r>
                <a:rPr lang="en-US" sz="2499" spc="-117">
                  <a:solidFill>
                    <a:srgbClr val="000000"/>
                  </a:solidFill>
                  <a:latin typeface="Raleway"/>
                  <a:ea typeface="Raleway"/>
                  <a:cs typeface="Raleway"/>
                  <a:sym typeface="Raleway"/>
                </a:rPr>
                <a:t>Derleyici/Yorumlayıcı</a:t>
              </a:r>
            </a:p>
          </p:txBody>
        </p:sp>
      </p:grpSp>
      <p:grpSp>
        <p:nvGrpSpPr>
          <p:cNvPr name="Group 14" id="14"/>
          <p:cNvGrpSpPr/>
          <p:nvPr/>
        </p:nvGrpSpPr>
        <p:grpSpPr>
          <a:xfrm rot="0">
            <a:off x="14122749" y="5188363"/>
            <a:ext cx="2789877" cy="1179304"/>
            <a:chOff x="0" y="0"/>
            <a:chExt cx="734782" cy="310598"/>
          </a:xfrm>
        </p:grpSpPr>
        <p:sp>
          <p:nvSpPr>
            <p:cNvPr name="Freeform 15" id="15"/>
            <p:cNvSpPr/>
            <p:nvPr/>
          </p:nvSpPr>
          <p:spPr>
            <a:xfrm flipH="false" flipV="false" rot="0">
              <a:off x="0" y="0"/>
              <a:ext cx="734782" cy="310598"/>
            </a:xfrm>
            <a:custGeom>
              <a:avLst/>
              <a:gdLst/>
              <a:ahLst/>
              <a:cxnLst/>
              <a:rect r="r" b="b" t="t" l="l"/>
              <a:pathLst>
                <a:path h="310598" w="734782">
                  <a:moveTo>
                    <a:pt x="47175" y="0"/>
                  </a:moveTo>
                  <a:lnTo>
                    <a:pt x="687607" y="0"/>
                  </a:lnTo>
                  <a:cubicBezTo>
                    <a:pt x="713661" y="0"/>
                    <a:pt x="734782" y="21121"/>
                    <a:pt x="734782" y="47175"/>
                  </a:cubicBezTo>
                  <a:lnTo>
                    <a:pt x="734782" y="263423"/>
                  </a:lnTo>
                  <a:cubicBezTo>
                    <a:pt x="734782" y="275935"/>
                    <a:pt x="729812" y="287934"/>
                    <a:pt x="720965" y="296781"/>
                  </a:cubicBezTo>
                  <a:cubicBezTo>
                    <a:pt x="712118" y="305628"/>
                    <a:pt x="700119" y="310598"/>
                    <a:pt x="687607" y="310598"/>
                  </a:cubicBezTo>
                  <a:lnTo>
                    <a:pt x="47175" y="310598"/>
                  </a:lnTo>
                  <a:cubicBezTo>
                    <a:pt x="34663" y="310598"/>
                    <a:pt x="22664" y="305628"/>
                    <a:pt x="13817" y="296781"/>
                  </a:cubicBezTo>
                  <a:cubicBezTo>
                    <a:pt x="4970" y="287934"/>
                    <a:pt x="0" y="275935"/>
                    <a:pt x="0" y="263423"/>
                  </a:cubicBezTo>
                  <a:lnTo>
                    <a:pt x="0" y="47175"/>
                  </a:lnTo>
                  <a:cubicBezTo>
                    <a:pt x="0" y="34663"/>
                    <a:pt x="4970" y="22664"/>
                    <a:pt x="13817" y="13817"/>
                  </a:cubicBezTo>
                  <a:cubicBezTo>
                    <a:pt x="22664" y="4970"/>
                    <a:pt x="34663" y="0"/>
                    <a:pt x="47175" y="0"/>
                  </a:cubicBezTo>
                  <a:close/>
                </a:path>
              </a:pathLst>
            </a:custGeom>
            <a:solidFill>
              <a:srgbClr val="E3EF26"/>
            </a:solidFill>
          </p:spPr>
        </p:sp>
        <p:sp>
          <p:nvSpPr>
            <p:cNvPr name="TextBox 16" id="16"/>
            <p:cNvSpPr txBox="true"/>
            <p:nvPr/>
          </p:nvSpPr>
          <p:spPr>
            <a:xfrm>
              <a:off x="0" y="-57150"/>
              <a:ext cx="734782" cy="367748"/>
            </a:xfrm>
            <a:prstGeom prst="rect">
              <a:avLst/>
            </a:prstGeom>
          </p:spPr>
          <p:txBody>
            <a:bodyPr anchor="ctr" rtlCol="false" tIns="50800" lIns="50800" bIns="50800" rIns="50800"/>
            <a:lstStyle/>
            <a:p>
              <a:pPr algn="ctr">
                <a:lnSpc>
                  <a:spcPts val="3499"/>
                </a:lnSpc>
              </a:pPr>
              <a:r>
                <a:rPr lang="en-US" b="true" sz="2499" spc="-117">
                  <a:solidFill>
                    <a:srgbClr val="000000"/>
                  </a:solidFill>
                  <a:latin typeface="Raleway Bold"/>
                  <a:ea typeface="Raleway Bold"/>
                  <a:cs typeface="Raleway Bold"/>
                  <a:sym typeface="Raleway Bold"/>
                </a:rPr>
                <a:t>Makine Dili</a:t>
              </a:r>
            </a:p>
          </p:txBody>
        </p:sp>
      </p:grpSp>
      <p:sp>
        <p:nvSpPr>
          <p:cNvPr name="Freeform 17" id="17"/>
          <p:cNvSpPr/>
          <p:nvPr/>
        </p:nvSpPr>
        <p:spPr>
          <a:xfrm flipH="false" flipV="false" rot="0">
            <a:off x="4061374" y="5684883"/>
            <a:ext cx="610702" cy="186264"/>
          </a:xfrm>
          <a:custGeom>
            <a:avLst/>
            <a:gdLst/>
            <a:ahLst/>
            <a:cxnLst/>
            <a:rect r="r" b="b" t="t" l="l"/>
            <a:pathLst>
              <a:path h="186264" w="610702">
                <a:moveTo>
                  <a:pt x="0" y="0"/>
                </a:moveTo>
                <a:lnTo>
                  <a:pt x="610702" y="0"/>
                </a:lnTo>
                <a:lnTo>
                  <a:pt x="610702" y="186264"/>
                </a:lnTo>
                <a:lnTo>
                  <a:pt x="0" y="186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028700" y="971550"/>
            <a:ext cx="16230600" cy="39370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Programcının Görevi:</a:t>
            </a:r>
          </a:p>
          <a:p>
            <a:pPr algn="l">
              <a:lnSpc>
                <a:spcPts val="3499"/>
              </a:lnSpc>
            </a:pPr>
          </a:p>
          <a:p>
            <a:pPr algn="l">
              <a:lnSpc>
                <a:spcPts val="3499"/>
              </a:lnSpc>
            </a:pPr>
            <a:r>
              <a:rPr lang="en-US" sz="2499" spc="-117">
                <a:solidFill>
                  <a:srgbClr val="424242"/>
                </a:solidFill>
                <a:latin typeface="Raleway"/>
                <a:ea typeface="Raleway"/>
                <a:cs typeface="Raleway"/>
                <a:sym typeface="Raleway"/>
              </a:rPr>
              <a:t>Programcı bir tür </a:t>
            </a:r>
            <a:r>
              <a:rPr lang="en-US" sz="2499" spc="-117" b="true">
                <a:solidFill>
                  <a:srgbClr val="424242"/>
                </a:solidFill>
                <a:latin typeface="Raleway Bold"/>
                <a:ea typeface="Raleway Bold"/>
                <a:cs typeface="Raleway Bold"/>
                <a:sym typeface="Raleway Bold"/>
              </a:rPr>
              <a:t>çevirmen </a:t>
            </a:r>
            <a:r>
              <a:rPr lang="en-US" sz="2499" spc="-117">
                <a:solidFill>
                  <a:srgbClr val="424242"/>
                </a:solidFill>
                <a:latin typeface="Raleway"/>
                <a:ea typeface="Raleway"/>
                <a:cs typeface="Raleway"/>
                <a:sym typeface="Raleway"/>
              </a:rPr>
              <a:t>gibi çalışır:</a:t>
            </a:r>
          </a:p>
          <a:p>
            <a:pPr algn="l" marL="539749" indent="-269875" lvl="1">
              <a:lnSpc>
                <a:spcPts val="3499"/>
              </a:lnSpc>
              <a:buAutoNum type="arabicPeriod" startAt="1"/>
            </a:pPr>
            <a:r>
              <a:rPr lang="en-US" sz="2499" spc="-117">
                <a:solidFill>
                  <a:srgbClr val="424242"/>
                </a:solidFill>
                <a:latin typeface="Raleway"/>
                <a:ea typeface="Raleway"/>
                <a:cs typeface="Raleway"/>
                <a:sym typeface="Raleway"/>
              </a:rPr>
              <a:t>Önce çözmek istediği problemi mantıksal adımlara böler → </a:t>
            </a:r>
            <a:r>
              <a:rPr lang="en-US" b="true" sz="2499" spc="-117">
                <a:solidFill>
                  <a:srgbClr val="424242"/>
                </a:solidFill>
                <a:latin typeface="Raleway Bold"/>
                <a:ea typeface="Raleway Bold"/>
                <a:cs typeface="Raleway Bold"/>
                <a:sym typeface="Raleway Bold"/>
              </a:rPr>
              <a:t>Algoritma oluşturur.</a:t>
            </a:r>
          </a:p>
          <a:p>
            <a:pPr algn="l" marL="539749" indent="-269875" lvl="1">
              <a:lnSpc>
                <a:spcPts val="3499"/>
              </a:lnSpc>
              <a:buAutoNum type="arabicPeriod" startAt="1"/>
            </a:pPr>
            <a:r>
              <a:rPr lang="en-US" sz="2499" spc="-117">
                <a:solidFill>
                  <a:srgbClr val="424242"/>
                </a:solidFill>
                <a:latin typeface="Raleway"/>
                <a:ea typeface="Raleway"/>
                <a:cs typeface="Raleway"/>
                <a:sym typeface="Raleway"/>
              </a:rPr>
              <a:t>Sonra bu algoritmayı, insanlar tarafından yazılıp okunabilen bir </a:t>
            </a:r>
            <a:r>
              <a:rPr lang="en-US" b="true" sz="2499" spc="-117">
                <a:solidFill>
                  <a:srgbClr val="424242"/>
                </a:solidFill>
                <a:latin typeface="Raleway Bold"/>
                <a:ea typeface="Raleway Bold"/>
                <a:cs typeface="Raleway Bold"/>
                <a:sym typeface="Raleway Bold"/>
              </a:rPr>
              <a:t>programlama dili </a:t>
            </a:r>
            <a:r>
              <a:rPr lang="en-US" sz="2499" spc="-117">
                <a:solidFill>
                  <a:srgbClr val="424242"/>
                </a:solidFill>
                <a:latin typeface="Raleway"/>
                <a:ea typeface="Raleway"/>
                <a:cs typeface="Raleway"/>
                <a:sym typeface="Raleway"/>
              </a:rPr>
              <a:t>ile ifade eder.</a:t>
            </a:r>
          </a:p>
          <a:p>
            <a:pPr algn="l" marL="539749" indent="-269875" lvl="1">
              <a:lnSpc>
                <a:spcPts val="3499"/>
              </a:lnSpc>
              <a:buAutoNum type="arabicPeriod" startAt="1"/>
            </a:pPr>
            <a:r>
              <a:rPr lang="en-US" sz="2499" spc="-117">
                <a:solidFill>
                  <a:srgbClr val="424242"/>
                </a:solidFill>
                <a:latin typeface="Raleway"/>
                <a:ea typeface="Raleway"/>
                <a:cs typeface="Raleway"/>
                <a:sym typeface="Raleway"/>
              </a:rPr>
              <a:t>Çevirici programlar (</a:t>
            </a:r>
            <a:r>
              <a:rPr lang="en-US" b="true" sz="2499" spc="-117">
                <a:solidFill>
                  <a:srgbClr val="424242"/>
                </a:solidFill>
                <a:latin typeface="Raleway Bold"/>
                <a:ea typeface="Raleway Bold"/>
                <a:cs typeface="Raleway Bold"/>
                <a:sym typeface="Raleway Bold"/>
              </a:rPr>
              <a:t>derleyici </a:t>
            </a:r>
            <a:r>
              <a:rPr lang="en-US" sz="2499" spc="-117">
                <a:solidFill>
                  <a:srgbClr val="424242"/>
                </a:solidFill>
                <a:latin typeface="Raleway"/>
                <a:ea typeface="Raleway"/>
                <a:cs typeface="Raleway"/>
                <a:sym typeface="Raleway"/>
              </a:rPr>
              <a:t>veya </a:t>
            </a:r>
            <a:r>
              <a:rPr lang="en-US" b="true" sz="2499" spc="-117">
                <a:solidFill>
                  <a:srgbClr val="424242"/>
                </a:solidFill>
                <a:latin typeface="Raleway Bold"/>
                <a:ea typeface="Raleway Bold"/>
                <a:cs typeface="Raleway Bold"/>
                <a:sym typeface="Raleway Bold"/>
              </a:rPr>
              <a:t>yorumlayıcı</a:t>
            </a:r>
            <a:r>
              <a:rPr lang="en-US" sz="2499" spc="-117">
                <a:solidFill>
                  <a:srgbClr val="424242"/>
                </a:solidFill>
                <a:latin typeface="Raleway"/>
                <a:ea typeface="Raleway"/>
                <a:cs typeface="Raleway"/>
                <a:sym typeface="Raleway"/>
              </a:rPr>
              <a:t>) bu kodu makine diline dönüştürür.</a:t>
            </a:r>
          </a:p>
          <a:p>
            <a:pPr algn="l">
              <a:lnSpc>
                <a:spcPts val="3499"/>
              </a:lnSpc>
            </a:pP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Şema: Programcının Çeviri Süreci</a:t>
            </a:r>
          </a:p>
        </p:txBody>
      </p:sp>
      <p:sp>
        <p:nvSpPr>
          <p:cNvPr name="Freeform 19" id="19"/>
          <p:cNvSpPr/>
          <p:nvPr/>
        </p:nvSpPr>
        <p:spPr>
          <a:xfrm flipH="false" flipV="false" rot="0">
            <a:off x="7245664" y="5684883"/>
            <a:ext cx="610702" cy="186264"/>
          </a:xfrm>
          <a:custGeom>
            <a:avLst/>
            <a:gdLst/>
            <a:ahLst/>
            <a:cxnLst/>
            <a:rect r="r" b="b" t="t" l="l"/>
            <a:pathLst>
              <a:path h="186264" w="610702">
                <a:moveTo>
                  <a:pt x="0" y="0"/>
                </a:moveTo>
                <a:lnTo>
                  <a:pt x="610702" y="0"/>
                </a:lnTo>
                <a:lnTo>
                  <a:pt x="610702" y="186264"/>
                </a:lnTo>
                <a:lnTo>
                  <a:pt x="0" y="1862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0376554" y="5684883"/>
            <a:ext cx="610702" cy="186264"/>
          </a:xfrm>
          <a:custGeom>
            <a:avLst/>
            <a:gdLst/>
            <a:ahLst/>
            <a:cxnLst/>
            <a:rect r="r" b="b" t="t" l="l"/>
            <a:pathLst>
              <a:path h="186264" w="610702">
                <a:moveTo>
                  <a:pt x="0" y="0"/>
                </a:moveTo>
                <a:lnTo>
                  <a:pt x="610702" y="0"/>
                </a:lnTo>
                <a:lnTo>
                  <a:pt x="610702" y="186264"/>
                </a:lnTo>
                <a:lnTo>
                  <a:pt x="0" y="186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13651749" y="5684883"/>
            <a:ext cx="610702" cy="186264"/>
          </a:xfrm>
          <a:custGeom>
            <a:avLst/>
            <a:gdLst/>
            <a:ahLst/>
            <a:cxnLst/>
            <a:rect r="r" b="b" t="t" l="l"/>
            <a:pathLst>
              <a:path h="186264" w="610702">
                <a:moveTo>
                  <a:pt x="0" y="0"/>
                </a:moveTo>
                <a:lnTo>
                  <a:pt x="610703" y="0"/>
                </a:lnTo>
                <a:lnTo>
                  <a:pt x="610703" y="186264"/>
                </a:lnTo>
                <a:lnTo>
                  <a:pt x="0" y="1862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2.1.2. Programlama Dillerinin Seviyeleri</a:t>
            </a:r>
          </a:p>
        </p:txBody>
      </p:sp>
      <p:sp>
        <p:nvSpPr>
          <p:cNvPr name="TextBox 4" id="4"/>
          <p:cNvSpPr txBox="true"/>
          <p:nvPr/>
        </p:nvSpPr>
        <p:spPr>
          <a:xfrm rot="0">
            <a:off x="1028700" y="1756117"/>
            <a:ext cx="16230600"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Tüm programlama dilleri aynı yapıda değildir. Bir programlama dilinin </a:t>
            </a:r>
            <a:r>
              <a:rPr lang="en-US" sz="2499" spc="-117" b="true">
                <a:solidFill>
                  <a:srgbClr val="424242"/>
                </a:solidFill>
                <a:latin typeface="Raleway Bold"/>
                <a:ea typeface="Raleway Bold"/>
                <a:cs typeface="Raleway Bold"/>
                <a:sym typeface="Raleway Bold"/>
              </a:rPr>
              <a:t>makine diline ne kadar yakın veya uzak olduğu </a:t>
            </a:r>
            <a:r>
              <a:rPr lang="en-US" sz="2499" spc="-117">
                <a:solidFill>
                  <a:srgbClr val="424242"/>
                </a:solidFill>
                <a:latin typeface="Raleway"/>
                <a:ea typeface="Raleway"/>
                <a:cs typeface="Raleway"/>
                <a:sym typeface="Raleway"/>
              </a:rPr>
              <a:t>onun seviyesini belirler. </a:t>
            </a:r>
          </a:p>
          <a:p>
            <a:pPr algn="l">
              <a:lnSpc>
                <a:spcPts val="3499"/>
              </a:lnSpc>
            </a:pPr>
          </a:p>
          <a:p>
            <a:pPr algn="l">
              <a:lnSpc>
                <a:spcPts val="3499"/>
              </a:lnSpc>
            </a:pPr>
            <a:r>
              <a:rPr lang="en-US" sz="2499" spc="-117">
                <a:solidFill>
                  <a:srgbClr val="424242"/>
                </a:solidFill>
                <a:latin typeface="Raleway"/>
                <a:ea typeface="Raleway"/>
                <a:cs typeface="Raleway"/>
                <a:sym typeface="Raleway"/>
              </a:rPr>
              <a:t>Bu seviyeler, bir dilin </a:t>
            </a:r>
            <a:r>
              <a:rPr lang="en-US" sz="2499" spc="-117" b="true">
                <a:solidFill>
                  <a:srgbClr val="424242"/>
                </a:solidFill>
                <a:latin typeface="Raleway Bold"/>
                <a:ea typeface="Raleway Bold"/>
                <a:cs typeface="Raleway Bold"/>
                <a:sym typeface="Raleway Bold"/>
              </a:rPr>
              <a:t>anlaşılırlığını</a:t>
            </a:r>
            <a:r>
              <a:rPr lang="en-US" sz="2499" spc="-117">
                <a:solidFill>
                  <a:srgbClr val="424242"/>
                </a:solidFill>
                <a:latin typeface="Raleway"/>
                <a:ea typeface="Raleway"/>
                <a:cs typeface="Raleway"/>
                <a:sym typeface="Raleway"/>
              </a:rPr>
              <a:t>, </a:t>
            </a:r>
            <a:r>
              <a:rPr lang="en-US" sz="2499" spc="-117" b="true">
                <a:solidFill>
                  <a:srgbClr val="424242"/>
                </a:solidFill>
                <a:latin typeface="Raleway Bold"/>
                <a:ea typeface="Raleway Bold"/>
                <a:cs typeface="Raleway Bold"/>
                <a:sym typeface="Raleway Bold"/>
              </a:rPr>
              <a:t>hızını </a:t>
            </a:r>
            <a:r>
              <a:rPr lang="en-US" sz="2499" spc="-117">
                <a:solidFill>
                  <a:srgbClr val="424242"/>
                </a:solidFill>
                <a:latin typeface="Raleway"/>
                <a:ea typeface="Raleway"/>
                <a:cs typeface="Raleway"/>
                <a:sym typeface="Raleway"/>
              </a:rPr>
              <a:t>ve </a:t>
            </a:r>
            <a:r>
              <a:rPr lang="en-US" sz="2499" spc="-117" b="true">
                <a:solidFill>
                  <a:srgbClr val="424242"/>
                </a:solidFill>
                <a:latin typeface="Raleway Bold"/>
                <a:ea typeface="Raleway Bold"/>
                <a:cs typeface="Raleway Bold"/>
                <a:sym typeface="Raleway Bold"/>
              </a:rPr>
              <a:t>donanım kontrolünü</a:t>
            </a:r>
            <a:r>
              <a:rPr lang="en-US" sz="2499" spc="-117">
                <a:solidFill>
                  <a:srgbClr val="424242"/>
                </a:solidFill>
                <a:latin typeface="Raleway"/>
                <a:ea typeface="Raleway"/>
                <a:cs typeface="Raleway"/>
                <a:sym typeface="Raleway"/>
              </a:rPr>
              <a:t> doğrudan etkiler.</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Üç Temel Seviye:</a:t>
            </a:r>
          </a:p>
        </p:txBody>
      </p:sp>
      <p:graphicFrame>
        <p:nvGraphicFramePr>
          <p:cNvPr name="Table 3" id="3"/>
          <p:cNvGraphicFramePr>
            <a:graphicFrameLocks noGrp="true"/>
          </p:cNvGraphicFramePr>
          <p:nvPr/>
        </p:nvGraphicFramePr>
        <p:xfrm>
          <a:off x="1028700" y="1600468"/>
          <a:ext cx="16230600" cy="6176092"/>
        </p:xfrm>
        <a:graphic>
          <a:graphicData uri="http://schemas.openxmlformats.org/drawingml/2006/table">
            <a:tbl>
              <a:tblPr/>
              <a:tblGrid>
                <a:gridCol w="1568178"/>
                <a:gridCol w="4227857"/>
                <a:gridCol w="2172397"/>
                <a:gridCol w="4131084"/>
                <a:gridCol w="4131084"/>
              </a:tblGrid>
              <a:tr h="849364">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Seviye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Tanım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 Diller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Avantajları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Dezavantajları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162592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Düşük Seviyeli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Makine diline çok yakın. Komutlar doğrudan donanımı kontrol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Assembly</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Çok hızlı ve verimli çalışır.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Yazılması ve anlaşılması çok zordur. Programcının donanımı çok iyi tanıması gerekir.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207487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Orta Seviyeli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Hem donanıma yakın esnek kontrol sunar hem de yüksek seviyeli dillerin okunabilirliğine yakın bir söz dizimi kullanır.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C, C++</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Donanım kontrolü ile okunabilirlik arasında denge kurar.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Her iki dünyanın da karmaşıklığını taşıyabilir.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62592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Yüksek Seviyeli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İnsan diline çok yakın. Günlük konuşma diline benzer bir sözdizimi kullanır.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Python, Java, C#, JavaScript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Öğrenmesi ve yazması çok kolaydır. Programcı donanım detaylarıyla uğraşmaz.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Makine diline daha uzak olduğu için nispeten daha yavaş çalışır.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525936"/>
            <a:ext cx="4685440" cy="5235129"/>
          </a:xfrm>
          <a:custGeom>
            <a:avLst/>
            <a:gdLst/>
            <a:ahLst/>
            <a:cxnLst/>
            <a:rect r="r" b="b" t="t" l="l"/>
            <a:pathLst>
              <a:path h="5235129" w="4685440">
                <a:moveTo>
                  <a:pt x="0" y="0"/>
                </a:moveTo>
                <a:lnTo>
                  <a:pt x="4685440" y="0"/>
                </a:lnTo>
                <a:lnTo>
                  <a:pt x="4685440" y="5235128"/>
                </a:lnTo>
                <a:lnTo>
                  <a:pt x="0" y="5235128"/>
                </a:lnTo>
                <a:lnTo>
                  <a:pt x="0" y="0"/>
                </a:lnTo>
                <a:close/>
              </a:path>
            </a:pathLst>
          </a:custGeom>
          <a:blipFill>
            <a:blip r:embed="rId2"/>
            <a:stretch>
              <a:fillRect l="0" t="0" r="0" b="0"/>
            </a:stretch>
          </a:blipFill>
        </p:spPr>
      </p:sp>
      <p:sp>
        <p:nvSpPr>
          <p:cNvPr name="TextBox 3" id="3"/>
          <p:cNvSpPr txBox="true"/>
          <p:nvPr/>
        </p:nvSpPr>
        <p:spPr>
          <a:xfrm rot="0">
            <a:off x="6242143" y="3584575"/>
            <a:ext cx="11017157" cy="3060700"/>
          </a:xfrm>
          <a:prstGeom prst="rect">
            <a:avLst/>
          </a:prstGeom>
        </p:spPr>
        <p:txBody>
          <a:bodyPr anchor="t" rtlCol="false" tIns="0" lIns="0" bIns="0" rIns="0">
            <a:spAutoFit/>
          </a:bodyPr>
          <a:lstStyle/>
          <a:p>
            <a:pPr algn="l">
              <a:lnSpc>
                <a:spcPts val="3499"/>
              </a:lnSpc>
            </a:pPr>
            <a:r>
              <a:rPr lang="en-US" sz="2499" spc="-117" b="true">
                <a:solidFill>
                  <a:srgbClr val="FA9F59"/>
                </a:solidFill>
                <a:latin typeface="Raleway Bold"/>
                <a:ea typeface="Raleway Bold"/>
                <a:cs typeface="Raleway Bold"/>
                <a:sym typeface="Raleway Bold"/>
              </a:rPr>
              <a:t>Önemli Not:</a:t>
            </a:r>
            <a:r>
              <a:rPr lang="en-US" sz="2499" spc="-117">
                <a:solidFill>
                  <a:srgbClr val="FA9F59"/>
                </a:solidFill>
                <a:latin typeface="Raleway"/>
                <a:ea typeface="Raleway"/>
                <a:cs typeface="Raleway"/>
                <a:sym typeface="Raleway"/>
              </a:rPr>
              <a:t> </a:t>
            </a:r>
          </a:p>
          <a:p>
            <a:pPr algn="l">
              <a:lnSpc>
                <a:spcPts val="3499"/>
              </a:lnSpc>
            </a:pPr>
          </a:p>
          <a:p>
            <a:pPr algn="l">
              <a:lnSpc>
                <a:spcPts val="3499"/>
              </a:lnSpc>
            </a:pPr>
            <a:r>
              <a:rPr lang="en-US" sz="2499" spc="-117">
                <a:solidFill>
                  <a:srgbClr val="424242"/>
                </a:solidFill>
                <a:latin typeface="Raleway"/>
                <a:ea typeface="Raleway"/>
                <a:cs typeface="Raleway"/>
                <a:sym typeface="Raleway"/>
              </a:rPr>
              <a:t>Yüksek seviyeli diller, makine diline daha uzak olduğundan aralarındaki uçurumu kapatmak için </a:t>
            </a:r>
            <a:r>
              <a:rPr lang="en-US" sz="2499" spc="-117" b="true">
                <a:solidFill>
                  <a:srgbClr val="424242"/>
                </a:solidFill>
                <a:latin typeface="Raleway Bold"/>
                <a:ea typeface="Raleway Bold"/>
                <a:cs typeface="Raleway Bold"/>
                <a:sym typeface="Raleway Bold"/>
              </a:rPr>
              <a:t>derleyici </a:t>
            </a:r>
            <a:r>
              <a:rPr lang="en-US" sz="2499" spc="-117">
                <a:solidFill>
                  <a:srgbClr val="424242"/>
                </a:solidFill>
                <a:latin typeface="Raleway"/>
                <a:ea typeface="Raleway"/>
                <a:cs typeface="Raleway"/>
                <a:sym typeface="Raleway"/>
              </a:rPr>
              <a:t>veya </a:t>
            </a:r>
            <a:r>
              <a:rPr lang="en-US" sz="2499" spc="-117" b="true">
                <a:solidFill>
                  <a:srgbClr val="424242"/>
                </a:solidFill>
                <a:latin typeface="Raleway Bold"/>
                <a:ea typeface="Raleway Bold"/>
                <a:cs typeface="Raleway Bold"/>
                <a:sym typeface="Raleway Bold"/>
              </a:rPr>
              <a:t>yorumlayıcıya </a:t>
            </a:r>
            <a:r>
              <a:rPr lang="en-US" sz="2499" spc="-117">
                <a:solidFill>
                  <a:srgbClr val="424242"/>
                </a:solidFill>
                <a:latin typeface="Raleway"/>
                <a:ea typeface="Raleway"/>
                <a:cs typeface="Raleway"/>
                <a:sym typeface="Raleway"/>
              </a:rPr>
              <a:t>ihtiyaç duyarlar. </a:t>
            </a:r>
          </a:p>
          <a:p>
            <a:pPr algn="l">
              <a:lnSpc>
                <a:spcPts val="3499"/>
              </a:lnSpc>
            </a:pPr>
          </a:p>
          <a:p>
            <a:pPr algn="l">
              <a:lnSpc>
                <a:spcPts val="3499"/>
              </a:lnSpc>
            </a:pPr>
            <a:r>
              <a:rPr lang="en-US" sz="2499" spc="-117">
                <a:solidFill>
                  <a:srgbClr val="424242"/>
                </a:solidFill>
                <a:latin typeface="Raleway"/>
                <a:ea typeface="Raleway"/>
                <a:cs typeface="Raleway"/>
                <a:sym typeface="Raleway"/>
              </a:rPr>
              <a:t>Araya giren bu çeviri ve soyutlama katmanları, yüksek seviyeli dillerin makine dillerine kıyasla </a:t>
            </a:r>
            <a:r>
              <a:rPr lang="en-US" sz="2499" spc="-117" b="true">
                <a:solidFill>
                  <a:srgbClr val="424242"/>
                </a:solidFill>
                <a:latin typeface="Raleway Bold"/>
                <a:ea typeface="Raleway Bold"/>
                <a:cs typeface="Raleway Bold"/>
                <a:sym typeface="Raleway Bold"/>
              </a:rPr>
              <a:t>nispeten daha yavaş çalışmasına neden olur.</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Programlama Dili Seviyelerinin Karşılaştırılması</a:t>
            </a:r>
          </a:p>
        </p:txBody>
      </p:sp>
      <p:graphicFrame>
        <p:nvGraphicFramePr>
          <p:cNvPr name="Table 3" id="3"/>
          <p:cNvGraphicFramePr>
            <a:graphicFrameLocks noGrp="true"/>
          </p:cNvGraphicFramePr>
          <p:nvPr/>
        </p:nvGraphicFramePr>
        <p:xfrm>
          <a:off x="1028700" y="1600468"/>
          <a:ext cx="16230600" cy="2962275"/>
        </p:xfrm>
        <a:graphic>
          <a:graphicData uri="http://schemas.openxmlformats.org/drawingml/2006/table">
            <a:tbl>
              <a:tblPr/>
              <a:tblGrid>
                <a:gridCol w="3162417"/>
                <a:gridCol w="4356061"/>
                <a:gridCol w="4356061"/>
                <a:gridCol w="4356061"/>
              </a:tblGrid>
              <a:tr h="668901">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Özellik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Düşük Seviyeli (Assembly)</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Orta Seviyeli (C/C++)</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Yüksek Seviyeli (Python)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Anlaşılırlık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Çok Zor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Orta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Çok Kolay</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Soyutlama Düzeyi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Çok Düşük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Orta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Çok Yüksek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Donanım Kontrolü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Tam Kontrol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Yüksek Kontrol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Kısıtlı / Soyut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Taşınabilirlik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Donanıma Bağımlı (Mimariye Özel)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Taşınabilir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Çok Taşınabilir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600468"/>
          <a:ext cx="16230600" cy="2743200"/>
        </p:xfrm>
        <a:graphic>
          <a:graphicData uri="http://schemas.openxmlformats.org/drawingml/2006/table">
            <a:tbl>
              <a:tblPr/>
              <a:tblGrid>
                <a:gridCol w="2940433"/>
                <a:gridCol w="13290167"/>
              </a:tblGrid>
              <a:tr h="669073">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Seviye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Benzetme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57349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Düşük Seviyeli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makinenin içindeki dişlileri tek tek elle çevirmek gibi. Çok güçlü ama çok zahmetli.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49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Orta Seviyeli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makinenin kontrol panelini kullanmak gibi. Hem güçlü hem de biraz daha anlaşılır.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71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Yüksek Seviyeli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makineye "Şunu yap" diye sesli komut vermek gibi. En kolayı ama makinenin iç işleyişine müdahale edemezsiniz.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TextBox 3" id="3"/>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Günlük Hayat Benzetmesi: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2.1.3. Derleyiciler ve Yorumlayıcılar</a:t>
            </a:r>
          </a:p>
        </p:txBody>
      </p:sp>
      <p:sp>
        <p:nvSpPr>
          <p:cNvPr name="TextBox 4" id="4"/>
          <p:cNvSpPr txBox="true"/>
          <p:nvPr/>
        </p:nvSpPr>
        <p:spPr>
          <a:xfrm rot="0">
            <a:off x="1028700" y="1756117"/>
            <a:ext cx="16230600" cy="78803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Programlama diliyle yazılan talimatların makineye ulaşması için </a:t>
            </a:r>
            <a:r>
              <a:rPr lang="en-US" sz="2499" spc="-117" b="true">
                <a:solidFill>
                  <a:srgbClr val="424242"/>
                </a:solidFill>
                <a:latin typeface="Raleway Semi-Bold"/>
                <a:ea typeface="Raleway Semi-Bold"/>
                <a:cs typeface="Raleway Semi-Bold"/>
                <a:sym typeface="Raleway Semi-Bold"/>
              </a:rPr>
              <a:t>makine diline dönüştürülmesi</a:t>
            </a:r>
            <a:r>
              <a:rPr lang="en-US" sz="2499" spc="-117">
                <a:solidFill>
                  <a:srgbClr val="424242"/>
                </a:solidFill>
                <a:latin typeface="Raleway"/>
                <a:ea typeface="Raleway"/>
                <a:cs typeface="Raleway"/>
                <a:sym typeface="Raleway"/>
              </a:rPr>
              <a:t> gerekir. Bu dönüşümü gerçekleştiren iki temel yaklaşım vardır: </a:t>
            </a:r>
            <a:r>
              <a:rPr lang="en-US" sz="2499" spc="-117" b="true">
                <a:solidFill>
                  <a:srgbClr val="424242"/>
                </a:solidFill>
                <a:latin typeface="Raleway Semi-Bold"/>
                <a:ea typeface="Raleway Semi-Bold"/>
                <a:cs typeface="Raleway Semi-Bold"/>
                <a:sym typeface="Raleway Semi-Bold"/>
              </a:rPr>
              <a:t>Derleyiciler</a:t>
            </a:r>
            <a:r>
              <a:rPr lang="en-US" sz="2499" spc="-117">
                <a:solidFill>
                  <a:srgbClr val="424242"/>
                </a:solidFill>
                <a:latin typeface="Raleway"/>
                <a:ea typeface="Raleway"/>
                <a:cs typeface="Raleway"/>
                <a:sym typeface="Raleway"/>
              </a:rPr>
              <a:t> ve </a:t>
            </a:r>
            <a:r>
              <a:rPr lang="en-US" sz="2499" spc="-117" b="true">
                <a:solidFill>
                  <a:srgbClr val="424242"/>
                </a:solidFill>
                <a:latin typeface="Raleway Semi-Bold"/>
                <a:ea typeface="Raleway Semi-Bold"/>
                <a:cs typeface="Raleway Semi-Bold"/>
                <a:sym typeface="Raleway Semi-Bold"/>
              </a:rPr>
              <a:t>Yorumlayıcılar</a:t>
            </a:r>
            <a:r>
              <a:rPr lang="en-US" sz="2499" spc="-117">
                <a:solidFill>
                  <a:srgbClr val="424242"/>
                </a:solidFill>
                <a:latin typeface="Raleway"/>
                <a:ea typeface="Raleway"/>
                <a:cs typeface="Raleway"/>
                <a:sym typeface="Raleway"/>
              </a:rPr>
              <a:t>.</a:t>
            </a:r>
          </a:p>
          <a:p>
            <a:pPr algn="l">
              <a:lnSpc>
                <a:spcPts val="3499"/>
              </a:lnSpc>
            </a:pPr>
          </a:p>
          <a:p>
            <a:pPr algn="l">
              <a:lnSpc>
                <a:spcPts val="3499"/>
              </a:lnSpc>
            </a:pPr>
            <a:r>
              <a:rPr lang="en-US" sz="2499" spc="-117" b="true">
                <a:solidFill>
                  <a:srgbClr val="D77676"/>
                </a:solidFill>
                <a:latin typeface="Raleway Semi-Bold"/>
                <a:ea typeface="Raleway Semi-Bold"/>
                <a:cs typeface="Raleway Semi-Bold"/>
                <a:sym typeface="Raleway Semi-Bold"/>
              </a:rPr>
              <a:t>Derleyici (</a:t>
            </a:r>
            <a:r>
              <a:rPr lang="en-US" sz="2499" spc="-117">
                <a:solidFill>
                  <a:srgbClr val="D77676"/>
                </a:solidFill>
                <a:latin typeface="Raleway"/>
                <a:ea typeface="Raleway"/>
                <a:cs typeface="Raleway"/>
                <a:sym typeface="Raleway"/>
              </a:rPr>
              <a:t>Compiler</a:t>
            </a:r>
            <a:r>
              <a:rPr lang="en-US" sz="2499" spc="-117" b="true">
                <a:solidFill>
                  <a:srgbClr val="D77676"/>
                </a:solidFill>
                <a:latin typeface="Raleway Semi-Bold"/>
                <a:ea typeface="Raleway Semi-Bold"/>
                <a:cs typeface="Raleway Semi-Bold"/>
                <a:sym typeface="Raleway Semi-Bold"/>
              </a:rPr>
              <a:t>):</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Programcının yazdığı kodun </a:t>
            </a:r>
            <a:r>
              <a:rPr lang="en-US" b="true" sz="2499" spc="-117">
                <a:solidFill>
                  <a:srgbClr val="424242"/>
                </a:solidFill>
                <a:latin typeface="Raleway Semi-Bold"/>
                <a:ea typeface="Raleway Semi-Bold"/>
                <a:cs typeface="Raleway Semi-Bold"/>
                <a:sym typeface="Raleway Semi-Bold"/>
              </a:rPr>
              <a:t>tamamını</a:t>
            </a:r>
            <a:r>
              <a:rPr lang="en-US" sz="2499" spc="-117">
                <a:solidFill>
                  <a:srgbClr val="424242"/>
                </a:solidFill>
                <a:latin typeface="Raleway"/>
                <a:ea typeface="Raleway"/>
                <a:cs typeface="Raleway"/>
                <a:sym typeface="Raleway"/>
              </a:rPr>
              <a:t> baştan sona okur.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Yazım hatalarını kontrol eder.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Tüm kodu </a:t>
            </a:r>
            <a:r>
              <a:rPr lang="en-US" b="true" sz="2499" spc="-117">
                <a:solidFill>
                  <a:srgbClr val="424242"/>
                </a:solidFill>
                <a:latin typeface="Raleway Semi-Bold"/>
                <a:ea typeface="Raleway Semi-Bold"/>
                <a:cs typeface="Raleway Semi-Bold"/>
                <a:sym typeface="Raleway Semi-Bold"/>
              </a:rPr>
              <a:t>bir bütün olarak</a:t>
            </a:r>
            <a:r>
              <a:rPr lang="en-US" sz="2499" spc="-117">
                <a:solidFill>
                  <a:srgbClr val="424242"/>
                </a:solidFill>
                <a:latin typeface="Raleway"/>
                <a:ea typeface="Raleway"/>
                <a:cs typeface="Raleway"/>
                <a:sym typeface="Raleway"/>
              </a:rPr>
              <a:t> makine diline çevirir ve bir dosya (örneğin .exe) oluşturur.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Eğer kodda söz dizimi hatası varsa </a:t>
            </a:r>
            <a:r>
              <a:rPr lang="en-US" b="true" sz="2499" spc="-117">
                <a:solidFill>
                  <a:srgbClr val="424242"/>
                </a:solidFill>
                <a:latin typeface="Raleway Semi-Bold"/>
                <a:ea typeface="Raleway Semi-Bold"/>
                <a:cs typeface="Raleway Semi-Bold"/>
                <a:sym typeface="Raleway Semi-Bold"/>
              </a:rPr>
              <a:t>derleme işlemi tamamlanmaz</a:t>
            </a:r>
            <a:r>
              <a:rPr lang="en-US" sz="2499" spc="-117">
                <a:solidFill>
                  <a:srgbClr val="424242"/>
                </a:solidFill>
                <a:latin typeface="Raleway"/>
                <a:ea typeface="Raleway"/>
                <a:cs typeface="Raleway"/>
                <a:sym typeface="Raleway"/>
              </a:rPr>
              <a:t> ve program hiç çalışmaz.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Örnek Diller:</a:t>
            </a:r>
            <a:r>
              <a:rPr lang="en-US" sz="2499" spc="-117">
                <a:solidFill>
                  <a:srgbClr val="424242"/>
                </a:solidFill>
                <a:latin typeface="Raleway"/>
                <a:ea typeface="Raleway"/>
                <a:cs typeface="Raleway"/>
                <a:sym typeface="Raleway"/>
              </a:rPr>
              <a:t> C, C++, Rust</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Günlük Hayat Benzetmesi: </a:t>
            </a:r>
            <a:r>
              <a:rPr lang="en-US" sz="2499" spc="-117">
                <a:solidFill>
                  <a:srgbClr val="424242"/>
                </a:solidFill>
                <a:latin typeface="Raleway"/>
                <a:ea typeface="Raleway"/>
                <a:cs typeface="Raleway"/>
                <a:sym typeface="Raleway"/>
              </a:rPr>
              <a:t>Bir kitabın tamamını başka bir dile çevirip, ancak çeviri bittikten sonra okumaya başlamak gibi.</a:t>
            </a:r>
          </a:p>
          <a:p>
            <a:pPr algn="l">
              <a:lnSpc>
                <a:spcPts val="3499"/>
              </a:lnSpc>
            </a:pPr>
          </a:p>
          <a:p>
            <a:pPr algn="l">
              <a:lnSpc>
                <a:spcPts val="3499"/>
              </a:lnSpc>
            </a:pPr>
            <a:r>
              <a:rPr lang="en-US" sz="2499" spc="-117" b="true">
                <a:solidFill>
                  <a:srgbClr val="5EC596"/>
                </a:solidFill>
                <a:latin typeface="Raleway Semi-Bold"/>
                <a:ea typeface="Raleway Semi-Bold"/>
                <a:cs typeface="Raleway Semi-Bold"/>
                <a:sym typeface="Raleway Semi-Bold"/>
              </a:rPr>
              <a:t>Yorumlayıcı (</a:t>
            </a:r>
            <a:r>
              <a:rPr lang="en-US" sz="2499" spc="-117">
                <a:solidFill>
                  <a:srgbClr val="5EC596"/>
                </a:solidFill>
                <a:latin typeface="Raleway"/>
                <a:ea typeface="Raleway"/>
                <a:cs typeface="Raleway"/>
                <a:sym typeface="Raleway"/>
              </a:rPr>
              <a:t>Interpreter</a:t>
            </a:r>
            <a:r>
              <a:rPr lang="en-US" sz="2499" spc="-117" b="true">
                <a:solidFill>
                  <a:srgbClr val="5EC596"/>
                </a:solidFill>
                <a:latin typeface="Raleway Semi-Bold"/>
                <a:ea typeface="Raleway Semi-Bold"/>
                <a:cs typeface="Raleway Semi-Bold"/>
                <a:sym typeface="Raleway Semi-Bold"/>
              </a:rPr>
              <a:t>):</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Kodu bir bütün olarak değil, </a:t>
            </a:r>
            <a:r>
              <a:rPr lang="en-US" b="true" sz="2499" spc="-117">
                <a:solidFill>
                  <a:srgbClr val="424242"/>
                </a:solidFill>
                <a:latin typeface="Raleway Semi-Bold"/>
                <a:ea typeface="Raleway Semi-Bold"/>
                <a:cs typeface="Raleway Semi-Bold"/>
                <a:sym typeface="Raleway Semi-Bold"/>
              </a:rPr>
              <a:t>satır satır</a:t>
            </a:r>
            <a:r>
              <a:rPr lang="en-US" sz="2499" spc="-117">
                <a:solidFill>
                  <a:srgbClr val="424242"/>
                </a:solidFill>
                <a:latin typeface="Raleway"/>
                <a:ea typeface="Raleway"/>
                <a:cs typeface="Raleway"/>
                <a:sym typeface="Raleway"/>
              </a:rPr>
              <a:t> okuyarak anında çalıştırır.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Bir satır çevrilip çalıştırıldıktan sonra sıradaki satıra geçilir.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Hata tespiti açısından, </a:t>
            </a:r>
            <a:r>
              <a:rPr lang="en-US" b="true" sz="2499" spc="-117">
                <a:solidFill>
                  <a:srgbClr val="424242"/>
                </a:solidFill>
                <a:latin typeface="Raleway Semi-Bold"/>
                <a:ea typeface="Raleway Semi-Bold"/>
                <a:cs typeface="Raleway Semi-Bold"/>
                <a:sym typeface="Raleway Semi-Bold"/>
              </a:rPr>
              <a:t>hatanın bulunduğu satıra gelene kadar</a:t>
            </a:r>
            <a:r>
              <a:rPr lang="en-US" sz="2499" spc="-117">
                <a:solidFill>
                  <a:srgbClr val="424242"/>
                </a:solidFill>
                <a:latin typeface="Raleway"/>
                <a:ea typeface="Raleway"/>
                <a:cs typeface="Raleway"/>
                <a:sym typeface="Raleway"/>
              </a:rPr>
              <a:t> programı çalıştırır ve o noktada durur.</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Örnek Diller:</a:t>
            </a:r>
            <a:r>
              <a:rPr lang="en-US" sz="2499" spc="-117">
                <a:solidFill>
                  <a:srgbClr val="424242"/>
                </a:solidFill>
                <a:latin typeface="Raleway"/>
                <a:ea typeface="Raleway"/>
                <a:cs typeface="Raleway"/>
                <a:sym typeface="Raleway"/>
              </a:rPr>
              <a:t> Python, Ruby</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Günlük Hayat Benzetmesi: </a:t>
            </a:r>
            <a:r>
              <a:rPr lang="en-US" sz="2499" spc="-117">
                <a:solidFill>
                  <a:srgbClr val="424242"/>
                </a:solidFill>
                <a:latin typeface="Raleway"/>
                <a:ea typeface="Raleway"/>
                <a:cs typeface="Raleway"/>
                <a:sym typeface="Raleway"/>
              </a:rPr>
              <a:t>Bir konuşmacının cümlelerini anlık olarak tercüme eden bir tercüman gibi.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600468"/>
          <a:ext cx="16230600" cy="4019550"/>
        </p:xfrm>
        <a:graphic>
          <a:graphicData uri="http://schemas.openxmlformats.org/drawingml/2006/table">
            <a:tbl>
              <a:tblPr/>
              <a:tblGrid>
                <a:gridCol w="2557835"/>
                <a:gridCol w="6836383"/>
                <a:gridCol w="6836383"/>
              </a:tblGrid>
              <a:tr h="668334">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Özellik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Derleyici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Yorumlayıcı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9261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Çalışma Mantığı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Kodun tamamını bir kerede makine diline çevirir ve bir dosya (.exe gibi) oluşturur.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Kodu satır satır okur ve o an çalıştırır.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1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Hız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Program bir kez derlendikten sonra çok hızlı çalışır.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Her seferinde satır satır okunduğu için nispeten daha yavaştır.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1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Hata Tespiti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Tüm kod hatasız olana kadar programı çalıştırmaz.</a:t>
                      </a:r>
                      <a:endParaRPr lang="en-US" sz="1100"/>
                    </a:p>
                    <a:p>
                      <a:pPr algn="l">
                        <a:lnSpc>
                          <a:spcPts val="2800"/>
                        </a:lnSpc>
                      </a:pPr>
                      <a:r>
                        <a:rPr lang="en-US" sz="2000">
                          <a:solidFill>
                            <a:srgbClr val="000000"/>
                          </a:solidFill>
                          <a:latin typeface="Raleway"/>
                          <a:ea typeface="Raleway"/>
                          <a:cs typeface="Raleway"/>
                          <a:sym typeface="Raleway"/>
                        </a:rPr>
                        <a:t>(Dikkat çalışırken run time hatası alabilir)</a:t>
                      </a:r>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Hatanın olduğu satıra gelene kadar programı çalıştırır, hatayı görünce durur.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857">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Örnek Diller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C, C++, Rust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Python, Ruby</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Freeform 3" id="3"/>
          <p:cNvSpPr/>
          <p:nvPr/>
        </p:nvSpPr>
        <p:spPr>
          <a:xfrm flipH="false" flipV="false" rot="0">
            <a:off x="14402917" y="6401917"/>
            <a:ext cx="2856383" cy="2856383"/>
          </a:xfrm>
          <a:custGeom>
            <a:avLst/>
            <a:gdLst/>
            <a:ahLst/>
            <a:cxnLst/>
            <a:rect r="r" b="b" t="t" l="l"/>
            <a:pathLst>
              <a:path h="2856383" w="2856383">
                <a:moveTo>
                  <a:pt x="0" y="0"/>
                </a:moveTo>
                <a:lnTo>
                  <a:pt x="2856383" y="0"/>
                </a:lnTo>
                <a:lnTo>
                  <a:pt x="2856383" y="2856383"/>
                </a:lnTo>
                <a:lnTo>
                  <a:pt x="0" y="28563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Derleyici ve Yorumlayıcı Yaklaşımlarının Karşılaştırılması</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60762" y="1028700"/>
            <a:ext cx="5498538" cy="8229600"/>
          </a:xfrm>
          <a:custGeom>
            <a:avLst/>
            <a:gdLst/>
            <a:ahLst/>
            <a:cxnLst/>
            <a:rect r="r" b="b" t="t" l="l"/>
            <a:pathLst>
              <a:path h="8229600" w="5498538">
                <a:moveTo>
                  <a:pt x="0" y="0"/>
                </a:moveTo>
                <a:lnTo>
                  <a:pt x="5498538" y="0"/>
                </a:lnTo>
                <a:lnTo>
                  <a:pt x="5498538" y="8229600"/>
                </a:lnTo>
                <a:lnTo>
                  <a:pt x="0" y="8229600"/>
                </a:lnTo>
                <a:lnTo>
                  <a:pt x="0" y="0"/>
                </a:lnTo>
                <a:close/>
              </a:path>
            </a:pathLst>
          </a:custGeom>
          <a:blipFill>
            <a:blip r:embed="rId4"/>
            <a:stretch>
              <a:fillRect l="0" t="0" r="0" b="0"/>
            </a:stretch>
          </a:blipFill>
        </p:spPr>
      </p:sp>
      <p:sp>
        <p:nvSpPr>
          <p:cNvPr name="TextBox 4" id="4"/>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2.1.4. Python Dili</a:t>
            </a:r>
          </a:p>
        </p:txBody>
      </p:sp>
      <p:sp>
        <p:nvSpPr>
          <p:cNvPr name="TextBox 5" id="5"/>
          <p:cNvSpPr txBox="true"/>
          <p:nvPr/>
        </p:nvSpPr>
        <p:spPr>
          <a:xfrm rot="0">
            <a:off x="1028700" y="1756117"/>
            <a:ext cx="10078183" cy="34988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Python</a:t>
            </a:r>
            <a:r>
              <a:rPr lang="en-US" sz="2499" spc="-117">
                <a:solidFill>
                  <a:srgbClr val="424242"/>
                </a:solidFill>
                <a:latin typeface="Raleway"/>
                <a:ea typeface="Raleway"/>
                <a:cs typeface="Raleway"/>
                <a:sym typeface="Raleway"/>
              </a:rPr>
              <a:t>; yüksek seviyeli, yorumlanabilen, geniş kütüphane desteğine sahip ve nesne yönelimli bir programlama dilidir.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Tarihçe:</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1991 yılında </a:t>
            </a:r>
            <a:r>
              <a:rPr lang="en-US" b="true" sz="2499" spc="-117">
                <a:solidFill>
                  <a:srgbClr val="424242"/>
                </a:solidFill>
                <a:latin typeface="Raleway Bold"/>
                <a:ea typeface="Raleway Bold"/>
                <a:cs typeface="Raleway Bold"/>
                <a:sym typeface="Raleway Bold"/>
              </a:rPr>
              <a:t>Guido van Rossum</a:t>
            </a:r>
            <a:r>
              <a:rPr lang="en-US" sz="2499" spc="-117">
                <a:solidFill>
                  <a:srgbClr val="424242"/>
                </a:solidFill>
                <a:latin typeface="Raleway"/>
                <a:ea typeface="Raleway"/>
                <a:cs typeface="Raleway"/>
                <a:sym typeface="Raleway"/>
              </a:rPr>
              <a:t> tarafından geliştirilmiştir.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İsmini, geliştiricisinin ilgiyle takip ettiği </a:t>
            </a:r>
            <a:r>
              <a:rPr lang="en-US" b="true" sz="2499" spc="-117">
                <a:solidFill>
                  <a:srgbClr val="424242"/>
                </a:solidFill>
                <a:latin typeface="Raleway Bold"/>
                <a:ea typeface="Raleway Bold"/>
                <a:cs typeface="Raleway Bold"/>
                <a:sym typeface="Raleway Bold"/>
              </a:rPr>
              <a:t>Monty Python's Flying Circus</a:t>
            </a:r>
            <a:r>
              <a:rPr lang="en-US" sz="2499" spc="-117">
                <a:solidFill>
                  <a:srgbClr val="424242"/>
                </a:solidFill>
                <a:latin typeface="Raleway"/>
                <a:ea typeface="Raleway"/>
                <a:cs typeface="Raleway"/>
                <a:sym typeface="Raleway"/>
              </a:rPr>
              <a:t> adlı komedi grubundan almıştır.</a:t>
            </a:r>
          </a:p>
          <a:p>
            <a:pPr algn="l">
              <a:lnSpc>
                <a:spcPts val="3499"/>
              </a:lnSpc>
            </a:pPr>
          </a:p>
        </p:txBody>
      </p:sp>
      <p:sp>
        <p:nvSpPr>
          <p:cNvPr name="TextBox 6" id="6"/>
          <p:cNvSpPr txBox="true"/>
          <p:nvPr/>
        </p:nvSpPr>
        <p:spPr>
          <a:xfrm rot="0">
            <a:off x="11533221" y="9201150"/>
            <a:ext cx="5953621" cy="431800"/>
          </a:xfrm>
          <a:prstGeom prst="rect">
            <a:avLst/>
          </a:prstGeom>
        </p:spPr>
        <p:txBody>
          <a:bodyPr anchor="t" rtlCol="false" tIns="0" lIns="0" bIns="0" rIns="0">
            <a:spAutoFit/>
          </a:bodyPr>
          <a:lstStyle/>
          <a:p>
            <a:pPr algn="ctr">
              <a:lnSpc>
                <a:spcPts val="3499"/>
              </a:lnSpc>
            </a:pPr>
            <a:r>
              <a:rPr lang="en-US" b="true" sz="2499" spc="-117">
                <a:solidFill>
                  <a:srgbClr val="424242"/>
                </a:solidFill>
                <a:latin typeface="Raleway Semi-Bold"/>
                <a:ea typeface="Raleway Semi-Bold"/>
                <a:cs typeface="Raleway Semi-Bold"/>
                <a:sym typeface="Raleway Semi-Bold"/>
              </a:rPr>
              <a:t>Guido van Rossum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3081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Semi-Bold"/>
                <a:ea typeface="Raleway Semi-Bold"/>
                <a:cs typeface="Raleway Semi-Bold"/>
                <a:sym typeface="Raleway Semi-Bold"/>
              </a:rPr>
              <a:t>Neden Python?</a:t>
            </a:r>
          </a:p>
          <a:p>
            <a:pPr algn="l">
              <a:lnSpc>
                <a:spcPts val="3499"/>
              </a:lnSpc>
            </a:pPr>
          </a:p>
          <a:p>
            <a:pPr algn="l">
              <a:lnSpc>
                <a:spcPts val="3499"/>
              </a:lnSpc>
            </a:pPr>
            <a:r>
              <a:rPr lang="en-US" sz="2499" spc="-117">
                <a:solidFill>
                  <a:srgbClr val="424242"/>
                </a:solidFill>
                <a:latin typeface="Raleway"/>
                <a:ea typeface="Raleway"/>
                <a:cs typeface="Raleway"/>
                <a:sym typeface="Raleway"/>
              </a:rPr>
              <a:t>Python dili; sade söz dizimi ve okunabilirlik avantajı sayesinde çok geniş bir kullanım alanına sahiptir:</a:t>
            </a:r>
          </a:p>
        </p:txBody>
      </p:sp>
      <p:sp>
        <p:nvSpPr>
          <p:cNvPr name="TextBox 3" id="3"/>
          <p:cNvSpPr txBox="true"/>
          <p:nvPr/>
        </p:nvSpPr>
        <p:spPr>
          <a:xfrm rot="0">
            <a:off x="1395255" y="2706143"/>
            <a:ext cx="16230600" cy="6565900"/>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Yapay zekâ ve makine öğrenmesi</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Akıllı sistemler, görüntü işleme, doğal dil işleme ve tahmin modelleri geliştirmede sıkça kullanılır.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Web uygulamaları</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Django, Flask gibi güçlü web çatılar sayesinde</a:t>
            </a:r>
            <a:r>
              <a:rPr lang="en-US" sz="2499" spc="-42">
                <a:solidFill>
                  <a:srgbClr val="203251"/>
                </a:solidFill>
                <a:latin typeface="Raleway"/>
                <a:ea typeface="Raleway"/>
                <a:cs typeface="Raleway"/>
                <a:sym typeface="Raleway"/>
              </a:rPr>
              <a:t> modern ve güvenli web siteleri yapılabilir.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Bilimsel hesaplamalar</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NumPy, SciPy gibi kütüphanelerle matematiksel ve mühendislik problemleri çözülebilir.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Veri analizi</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Pandas, Matplotlib, Seaborn gibi kütüphanelerle büyük veri kümeleri işlenebilir ve görselleştirilebilir.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Masaüstü uygulama geliştirme</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Tkinter, PyQt gibi araçlarla kullanıcı arayüzüne sahip programlar yapılabilir.</a:t>
            </a:r>
          </a:p>
          <a:p>
            <a:pPr algn="l">
              <a:lnSpc>
                <a:spcPts val="3499"/>
              </a:lnSpc>
            </a:pPr>
          </a:p>
        </p:txBody>
      </p:sp>
      <p:sp>
        <p:nvSpPr>
          <p:cNvPr name="Freeform 4" id="4"/>
          <p:cNvSpPr/>
          <p:nvPr/>
        </p:nvSpPr>
        <p:spPr>
          <a:xfrm flipH="false" flipV="false" rot="0">
            <a:off x="662145" y="2763293"/>
            <a:ext cx="908986" cy="769229"/>
          </a:xfrm>
          <a:custGeom>
            <a:avLst/>
            <a:gdLst/>
            <a:ahLst/>
            <a:cxnLst/>
            <a:rect r="r" b="b" t="t" l="l"/>
            <a:pathLst>
              <a:path h="769229" w="908986">
                <a:moveTo>
                  <a:pt x="0" y="0"/>
                </a:moveTo>
                <a:lnTo>
                  <a:pt x="908986" y="0"/>
                </a:lnTo>
                <a:lnTo>
                  <a:pt x="908986" y="769229"/>
                </a:lnTo>
                <a:lnTo>
                  <a:pt x="0" y="769229"/>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62145" y="3951000"/>
            <a:ext cx="834714" cy="834714"/>
          </a:xfrm>
          <a:custGeom>
            <a:avLst/>
            <a:gdLst/>
            <a:ahLst/>
            <a:cxnLst/>
            <a:rect r="r" b="b" t="t" l="l"/>
            <a:pathLst>
              <a:path h="834714" w="834714">
                <a:moveTo>
                  <a:pt x="0" y="0"/>
                </a:moveTo>
                <a:lnTo>
                  <a:pt x="834714" y="0"/>
                </a:lnTo>
                <a:lnTo>
                  <a:pt x="834714" y="834715"/>
                </a:lnTo>
                <a:lnTo>
                  <a:pt x="0" y="834715"/>
                </a:lnTo>
                <a:lnTo>
                  <a:pt x="0" y="0"/>
                </a:lnTo>
                <a:close/>
              </a:path>
            </a:pathLst>
          </a:custGeom>
          <a:blipFill>
            <a:blip r:embed="rId4">
              <a:alphaModFix amt="31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62145" y="5324707"/>
            <a:ext cx="834714" cy="763764"/>
          </a:xfrm>
          <a:custGeom>
            <a:avLst/>
            <a:gdLst/>
            <a:ahLst/>
            <a:cxnLst/>
            <a:rect r="r" b="b" t="t" l="l"/>
            <a:pathLst>
              <a:path h="763764" w="834714">
                <a:moveTo>
                  <a:pt x="0" y="0"/>
                </a:moveTo>
                <a:lnTo>
                  <a:pt x="834714" y="0"/>
                </a:lnTo>
                <a:lnTo>
                  <a:pt x="834714" y="763764"/>
                </a:lnTo>
                <a:lnTo>
                  <a:pt x="0" y="763764"/>
                </a:lnTo>
                <a:lnTo>
                  <a:pt x="0" y="0"/>
                </a:lnTo>
                <a:close/>
              </a:path>
            </a:pathLst>
          </a:custGeom>
          <a:blipFill>
            <a:blip r:embed="rId6">
              <a:alphaModFix amt="37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662145" y="6631396"/>
            <a:ext cx="834714" cy="730375"/>
          </a:xfrm>
          <a:custGeom>
            <a:avLst/>
            <a:gdLst/>
            <a:ahLst/>
            <a:cxnLst/>
            <a:rect r="r" b="b" t="t" l="l"/>
            <a:pathLst>
              <a:path h="730375" w="834714">
                <a:moveTo>
                  <a:pt x="0" y="0"/>
                </a:moveTo>
                <a:lnTo>
                  <a:pt x="834714" y="0"/>
                </a:lnTo>
                <a:lnTo>
                  <a:pt x="834714" y="730375"/>
                </a:lnTo>
                <a:lnTo>
                  <a:pt x="0" y="730375"/>
                </a:lnTo>
                <a:lnTo>
                  <a:pt x="0" y="0"/>
                </a:lnTo>
                <a:close/>
              </a:path>
            </a:pathLst>
          </a:custGeom>
          <a:blipFill>
            <a:blip r:embed="rId8">
              <a:alphaModFix amt="50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62145" y="7946390"/>
            <a:ext cx="1115300" cy="1216892"/>
          </a:xfrm>
          <a:custGeom>
            <a:avLst/>
            <a:gdLst/>
            <a:ahLst/>
            <a:cxnLst/>
            <a:rect r="r" b="b" t="t" l="l"/>
            <a:pathLst>
              <a:path h="1216892" w="1115300">
                <a:moveTo>
                  <a:pt x="0" y="0"/>
                </a:moveTo>
                <a:lnTo>
                  <a:pt x="1115300" y="0"/>
                </a:lnTo>
                <a:lnTo>
                  <a:pt x="1115300" y="1216892"/>
                </a:lnTo>
                <a:lnTo>
                  <a:pt x="0" y="1216892"/>
                </a:lnTo>
                <a:lnTo>
                  <a:pt x="0" y="0"/>
                </a:lnTo>
                <a:close/>
              </a:path>
            </a:pathLst>
          </a:custGeom>
          <a:blipFill>
            <a:blip r:embed="rId10">
              <a:alphaModFix amt="5100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523523" y="1099955"/>
            <a:ext cx="16230600" cy="6565900"/>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Ağ ve soket programlama</a:t>
            </a:r>
          </a:p>
          <a:p>
            <a:pPr algn="l" marL="1079499" indent="-359833" lvl="2">
              <a:lnSpc>
                <a:spcPts val="3499"/>
              </a:lnSpc>
              <a:buFont typeface="Arial"/>
              <a:buChar char="⚬"/>
            </a:pPr>
            <a:r>
              <a:rPr lang="en-US" b="true" sz="2499" spc="-42">
                <a:solidFill>
                  <a:srgbClr val="203251"/>
                </a:solidFill>
                <a:latin typeface="Raleway Bold"/>
                <a:ea typeface="Raleway Bold"/>
                <a:cs typeface="Raleway Bold"/>
                <a:sym typeface="Raleway Bold"/>
              </a:rPr>
              <a:t> </a:t>
            </a:r>
            <a:r>
              <a:rPr lang="en-US" sz="2499" spc="-42">
                <a:solidFill>
                  <a:srgbClr val="203251"/>
                </a:solidFill>
                <a:latin typeface="Raleway"/>
                <a:ea typeface="Raleway"/>
                <a:cs typeface="Raleway"/>
                <a:sym typeface="Raleway"/>
              </a:rPr>
              <a:t>Sunucu-istemci uygulamaları, haberleşme sistemleri geliştirilebilir.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Nesnelerin İnterneti (IoT)</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Sensörlerden veri okuma, küçük cihazlarla haberleşme gibi projelerde Python tercih edilir.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Kriptoloji</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Şifreleme ve güvenlik uygulamaları yapılabilir.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Sistem yönetimi</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İşletim sistemi görevlerini otomatikleştirmek için betikler yazılabilir.</a:t>
            </a:r>
          </a:p>
          <a:p>
            <a:pPr algn="l">
              <a:lnSpc>
                <a:spcPts val="3499"/>
              </a:lnSpc>
            </a:pPr>
          </a:p>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Oyun geliştirme</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Pygame gibi kütüphanelerle 2D oyunlar yapılabilir.</a:t>
            </a:r>
          </a:p>
          <a:p>
            <a:pPr algn="l">
              <a:lnSpc>
                <a:spcPts val="3499"/>
              </a:lnSpc>
            </a:pPr>
          </a:p>
        </p:txBody>
      </p:sp>
      <p:sp>
        <p:nvSpPr>
          <p:cNvPr name="Freeform 3" id="3"/>
          <p:cNvSpPr/>
          <p:nvPr/>
        </p:nvSpPr>
        <p:spPr>
          <a:xfrm flipH="false" flipV="false" rot="0">
            <a:off x="662145" y="6451137"/>
            <a:ext cx="861378" cy="614809"/>
          </a:xfrm>
          <a:custGeom>
            <a:avLst/>
            <a:gdLst/>
            <a:ahLst/>
            <a:cxnLst/>
            <a:rect r="r" b="b" t="t" l="l"/>
            <a:pathLst>
              <a:path h="614809" w="861378">
                <a:moveTo>
                  <a:pt x="0" y="0"/>
                </a:moveTo>
                <a:lnTo>
                  <a:pt x="861378" y="0"/>
                </a:lnTo>
                <a:lnTo>
                  <a:pt x="861378" y="614808"/>
                </a:lnTo>
                <a:lnTo>
                  <a:pt x="0" y="614808"/>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86843" y="5013353"/>
            <a:ext cx="861378" cy="906714"/>
          </a:xfrm>
          <a:custGeom>
            <a:avLst/>
            <a:gdLst/>
            <a:ahLst/>
            <a:cxnLst/>
            <a:rect r="r" b="b" t="t" l="l"/>
            <a:pathLst>
              <a:path h="906714" w="861378">
                <a:moveTo>
                  <a:pt x="0" y="0"/>
                </a:moveTo>
                <a:lnTo>
                  <a:pt x="861378" y="0"/>
                </a:lnTo>
                <a:lnTo>
                  <a:pt x="861378" y="906713"/>
                </a:lnTo>
                <a:lnTo>
                  <a:pt x="0" y="906713"/>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6843" y="3645602"/>
            <a:ext cx="836680" cy="836680"/>
          </a:xfrm>
          <a:custGeom>
            <a:avLst/>
            <a:gdLst/>
            <a:ahLst/>
            <a:cxnLst/>
            <a:rect r="r" b="b" t="t" l="l"/>
            <a:pathLst>
              <a:path h="836680" w="836680">
                <a:moveTo>
                  <a:pt x="0" y="0"/>
                </a:moveTo>
                <a:lnTo>
                  <a:pt x="836680" y="0"/>
                </a:lnTo>
                <a:lnTo>
                  <a:pt x="836680" y="836680"/>
                </a:lnTo>
                <a:lnTo>
                  <a:pt x="0" y="836680"/>
                </a:lnTo>
                <a:lnTo>
                  <a:pt x="0" y="0"/>
                </a:lnTo>
                <a:close/>
              </a:path>
            </a:pathLst>
          </a:custGeom>
          <a:blipFill>
            <a:blip r:embed="rId6">
              <a:alphaModFix amt="4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6843" y="2348655"/>
            <a:ext cx="949982" cy="763548"/>
          </a:xfrm>
          <a:custGeom>
            <a:avLst/>
            <a:gdLst/>
            <a:ahLst/>
            <a:cxnLst/>
            <a:rect r="r" b="b" t="t" l="l"/>
            <a:pathLst>
              <a:path h="763548" w="949982">
                <a:moveTo>
                  <a:pt x="0" y="0"/>
                </a:moveTo>
                <a:lnTo>
                  <a:pt x="949981" y="0"/>
                </a:lnTo>
                <a:lnTo>
                  <a:pt x="949981" y="763547"/>
                </a:lnTo>
                <a:lnTo>
                  <a:pt x="0" y="7635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719949" y="1028700"/>
            <a:ext cx="883769" cy="786555"/>
          </a:xfrm>
          <a:custGeom>
            <a:avLst/>
            <a:gdLst/>
            <a:ahLst/>
            <a:cxnLst/>
            <a:rect r="r" b="b" t="t" l="l"/>
            <a:pathLst>
              <a:path h="786555" w="883769">
                <a:moveTo>
                  <a:pt x="0" y="0"/>
                </a:moveTo>
                <a:lnTo>
                  <a:pt x="883769" y="0"/>
                </a:lnTo>
                <a:lnTo>
                  <a:pt x="883769" y="786555"/>
                </a:lnTo>
                <a:lnTo>
                  <a:pt x="0" y="7865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74625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Bold"/>
                <a:ea typeface="Raleway Bold"/>
                <a:cs typeface="Raleway Bold"/>
                <a:sym typeface="Raleway Bold"/>
              </a:rPr>
              <a:t>✅ Sonuç olarak:</a:t>
            </a:r>
          </a:p>
          <a:p>
            <a:pPr algn="l">
              <a:lnSpc>
                <a:spcPts val="3499"/>
              </a:lnSpc>
            </a:pPr>
          </a:p>
          <a:p>
            <a:pPr algn="l">
              <a:lnSpc>
                <a:spcPts val="3499"/>
              </a:lnSpc>
            </a:pPr>
            <a:r>
              <a:rPr lang="en-US" sz="2499" spc="-42">
                <a:solidFill>
                  <a:srgbClr val="203251"/>
                </a:solidFill>
                <a:latin typeface="Raleway"/>
                <a:ea typeface="Raleway"/>
                <a:cs typeface="Raleway"/>
                <a:sym typeface="Raleway"/>
              </a:rPr>
              <a:t>Python, neredeyse her iş için bir kütüpha</a:t>
            </a:r>
            <a:r>
              <a:rPr lang="en-US" sz="2499" spc="-42">
                <a:solidFill>
                  <a:srgbClr val="203251"/>
                </a:solidFill>
                <a:latin typeface="Raleway"/>
                <a:ea typeface="Raleway"/>
                <a:cs typeface="Raleway"/>
                <a:sym typeface="Raleway"/>
              </a:rPr>
              <a:t>neye sahip, çok</a:t>
            </a:r>
            <a:r>
              <a:rPr lang="en-US" sz="2499" spc="-42">
                <a:solidFill>
                  <a:srgbClr val="203251"/>
                </a:solidFill>
                <a:latin typeface="Raleway"/>
                <a:ea typeface="Raleway"/>
                <a:cs typeface="Raleway"/>
                <a:sym typeface="Raleway"/>
              </a:rPr>
              <a:t> yönlü ve güçlü bir dildir. Hem yeni başlayanlar</a:t>
            </a:r>
            <a:r>
              <a:rPr lang="en-US" sz="2499" spc="-42">
                <a:solidFill>
                  <a:srgbClr val="203251"/>
                </a:solidFill>
                <a:latin typeface="Raleway"/>
                <a:ea typeface="Raleway"/>
                <a:cs typeface="Raleway"/>
                <a:sym typeface="Raleway"/>
              </a:rPr>
              <a:t> için kolay öğrenilebilir, hem de profesyoneller için büyük projelerde kullanılabilir.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8109" y="0"/>
                  </a:moveTo>
                  <a:lnTo>
                    <a:pt x="4266617" y="0"/>
                  </a:lnTo>
                  <a:cubicBezTo>
                    <a:pt x="4268768" y="0"/>
                    <a:pt x="4270830" y="854"/>
                    <a:pt x="4272351" y="2375"/>
                  </a:cubicBezTo>
                  <a:cubicBezTo>
                    <a:pt x="4273872" y="3896"/>
                    <a:pt x="4274726" y="5958"/>
                    <a:pt x="4274726" y="8109"/>
                  </a:cubicBezTo>
                  <a:lnTo>
                    <a:pt x="4274726" y="2159358"/>
                  </a:lnTo>
                  <a:cubicBezTo>
                    <a:pt x="4274726" y="2161508"/>
                    <a:pt x="4273872" y="2163571"/>
                    <a:pt x="4272351" y="2165092"/>
                  </a:cubicBezTo>
                  <a:cubicBezTo>
                    <a:pt x="4270830" y="2166612"/>
                    <a:pt x="4268768" y="2167467"/>
                    <a:pt x="4266617" y="2167467"/>
                  </a:cubicBezTo>
                  <a:lnTo>
                    <a:pt x="8109" y="2167467"/>
                  </a:lnTo>
                  <a:cubicBezTo>
                    <a:pt x="5958" y="2167467"/>
                    <a:pt x="3896" y="2166612"/>
                    <a:pt x="2375" y="2165092"/>
                  </a:cubicBezTo>
                  <a:cubicBezTo>
                    <a:pt x="854" y="2163571"/>
                    <a:pt x="0" y="2161508"/>
                    <a:pt x="0" y="2159358"/>
                  </a:cubicBezTo>
                  <a:lnTo>
                    <a:pt x="0" y="8109"/>
                  </a:lnTo>
                  <a:cubicBezTo>
                    <a:pt x="0" y="5958"/>
                    <a:pt x="854" y="3896"/>
                    <a:pt x="2375" y="2375"/>
                  </a:cubicBezTo>
                  <a:cubicBezTo>
                    <a:pt x="3896" y="854"/>
                    <a:pt x="5958" y="0"/>
                    <a:pt x="8109" y="0"/>
                  </a:cubicBezTo>
                  <a:close/>
                </a:path>
              </a:pathLst>
            </a:custGeom>
            <a:solidFill>
              <a:srgbClr val="F2F2F2"/>
            </a:solidFill>
            <a:ln w="38100" cap="sq">
              <a:solidFill>
                <a:srgbClr val="A7A7A7"/>
              </a:solidFill>
              <a:prstDash val="sysDot"/>
              <a:miter/>
            </a:ln>
          </p:spPr>
        </p:sp>
        <p:sp>
          <p:nvSpPr>
            <p:cNvPr name="TextBox 4" id="4"/>
            <p:cNvSpPr txBox="true"/>
            <p:nvPr/>
          </p:nvSpPr>
          <p:spPr>
            <a:xfrm>
              <a:off x="0" y="-57150"/>
              <a:ext cx="4274726" cy="2224617"/>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6424244" y="430891"/>
            <a:ext cx="5439511" cy="1195618"/>
            <a:chOff x="0" y="0"/>
            <a:chExt cx="1432629" cy="314895"/>
          </a:xfrm>
        </p:grpSpPr>
        <p:sp>
          <p:nvSpPr>
            <p:cNvPr name="Freeform 6" id="6"/>
            <p:cNvSpPr/>
            <p:nvPr/>
          </p:nvSpPr>
          <p:spPr>
            <a:xfrm flipH="false" flipV="false" rot="0">
              <a:off x="0" y="0"/>
              <a:ext cx="1432629" cy="314895"/>
            </a:xfrm>
            <a:custGeom>
              <a:avLst/>
              <a:gdLst/>
              <a:ahLst/>
              <a:cxnLst/>
              <a:rect r="r" b="b" t="t" l="l"/>
              <a:pathLst>
                <a:path h="314895" w="1432629">
                  <a:moveTo>
                    <a:pt x="24196" y="0"/>
                  </a:moveTo>
                  <a:lnTo>
                    <a:pt x="1408433" y="0"/>
                  </a:lnTo>
                  <a:cubicBezTo>
                    <a:pt x="1414850" y="0"/>
                    <a:pt x="1421004" y="2549"/>
                    <a:pt x="1425542" y="7087"/>
                  </a:cubicBezTo>
                  <a:cubicBezTo>
                    <a:pt x="1430079" y="11624"/>
                    <a:pt x="1432629" y="17779"/>
                    <a:pt x="1432629" y="24196"/>
                  </a:cubicBezTo>
                  <a:lnTo>
                    <a:pt x="1432629" y="290700"/>
                  </a:lnTo>
                  <a:cubicBezTo>
                    <a:pt x="1432629" y="297117"/>
                    <a:pt x="1430079" y="303271"/>
                    <a:pt x="1425542" y="307809"/>
                  </a:cubicBezTo>
                  <a:cubicBezTo>
                    <a:pt x="1421004" y="312346"/>
                    <a:pt x="1414850" y="314895"/>
                    <a:pt x="1408433" y="314895"/>
                  </a:cubicBezTo>
                  <a:lnTo>
                    <a:pt x="24196" y="314895"/>
                  </a:lnTo>
                  <a:cubicBezTo>
                    <a:pt x="17779" y="314895"/>
                    <a:pt x="11624" y="312346"/>
                    <a:pt x="7087" y="307809"/>
                  </a:cubicBezTo>
                  <a:cubicBezTo>
                    <a:pt x="2549" y="303271"/>
                    <a:pt x="0" y="297117"/>
                    <a:pt x="0" y="290700"/>
                  </a:cubicBezTo>
                  <a:lnTo>
                    <a:pt x="0" y="24196"/>
                  </a:lnTo>
                  <a:cubicBezTo>
                    <a:pt x="0" y="17779"/>
                    <a:pt x="2549" y="11624"/>
                    <a:pt x="7087" y="7087"/>
                  </a:cubicBezTo>
                  <a:cubicBezTo>
                    <a:pt x="11624" y="2549"/>
                    <a:pt x="17779" y="0"/>
                    <a:pt x="24196" y="0"/>
                  </a:cubicBezTo>
                  <a:close/>
                </a:path>
              </a:pathLst>
            </a:custGeom>
            <a:solidFill>
              <a:srgbClr val="4F4F4F"/>
            </a:solidFill>
            <a:ln w="38100" cap="sq">
              <a:solidFill>
                <a:srgbClr val="777777"/>
              </a:solidFill>
              <a:prstDash val="sysDot"/>
              <a:miter/>
            </a:ln>
          </p:spPr>
        </p:sp>
        <p:sp>
          <p:nvSpPr>
            <p:cNvPr name="TextBox 7" id="7"/>
            <p:cNvSpPr txBox="true"/>
            <p:nvPr/>
          </p:nvSpPr>
          <p:spPr>
            <a:xfrm>
              <a:off x="0" y="-76200"/>
              <a:ext cx="1432629" cy="391095"/>
            </a:xfrm>
            <a:prstGeom prst="rect">
              <a:avLst/>
            </a:prstGeom>
          </p:spPr>
          <p:txBody>
            <a:bodyPr anchor="ctr" rtlCol="false" tIns="50800" lIns="50800" bIns="50800" rIns="50800"/>
            <a:lstStyle/>
            <a:p>
              <a:pPr algn="ctr">
                <a:lnSpc>
                  <a:spcPts val="5599"/>
                </a:lnSpc>
              </a:pPr>
              <a:r>
                <a:rPr lang="en-US" b="true" sz="3999" spc="-187">
                  <a:solidFill>
                    <a:srgbClr val="FFFFFF"/>
                  </a:solidFill>
                  <a:latin typeface="Raleway Semi-Bold"/>
                  <a:ea typeface="Raleway Semi-Bold"/>
                  <a:cs typeface="Raleway Semi-Bold"/>
                  <a:sym typeface="Raleway Semi-Bold"/>
                </a:rPr>
                <a:t>OKU-YORUM</a:t>
              </a:r>
            </a:p>
          </p:txBody>
        </p:sp>
      </p:grpSp>
      <p:sp>
        <p:nvSpPr>
          <p:cNvPr name="Freeform 8" id="8"/>
          <p:cNvSpPr/>
          <p:nvPr/>
        </p:nvSpPr>
        <p:spPr>
          <a:xfrm flipH="false" flipV="false" rot="0">
            <a:off x="9452021" y="2145162"/>
            <a:ext cx="7491604" cy="4480535"/>
          </a:xfrm>
          <a:custGeom>
            <a:avLst/>
            <a:gdLst/>
            <a:ahLst/>
            <a:cxnLst/>
            <a:rect r="r" b="b" t="t" l="l"/>
            <a:pathLst>
              <a:path h="4480535" w="7491604">
                <a:moveTo>
                  <a:pt x="0" y="0"/>
                </a:moveTo>
                <a:lnTo>
                  <a:pt x="7491604" y="0"/>
                </a:lnTo>
                <a:lnTo>
                  <a:pt x="7491604" y="4480535"/>
                </a:lnTo>
                <a:lnTo>
                  <a:pt x="0" y="4480535"/>
                </a:lnTo>
                <a:lnTo>
                  <a:pt x="0" y="0"/>
                </a:lnTo>
                <a:close/>
              </a:path>
            </a:pathLst>
          </a:custGeom>
          <a:blipFill>
            <a:blip r:embed="rId2"/>
            <a:stretch>
              <a:fillRect l="-6500" t="0" r="0" b="0"/>
            </a:stretch>
          </a:blipFill>
        </p:spPr>
      </p:sp>
      <p:sp>
        <p:nvSpPr>
          <p:cNvPr name="TextBox 9" id="9"/>
          <p:cNvSpPr txBox="true"/>
          <p:nvPr/>
        </p:nvSpPr>
        <p:spPr>
          <a:xfrm rot="0">
            <a:off x="1527545" y="2088012"/>
            <a:ext cx="7592701" cy="61277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Cezeri'nin Çarkından Python'un Kodlarına</a:t>
            </a:r>
          </a:p>
          <a:p>
            <a:pPr algn="l">
              <a:lnSpc>
                <a:spcPts val="3499"/>
              </a:lnSpc>
            </a:pPr>
          </a:p>
          <a:p>
            <a:pPr algn="l">
              <a:lnSpc>
                <a:spcPts val="3499"/>
              </a:lnSpc>
            </a:pPr>
            <a:r>
              <a:rPr lang="en-US" sz="2499" spc="-117">
                <a:solidFill>
                  <a:srgbClr val="424242"/>
                </a:solidFill>
                <a:latin typeface="Raleway"/>
                <a:ea typeface="Raleway"/>
                <a:cs typeface="Raleway"/>
                <a:sym typeface="Raleway"/>
              </a:rPr>
              <a:t>Bugün bilgisayarların kalbinde yer alan programlama mantığı, köklü bir matematik ve mekanik mirasına dayanır. 12. yüzyılda Artuklu Sarayı'nda yaşayan </a:t>
            </a:r>
            <a:r>
              <a:rPr lang="en-US" sz="2499" spc="-117" b="true">
                <a:solidFill>
                  <a:srgbClr val="424242"/>
                </a:solidFill>
                <a:latin typeface="Raleway Bold"/>
                <a:ea typeface="Raleway Bold"/>
                <a:cs typeface="Raleway Bold"/>
                <a:sym typeface="Raleway Bold"/>
              </a:rPr>
              <a:t>Ebû'l İz El-Cezeri</a:t>
            </a:r>
            <a:r>
              <a:rPr lang="en-US" sz="2499" spc="-117">
                <a:solidFill>
                  <a:srgbClr val="424242"/>
                </a:solidFill>
                <a:latin typeface="Raleway"/>
                <a:ea typeface="Raleway"/>
                <a:cs typeface="Raleway"/>
                <a:sym typeface="Raleway"/>
              </a:rPr>
              <a:t>, yazdığı Kitâb-ül Hiyel (Olağanüstü Mekanik Araçların Bilgisi Hakkında Kitap) adlı eseriyle kontrol ve otomasyon tarihinin önemli örnekleri arasında değerlendirilir.</a:t>
            </a:r>
          </a:p>
          <a:p>
            <a:pPr algn="l">
              <a:lnSpc>
                <a:spcPts val="3499"/>
              </a:lnSpc>
            </a:pPr>
          </a:p>
          <a:p>
            <a:pPr algn="l">
              <a:lnSpc>
                <a:spcPts val="3499"/>
              </a:lnSpc>
            </a:pPr>
            <a:r>
              <a:rPr lang="en-US" sz="2499" spc="-117">
                <a:solidFill>
                  <a:srgbClr val="424242"/>
                </a:solidFill>
                <a:latin typeface="Raleway"/>
                <a:ea typeface="Raleway"/>
                <a:cs typeface="Raleway"/>
                <a:sym typeface="Raleway"/>
              </a:rPr>
              <a:t>Düzeneklerdeki ardışık hareketler ve mekanik kontrol noktaları, bugünün algoritmalarındaki sıralı işlem ve koşul yapılarıyla kavramsal benzerlikler taşır.</a:t>
            </a:r>
          </a:p>
          <a:p>
            <a:pPr algn="l">
              <a:lnSpc>
                <a:spcPts val="3499"/>
              </a:lnSpc>
            </a:pPr>
          </a:p>
          <a:p>
            <a:pPr algn="l">
              <a:lnSpc>
                <a:spcPts val="3499"/>
              </a:lnSpc>
            </a:pPr>
          </a:p>
        </p:txBody>
      </p:sp>
      <p:sp>
        <p:nvSpPr>
          <p:cNvPr name="TextBox 10" id="10"/>
          <p:cNvSpPr txBox="true"/>
          <p:nvPr/>
        </p:nvSpPr>
        <p:spPr>
          <a:xfrm rot="0">
            <a:off x="1527545" y="7596002"/>
            <a:ext cx="15185402" cy="8699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Bilim tarihindeki köklü matematiksel miras ve Cezeri ile somutlaşan </a:t>
            </a:r>
            <a:r>
              <a:rPr lang="en-US" sz="2499" spc="-117" b="true">
                <a:solidFill>
                  <a:srgbClr val="424242"/>
                </a:solidFill>
                <a:latin typeface="Raleway Bold"/>
                <a:ea typeface="Raleway Bold"/>
                <a:cs typeface="Raleway Bold"/>
                <a:sym typeface="Raleway Bold"/>
              </a:rPr>
              <a:t>otomasyon dehası</a:t>
            </a:r>
            <a:r>
              <a:rPr lang="en-US" sz="2499" spc="-117">
                <a:solidFill>
                  <a:srgbClr val="424242"/>
                </a:solidFill>
                <a:latin typeface="Raleway"/>
                <a:ea typeface="Raleway"/>
                <a:cs typeface="Raleway"/>
                <a:sym typeface="Raleway"/>
              </a:rPr>
              <a:t>, bugün Python gibi modern diller aracılığıyla dijital bir boyuta taşınmıştır.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8109" y="0"/>
                  </a:moveTo>
                  <a:lnTo>
                    <a:pt x="4266617" y="0"/>
                  </a:lnTo>
                  <a:cubicBezTo>
                    <a:pt x="4268768" y="0"/>
                    <a:pt x="4270830" y="854"/>
                    <a:pt x="4272351" y="2375"/>
                  </a:cubicBezTo>
                  <a:cubicBezTo>
                    <a:pt x="4273872" y="3896"/>
                    <a:pt x="4274726" y="5958"/>
                    <a:pt x="4274726" y="8109"/>
                  </a:cubicBezTo>
                  <a:lnTo>
                    <a:pt x="4274726" y="2159358"/>
                  </a:lnTo>
                  <a:cubicBezTo>
                    <a:pt x="4274726" y="2161508"/>
                    <a:pt x="4273872" y="2163571"/>
                    <a:pt x="4272351" y="2165092"/>
                  </a:cubicBezTo>
                  <a:cubicBezTo>
                    <a:pt x="4270830" y="2166612"/>
                    <a:pt x="4268768" y="2167467"/>
                    <a:pt x="4266617" y="2167467"/>
                  </a:cubicBezTo>
                  <a:lnTo>
                    <a:pt x="8109" y="2167467"/>
                  </a:lnTo>
                  <a:cubicBezTo>
                    <a:pt x="5958" y="2167467"/>
                    <a:pt x="3896" y="2166612"/>
                    <a:pt x="2375" y="2165092"/>
                  </a:cubicBezTo>
                  <a:cubicBezTo>
                    <a:pt x="854" y="2163571"/>
                    <a:pt x="0" y="2161508"/>
                    <a:pt x="0" y="2159358"/>
                  </a:cubicBezTo>
                  <a:lnTo>
                    <a:pt x="0" y="8109"/>
                  </a:lnTo>
                  <a:cubicBezTo>
                    <a:pt x="0" y="5958"/>
                    <a:pt x="854" y="3896"/>
                    <a:pt x="2375" y="2375"/>
                  </a:cubicBezTo>
                  <a:cubicBezTo>
                    <a:pt x="3896" y="854"/>
                    <a:pt x="5958" y="0"/>
                    <a:pt x="8109" y="0"/>
                  </a:cubicBezTo>
                  <a:close/>
                </a:path>
              </a:pathLst>
            </a:custGeom>
            <a:solidFill>
              <a:srgbClr val="F2F2F2"/>
            </a:solidFill>
            <a:ln w="38100" cap="sq">
              <a:solidFill>
                <a:srgbClr val="A7A7A7"/>
              </a:solidFill>
              <a:prstDash val="sysDot"/>
              <a:miter/>
            </a:ln>
          </p:spPr>
        </p:sp>
        <p:sp>
          <p:nvSpPr>
            <p:cNvPr name="TextBox 4" id="4"/>
            <p:cNvSpPr txBox="true"/>
            <p:nvPr/>
          </p:nvSpPr>
          <p:spPr>
            <a:xfrm>
              <a:off x="0" y="-57150"/>
              <a:ext cx="4274726" cy="2224617"/>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5555401" y="3760522"/>
            <a:ext cx="7177198" cy="4772837"/>
          </a:xfrm>
          <a:custGeom>
            <a:avLst/>
            <a:gdLst/>
            <a:ahLst/>
            <a:cxnLst/>
            <a:rect r="r" b="b" t="t" l="l"/>
            <a:pathLst>
              <a:path h="4772837" w="7177198">
                <a:moveTo>
                  <a:pt x="0" y="0"/>
                </a:moveTo>
                <a:lnTo>
                  <a:pt x="7177198" y="0"/>
                </a:lnTo>
                <a:lnTo>
                  <a:pt x="7177198" y="4772837"/>
                </a:lnTo>
                <a:lnTo>
                  <a:pt x="0" y="4772837"/>
                </a:lnTo>
                <a:lnTo>
                  <a:pt x="0" y="0"/>
                </a:lnTo>
                <a:close/>
              </a:path>
            </a:pathLst>
          </a:custGeom>
          <a:blipFill>
            <a:blip r:embed="rId2"/>
            <a:stretch>
              <a:fillRect l="0" t="0" r="0" b="0"/>
            </a:stretch>
          </a:blipFill>
        </p:spPr>
      </p:sp>
      <p:sp>
        <p:nvSpPr>
          <p:cNvPr name="TextBox 6" id="6"/>
          <p:cNvSpPr txBox="true"/>
          <p:nvPr/>
        </p:nvSpPr>
        <p:spPr>
          <a:xfrm rot="0">
            <a:off x="1551299" y="1575393"/>
            <a:ext cx="15185402"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Millî Teknoloji Hamlesi kapsamında siber güvenlik ve yazılım projelerini hayata geçiren genç geliştiriciler, bu köklü mantıksal mirası devam ettirmektedir. Python öğrenmek ve algoritmik tasarımlar yapmak, Cezeri'nin mekanik çarklarındaki işlem basamaklarını bugünün kod satırlarına aktararak geleceğin teknolojisini inşa etmek anlamına gelir.</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847670" y="1985222"/>
            <a:ext cx="14732484" cy="8699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Okuduğunuz metinden hareke</a:t>
            </a:r>
            <a:r>
              <a:rPr lang="en-US" sz="2499" spc="-117">
                <a:solidFill>
                  <a:srgbClr val="424242"/>
                </a:solidFill>
                <a:latin typeface="Raleway"/>
                <a:ea typeface="Raleway"/>
                <a:cs typeface="Raleway"/>
                <a:sym typeface="Raleway"/>
              </a:rPr>
              <a:t>tl</a:t>
            </a:r>
            <a:r>
              <a:rPr lang="en-US" sz="2499" spc="-117">
                <a:solidFill>
                  <a:srgbClr val="424242"/>
                </a:solidFill>
                <a:latin typeface="Raleway"/>
                <a:ea typeface="Raleway"/>
                <a:cs typeface="Raleway"/>
                <a:sym typeface="Raleway"/>
              </a:rPr>
              <a:t>e Cezeri'</a:t>
            </a:r>
            <a:r>
              <a:rPr lang="en-US" sz="2499" spc="-117">
                <a:solidFill>
                  <a:srgbClr val="424242"/>
                </a:solidFill>
                <a:latin typeface="Raleway"/>
                <a:ea typeface="Raleway"/>
                <a:cs typeface="Raleway"/>
                <a:sym typeface="Raleway"/>
              </a:rPr>
              <a:t>n</a:t>
            </a:r>
            <a:r>
              <a:rPr lang="en-US" sz="2499" spc="-117">
                <a:solidFill>
                  <a:srgbClr val="424242"/>
                </a:solidFill>
                <a:latin typeface="Raleway"/>
                <a:ea typeface="Raleway"/>
                <a:cs typeface="Raleway"/>
                <a:sym typeface="Raleway"/>
              </a:rPr>
              <a:t>i</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mekanik tasarımla</a:t>
            </a:r>
            <a:r>
              <a:rPr lang="en-US" sz="2499" spc="-117">
                <a:solidFill>
                  <a:srgbClr val="424242"/>
                </a:solidFill>
                <a:latin typeface="Raleway"/>
                <a:ea typeface="Raleway"/>
                <a:cs typeface="Raleway"/>
                <a:sym typeface="Raleway"/>
              </a:rPr>
              <a:t>rı ile mod</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rn</a:t>
            </a:r>
            <a:r>
              <a:rPr lang="en-US" sz="2499" spc="-117">
                <a:solidFill>
                  <a:srgbClr val="424242"/>
                </a:solidFill>
                <a:latin typeface="Raleway"/>
                <a:ea typeface="Raleway"/>
                <a:cs typeface="Raleway"/>
                <a:sym typeface="Raleway"/>
              </a:rPr>
              <a:t> P</a:t>
            </a:r>
            <a:r>
              <a:rPr lang="en-US" sz="2499" spc="-117">
                <a:solidFill>
                  <a:srgbClr val="424242"/>
                </a:solidFill>
                <a:latin typeface="Raleway"/>
                <a:ea typeface="Raleway"/>
                <a:cs typeface="Raleway"/>
                <a:sym typeface="Raleway"/>
              </a:rPr>
              <a:t>ython</a:t>
            </a:r>
            <a:r>
              <a:rPr lang="en-US" sz="2499" spc="-117">
                <a:solidFill>
                  <a:srgbClr val="424242"/>
                </a:solidFill>
                <a:latin typeface="Raleway"/>
                <a:ea typeface="Raleway"/>
                <a:cs typeface="Raleway"/>
                <a:sym typeface="Raleway"/>
              </a:rPr>
              <a:t> kodl</a:t>
            </a:r>
            <a:r>
              <a:rPr lang="en-US" sz="2499" spc="-117">
                <a:solidFill>
                  <a:srgbClr val="424242"/>
                </a:solidFill>
                <a:latin typeface="Raleway"/>
                <a:ea typeface="Raleway"/>
                <a:cs typeface="Raleway"/>
                <a:sym typeface="Raleway"/>
              </a:rPr>
              <a:t>ar</a:t>
            </a:r>
            <a:r>
              <a:rPr lang="en-US" sz="2499" spc="-117">
                <a:solidFill>
                  <a:srgbClr val="424242"/>
                </a:solidFill>
                <a:latin typeface="Raleway"/>
                <a:ea typeface="Raleway"/>
                <a:cs typeface="Raleway"/>
                <a:sym typeface="Raleway"/>
              </a:rPr>
              <a:t>ı </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ra</a:t>
            </a:r>
            <a:r>
              <a:rPr lang="en-US" sz="2499" spc="-117">
                <a:solidFill>
                  <a:srgbClr val="424242"/>
                </a:solidFill>
                <a:latin typeface="Raleway"/>
                <a:ea typeface="Raleway"/>
                <a:cs typeface="Raleway"/>
                <a:sym typeface="Raleway"/>
              </a:rPr>
              <a:t>sı</a:t>
            </a:r>
            <a:r>
              <a:rPr lang="en-US" sz="2499" spc="-117">
                <a:solidFill>
                  <a:srgbClr val="424242"/>
                </a:solidFill>
                <a:latin typeface="Raleway"/>
                <a:ea typeface="Raleway"/>
                <a:cs typeface="Raleway"/>
                <a:sym typeface="Raleway"/>
              </a:rPr>
              <a:t>ndaki</a:t>
            </a:r>
            <a:r>
              <a:rPr lang="en-US" sz="2499" spc="-117">
                <a:solidFill>
                  <a:srgbClr val="424242"/>
                </a:solidFill>
                <a:latin typeface="Raleway"/>
                <a:ea typeface="Raleway"/>
                <a:cs typeface="Raleway"/>
                <a:sym typeface="Raleway"/>
              </a:rPr>
              <a:t> man</a:t>
            </a:r>
            <a:r>
              <a:rPr lang="en-US" sz="2499" spc="-117">
                <a:solidFill>
                  <a:srgbClr val="424242"/>
                </a:solidFill>
                <a:latin typeface="Raleway"/>
                <a:ea typeface="Raleway"/>
                <a:cs typeface="Raleway"/>
                <a:sym typeface="Raleway"/>
              </a:rPr>
              <a:t>tık</a:t>
            </a:r>
            <a:r>
              <a:rPr lang="en-US" sz="2499" spc="-117">
                <a:solidFill>
                  <a:srgbClr val="424242"/>
                </a:solidFill>
                <a:latin typeface="Raleway"/>
                <a:ea typeface="Raleway"/>
                <a:cs typeface="Raleway"/>
                <a:sym typeface="Raleway"/>
              </a:rPr>
              <a:t>sa</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kö</a:t>
            </a:r>
            <a:r>
              <a:rPr lang="en-US" sz="2499" spc="-117">
                <a:solidFill>
                  <a:srgbClr val="424242"/>
                </a:solidFill>
                <a:latin typeface="Raleway"/>
                <a:ea typeface="Raleway"/>
                <a:cs typeface="Raleway"/>
                <a:sym typeface="Raleway"/>
              </a:rPr>
              <a:t>pr</a:t>
            </a:r>
            <a:r>
              <a:rPr lang="en-US" sz="2499" spc="-117">
                <a:solidFill>
                  <a:srgbClr val="424242"/>
                </a:solidFill>
                <a:latin typeface="Raleway"/>
                <a:ea typeface="Raleway"/>
                <a:cs typeface="Raleway"/>
                <a:sym typeface="Raleway"/>
              </a:rPr>
              <a:t>üyü</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k</a:t>
            </a:r>
            <a:r>
              <a:rPr lang="en-US" sz="2499" spc="-117">
                <a:solidFill>
                  <a:srgbClr val="424242"/>
                </a:solidFill>
                <a:latin typeface="Raleway"/>
                <a:ea typeface="Raleway"/>
                <a:cs typeface="Raleway"/>
                <a:sym typeface="Raleway"/>
              </a:rPr>
              <a:t>u</a:t>
            </a:r>
            <a:r>
              <a:rPr lang="en-US" sz="2499" spc="-117">
                <a:solidFill>
                  <a:srgbClr val="424242"/>
                </a:solidFill>
                <a:latin typeface="Raleway"/>
                <a:ea typeface="Raleway"/>
                <a:cs typeface="Raleway"/>
                <a:sym typeface="Raleway"/>
              </a:rPr>
              <a:t>rar</a:t>
            </a:r>
            <a:r>
              <a:rPr lang="en-US" sz="2499" spc="-117">
                <a:solidFill>
                  <a:srgbClr val="424242"/>
                </a:solidFill>
                <a:latin typeface="Raleway"/>
                <a:ea typeface="Raleway"/>
                <a:cs typeface="Raleway"/>
                <a:sym typeface="Raleway"/>
              </a:rPr>
              <a:t>ak </a:t>
            </a:r>
            <a:r>
              <a:rPr lang="en-US" sz="2499" spc="-117">
                <a:solidFill>
                  <a:srgbClr val="424242"/>
                </a:solidFill>
                <a:latin typeface="Raleway"/>
                <a:ea typeface="Raleway"/>
                <a:cs typeface="Raleway"/>
                <a:sym typeface="Raleway"/>
              </a:rPr>
              <a:t>ta</a:t>
            </a:r>
            <a:r>
              <a:rPr lang="en-US" sz="2499" spc="-117">
                <a:solidFill>
                  <a:srgbClr val="424242"/>
                </a:solidFill>
                <a:latin typeface="Raleway"/>
                <a:ea typeface="Raleway"/>
                <a:cs typeface="Raleway"/>
                <a:sym typeface="Raleway"/>
              </a:rPr>
              <a:t>bloda</a:t>
            </a:r>
            <a:r>
              <a:rPr lang="en-US" sz="2499" spc="-117">
                <a:solidFill>
                  <a:srgbClr val="424242"/>
                </a:solidFill>
                <a:latin typeface="Raleway"/>
                <a:ea typeface="Raleway"/>
                <a:cs typeface="Raleway"/>
                <a:sym typeface="Raleway"/>
              </a:rPr>
              <a:t>ki</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ilgil</a:t>
            </a:r>
            <a:r>
              <a:rPr lang="en-US" sz="2499" spc="-117">
                <a:solidFill>
                  <a:srgbClr val="424242"/>
                </a:solidFill>
                <a:latin typeface="Raleway"/>
                <a:ea typeface="Raleway"/>
                <a:cs typeface="Raleway"/>
                <a:sym typeface="Raleway"/>
              </a:rPr>
              <a:t>i </a:t>
            </a:r>
            <a:r>
              <a:rPr lang="en-US" sz="2499" spc="-117">
                <a:solidFill>
                  <a:srgbClr val="424242"/>
                </a:solidFill>
                <a:latin typeface="Raleway"/>
                <a:ea typeface="Raleway"/>
                <a:cs typeface="Raleway"/>
                <a:sym typeface="Raleway"/>
              </a:rPr>
              <a:t>boşlu</a:t>
            </a:r>
            <a:r>
              <a:rPr lang="en-US" sz="2499" spc="-117">
                <a:solidFill>
                  <a:srgbClr val="424242"/>
                </a:solidFill>
                <a:latin typeface="Raleway"/>
                <a:ea typeface="Raleway"/>
                <a:cs typeface="Raleway"/>
                <a:sym typeface="Raleway"/>
              </a:rPr>
              <a:t>k</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ara </a:t>
            </a:r>
            <a:r>
              <a:rPr lang="en-US" sz="2499" spc="-117">
                <a:solidFill>
                  <a:srgbClr val="424242"/>
                </a:solidFill>
                <a:latin typeface="Raleway"/>
                <a:ea typeface="Raleway"/>
                <a:cs typeface="Raleway"/>
                <a:sym typeface="Raleway"/>
              </a:rPr>
              <a:t>P</a:t>
            </a: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tho</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p</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og</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am</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m</a:t>
            </a:r>
            <a:r>
              <a:rPr lang="en-US" sz="2499" spc="-117">
                <a:solidFill>
                  <a:srgbClr val="424242"/>
                </a:solidFill>
                <a:latin typeface="Raleway"/>
                <a:ea typeface="Raleway"/>
                <a:cs typeface="Raleway"/>
                <a:sym typeface="Raleway"/>
              </a:rPr>
              <a:t>asın</a:t>
            </a:r>
            <a:r>
              <a:rPr lang="en-US" sz="2499" spc="-117">
                <a:solidFill>
                  <a:srgbClr val="424242"/>
                </a:solidFill>
                <a:latin typeface="Raleway"/>
                <a:ea typeface="Raleway"/>
                <a:cs typeface="Raleway"/>
                <a:sym typeface="Raleway"/>
              </a:rPr>
              <a:t>d</a:t>
            </a:r>
            <a:r>
              <a:rPr lang="en-US" sz="2499" spc="-117">
                <a:solidFill>
                  <a:srgbClr val="424242"/>
                </a:solidFill>
                <a:latin typeface="Raleway"/>
                <a:ea typeface="Raleway"/>
                <a:cs typeface="Raleway"/>
                <a:sym typeface="Raleway"/>
              </a:rPr>
              <a:t>ak</a:t>
            </a:r>
            <a:r>
              <a:rPr lang="en-US" sz="2499" spc="-117">
                <a:solidFill>
                  <a:srgbClr val="424242"/>
                </a:solidFill>
                <a:latin typeface="Raleway"/>
                <a:ea typeface="Raleway"/>
                <a:cs typeface="Raleway"/>
                <a:sym typeface="Raleway"/>
              </a:rPr>
              <a:t>i </a:t>
            </a:r>
            <a:r>
              <a:rPr lang="en-US" sz="2499" spc="-117">
                <a:solidFill>
                  <a:srgbClr val="424242"/>
                </a:solidFill>
                <a:latin typeface="Raleway"/>
                <a:ea typeface="Raleway"/>
                <a:cs typeface="Raleway"/>
                <a:sym typeface="Raleway"/>
              </a:rPr>
              <a:t>karşılıklarını yazınız.</a:t>
            </a:r>
          </a:p>
        </p:txBody>
      </p:sp>
      <p:sp>
        <p:nvSpPr>
          <p:cNvPr name="Freeform 3" id="3"/>
          <p:cNvSpPr/>
          <p:nvPr/>
        </p:nvSpPr>
        <p:spPr>
          <a:xfrm flipH="false" flipV="false" rot="0">
            <a:off x="6862092" y="5884248"/>
            <a:ext cx="4563815" cy="3582595"/>
          </a:xfrm>
          <a:custGeom>
            <a:avLst/>
            <a:gdLst/>
            <a:ahLst/>
            <a:cxnLst/>
            <a:rect r="r" b="b" t="t" l="l"/>
            <a:pathLst>
              <a:path h="3582595" w="4563815">
                <a:moveTo>
                  <a:pt x="0" y="0"/>
                </a:moveTo>
                <a:lnTo>
                  <a:pt x="4563816" y="0"/>
                </a:lnTo>
                <a:lnTo>
                  <a:pt x="4563816" y="3582595"/>
                </a:lnTo>
                <a:lnTo>
                  <a:pt x="0" y="3582595"/>
                </a:lnTo>
                <a:lnTo>
                  <a:pt x="0" y="0"/>
                </a:lnTo>
                <a:close/>
              </a:path>
            </a:pathLst>
          </a:custGeom>
          <a:blipFill>
            <a:blip r:embed="rId2"/>
            <a:stretch>
              <a:fillRect l="0" t="0" r="0" b="0"/>
            </a:stretch>
          </a:blipFill>
        </p:spPr>
      </p:sp>
      <p:sp>
        <p:nvSpPr>
          <p:cNvPr name="Freeform 4" id="4"/>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olid"/>
            <a:headEnd type="none" len="sm" w="sm"/>
            <a:tailEnd type="none" len="sm" w="sm"/>
          </a:ln>
        </p:spPr>
      </p:sp>
      <p:sp>
        <p:nvSpPr>
          <p:cNvPr name="TextBox 5" id="5"/>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Düşünelim-Tartışalım</a:t>
            </a:r>
          </a:p>
        </p:txBody>
      </p:sp>
      <p:graphicFrame>
        <p:nvGraphicFramePr>
          <p:cNvPr name="Table 6" id="6"/>
          <p:cNvGraphicFramePr>
            <a:graphicFrameLocks noGrp="true"/>
          </p:cNvGraphicFramePr>
          <p:nvPr/>
        </p:nvGraphicFramePr>
        <p:xfrm>
          <a:off x="1907595" y="3045798"/>
          <a:ext cx="14732484" cy="2647950"/>
        </p:xfrm>
        <a:graphic>
          <a:graphicData uri="http://schemas.openxmlformats.org/drawingml/2006/table">
            <a:tbl>
              <a:tblPr/>
              <a:tblGrid>
                <a:gridCol w="9241266"/>
                <a:gridCol w="5491218"/>
              </a:tblGrid>
              <a:tr h="573563">
                <a:tc>
                  <a:txBody>
                    <a:bodyPr anchor="t" rtlCol="false"/>
                    <a:lstStyle/>
                    <a:p>
                      <a:pPr algn="l">
                        <a:lnSpc>
                          <a:spcPts val="2800"/>
                        </a:lnSpc>
                        <a:defRPr/>
                      </a:pPr>
                      <a:r>
                        <a:rPr lang="en-US" b="true" sz="2000">
                          <a:solidFill>
                            <a:srgbClr val="000000"/>
                          </a:solidFill>
                          <a:latin typeface="Raleway Bold"/>
                          <a:ea typeface="Raleway Bold"/>
                          <a:cs typeface="Raleway Bold"/>
                          <a:sym typeface="Raleway Bold"/>
                        </a:rPr>
                        <a:t>Cezeri'nin Mekanik Tasarımları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b="true" sz="2000">
                          <a:solidFill>
                            <a:srgbClr val="000000"/>
                          </a:solidFill>
                          <a:latin typeface="Raleway Bold"/>
                          <a:ea typeface="Raleway Bold"/>
                          <a:cs typeface="Raleway Bold"/>
                          <a:sym typeface="Raleway Bold"/>
                        </a:rPr>
                        <a:t>Python Programlamasındaki Karşılığı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563">
                <a:tc>
                  <a:txBody>
                    <a:bodyPr anchor="t" rtlCol="false"/>
                    <a:lstStyle/>
                    <a:p>
                      <a:pPr algn="l">
                        <a:lnSpc>
                          <a:spcPts val="2800"/>
                        </a:lnSpc>
                        <a:defRPr/>
                      </a:pPr>
                      <a:r>
                        <a:rPr lang="en-US" sz="2000">
                          <a:solidFill>
                            <a:srgbClr val="000000"/>
                          </a:solidFill>
                          <a:latin typeface="Raleway"/>
                          <a:ea typeface="Raleway"/>
                          <a:cs typeface="Raleway"/>
                          <a:sym typeface="Raleway"/>
                        </a:rPr>
                        <a:t>Belirli bir düzende sürekli ve ardışık olarak dönen dişli çarklar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563">
                <a:tc>
                  <a:txBody>
                    <a:bodyPr anchor="t" rtlCol="false"/>
                    <a:lstStyle/>
                    <a:p>
                      <a:pPr algn="l">
                        <a:lnSpc>
                          <a:spcPts val="2800"/>
                        </a:lnSpc>
                        <a:defRPr/>
                      </a:pPr>
                      <a:r>
                        <a:rPr lang="en-US" sz="2000">
                          <a:solidFill>
                            <a:srgbClr val="000000"/>
                          </a:solidFill>
                          <a:latin typeface="Raleway"/>
                          <a:ea typeface="Raleway"/>
                          <a:cs typeface="Raleway"/>
                          <a:sym typeface="Raleway"/>
                        </a:rPr>
                        <a:t>Suyun akış yönünü veya miktarını şarta bağlayan mekanik kontrol noktaları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7260">
                <a:tc>
                  <a:txBody>
                    <a:bodyPr anchor="t" rtlCol="false"/>
                    <a:lstStyle/>
                    <a:p>
                      <a:pPr algn="l">
                        <a:lnSpc>
                          <a:spcPts val="2800"/>
                        </a:lnSpc>
                        <a:defRPr/>
                      </a:pPr>
                      <a:r>
                        <a:rPr lang="en-US" sz="2000">
                          <a:solidFill>
                            <a:srgbClr val="000000"/>
                          </a:solidFill>
                          <a:latin typeface="Raleway"/>
                          <a:ea typeface="Raleway"/>
                          <a:cs typeface="Raleway"/>
                          <a:sym typeface="Raleway"/>
                        </a:rPr>
                        <a:t>Mekanizmanın başından sonuna kadar adım adım nasıl çalışacağını gösteren mühendislik planı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551299" y="2114550"/>
          <a:ext cx="15185402" cy="3181350"/>
        </p:xfrm>
        <a:graphic>
          <a:graphicData uri="http://schemas.openxmlformats.org/drawingml/2006/table">
            <a:tbl>
              <a:tblPr/>
              <a:tblGrid>
                <a:gridCol w="9708170"/>
                <a:gridCol w="5477232"/>
              </a:tblGrid>
              <a:tr h="1108218">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Cezeri'nin Mekanik Tasarımları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Python Programlamasındaki Karşılığı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21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Belirli bir düzende sürekli ve ardışık olarak dönen dişli çarklar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Döngüler (for, while)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21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Suyun akış yönünü veya miktarını şarta bağlayan mekanik kontrol noktaları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Koşul yapıları (if-elif-else)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70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Mekanizmanın başından sonuna kadar adım adım nasıl çalışacağını gösteren mühendislik planı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Algoritma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Freeform 3" id="3"/>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olid"/>
            <a:headEnd type="none" len="sm" w="sm"/>
            <a:tailEnd type="none" len="sm" w="sm"/>
          </a:ln>
        </p:spPr>
      </p:sp>
      <p:sp>
        <p:nvSpPr>
          <p:cNvPr name="TextBox 4" id="4"/>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Cevaplar</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Semi-Bold"/>
                <a:ea typeface="Raleway Semi-Bold"/>
                <a:cs typeface="Raleway Semi-Bold"/>
                <a:sym typeface="Raleway Semi-Bold"/>
              </a:rPr>
              <a:t>UYGULAMA 1: </a:t>
            </a:r>
            <a:r>
              <a:rPr lang="en-US" sz="3000" spc="-51">
                <a:solidFill>
                  <a:srgbClr val="203251"/>
                </a:solidFill>
                <a:latin typeface="Raleway"/>
                <a:ea typeface="Raleway"/>
                <a:cs typeface="Raleway"/>
                <a:sym typeface="Raleway"/>
              </a:rPr>
              <a:t>PYTHON KURULUMU</a:t>
            </a:r>
          </a:p>
        </p:txBody>
      </p:sp>
      <p:sp>
        <p:nvSpPr>
          <p:cNvPr name="TextBox 3" id="3"/>
          <p:cNvSpPr txBox="true"/>
          <p:nvPr/>
        </p:nvSpPr>
        <p:spPr>
          <a:xfrm rot="0">
            <a:off x="1028700" y="2062627"/>
            <a:ext cx="13314268" cy="349885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Uygulamanın Amacı:</a:t>
            </a:r>
            <a:r>
              <a:rPr lang="en-US" sz="2499" spc="-42">
                <a:solidFill>
                  <a:srgbClr val="203251"/>
                </a:solidFill>
                <a:latin typeface="Raleway"/>
                <a:ea typeface="Raleway"/>
                <a:cs typeface="Raleway"/>
                <a:sym typeface="Raleway"/>
              </a:rPr>
              <a:t> </a:t>
            </a:r>
            <a:r>
              <a:rPr lang="en-US" sz="2499" spc="-42">
                <a:solidFill>
                  <a:srgbClr val="203251"/>
                </a:solidFill>
                <a:latin typeface="Raleway"/>
                <a:ea typeface="Raleway"/>
                <a:cs typeface="Raleway"/>
                <a:sym typeface="Raleway"/>
              </a:rPr>
              <a:t>Python programlama dilini resmî kaynaklardan güvenle indirmek, bilgisayarınıza kurmak ve komut satırı üzerinden çalıştığını test etmek</a:t>
            </a:r>
          </a:p>
          <a:p>
            <a:pPr algn="l">
              <a:lnSpc>
                <a:spcPts val="3499"/>
              </a:lnSpc>
            </a:pPr>
          </a:p>
          <a:p>
            <a:pPr algn="l">
              <a:lnSpc>
                <a:spcPts val="3499"/>
              </a:lnSpc>
            </a:pPr>
            <a:r>
              <a:rPr lang="en-US" sz="2499" spc="-42" b="true">
                <a:solidFill>
                  <a:srgbClr val="203251"/>
                </a:solidFill>
                <a:latin typeface="Raleway Semi-Bold"/>
                <a:ea typeface="Raleway Semi-Bold"/>
                <a:cs typeface="Raleway Semi-Bold"/>
                <a:sym typeface="Raleway Semi-Bold"/>
              </a:rPr>
              <a:t>Problem Senaryosu:</a:t>
            </a:r>
            <a:r>
              <a:rPr lang="en-US" sz="2499" spc="-42">
                <a:solidFill>
                  <a:srgbClr val="203251"/>
                </a:solidFill>
                <a:latin typeface="Raleway"/>
                <a:ea typeface="Raleway"/>
                <a:cs typeface="Raleway"/>
                <a:sym typeface="Raleway"/>
              </a:rPr>
              <a:t> Sarmal yapıda geliştirilen Kod-Asistan projesinin tasarım aşaması (v0.1) tamamlanarak kodlamaya geçilmiştir. Komutların bilgisayarda yürütülebilmesi için sisteme Python yorumlayıcısının kurulması zorunludur. Güvenli ve kararlı bir geliştirme ortamının inşası, bu kurulumun standartlara uygun gerçekleştirilmesine bağlıdır.</a:t>
            </a:r>
          </a:p>
          <a:p>
            <a:pPr algn="l">
              <a:lnSpc>
                <a:spcPts val="3499"/>
              </a:lnSpc>
            </a:pPr>
          </a:p>
        </p:txBody>
      </p:sp>
      <p:sp>
        <p:nvSpPr>
          <p:cNvPr name="Freeform 4" id="4"/>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2444741" y="1046430"/>
            <a:ext cx="4814559" cy="3508610"/>
          </a:xfrm>
          <a:custGeom>
            <a:avLst/>
            <a:gdLst/>
            <a:ahLst/>
            <a:cxnLst/>
            <a:rect r="r" b="b" t="t" l="l"/>
            <a:pathLst>
              <a:path h="3508610" w="4814559">
                <a:moveTo>
                  <a:pt x="0" y="0"/>
                </a:moveTo>
                <a:lnTo>
                  <a:pt x="4814559" y="0"/>
                </a:lnTo>
                <a:lnTo>
                  <a:pt x="4814559" y="3508610"/>
                </a:lnTo>
                <a:lnTo>
                  <a:pt x="0" y="3508610"/>
                </a:lnTo>
                <a:lnTo>
                  <a:pt x="0" y="0"/>
                </a:lnTo>
                <a:close/>
              </a:path>
            </a:pathLst>
          </a:custGeom>
          <a:blipFill>
            <a:blip r:embed="rId2"/>
            <a:stretch>
              <a:fillRect l="0" t="0" r="0" b="0"/>
            </a:stretch>
          </a:blipFill>
        </p:spPr>
      </p:sp>
      <p:sp>
        <p:nvSpPr>
          <p:cNvPr name="Freeform 3" id="3"/>
          <p:cNvSpPr/>
          <p:nvPr/>
        </p:nvSpPr>
        <p:spPr>
          <a:xfrm flipH="false" flipV="false" rot="0">
            <a:off x="1836489" y="4015926"/>
            <a:ext cx="9513130" cy="2555085"/>
          </a:xfrm>
          <a:custGeom>
            <a:avLst/>
            <a:gdLst/>
            <a:ahLst/>
            <a:cxnLst/>
            <a:rect r="r" b="b" t="t" l="l"/>
            <a:pathLst>
              <a:path h="2555085" w="9513130">
                <a:moveTo>
                  <a:pt x="0" y="0"/>
                </a:moveTo>
                <a:lnTo>
                  <a:pt x="9513130" y="0"/>
                </a:lnTo>
                <a:lnTo>
                  <a:pt x="9513130" y="2555085"/>
                </a:lnTo>
                <a:lnTo>
                  <a:pt x="0" y="2555085"/>
                </a:lnTo>
                <a:lnTo>
                  <a:pt x="0" y="0"/>
                </a:lnTo>
                <a:close/>
              </a:path>
            </a:pathLst>
          </a:custGeom>
          <a:blipFill>
            <a:blip r:embed="rId3"/>
            <a:stretch>
              <a:fillRect l="0" t="0" r="0" b="0"/>
            </a:stretch>
          </a:blipFill>
        </p:spPr>
      </p:sp>
      <p:sp>
        <p:nvSpPr>
          <p:cNvPr name="TextBox 4" id="4"/>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b="true" sz="3999" spc="-67">
                <a:solidFill>
                  <a:srgbClr val="203251"/>
                </a:solidFill>
                <a:latin typeface="Raleway Ultra-Bold"/>
                <a:ea typeface="Raleway Ultra-Bold"/>
                <a:cs typeface="Raleway Ultra-Bold"/>
                <a:sym typeface="Raleway Ultra-Bold"/>
              </a:rPr>
              <a:t>PYTHON KURULUMU</a:t>
            </a:r>
          </a:p>
        </p:txBody>
      </p:sp>
      <p:sp>
        <p:nvSpPr>
          <p:cNvPr name="TextBox 5" id="5"/>
          <p:cNvSpPr txBox="true"/>
          <p:nvPr/>
        </p:nvSpPr>
        <p:spPr>
          <a:xfrm rot="0">
            <a:off x="1028700" y="1880620"/>
            <a:ext cx="11416041" cy="1746250"/>
          </a:xfrm>
          <a:prstGeom prst="rect">
            <a:avLst/>
          </a:prstGeom>
        </p:spPr>
        <p:txBody>
          <a:bodyPr anchor="t" rtlCol="false" tIns="0" lIns="0" bIns="0" rIns="0">
            <a:spAutoFit/>
          </a:bodyPr>
          <a:lstStyle/>
          <a:p>
            <a:pPr algn="l">
              <a:lnSpc>
                <a:spcPts val="3499"/>
              </a:lnSpc>
            </a:pPr>
            <a:r>
              <a:rPr lang="en-US" sz="2499" spc="-42">
                <a:solidFill>
                  <a:srgbClr val="203251"/>
                </a:solidFill>
                <a:latin typeface="Raleway"/>
                <a:ea typeface="Raleway"/>
                <a:cs typeface="Raleway"/>
                <a:sym typeface="Raleway"/>
              </a:rPr>
              <a:t>Python’un bilgisayara kurulumundan önce bu bilgisayara daha önce Python kurulmuş mu diye kontrol etmek istiyorsak komut satırında </a:t>
            </a:r>
            <a:r>
              <a:rPr lang="en-US" sz="2499" spc="-42" b="true">
                <a:solidFill>
                  <a:srgbClr val="203251"/>
                </a:solidFill>
                <a:latin typeface="Raleway Bold"/>
                <a:ea typeface="Raleway Bold"/>
                <a:cs typeface="Raleway Bold"/>
                <a:sym typeface="Raleway Bold"/>
              </a:rPr>
              <a:t>python –-version</a:t>
            </a:r>
            <a:r>
              <a:rPr lang="en-US" sz="2499" spc="-42">
                <a:solidFill>
                  <a:srgbClr val="203251"/>
                </a:solidFill>
                <a:latin typeface="Raleway"/>
                <a:ea typeface="Raleway"/>
                <a:cs typeface="Raleway"/>
                <a:sym typeface="Raleway"/>
              </a:rPr>
              <a:t> komutunu yazarız ve kurulu olup olmadığını</a:t>
            </a:r>
            <a:r>
              <a:rPr lang="en-US" sz="2499" spc="-42">
                <a:solidFill>
                  <a:srgbClr val="203251"/>
                </a:solidFill>
                <a:latin typeface="Raleway"/>
                <a:ea typeface="Raleway"/>
                <a:cs typeface="Raleway"/>
                <a:sym typeface="Raleway"/>
              </a:rPr>
              <a:t> kontrol edebiliriz. Eğer ki kurulu değil ise aşağıdaki gibi Python bulunamadı yazacaktır. </a:t>
            </a:r>
          </a:p>
        </p:txBody>
      </p:sp>
      <p:sp>
        <p:nvSpPr>
          <p:cNvPr name="TextBox 6" id="6"/>
          <p:cNvSpPr txBox="true"/>
          <p:nvPr/>
        </p:nvSpPr>
        <p:spPr>
          <a:xfrm rot="0">
            <a:off x="1028700" y="6866087"/>
            <a:ext cx="16230600" cy="869950"/>
          </a:xfrm>
          <a:prstGeom prst="rect">
            <a:avLst/>
          </a:prstGeom>
        </p:spPr>
        <p:txBody>
          <a:bodyPr anchor="t" rtlCol="false" tIns="0" lIns="0" bIns="0" rIns="0">
            <a:spAutoFit/>
          </a:bodyPr>
          <a:lstStyle/>
          <a:p>
            <a:pPr algn="l">
              <a:lnSpc>
                <a:spcPts val="3499"/>
              </a:lnSpc>
            </a:pPr>
            <a:r>
              <a:rPr lang="en-US" sz="2499" spc="-42" b="true">
                <a:solidFill>
                  <a:srgbClr val="FF0000"/>
                </a:solidFill>
                <a:latin typeface="Raleway Bold"/>
                <a:ea typeface="Raleway Bold"/>
                <a:cs typeface="Raleway Bold"/>
                <a:sym typeface="Raleway Bold"/>
              </a:rPr>
              <a:t>Not: </a:t>
            </a:r>
            <a:r>
              <a:rPr lang="en-US" sz="2499" spc="-42">
                <a:solidFill>
                  <a:srgbClr val="203251"/>
                </a:solidFill>
                <a:latin typeface="Raleway"/>
                <a:ea typeface="Raleway"/>
                <a:cs typeface="Raleway"/>
                <a:sym typeface="Raleway"/>
              </a:rPr>
              <a:t>Eğer daha önceden kurulu ise version bilgisi ile bize söyleyecektir. Eski bir P</a:t>
            </a:r>
            <a:r>
              <a:rPr lang="en-US" sz="2499" spc="-42" u="none">
                <a:solidFill>
                  <a:srgbClr val="203251"/>
                </a:solidFill>
                <a:latin typeface="Raleway"/>
                <a:ea typeface="Raleway"/>
                <a:cs typeface="Raleway"/>
                <a:sym typeface="Raleway"/>
              </a:rPr>
              <a:t>ython</a:t>
            </a:r>
            <a:r>
              <a:rPr lang="en-US" sz="2499" spc="-42">
                <a:solidFill>
                  <a:srgbClr val="203251"/>
                </a:solidFill>
                <a:latin typeface="Raleway"/>
                <a:ea typeface="Raleway"/>
                <a:cs typeface="Raleway"/>
                <a:sym typeface="Raleway"/>
              </a:rPr>
              <a:t> sü</a:t>
            </a:r>
            <a:r>
              <a:rPr lang="en-US" sz="2499" spc="-42" u="none">
                <a:solidFill>
                  <a:srgbClr val="203251"/>
                </a:solidFill>
                <a:latin typeface="Raleway"/>
                <a:ea typeface="Raleway"/>
                <a:cs typeface="Raleway"/>
                <a:sym typeface="Raleway"/>
              </a:rPr>
              <a:t>rümü kuru</a:t>
            </a:r>
            <a:r>
              <a:rPr lang="en-US" sz="2499" spc="-42">
                <a:solidFill>
                  <a:srgbClr val="203251"/>
                </a:solidFill>
                <a:latin typeface="Raleway"/>
                <a:ea typeface="Raleway"/>
                <a:cs typeface="Raleway"/>
                <a:sym typeface="Raleway"/>
              </a:rPr>
              <a:t>lmuş ise bunu denetim masasından kaldırıp son sürümünü kurmak daha fayda</a:t>
            </a:r>
            <a:r>
              <a:rPr lang="en-US" sz="2499" spc="-42" u="none">
                <a:solidFill>
                  <a:srgbClr val="203251"/>
                </a:solidFill>
                <a:latin typeface="Raleway"/>
                <a:ea typeface="Raleway"/>
                <a:cs typeface="Raleway"/>
                <a:sym typeface="Raleway"/>
              </a:rPr>
              <a:t>l</a:t>
            </a:r>
            <a:r>
              <a:rPr lang="en-US" sz="2499" spc="-42">
                <a:solidFill>
                  <a:srgbClr val="203251"/>
                </a:solidFill>
                <a:latin typeface="Raleway"/>
                <a:ea typeface="Raleway"/>
                <a:cs typeface="Raleway"/>
                <a:sym typeface="Raleway"/>
              </a:rPr>
              <a:t>ı olacaktır.</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980984" y="2082182"/>
            <a:ext cx="14326032" cy="7574890"/>
          </a:xfrm>
          <a:custGeom>
            <a:avLst/>
            <a:gdLst/>
            <a:ahLst/>
            <a:cxnLst/>
            <a:rect r="r" b="b" t="t" l="l"/>
            <a:pathLst>
              <a:path h="7574890" w="14326032">
                <a:moveTo>
                  <a:pt x="0" y="0"/>
                </a:moveTo>
                <a:lnTo>
                  <a:pt x="14326032" y="0"/>
                </a:lnTo>
                <a:lnTo>
                  <a:pt x="14326032" y="7574889"/>
                </a:lnTo>
                <a:lnTo>
                  <a:pt x="0" y="7574889"/>
                </a:lnTo>
                <a:lnTo>
                  <a:pt x="0" y="0"/>
                </a:lnTo>
                <a:close/>
              </a:path>
            </a:pathLst>
          </a:custGeom>
          <a:blipFill>
            <a:blip r:embed="rId2"/>
            <a:stretch>
              <a:fillRect l="0" t="0" r="0" b="0"/>
            </a:stretch>
          </a:blipFill>
        </p:spPr>
      </p:sp>
      <p:sp>
        <p:nvSpPr>
          <p:cNvPr name="TextBox 3" id="3"/>
          <p:cNvSpPr txBox="true"/>
          <p:nvPr/>
        </p:nvSpPr>
        <p:spPr>
          <a:xfrm rot="0">
            <a:off x="1028700" y="971550"/>
            <a:ext cx="16230600" cy="869950"/>
          </a:xfrm>
          <a:prstGeom prst="rect">
            <a:avLst/>
          </a:prstGeom>
        </p:spPr>
        <p:txBody>
          <a:bodyPr anchor="t" rtlCol="false" tIns="0" lIns="0" bIns="0" rIns="0">
            <a:spAutoFit/>
          </a:bodyPr>
          <a:lstStyle/>
          <a:p>
            <a:pPr algn="l">
              <a:lnSpc>
                <a:spcPts val="3499"/>
              </a:lnSpc>
            </a:pPr>
            <a:r>
              <a:rPr lang="en-US" sz="2499" spc="-42" b="true">
                <a:solidFill>
                  <a:srgbClr val="FF0000"/>
                </a:solidFill>
                <a:latin typeface="Raleway Bold"/>
                <a:ea typeface="Raleway Bold"/>
                <a:cs typeface="Raleway Bold"/>
                <a:sym typeface="Raleway Bold"/>
              </a:rPr>
              <a:t>Not: </a:t>
            </a:r>
            <a:r>
              <a:rPr lang="en-US" sz="2499" spc="-42">
                <a:solidFill>
                  <a:srgbClr val="203251"/>
                </a:solidFill>
                <a:latin typeface="Raleway"/>
                <a:ea typeface="Raleway"/>
                <a:cs typeface="Raleway"/>
                <a:sym typeface="Raleway"/>
              </a:rPr>
              <a:t>Bilgisayara Python kurulumu yapmadan Python kodlarını çalıştırmak istiyor isek web sitelerinde yer alan online </a:t>
            </a:r>
            <a:r>
              <a:rPr lang="en-US" sz="2499" spc="-42" u="none">
                <a:solidFill>
                  <a:srgbClr val="203251"/>
                </a:solidFill>
                <a:latin typeface="Raleway"/>
                <a:ea typeface="Raleway"/>
                <a:cs typeface="Raleway"/>
                <a:sym typeface="Raleway"/>
              </a:rPr>
              <a:t>python</a:t>
            </a:r>
            <a:r>
              <a:rPr lang="en-US" sz="2499" spc="-42">
                <a:solidFill>
                  <a:srgbClr val="203251"/>
                </a:solidFill>
                <a:latin typeface="Raleway"/>
                <a:ea typeface="Raleway"/>
                <a:cs typeface="Raleway"/>
                <a:sym typeface="Raleway"/>
              </a:rPr>
              <a:t> editö</a:t>
            </a:r>
            <a:r>
              <a:rPr lang="en-US" sz="2499" spc="-42" u="none">
                <a:solidFill>
                  <a:srgbClr val="203251"/>
                </a:solidFill>
                <a:latin typeface="Raleway"/>
                <a:ea typeface="Raleway"/>
                <a:cs typeface="Raleway"/>
                <a:sym typeface="Raleway"/>
              </a:rPr>
              <a:t>r</a:t>
            </a:r>
            <a:r>
              <a:rPr lang="en-US" sz="2499" spc="-42">
                <a:solidFill>
                  <a:srgbClr val="203251"/>
                </a:solidFill>
                <a:latin typeface="Raleway"/>
                <a:ea typeface="Raleway"/>
                <a:cs typeface="Raleway"/>
                <a:sym typeface="Raleway"/>
              </a:rPr>
              <a:t>lerinden yararlanabiliriz. Bu editörlerden sağlayan sitelerden bir tanesi: </a:t>
            </a:r>
            <a:r>
              <a:rPr lang="en-US" b="true" sz="2499" spc="-42" u="sng">
                <a:solidFill>
                  <a:srgbClr val="203251"/>
                </a:solidFill>
                <a:latin typeface="Raleway Bold"/>
                <a:ea typeface="Raleway Bold"/>
                <a:cs typeface="Raleway Bold"/>
                <a:sym typeface="Raleway Bold"/>
                <a:hlinkClick r:id="rId3" tooltip="http://www.replit.com"/>
              </a:rPr>
              <a:t>www.replit.com</a:t>
            </a:r>
            <a:r>
              <a:rPr lang="en-US" sz="2499" spc="-42">
                <a:solidFill>
                  <a:srgbClr val="203251"/>
                </a:solidFill>
                <a:latin typeface="Raleway"/>
                <a:ea typeface="Raleway"/>
                <a:cs typeface="Raleway"/>
                <a:sym typeface="Raleway"/>
              </a:rPr>
              <a:t> ‘dur</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3478810" y="3776980"/>
            <a:ext cx="11087684" cy="5362572"/>
          </a:xfrm>
          <a:custGeom>
            <a:avLst/>
            <a:gdLst/>
            <a:ahLst/>
            <a:cxnLst/>
            <a:rect r="r" b="b" t="t" l="l"/>
            <a:pathLst>
              <a:path h="5362572" w="11087684">
                <a:moveTo>
                  <a:pt x="0" y="0"/>
                </a:moveTo>
                <a:lnTo>
                  <a:pt x="11087684" y="0"/>
                </a:lnTo>
                <a:lnTo>
                  <a:pt x="11087684" y="5362572"/>
                </a:lnTo>
                <a:lnTo>
                  <a:pt x="0" y="5362572"/>
                </a:lnTo>
                <a:lnTo>
                  <a:pt x="0" y="0"/>
                </a:lnTo>
                <a:close/>
              </a:path>
            </a:pathLst>
          </a:custGeom>
          <a:blipFill>
            <a:blip r:embed="rId2"/>
            <a:stretch>
              <a:fillRect l="0" t="0" r="0" b="0"/>
            </a:stretch>
          </a:blipFill>
        </p:spPr>
      </p:sp>
      <p:sp>
        <p:nvSpPr>
          <p:cNvPr name="TextBox 3" id="3"/>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Bold"/>
                <a:ea typeface="Raleway Bold"/>
                <a:cs typeface="Raleway Bold"/>
                <a:sym typeface="Raleway Bold"/>
              </a:rPr>
              <a:t>1. Python’u İndirme</a:t>
            </a:r>
          </a:p>
        </p:txBody>
      </p:sp>
      <p:sp>
        <p:nvSpPr>
          <p:cNvPr name="TextBox 4" id="4"/>
          <p:cNvSpPr txBox="true"/>
          <p:nvPr/>
        </p:nvSpPr>
        <p:spPr>
          <a:xfrm rot="0">
            <a:off x="1028700" y="1687830"/>
            <a:ext cx="16230600" cy="1746250"/>
          </a:xfrm>
          <a:prstGeom prst="rect">
            <a:avLst/>
          </a:prstGeom>
        </p:spPr>
        <p:txBody>
          <a:bodyPr anchor="t" rtlCol="false" tIns="0" lIns="0" bIns="0" rIns="0">
            <a:spAutoFit/>
          </a:bodyPr>
          <a:lstStyle/>
          <a:p>
            <a:pPr algn="l" marL="539749" indent="-269875" lvl="1">
              <a:lnSpc>
                <a:spcPts val="3499"/>
              </a:lnSpc>
              <a:buAutoNum type="arabicPeriod" startAt="1"/>
            </a:pPr>
            <a:r>
              <a:rPr lang="en-US" sz="2499" spc="-42">
                <a:solidFill>
                  <a:srgbClr val="203251"/>
                </a:solidFill>
                <a:latin typeface="Raleway"/>
                <a:ea typeface="Raleway"/>
                <a:cs typeface="Raleway"/>
                <a:sym typeface="Raleway"/>
              </a:rPr>
              <a:t>Python’un resmî web sitesine gidin: 👉 </a:t>
            </a:r>
            <a:r>
              <a:rPr lang="en-US" b="true" sz="2499" spc="-42" u="sng">
                <a:solidFill>
                  <a:srgbClr val="203251"/>
                </a:solidFill>
                <a:latin typeface="Raleway Bold"/>
                <a:ea typeface="Raleway Bold"/>
                <a:cs typeface="Raleway Bold"/>
                <a:sym typeface="Raleway Bold"/>
                <a:hlinkClick r:id="rId3" tooltip="https://www.python.org"/>
              </a:rPr>
              <a:t>python.org</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Üst menüden “Downloads” bölümüne tıklayın. (Kendi işletim sistemimize göre web sitesinde yer alan son python sürümü bilgisayara indirilmelidir.)</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Bu işlemle birlikte bilgisayarınıza Python-x.y.z.exe dosyası inecektir.</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8531990" y="1755918"/>
            <a:ext cx="8990287" cy="5497157"/>
          </a:xfrm>
          <a:custGeom>
            <a:avLst/>
            <a:gdLst/>
            <a:ahLst/>
            <a:cxnLst/>
            <a:rect r="r" b="b" t="t" l="l"/>
            <a:pathLst>
              <a:path h="5497157" w="8990287">
                <a:moveTo>
                  <a:pt x="0" y="0"/>
                </a:moveTo>
                <a:lnTo>
                  <a:pt x="8990287" y="0"/>
                </a:lnTo>
                <a:lnTo>
                  <a:pt x="8990287" y="5497157"/>
                </a:lnTo>
                <a:lnTo>
                  <a:pt x="0" y="5497157"/>
                </a:lnTo>
                <a:lnTo>
                  <a:pt x="0" y="0"/>
                </a:lnTo>
                <a:close/>
              </a:path>
            </a:pathLst>
          </a:custGeom>
          <a:blipFill>
            <a:blip r:embed="rId2"/>
            <a:stretch>
              <a:fillRect l="0" t="0" r="0" b="0"/>
            </a:stretch>
          </a:blipFill>
        </p:spPr>
      </p:sp>
      <p:sp>
        <p:nvSpPr>
          <p:cNvPr name="TextBox 3" id="3"/>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Bold"/>
                <a:ea typeface="Raleway Bold"/>
                <a:cs typeface="Raleway Bold"/>
                <a:sym typeface="Raleway Bold"/>
              </a:rPr>
              <a:t>2. Kuruluma Başlama</a:t>
            </a:r>
          </a:p>
        </p:txBody>
      </p:sp>
      <p:sp>
        <p:nvSpPr>
          <p:cNvPr name="TextBox 4" id="4"/>
          <p:cNvSpPr txBox="true"/>
          <p:nvPr/>
        </p:nvSpPr>
        <p:spPr>
          <a:xfrm rot="0">
            <a:off x="1028700" y="1698768"/>
            <a:ext cx="7285525" cy="4813300"/>
          </a:xfrm>
          <a:prstGeom prst="rect">
            <a:avLst/>
          </a:prstGeom>
        </p:spPr>
        <p:txBody>
          <a:bodyPr anchor="t" rtlCol="false" tIns="0" lIns="0" bIns="0" rIns="0">
            <a:spAutoFit/>
          </a:bodyPr>
          <a:lstStyle/>
          <a:p>
            <a:pPr algn="l" marL="539749" indent="-269875" lvl="1">
              <a:lnSpc>
                <a:spcPts val="3499"/>
              </a:lnSpc>
              <a:buAutoNum type="arabicPeriod" startAt="1"/>
            </a:pPr>
            <a:r>
              <a:rPr lang="en-US" sz="2499" spc="-42">
                <a:solidFill>
                  <a:srgbClr val="203251"/>
                </a:solidFill>
                <a:latin typeface="Raleway"/>
                <a:ea typeface="Raleway"/>
                <a:cs typeface="Raleway"/>
                <a:sym typeface="Raleway"/>
              </a:rPr>
              <a:t>İndirilen .exe dosyasını çift tıklayarak çalış</a:t>
            </a:r>
            <a:r>
              <a:rPr lang="en-US" sz="2499" spc="-42" u="none">
                <a:solidFill>
                  <a:srgbClr val="203251"/>
                </a:solidFill>
                <a:latin typeface="Raleway"/>
                <a:ea typeface="Raleway"/>
                <a:cs typeface="Raleway"/>
                <a:sym typeface="Raleway"/>
              </a:rPr>
              <a:t>t</a:t>
            </a:r>
            <a:r>
              <a:rPr lang="en-US" sz="2499" spc="-42">
                <a:solidFill>
                  <a:srgbClr val="203251"/>
                </a:solidFill>
                <a:latin typeface="Raleway"/>
                <a:ea typeface="Raleway"/>
                <a:cs typeface="Raleway"/>
                <a:sym typeface="Raleway"/>
              </a:rPr>
              <a:t>ırı</a:t>
            </a:r>
            <a:r>
              <a:rPr lang="en-US" sz="2499" spc="-42" u="none">
                <a:solidFill>
                  <a:srgbClr val="203251"/>
                </a:solidFill>
                <a:latin typeface="Raleway"/>
                <a:ea typeface="Raleway"/>
                <a:cs typeface="Raleway"/>
                <a:sym typeface="Raleway"/>
              </a:rPr>
              <a:t>n.</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İlk ekranda mutlaka şu kutucuğu işaretleyin:</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 </a:t>
            </a:r>
            <a:r>
              <a:rPr lang="en-US" b="true" sz="2499" spc="-42">
                <a:solidFill>
                  <a:srgbClr val="203251"/>
                </a:solidFill>
                <a:latin typeface="Raleway Bold"/>
                <a:ea typeface="Raleway Bold"/>
                <a:cs typeface="Raleway Bold"/>
                <a:sym typeface="Raleway Bold"/>
              </a:rPr>
              <a:t>“Add Python x.y to PATH</a:t>
            </a:r>
            <a:r>
              <a:rPr lang="en-US" sz="2499" spc="-42">
                <a:solidFill>
                  <a:srgbClr val="203251"/>
                </a:solidFill>
                <a:latin typeface="Raleway"/>
                <a:ea typeface="Raleway"/>
                <a:cs typeface="Raleway"/>
                <a:sym typeface="Raleway"/>
              </a:rPr>
              <a:t>”</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Ardından “</a:t>
            </a:r>
            <a:r>
              <a:rPr lang="en-US" b="true" sz="2499" spc="-42">
                <a:solidFill>
                  <a:srgbClr val="203251"/>
                </a:solidFill>
                <a:latin typeface="Raleway Bold"/>
                <a:ea typeface="Raleway Bold"/>
                <a:cs typeface="Raleway Bold"/>
                <a:sym typeface="Raleway Bold"/>
              </a:rPr>
              <a:t>Install Now</a:t>
            </a:r>
            <a:r>
              <a:rPr lang="en-US" sz="2499" spc="-42">
                <a:solidFill>
                  <a:srgbClr val="203251"/>
                </a:solidFill>
                <a:latin typeface="Raleway"/>
                <a:ea typeface="Raleway"/>
                <a:cs typeface="Raleway"/>
                <a:sym typeface="Raleway"/>
              </a:rPr>
              <a:t>” butonuna tıklayın.</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Windows</a:t>
            </a:r>
            <a:r>
              <a:rPr lang="en-US" sz="2499" spc="-42">
                <a:solidFill>
                  <a:srgbClr val="203251"/>
                </a:solidFill>
                <a:latin typeface="Raleway"/>
                <a:ea typeface="Raleway"/>
                <a:cs typeface="Raleway"/>
                <a:sym typeface="Raleway"/>
              </a:rPr>
              <a:t> size “Kullanıcı Hesabı Denetimi” sorarsa </a:t>
            </a:r>
            <a:r>
              <a:rPr lang="en-US" b="true" sz="2499" spc="-42">
                <a:solidFill>
                  <a:srgbClr val="203251"/>
                </a:solidFill>
                <a:latin typeface="Raleway Bold"/>
                <a:ea typeface="Raleway Bold"/>
                <a:cs typeface="Raleway Bold"/>
                <a:sym typeface="Raleway Bold"/>
              </a:rPr>
              <a:t>Evet </a:t>
            </a:r>
            <a:r>
              <a:rPr lang="en-US" sz="2499" spc="-42">
                <a:solidFill>
                  <a:srgbClr val="203251"/>
                </a:solidFill>
                <a:latin typeface="Raleway"/>
                <a:ea typeface="Raleway"/>
                <a:cs typeface="Raleway"/>
                <a:sym typeface="Raleway"/>
              </a:rPr>
              <a:t>seçin.</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Birkaç dakika içinde kurulum tamamlanacak ve ekranda:</a:t>
            </a:r>
          </a:p>
          <a:p>
            <a:pPr algn="l" marL="1079499" indent="-359833" lvl="2">
              <a:lnSpc>
                <a:spcPts val="3499"/>
              </a:lnSpc>
              <a:buFont typeface="Arial"/>
              <a:buChar char="⚬"/>
            </a:pPr>
            <a:r>
              <a:rPr lang="en-US" sz="2499" spc="-42">
                <a:solidFill>
                  <a:srgbClr val="203251"/>
                </a:solidFill>
                <a:latin typeface="Raleway"/>
                <a:ea typeface="Raleway"/>
                <a:cs typeface="Raleway"/>
                <a:sym typeface="Raleway"/>
              </a:rPr>
              <a:t> ✔️ “</a:t>
            </a:r>
            <a:r>
              <a:rPr lang="en-US" b="true" sz="2499" spc="-42">
                <a:solidFill>
                  <a:srgbClr val="203251"/>
                </a:solidFill>
                <a:latin typeface="Raleway Bold"/>
                <a:ea typeface="Raleway Bold"/>
                <a:cs typeface="Raleway Bold"/>
                <a:sym typeface="Raleway Bold"/>
              </a:rPr>
              <a:t>Setup was successful</a:t>
            </a:r>
            <a:r>
              <a:rPr lang="en-US" sz="2499" spc="-42">
                <a:solidFill>
                  <a:srgbClr val="203251"/>
                </a:solidFill>
                <a:latin typeface="Raleway"/>
                <a:ea typeface="Raleway"/>
                <a:cs typeface="Raleway"/>
                <a:sym typeface="Raleway"/>
              </a:rPr>
              <a:t>” yazısı görünecektir.</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a:t>
            </a:r>
            <a:r>
              <a:rPr lang="en-US" b="true" sz="2499" spc="-42">
                <a:solidFill>
                  <a:srgbClr val="203251"/>
                </a:solidFill>
                <a:latin typeface="Raleway Bold"/>
                <a:ea typeface="Raleway Bold"/>
                <a:cs typeface="Raleway Bold"/>
                <a:sym typeface="Raleway Bold"/>
              </a:rPr>
              <a:t>Close</a:t>
            </a:r>
            <a:r>
              <a:rPr lang="en-US" sz="2499" spc="-42">
                <a:solidFill>
                  <a:srgbClr val="203251"/>
                </a:solidFill>
                <a:latin typeface="Raleway"/>
                <a:ea typeface="Raleway"/>
                <a:cs typeface="Raleway"/>
                <a:sym typeface="Raleway"/>
              </a:rPr>
              <a:t>” butonuna tıklayarak pencereyi kapatın.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4795116" y="1788912"/>
            <a:ext cx="7637522" cy="2188618"/>
          </a:xfrm>
          <a:custGeom>
            <a:avLst/>
            <a:gdLst/>
            <a:ahLst/>
            <a:cxnLst/>
            <a:rect r="r" b="b" t="t" l="l"/>
            <a:pathLst>
              <a:path h="2188618" w="7637522">
                <a:moveTo>
                  <a:pt x="0" y="0"/>
                </a:moveTo>
                <a:lnTo>
                  <a:pt x="7637522" y="0"/>
                </a:lnTo>
                <a:lnTo>
                  <a:pt x="7637522" y="2188618"/>
                </a:lnTo>
                <a:lnTo>
                  <a:pt x="0" y="2188618"/>
                </a:lnTo>
                <a:lnTo>
                  <a:pt x="0" y="0"/>
                </a:lnTo>
                <a:close/>
              </a:path>
            </a:pathLst>
          </a:custGeom>
          <a:blipFill>
            <a:blip r:embed="rId2"/>
            <a:stretch>
              <a:fillRect l="0" t="0" r="0" b="0"/>
            </a:stretch>
          </a:blipFill>
        </p:spPr>
      </p:sp>
      <p:sp>
        <p:nvSpPr>
          <p:cNvPr name="Freeform 3" id="3"/>
          <p:cNvSpPr/>
          <p:nvPr/>
        </p:nvSpPr>
        <p:spPr>
          <a:xfrm flipH="false" flipV="false" rot="1685884">
            <a:off x="5826719" y="4584789"/>
            <a:ext cx="2770188" cy="765265"/>
          </a:xfrm>
          <a:custGeom>
            <a:avLst/>
            <a:gdLst/>
            <a:ahLst/>
            <a:cxnLst/>
            <a:rect r="r" b="b" t="t" l="l"/>
            <a:pathLst>
              <a:path h="765265" w="2770188">
                <a:moveTo>
                  <a:pt x="0" y="0"/>
                </a:moveTo>
                <a:lnTo>
                  <a:pt x="2770188" y="0"/>
                </a:lnTo>
                <a:lnTo>
                  <a:pt x="2770188" y="765264"/>
                </a:lnTo>
                <a:lnTo>
                  <a:pt x="0" y="7652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971550"/>
            <a:ext cx="16334613" cy="431800"/>
          </a:xfrm>
          <a:prstGeom prst="rect">
            <a:avLst/>
          </a:prstGeom>
        </p:spPr>
        <p:txBody>
          <a:bodyPr anchor="t" rtlCol="false" tIns="0" lIns="0" bIns="0" rIns="0">
            <a:spAutoFit/>
          </a:bodyPr>
          <a:lstStyle/>
          <a:p>
            <a:pPr algn="l" marL="539749" indent="-269875" lvl="1">
              <a:lnSpc>
                <a:spcPts val="3499"/>
              </a:lnSpc>
              <a:buFont typeface="Arial"/>
              <a:buChar char="•"/>
            </a:pPr>
            <a:r>
              <a:rPr lang="en-US" sz="2499" spc="-42">
                <a:solidFill>
                  <a:srgbClr val="203251"/>
                </a:solidFill>
                <a:latin typeface="Raleway"/>
                <a:ea typeface="Raleway"/>
                <a:cs typeface="Raleway"/>
                <a:sym typeface="Raleway"/>
              </a:rPr>
              <a:t>Kurulum tamamlandıktan sonra komut satırı ekranından kurulup kurulmadığı kontr</a:t>
            </a:r>
            <a:r>
              <a:rPr lang="en-US" sz="2499" spc="-42">
                <a:solidFill>
                  <a:srgbClr val="203251"/>
                </a:solidFill>
                <a:latin typeface="Raleway"/>
                <a:ea typeface="Raleway"/>
                <a:cs typeface="Raleway"/>
                <a:sym typeface="Raleway"/>
              </a:rPr>
              <a:t>ol edilmelidir.</a:t>
            </a:r>
          </a:p>
        </p:txBody>
      </p:sp>
      <p:sp>
        <p:nvSpPr>
          <p:cNvPr name="TextBox 5" id="5"/>
          <p:cNvSpPr txBox="true"/>
          <p:nvPr/>
        </p:nvSpPr>
        <p:spPr>
          <a:xfrm rot="0">
            <a:off x="8802803" y="4915513"/>
            <a:ext cx="3542109" cy="431800"/>
          </a:xfrm>
          <a:prstGeom prst="rect">
            <a:avLst/>
          </a:prstGeom>
        </p:spPr>
        <p:txBody>
          <a:bodyPr anchor="t" rtlCol="false" tIns="0" lIns="0" bIns="0" rIns="0">
            <a:spAutoFit/>
          </a:bodyPr>
          <a:lstStyle/>
          <a:p>
            <a:pPr algn="ctr">
              <a:lnSpc>
                <a:spcPts val="3499"/>
              </a:lnSpc>
              <a:spcBef>
                <a:spcPct val="0"/>
              </a:spcBef>
            </a:pPr>
            <a:r>
              <a:rPr lang="en-US" b="true" sz="2499" spc="-42">
                <a:solidFill>
                  <a:srgbClr val="203251"/>
                </a:solidFill>
                <a:latin typeface="Raleway Bold"/>
                <a:ea typeface="Raleway Bold"/>
                <a:cs typeface="Raleway Bold"/>
                <a:sym typeface="Raleway Bold"/>
              </a:rPr>
              <a:t>3.12.4 sürümü kurulmuş.</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96746" y="2733251"/>
            <a:ext cx="15662554" cy="3700278"/>
          </a:xfrm>
          <a:custGeom>
            <a:avLst/>
            <a:gdLst/>
            <a:ahLst/>
            <a:cxnLst/>
            <a:rect r="r" b="b" t="t" l="l"/>
            <a:pathLst>
              <a:path h="3700278" w="15662554">
                <a:moveTo>
                  <a:pt x="0" y="0"/>
                </a:moveTo>
                <a:lnTo>
                  <a:pt x="15662554" y="0"/>
                </a:lnTo>
                <a:lnTo>
                  <a:pt x="15662554" y="3700278"/>
                </a:lnTo>
                <a:lnTo>
                  <a:pt x="0" y="3700278"/>
                </a:lnTo>
                <a:lnTo>
                  <a:pt x="0" y="0"/>
                </a:lnTo>
                <a:close/>
              </a:path>
            </a:pathLst>
          </a:custGeom>
          <a:blipFill>
            <a:blip r:embed="rId2"/>
            <a:stretch>
              <a:fillRect l="0" t="0" r="0" b="0"/>
            </a:stretch>
          </a:blipFill>
        </p:spPr>
      </p:sp>
      <p:sp>
        <p:nvSpPr>
          <p:cNvPr name="TextBox 3" id="3"/>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Bold"/>
                <a:ea typeface="Raleway Bold"/>
                <a:cs typeface="Raleway Bold"/>
                <a:sym typeface="Raleway Bold"/>
              </a:rPr>
              <a:t>3. İlk Komutunuzu Çalıştırma</a:t>
            </a:r>
          </a:p>
        </p:txBody>
      </p:sp>
      <p:sp>
        <p:nvSpPr>
          <p:cNvPr name="TextBox 4" id="4"/>
          <p:cNvSpPr txBox="true"/>
          <p:nvPr/>
        </p:nvSpPr>
        <p:spPr>
          <a:xfrm rot="0">
            <a:off x="1028700" y="1698768"/>
            <a:ext cx="16230600" cy="869950"/>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spc="-42">
                <a:solidFill>
                  <a:srgbClr val="203251"/>
                </a:solidFill>
                <a:latin typeface="Raleway Bold"/>
                <a:ea typeface="Raleway Bold"/>
                <a:cs typeface="Raleway Bold"/>
                <a:sym typeface="Raleway Bold"/>
              </a:rPr>
              <a:t>Kurulum tamamlandık</a:t>
            </a:r>
            <a:r>
              <a:rPr lang="en-US" b="true" sz="2499" spc="-42" u="none">
                <a:solidFill>
                  <a:srgbClr val="203251"/>
                </a:solidFill>
                <a:latin typeface="Raleway Bold"/>
                <a:ea typeface="Raleway Bold"/>
                <a:cs typeface="Raleway Bold"/>
                <a:sym typeface="Raleway Bold"/>
              </a:rPr>
              <a:t>tan</a:t>
            </a:r>
            <a:r>
              <a:rPr lang="en-US" b="true" sz="2499" spc="-42">
                <a:solidFill>
                  <a:srgbClr val="203251"/>
                </a:solidFill>
                <a:latin typeface="Raleway Bold"/>
                <a:ea typeface="Raleway Bold"/>
                <a:cs typeface="Raleway Bold"/>
                <a:sym typeface="Raleway Bold"/>
              </a:rPr>
              <a:t> sonra:</a:t>
            </a:r>
            <a:r>
              <a:rPr lang="en-US" sz="2499" spc="-42">
                <a:solidFill>
                  <a:srgbClr val="203251"/>
                </a:solidFill>
                <a:latin typeface="Raleway"/>
                <a:ea typeface="Raleway"/>
                <a:cs typeface="Raleway"/>
                <a:sym typeface="Raleway"/>
              </a:rPr>
              <a:t> </a:t>
            </a:r>
            <a:r>
              <a:rPr lang="en-US" sz="2499" spc="-42">
                <a:solidFill>
                  <a:srgbClr val="203251"/>
                </a:solidFill>
                <a:latin typeface="Raleway"/>
                <a:ea typeface="Raleway"/>
                <a:cs typeface="Raleway"/>
                <a:sym typeface="Raleway"/>
              </a:rPr>
              <a:t>Komu</a:t>
            </a:r>
            <a:r>
              <a:rPr lang="en-US" sz="2499" spc="-42">
                <a:solidFill>
                  <a:srgbClr val="203251"/>
                </a:solidFill>
                <a:latin typeface="Raleway"/>
                <a:ea typeface="Raleway"/>
                <a:cs typeface="Raleway"/>
                <a:sym typeface="Raleway"/>
              </a:rPr>
              <a:t>t satı</a:t>
            </a:r>
            <a:r>
              <a:rPr lang="en-US" sz="2499" spc="-42">
                <a:solidFill>
                  <a:srgbClr val="203251"/>
                </a:solidFill>
                <a:latin typeface="Raleway"/>
                <a:ea typeface="Raleway"/>
                <a:cs typeface="Raleway"/>
                <a:sym typeface="Raleway"/>
              </a:rPr>
              <a:t>rı ekranından python yazıl</a:t>
            </a:r>
            <a:r>
              <a:rPr lang="en-US" sz="2499" spc="-42">
                <a:solidFill>
                  <a:srgbClr val="203251"/>
                </a:solidFill>
                <a:latin typeface="Raleway"/>
                <a:ea typeface="Raleway"/>
                <a:cs typeface="Raleway"/>
                <a:sym typeface="Raleway"/>
              </a:rPr>
              <a:t>arak python kodl</a:t>
            </a:r>
            <a:r>
              <a:rPr lang="en-US" sz="2499" spc="-42">
                <a:solidFill>
                  <a:srgbClr val="203251"/>
                </a:solidFill>
                <a:latin typeface="Raleway"/>
                <a:ea typeface="Raleway"/>
                <a:cs typeface="Raleway"/>
                <a:sym typeface="Raleway"/>
              </a:rPr>
              <a:t>arı yazılabilir. (Interactive Shell)</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9301722" y="1220153"/>
            <a:ext cx="8792239" cy="6879927"/>
          </a:xfrm>
          <a:custGeom>
            <a:avLst/>
            <a:gdLst/>
            <a:ahLst/>
            <a:cxnLst/>
            <a:rect r="r" b="b" t="t" l="l"/>
            <a:pathLst>
              <a:path h="6879927" w="8792239">
                <a:moveTo>
                  <a:pt x="0" y="0"/>
                </a:moveTo>
                <a:lnTo>
                  <a:pt x="8792238" y="0"/>
                </a:lnTo>
                <a:lnTo>
                  <a:pt x="8792238" y="6879926"/>
                </a:lnTo>
                <a:lnTo>
                  <a:pt x="0" y="6879926"/>
                </a:lnTo>
                <a:lnTo>
                  <a:pt x="0" y="0"/>
                </a:lnTo>
                <a:close/>
              </a:path>
            </a:pathLst>
          </a:custGeom>
          <a:blipFill>
            <a:blip r:embed="rId2"/>
            <a:stretch>
              <a:fillRect l="0" t="0" r="0" b="0"/>
            </a:stretch>
          </a:blipFill>
        </p:spPr>
      </p:sp>
      <p:sp>
        <p:nvSpPr>
          <p:cNvPr name="TextBox 3" id="3"/>
          <p:cNvSpPr txBox="true"/>
          <p:nvPr/>
        </p:nvSpPr>
        <p:spPr>
          <a:xfrm rot="0">
            <a:off x="1028700" y="962025"/>
            <a:ext cx="16230600" cy="441325"/>
          </a:xfrm>
          <a:prstGeom prst="rect">
            <a:avLst/>
          </a:prstGeom>
        </p:spPr>
        <p:txBody>
          <a:bodyPr anchor="t" rtlCol="false" tIns="0" lIns="0" bIns="0" rIns="0">
            <a:spAutoFit/>
          </a:bodyPr>
          <a:lstStyle/>
          <a:p>
            <a:pPr algn="l">
              <a:lnSpc>
                <a:spcPts val="3500"/>
              </a:lnSpc>
            </a:pPr>
            <a:r>
              <a:rPr lang="en-US" sz="2500" spc="-42" b="true">
                <a:solidFill>
                  <a:srgbClr val="203251"/>
                </a:solidFill>
                <a:latin typeface="Raleway Bold"/>
                <a:ea typeface="Raleway Bold"/>
                <a:cs typeface="Raleway Bold"/>
                <a:sym typeface="Raleway Bold"/>
              </a:rPr>
              <a:t>4. IDLE ile Çalışma</a:t>
            </a:r>
          </a:p>
        </p:txBody>
      </p:sp>
      <p:sp>
        <p:nvSpPr>
          <p:cNvPr name="TextBox 4" id="4"/>
          <p:cNvSpPr txBox="true"/>
          <p:nvPr/>
        </p:nvSpPr>
        <p:spPr>
          <a:xfrm rot="0">
            <a:off x="1028700" y="1689243"/>
            <a:ext cx="8273022" cy="3946525"/>
          </a:xfrm>
          <a:prstGeom prst="rect">
            <a:avLst/>
          </a:prstGeom>
        </p:spPr>
        <p:txBody>
          <a:bodyPr anchor="t" rtlCol="false" tIns="0" lIns="0" bIns="0" rIns="0">
            <a:spAutoFit/>
          </a:bodyPr>
          <a:lstStyle/>
          <a:p>
            <a:pPr algn="l" marL="539751" indent="-269876" lvl="1">
              <a:lnSpc>
                <a:spcPts val="3500"/>
              </a:lnSpc>
              <a:buFont typeface="Arial"/>
              <a:buChar char="•"/>
            </a:pPr>
            <a:r>
              <a:rPr lang="en-US" sz="2500" spc="-42">
                <a:solidFill>
                  <a:srgbClr val="203251"/>
                </a:solidFill>
                <a:latin typeface="Raleway"/>
                <a:ea typeface="Raleway"/>
                <a:cs typeface="Raleway"/>
                <a:sym typeface="Raleway"/>
              </a:rPr>
              <a:t>Python, kurulumla birlikte </a:t>
            </a:r>
            <a:r>
              <a:rPr lang="en-US" b="true" sz="2500" spc="-42">
                <a:solidFill>
                  <a:srgbClr val="203251"/>
                </a:solidFill>
                <a:latin typeface="Raleway Bold"/>
                <a:ea typeface="Raleway Bold"/>
                <a:cs typeface="Raleway Bold"/>
                <a:sym typeface="Raleway Bold"/>
              </a:rPr>
              <a:t>IDLE </a:t>
            </a:r>
            <a:r>
              <a:rPr lang="en-US" sz="2500" spc="-42">
                <a:solidFill>
                  <a:srgbClr val="203251"/>
                </a:solidFill>
                <a:latin typeface="Raleway"/>
                <a:ea typeface="Raleway"/>
                <a:cs typeface="Raleway"/>
                <a:sym typeface="Raleway"/>
              </a:rPr>
              <a:t>(Integrated Development and Learning Environment) adlı bir geliş</a:t>
            </a:r>
            <a:r>
              <a:rPr lang="en-US" sz="2500" spc="-42" u="none">
                <a:solidFill>
                  <a:srgbClr val="203251"/>
                </a:solidFill>
                <a:latin typeface="Raleway"/>
                <a:ea typeface="Raleway"/>
                <a:cs typeface="Raleway"/>
                <a:sym typeface="Raleway"/>
              </a:rPr>
              <a:t>ti</a:t>
            </a:r>
            <a:r>
              <a:rPr lang="en-US" sz="2500" spc="-42">
                <a:solidFill>
                  <a:srgbClr val="203251"/>
                </a:solidFill>
                <a:latin typeface="Raleway"/>
                <a:ea typeface="Raleway"/>
                <a:cs typeface="Raleway"/>
                <a:sym typeface="Raleway"/>
              </a:rPr>
              <a:t>rme ortamı getirir.</a:t>
            </a:r>
          </a:p>
          <a:p>
            <a:pPr algn="l">
              <a:lnSpc>
                <a:spcPts val="3500"/>
              </a:lnSpc>
            </a:pPr>
          </a:p>
          <a:p>
            <a:pPr algn="l" marL="539751" indent="-269876" lvl="1">
              <a:lnSpc>
                <a:spcPts val="3500"/>
              </a:lnSpc>
              <a:buAutoNum type="arabicPeriod" startAt="1"/>
            </a:pPr>
            <a:r>
              <a:rPr lang="en-US" sz="2500" spc="-42">
                <a:solidFill>
                  <a:srgbClr val="203251"/>
                </a:solidFill>
                <a:latin typeface="Raleway"/>
                <a:ea typeface="Raleway"/>
                <a:cs typeface="Raleway"/>
                <a:sym typeface="Raleway"/>
              </a:rPr>
              <a:t>Başlat menüsünden</a:t>
            </a:r>
            <a:r>
              <a:rPr lang="en-US" sz="2500" spc="-42">
                <a:solidFill>
                  <a:srgbClr val="203251"/>
                </a:solidFill>
                <a:latin typeface="Raleway"/>
                <a:ea typeface="Raleway"/>
                <a:cs typeface="Raleway"/>
                <a:sym typeface="Raleway"/>
              </a:rPr>
              <a:t> “</a:t>
            </a:r>
            <a:r>
              <a:rPr lang="en-US" b="true" sz="2500" spc="-42">
                <a:solidFill>
                  <a:srgbClr val="203251"/>
                </a:solidFill>
                <a:latin typeface="Raleway Bold"/>
                <a:ea typeface="Raleway Bold"/>
                <a:cs typeface="Raleway Bold"/>
                <a:sym typeface="Raleway Bold"/>
              </a:rPr>
              <a:t>IDLE (Python 3.x 32-bit)</a:t>
            </a:r>
            <a:r>
              <a:rPr lang="en-US" sz="2500" spc="-42">
                <a:solidFill>
                  <a:srgbClr val="203251"/>
                </a:solidFill>
                <a:latin typeface="Raleway"/>
                <a:ea typeface="Raleway"/>
                <a:cs typeface="Raleway"/>
                <a:sym typeface="Raleway"/>
              </a:rPr>
              <a:t>”</a:t>
            </a:r>
            <a:r>
              <a:rPr lang="en-US" sz="2500" spc="-42">
                <a:solidFill>
                  <a:srgbClr val="203251"/>
                </a:solidFill>
                <a:latin typeface="Raleway"/>
                <a:ea typeface="Raleway"/>
                <a:cs typeface="Raleway"/>
                <a:sym typeface="Raleway"/>
              </a:rPr>
              <a:t> seçeneğini açın. Eğer açamazsanız komut satırına “</a:t>
            </a:r>
            <a:r>
              <a:rPr lang="en-US" b="true" sz="2500" spc="-42">
                <a:solidFill>
                  <a:srgbClr val="203251"/>
                </a:solidFill>
                <a:latin typeface="Raleway Bold"/>
                <a:ea typeface="Raleway Bold"/>
                <a:cs typeface="Raleway Bold"/>
                <a:sym typeface="Raleway Bold"/>
              </a:rPr>
              <a:t>python -m idlelib.idle” </a:t>
            </a:r>
            <a:r>
              <a:rPr lang="en-US" sz="2500" spc="-42">
                <a:solidFill>
                  <a:srgbClr val="203251"/>
                </a:solidFill>
                <a:latin typeface="Raleway"/>
                <a:ea typeface="Raleway"/>
                <a:cs typeface="Raleway"/>
                <a:sym typeface="Raleway"/>
              </a:rPr>
              <a:t>komutu ile açmayı deneyiniz.</a:t>
            </a:r>
          </a:p>
          <a:p>
            <a:pPr algn="l" marL="539751" indent="-269876" lvl="1">
              <a:lnSpc>
                <a:spcPts val="3500"/>
              </a:lnSpc>
              <a:buAutoNum type="arabicPeriod" startAt="1"/>
            </a:pPr>
            <a:r>
              <a:rPr lang="en-US" sz="2500" spc="-42">
                <a:solidFill>
                  <a:srgbClr val="203251"/>
                </a:solidFill>
                <a:latin typeface="Raleway"/>
                <a:ea typeface="Raleway"/>
                <a:cs typeface="Raleway"/>
                <a:sym typeface="Raleway"/>
              </a:rPr>
              <a:t>Karşınıza beyaz bir pencere gelir. Buna </a:t>
            </a:r>
            <a:r>
              <a:rPr lang="en-US" b="true" sz="2500" spc="-42">
                <a:solidFill>
                  <a:srgbClr val="203251"/>
                </a:solidFill>
                <a:latin typeface="Raleway Bold"/>
                <a:ea typeface="Raleway Bold"/>
                <a:cs typeface="Raleway Bold"/>
                <a:sym typeface="Raleway Bold"/>
              </a:rPr>
              <a:t>Shell </a:t>
            </a:r>
            <a:r>
              <a:rPr lang="en-US" sz="2500" spc="-42">
                <a:solidFill>
                  <a:srgbClr val="203251"/>
                </a:solidFill>
                <a:latin typeface="Raleway"/>
                <a:ea typeface="Raleway"/>
                <a:cs typeface="Raleway"/>
                <a:sym typeface="Raleway"/>
              </a:rPr>
              <a:t>denir.</a:t>
            </a:r>
          </a:p>
          <a:p>
            <a:pPr algn="l" marL="539751" indent="-269876" lvl="1">
              <a:lnSpc>
                <a:spcPts val="3500"/>
              </a:lnSpc>
              <a:buAutoNum type="arabicPeriod" startAt="1"/>
            </a:pPr>
            <a:r>
              <a:rPr lang="en-US" sz="2500" spc="-42">
                <a:solidFill>
                  <a:srgbClr val="203251"/>
                </a:solidFill>
                <a:latin typeface="Raleway"/>
                <a:ea typeface="Raleway"/>
                <a:cs typeface="Raleway"/>
                <a:sym typeface="Raleway"/>
              </a:rPr>
              <a:t>B</a:t>
            </a:r>
            <a:r>
              <a:rPr lang="en-US" sz="2500" spc="-42">
                <a:solidFill>
                  <a:srgbClr val="203251"/>
                </a:solidFill>
                <a:latin typeface="Raleway"/>
                <a:ea typeface="Raleway"/>
                <a:cs typeface="Raleway"/>
                <a:sym typeface="Raleway"/>
              </a:rPr>
              <a:t>urada da k</a:t>
            </a:r>
            <a:r>
              <a:rPr lang="en-US" sz="2500" spc="-42">
                <a:solidFill>
                  <a:srgbClr val="203251"/>
                </a:solidFill>
                <a:latin typeface="Raleway"/>
                <a:ea typeface="Raleway"/>
                <a:cs typeface="Raleway"/>
                <a:sym typeface="Raleway"/>
              </a:rPr>
              <a:t>omut yazabilirsiniz.</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spcBef>
                <a:spcPct val="0"/>
              </a:spcBef>
            </a:pPr>
            <a:r>
              <a:rPr lang="en-US" b="true" sz="2499" spc="-42">
                <a:solidFill>
                  <a:srgbClr val="000000"/>
                </a:solidFill>
                <a:latin typeface="Raleway Bold"/>
                <a:ea typeface="Raleway Bold"/>
                <a:cs typeface="Raleway Bold"/>
                <a:sym typeface="Raleway Bold"/>
              </a:rPr>
              <a:t>✅ Artık Python bilgisayarınıza kurulmuş durumda ve ilk programınızı yazmaya hazırsınız! 🚀</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3081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Özetle: </a:t>
            </a:r>
          </a:p>
          <a:p>
            <a:pPr algn="l">
              <a:lnSpc>
                <a:spcPts val="3499"/>
              </a:lnSpc>
            </a:pPr>
          </a:p>
          <a:p>
            <a:pPr algn="l">
              <a:lnSpc>
                <a:spcPts val="3499"/>
              </a:lnSpc>
            </a:pPr>
            <a:r>
              <a:rPr lang="en-US" sz="2499" spc="-117">
                <a:solidFill>
                  <a:srgbClr val="424242"/>
                </a:solidFill>
                <a:latin typeface="Raleway"/>
                <a:ea typeface="Raleway"/>
                <a:cs typeface="Raleway"/>
                <a:sym typeface="Raleway"/>
              </a:rPr>
              <a:t>Python, kurulumuyla birlikte kullanıcıya iki temel çalışma alanı sunar:</a:t>
            </a:r>
          </a:p>
        </p:txBody>
      </p:sp>
      <p:graphicFrame>
        <p:nvGraphicFramePr>
          <p:cNvPr name="Table 3" id="3"/>
          <p:cNvGraphicFramePr>
            <a:graphicFrameLocks noGrp="true"/>
          </p:cNvGraphicFramePr>
          <p:nvPr/>
        </p:nvGraphicFramePr>
        <p:xfrm>
          <a:off x="1028700" y="2482353"/>
          <a:ext cx="16230600" cy="4286250"/>
        </p:xfrm>
        <a:graphic>
          <a:graphicData uri="http://schemas.openxmlformats.org/drawingml/2006/table">
            <a:tbl>
              <a:tblPr/>
              <a:tblGrid>
                <a:gridCol w="3721475"/>
                <a:gridCol w="6792377"/>
                <a:gridCol w="5716747"/>
              </a:tblGrid>
              <a:tr h="668235">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Ortam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Kullanım Amacı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Tanım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163240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Etkileşimli Kabuk </a:t>
                      </a:r>
                      <a:endParaRPr lang="en-US" sz="1100"/>
                    </a:p>
                    <a:p>
                      <a:pPr algn="l">
                        <a:lnSpc>
                          <a:spcPts val="2800"/>
                        </a:lnSpc>
                      </a:pPr>
                      <a:r>
                        <a:rPr lang="en-US" sz="2000" b="true">
                          <a:solidFill>
                            <a:srgbClr val="000000"/>
                          </a:solidFill>
                          <a:latin typeface="Raleway Bold"/>
                          <a:ea typeface="Raleway Bold"/>
                          <a:cs typeface="Raleway Bold"/>
                          <a:sym typeface="Raleway Bold"/>
                        </a:rPr>
                        <a:t>(</a:t>
                      </a:r>
                      <a:r>
                        <a:rPr lang="en-US" sz="2000">
                          <a:solidFill>
                            <a:srgbClr val="000000"/>
                          </a:solidFill>
                          <a:latin typeface="Raleway"/>
                          <a:ea typeface="Raleway"/>
                          <a:cs typeface="Raleway"/>
                          <a:sym typeface="Raleway"/>
                        </a:rPr>
                        <a:t>Interactive Shell</a:t>
                      </a:r>
                      <a:r>
                        <a:rPr lang="en-US" sz="2000" b="true">
                          <a:solidFill>
                            <a:srgbClr val="000000"/>
                          </a:solidFill>
                          <a:latin typeface="Raleway Bold"/>
                          <a:ea typeface="Raleway Bold"/>
                          <a:cs typeface="Raleway Bold"/>
                          <a:sym typeface="Raleway Bold"/>
                        </a:rPr>
                        <a:t>)</a:t>
                      </a:r>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Küçük kod parçalarını hızla test etmek ve yorumlayıcının davranışını incelemek için idealdir. Büyük projeler için uygun değildir.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Komut satırı üzerinden doğrudan </a:t>
                      </a:r>
                      <a:r>
                        <a:rPr lang="en-US" sz="2000" b="true">
                          <a:solidFill>
                            <a:srgbClr val="000000"/>
                          </a:solidFill>
                          <a:latin typeface="Raleway Bold"/>
                          <a:ea typeface="Raleway Bold"/>
                          <a:cs typeface="Raleway Bold"/>
                          <a:sym typeface="Raleway Bold"/>
                        </a:rPr>
                        <a:t>python </a:t>
                      </a:r>
                      <a:r>
                        <a:rPr lang="en-US" sz="2000">
                          <a:solidFill>
                            <a:srgbClr val="000000"/>
                          </a:solidFill>
                          <a:latin typeface="Raleway"/>
                          <a:ea typeface="Raleway"/>
                          <a:cs typeface="Raleway"/>
                          <a:sym typeface="Raleway"/>
                        </a:rPr>
                        <a:t>yazılarak ulaşılan bu alan, yazılan her bir kod satırını Enter tuşuna basıldığı anda anlık olarak çalıştırır ve sonucu alt satıra yansıtır.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985612">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IDLE [</a:t>
                      </a:r>
                      <a:r>
                        <a:rPr lang="en-US" sz="2000">
                          <a:solidFill>
                            <a:srgbClr val="000000"/>
                          </a:solidFill>
                          <a:latin typeface="Raleway"/>
                          <a:ea typeface="Raleway"/>
                          <a:cs typeface="Raleway"/>
                          <a:sym typeface="Raleway"/>
                        </a:rPr>
                        <a:t>Integrated Development and Learning Environment</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Hem etkileşimli kabuk gibi anlık denemeler yapma imkânı sunar hem de </a:t>
                      </a:r>
                      <a:r>
                        <a:rPr lang="en-US" sz="2000" b="true">
                          <a:solidFill>
                            <a:srgbClr val="000000"/>
                          </a:solidFill>
                          <a:latin typeface="Raleway Bold"/>
                          <a:ea typeface="Raleway Bold"/>
                          <a:cs typeface="Raleway Bold"/>
                          <a:sym typeface="Raleway Bold"/>
                        </a:rPr>
                        <a:t>.py</a:t>
                      </a:r>
                      <a:r>
                        <a:rPr lang="en-US" sz="2000">
                          <a:solidFill>
                            <a:srgbClr val="000000"/>
                          </a:solidFill>
                          <a:latin typeface="Raleway"/>
                          <a:ea typeface="Raleway"/>
                          <a:cs typeface="Raleway"/>
                          <a:sym typeface="Raleway"/>
                        </a:rPr>
                        <a:t> uzantılı bağımsız kod dosyaları oluşturarak karmaşık algoritmaları kaydetme, düzenleme ve hata ayıklama kolaylığı sağlar.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Python kurulumuyla birlikte yerleşik olarak gelen basit ve hafif bir IDE yazılımıdır.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393700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Önemli Ayrım: IDE vs IDLE</a:t>
            </a:r>
          </a:p>
          <a:p>
            <a:pPr algn="l">
              <a:lnSpc>
                <a:spcPts val="3499"/>
              </a:lnSpc>
            </a:pPr>
          </a:p>
          <a:p>
            <a:pPr algn="l">
              <a:lnSpc>
                <a:spcPts val="3499"/>
              </a:lnSpc>
            </a:pPr>
            <a:r>
              <a:rPr lang="en-US" sz="2499" spc="-42">
                <a:solidFill>
                  <a:srgbClr val="203251"/>
                </a:solidFill>
                <a:latin typeface="Raleway"/>
                <a:ea typeface="Raleway"/>
                <a:cs typeface="Raleway"/>
                <a:sym typeface="Raleway"/>
              </a:rPr>
              <a:t>Sıklıkla birbirine karıştırılan bu iki kavramdan:</a:t>
            </a:r>
          </a:p>
          <a:p>
            <a:pPr algn="l" marL="539749" indent="-269875" lvl="1">
              <a:lnSpc>
                <a:spcPts val="3499"/>
              </a:lnSpc>
              <a:buFont typeface="Arial"/>
              <a:buChar char="•"/>
            </a:pPr>
            <a:r>
              <a:rPr lang="en-US" b="true" sz="2499" spc="-42">
                <a:solidFill>
                  <a:srgbClr val="203251"/>
                </a:solidFill>
                <a:latin typeface="Raleway Semi-Bold"/>
                <a:ea typeface="Raleway Semi-Bold"/>
                <a:cs typeface="Raleway Semi-Bold"/>
                <a:sym typeface="Raleway Semi-Bold"/>
              </a:rPr>
              <a:t>IDE (</a:t>
            </a:r>
            <a:r>
              <a:rPr lang="en-US" sz="2499" spc="-42">
                <a:solidFill>
                  <a:srgbClr val="203251"/>
                </a:solidFill>
                <a:latin typeface="Raleway"/>
                <a:ea typeface="Raleway"/>
                <a:cs typeface="Raleway"/>
                <a:sym typeface="Raleway"/>
              </a:rPr>
              <a:t>Integrated Development Environment</a:t>
            </a:r>
            <a:r>
              <a:rPr lang="en-US" b="true" sz="2499" spc="-42">
                <a:solidFill>
                  <a:srgbClr val="203251"/>
                </a:solidFill>
                <a:latin typeface="Raleway Semi-Bold"/>
                <a:ea typeface="Raleway Semi-Bold"/>
                <a:cs typeface="Raleway Semi-Bold"/>
                <a:sym typeface="Raleway Semi-Bold"/>
              </a:rPr>
              <a:t>):</a:t>
            </a:r>
            <a:r>
              <a:rPr lang="en-US" sz="2499" spc="-42">
                <a:solidFill>
                  <a:srgbClr val="203251"/>
                </a:solidFill>
                <a:latin typeface="Raleway"/>
                <a:ea typeface="Raleway"/>
                <a:cs typeface="Raleway"/>
                <a:sym typeface="Raleway"/>
              </a:rPr>
              <a:t> Yazılım geliştirmek için kullanılan tüm araçların (editör, derleyici, hata ayıklayıcı vb.) genel kategori adıdır. </a:t>
            </a:r>
          </a:p>
          <a:p>
            <a:pPr algn="l" marL="1079499" indent="-359833" lvl="2">
              <a:lnSpc>
                <a:spcPts val="3499"/>
              </a:lnSpc>
              <a:buFont typeface="Arial"/>
              <a:buChar char="⚬"/>
            </a:pPr>
            <a:r>
              <a:rPr lang="en-US" b="true" sz="2499" spc="-42">
                <a:solidFill>
                  <a:srgbClr val="CEAF69"/>
                </a:solidFill>
                <a:latin typeface="Raleway Bold"/>
                <a:ea typeface="Raleway Bold"/>
                <a:cs typeface="Raleway Bold"/>
                <a:sym typeface="Raleway Bold"/>
              </a:rPr>
              <a:t>Örnek:</a:t>
            </a:r>
            <a:r>
              <a:rPr lang="en-US" sz="2499" spc="-42">
                <a:solidFill>
                  <a:srgbClr val="CEAF69"/>
                </a:solidFill>
                <a:latin typeface="Raleway"/>
                <a:ea typeface="Raleway"/>
                <a:cs typeface="Raleway"/>
                <a:sym typeface="Raleway"/>
              </a:rPr>
              <a:t> </a:t>
            </a:r>
            <a:r>
              <a:rPr lang="en-US" sz="2499" spc="-42">
                <a:solidFill>
                  <a:srgbClr val="203251"/>
                </a:solidFill>
                <a:latin typeface="Raleway"/>
                <a:ea typeface="Raleway"/>
                <a:cs typeface="Raleway"/>
                <a:sym typeface="Raleway"/>
              </a:rPr>
              <a:t>PyCharm, Visual Studio.</a:t>
            </a:r>
          </a:p>
          <a:p>
            <a:pPr algn="l" marL="539749" indent="-269875" lvl="1">
              <a:lnSpc>
                <a:spcPts val="3499"/>
              </a:lnSpc>
              <a:buFont typeface="Arial"/>
              <a:buChar char="•"/>
            </a:pPr>
            <a:r>
              <a:rPr lang="en-US" b="true" sz="2499" spc="-42">
                <a:solidFill>
                  <a:srgbClr val="203251"/>
                </a:solidFill>
                <a:latin typeface="Raleway Semi-Bold"/>
                <a:ea typeface="Raleway Semi-Bold"/>
                <a:cs typeface="Raleway Semi-Bold"/>
                <a:sym typeface="Raleway Semi-Bold"/>
              </a:rPr>
              <a:t>IDLE:</a:t>
            </a:r>
            <a:r>
              <a:rPr lang="en-US" sz="2499" spc="-42">
                <a:solidFill>
                  <a:srgbClr val="203251"/>
                </a:solidFill>
                <a:latin typeface="Raleway"/>
                <a:ea typeface="Raleway"/>
                <a:cs typeface="Raleway"/>
                <a:sym typeface="Raleway"/>
              </a:rPr>
              <a:t> Sadece Python'a özel olarak eğitim amacıyla tasarlanmış spesifik bir programın adıdır. Python kurulumuyla birlikte gelir.</a:t>
            </a:r>
          </a:p>
          <a:p>
            <a:pPr algn="l">
              <a:lnSpc>
                <a:spcPts val="3499"/>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Semi-Bold"/>
                <a:ea typeface="Raleway Semi-Bold"/>
                <a:cs typeface="Raleway Semi-Bold"/>
                <a:sym typeface="Raleway Semi-Bold"/>
              </a:rPr>
              <a:t>UYGULAMA 2: </a:t>
            </a:r>
            <a:r>
              <a:rPr lang="en-US" sz="3000" spc="-51">
                <a:solidFill>
                  <a:srgbClr val="203251"/>
                </a:solidFill>
                <a:latin typeface="Raleway"/>
                <a:ea typeface="Raleway"/>
                <a:cs typeface="Raleway"/>
                <a:sym typeface="Raleway"/>
              </a:rPr>
              <a:t>PYTHON IDLE İLE BASİT TOPLAMA İŞLEMİ</a:t>
            </a:r>
          </a:p>
        </p:txBody>
      </p:sp>
      <p:sp>
        <p:nvSpPr>
          <p:cNvPr name="TextBox 4" id="4"/>
          <p:cNvSpPr txBox="true"/>
          <p:nvPr/>
        </p:nvSpPr>
        <p:spPr>
          <a:xfrm rot="0">
            <a:off x="1028700" y="2062627"/>
            <a:ext cx="13314268" cy="437515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Uygulamanın Amacı:</a:t>
            </a:r>
            <a:r>
              <a:rPr lang="en-US" sz="2499" spc="-42">
                <a:solidFill>
                  <a:srgbClr val="203251"/>
                </a:solidFill>
                <a:latin typeface="Raleway"/>
                <a:ea typeface="Raleway"/>
                <a:cs typeface="Raleway"/>
                <a:sym typeface="Raleway"/>
              </a:rPr>
              <a:t> IDLE üzerinde etkileşimli kabuk ve kod düzenleyici araçlarını kullanma, temel aritmetik operatörlerle matematiksel süreçleri kodlama ve program çıktılarını anlık olarak doğrulamak</a:t>
            </a:r>
          </a:p>
          <a:p>
            <a:pPr algn="l">
              <a:lnSpc>
                <a:spcPts val="3499"/>
              </a:lnSpc>
            </a:pPr>
          </a:p>
          <a:p>
            <a:pPr algn="l">
              <a:lnSpc>
                <a:spcPts val="3499"/>
              </a:lnSpc>
            </a:pPr>
            <a:r>
              <a:rPr lang="en-US" sz="2499" spc="-42" b="true">
                <a:solidFill>
                  <a:srgbClr val="203251"/>
                </a:solidFill>
                <a:latin typeface="Raleway Semi-Bold"/>
                <a:ea typeface="Raleway Semi-Bold"/>
                <a:cs typeface="Raleway Semi-Bold"/>
                <a:sym typeface="Raleway Semi-Bold"/>
              </a:rPr>
              <a:t>Problem Senaryosu:</a:t>
            </a:r>
            <a:r>
              <a:rPr lang="en-US" sz="2499" spc="-42">
                <a:solidFill>
                  <a:srgbClr val="203251"/>
                </a:solidFill>
                <a:latin typeface="Raleway"/>
                <a:ea typeface="Raleway"/>
                <a:cs typeface="Raleway"/>
                <a:sym typeface="Raleway"/>
              </a:rPr>
              <a:t> Yerel sisteme kararlı bir şekilde entegre edilen Python yorumlayıcısının, tasarım aşaması (v0.1) tamamlanan Kod-Asistan projesinin ilk matematiksel fonksiyonlarını çalıştırması planlanmaktadır. Bu doğrultuda asistanın arka planda yürüteceği en temel veri işleme adımı olan </a:t>
            </a:r>
            <a:r>
              <a:rPr lang="en-US" sz="2499" spc="-42" b="true">
                <a:solidFill>
                  <a:srgbClr val="203251"/>
                </a:solidFill>
                <a:latin typeface="Raleway Bold"/>
                <a:ea typeface="Raleway Bold"/>
                <a:cs typeface="Raleway Bold"/>
                <a:sym typeface="Raleway Bold"/>
              </a:rPr>
              <a:t>iki sayısal veriyi toplama ve sonucu ekrana yansıtma</a:t>
            </a:r>
            <a:r>
              <a:rPr lang="en-US" sz="2499" spc="-42">
                <a:solidFill>
                  <a:srgbClr val="203251"/>
                </a:solidFill>
                <a:latin typeface="Raleway"/>
                <a:ea typeface="Raleway"/>
                <a:cs typeface="Raleway"/>
                <a:sym typeface="Raleway"/>
              </a:rPr>
              <a:t> sürecinin, IDLE araçları kullanılarak bilgisayar belleğinde somut şekilde çalıştırılması gerekmektedir.</a:t>
            </a:r>
          </a:p>
          <a:p>
            <a:pPr algn="l">
              <a:lnSpc>
                <a:spcPts val="3499"/>
              </a:lnSpc>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143500"/>
            <a:ext cx="5521518" cy="1062346"/>
          </a:xfrm>
          <a:custGeom>
            <a:avLst/>
            <a:gdLst/>
            <a:ahLst/>
            <a:cxnLst/>
            <a:rect r="r" b="b" t="t" l="l"/>
            <a:pathLst>
              <a:path h="1062346" w="5521518">
                <a:moveTo>
                  <a:pt x="0" y="0"/>
                </a:moveTo>
                <a:lnTo>
                  <a:pt x="5521518" y="0"/>
                </a:lnTo>
                <a:lnTo>
                  <a:pt x="5521518" y="1062346"/>
                </a:lnTo>
                <a:lnTo>
                  <a:pt x="0" y="1062346"/>
                </a:lnTo>
                <a:lnTo>
                  <a:pt x="0" y="0"/>
                </a:lnTo>
                <a:close/>
              </a:path>
            </a:pathLst>
          </a:custGeom>
          <a:blipFill>
            <a:blip r:embed="rId2"/>
            <a:stretch>
              <a:fillRect l="-12575" t="-12650" r="-3650" b="-12650"/>
            </a:stretch>
          </a:blipFill>
        </p:spPr>
      </p:sp>
      <p:sp>
        <p:nvSpPr>
          <p:cNvPr name="Freeform 3" id="3"/>
          <p:cNvSpPr/>
          <p:nvPr/>
        </p:nvSpPr>
        <p:spPr>
          <a:xfrm flipH="false" flipV="false" rot="0">
            <a:off x="7391261" y="4109929"/>
            <a:ext cx="9868039" cy="5382567"/>
          </a:xfrm>
          <a:custGeom>
            <a:avLst/>
            <a:gdLst/>
            <a:ahLst/>
            <a:cxnLst/>
            <a:rect r="r" b="b" t="t" l="l"/>
            <a:pathLst>
              <a:path h="5382567" w="9868039">
                <a:moveTo>
                  <a:pt x="0" y="0"/>
                </a:moveTo>
                <a:lnTo>
                  <a:pt x="9868039" y="0"/>
                </a:lnTo>
                <a:lnTo>
                  <a:pt x="9868039" y="5382567"/>
                </a:lnTo>
                <a:lnTo>
                  <a:pt x="0" y="5382567"/>
                </a:lnTo>
                <a:lnTo>
                  <a:pt x="0" y="0"/>
                </a:lnTo>
                <a:close/>
              </a:path>
            </a:pathLst>
          </a:custGeom>
          <a:blipFill>
            <a:blip r:embed="rId3"/>
            <a:stretch>
              <a:fillRect l="0" t="0" r="0" b="0"/>
            </a:stretch>
          </a:blipFill>
        </p:spPr>
      </p:sp>
      <p:grpSp>
        <p:nvGrpSpPr>
          <p:cNvPr name="Group 4" id="4"/>
          <p:cNvGrpSpPr/>
          <p:nvPr/>
        </p:nvGrpSpPr>
        <p:grpSpPr>
          <a:xfrm rot="0">
            <a:off x="1210994" y="5217959"/>
            <a:ext cx="4464367" cy="913428"/>
            <a:chOff x="0" y="0"/>
            <a:chExt cx="1175800" cy="240574"/>
          </a:xfrm>
        </p:grpSpPr>
        <p:sp>
          <p:nvSpPr>
            <p:cNvPr name="Freeform 5" id="5"/>
            <p:cNvSpPr/>
            <p:nvPr/>
          </p:nvSpPr>
          <p:spPr>
            <a:xfrm flipH="false" flipV="false" rot="0">
              <a:off x="0" y="0"/>
              <a:ext cx="1175800" cy="240574"/>
            </a:xfrm>
            <a:custGeom>
              <a:avLst/>
              <a:gdLst/>
              <a:ahLst/>
              <a:cxnLst/>
              <a:rect r="r" b="b" t="t" l="l"/>
              <a:pathLst>
                <a:path h="240574" w="1175800">
                  <a:moveTo>
                    <a:pt x="29481" y="0"/>
                  </a:moveTo>
                  <a:lnTo>
                    <a:pt x="1146320" y="0"/>
                  </a:lnTo>
                  <a:cubicBezTo>
                    <a:pt x="1154138" y="0"/>
                    <a:pt x="1161637" y="3106"/>
                    <a:pt x="1167166" y="8635"/>
                  </a:cubicBezTo>
                  <a:cubicBezTo>
                    <a:pt x="1172694" y="14163"/>
                    <a:pt x="1175800" y="21662"/>
                    <a:pt x="1175800" y="29481"/>
                  </a:cubicBezTo>
                  <a:lnTo>
                    <a:pt x="1175800" y="211093"/>
                  </a:lnTo>
                  <a:cubicBezTo>
                    <a:pt x="1175800" y="218912"/>
                    <a:pt x="1172694" y="226410"/>
                    <a:pt x="1167166" y="231939"/>
                  </a:cubicBezTo>
                  <a:cubicBezTo>
                    <a:pt x="1161637" y="237468"/>
                    <a:pt x="1154138" y="240574"/>
                    <a:pt x="1146320" y="240574"/>
                  </a:cubicBezTo>
                  <a:lnTo>
                    <a:pt x="29481" y="240574"/>
                  </a:lnTo>
                  <a:cubicBezTo>
                    <a:pt x="21662" y="240574"/>
                    <a:pt x="14163" y="237468"/>
                    <a:pt x="8635" y="231939"/>
                  </a:cubicBezTo>
                  <a:cubicBezTo>
                    <a:pt x="3106" y="226410"/>
                    <a:pt x="0" y="218912"/>
                    <a:pt x="0" y="211093"/>
                  </a:cubicBezTo>
                  <a:lnTo>
                    <a:pt x="0" y="29481"/>
                  </a:lnTo>
                  <a:cubicBezTo>
                    <a:pt x="0" y="21662"/>
                    <a:pt x="3106" y="14163"/>
                    <a:pt x="8635" y="8635"/>
                  </a:cubicBezTo>
                  <a:cubicBezTo>
                    <a:pt x="14163" y="3106"/>
                    <a:pt x="21662" y="0"/>
                    <a:pt x="29481" y="0"/>
                  </a:cubicBezTo>
                  <a:close/>
                </a:path>
              </a:pathLst>
            </a:custGeom>
            <a:ln w="38100" cap="sq">
              <a:solidFill>
                <a:srgbClr val="FF000A"/>
              </a:solidFill>
              <a:prstDash val="sysDot"/>
              <a:miter/>
            </a:ln>
          </p:spPr>
        </p:sp>
        <p:sp>
          <p:nvSpPr>
            <p:cNvPr name="TextBox 6" id="6"/>
            <p:cNvSpPr txBox="true"/>
            <p:nvPr/>
          </p:nvSpPr>
          <p:spPr>
            <a:xfrm>
              <a:off x="0" y="-57150"/>
              <a:ext cx="1175800" cy="297724"/>
            </a:xfrm>
            <a:prstGeom prst="rect">
              <a:avLst/>
            </a:prstGeom>
          </p:spPr>
          <p:txBody>
            <a:bodyPr anchor="ctr" rtlCol="false" tIns="50800" lIns="50800" bIns="50800" rIns="50800"/>
            <a:lstStyle/>
            <a:p>
              <a:pPr algn="ctr">
                <a:lnSpc>
                  <a:spcPts val="3499"/>
                </a:lnSpc>
                <a:spcBef>
                  <a:spcPct val="0"/>
                </a:spcBef>
              </a:pPr>
            </a:p>
          </p:txBody>
        </p:sp>
      </p:grpSp>
      <p:sp>
        <p:nvSpPr>
          <p:cNvPr name="Freeform 7" id="7"/>
          <p:cNvSpPr/>
          <p:nvPr/>
        </p:nvSpPr>
        <p:spPr>
          <a:xfrm flipH="false" flipV="false" rot="0">
            <a:off x="4821047" y="5674673"/>
            <a:ext cx="604893" cy="703364"/>
          </a:xfrm>
          <a:custGeom>
            <a:avLst/>
            <a:gdLst/>
            <a:ahLst/>
            <a:cxnLst/>
            <a:rect r="r" b="b" t="t" l="l"/>
            <a:pathLst>
              <a:path h="703364" w="604893">
                <a:moveTo>
                  <a:pt x="0" y="0"/>
                </a:moveTo>
                <a:lnTo>
                  <a:pt x="604894" y="0"/>
                </a:lnTo>
                <a:lnTo>
                  <a:pt x="604894" y="703364"/>
                </a:lnTo>
                <a:lnTo>
                  <a:pt x="0" y="703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971550"/>
            <a:ext cx="13314268" cy="43180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Uygulamanın A</a:t>
            </a:r>
            <a:r>
              <a:rPr lang="en-US" sz="2499" spc="-42" b="true">
                <a:solidFill>
                  <a:srgbClr val="203251"/>
                </a:solidFill>
                <a:latin typeface="Raleway Semi-Bold"/>
                <a:ea typeface="Raleway Semi-Bold"/>
                <a:cs typeface="Raleway Semi-Bold"/>
                <a:sym typeface="Raleway Semi-Bold"/>
              </a:rPr>
              <a:t>şamaları:</a:t>
            </a:r>
          </a:p>
        </p:txBody>
      </p:sp>
      <p:sp>
        <p:nvSpPr>
          <p:cNvPr name="TextBox 9" id="9"/>
          <p:cNvSpPr txBox="true"/>
          <p:nvPr/>
        </p:nvSpPr>
        <p:spPr>
          <a:xfrm rot="0">
            <a:off x="1028700" y="1663272"/>
            <a:ext cx="16230600" cy="174625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1. Aşama:</a:t>
            </a:r>
            <a:r>
              <a:rPr lang="en-US" sz="2499" spc="-42">
                <a:solidFill>
                  <a:srgbClr val="203251"/>
                </a:solidFill>
                <a:latin typeface="Raleway"/>
                <a:ea typeface="Raleway"/>
                <a:cs typeface="Raleway"/>
                <a:sym typeface="Raleway"/>
              </a:rPr>
              <a:t> IDLE Etkile</a:t>
            </a:r>
            <a:r>
              <a:rPr lang="en-US" sz="2499" spc="-42">
                <a:solidFill>
                  <a:srgbClr val="203251"/>
                </a:solidFill>
                <a:latin typeface="Raleway"/>
                <a:ea typeface="Raleway"/>
                <a:cs typeface="Raleway"/>
                <a:sym typeface="Raleway"/>
              </a:rPr>
              <a:t>şimli Kabuk Kullanımı</a:t>
            </a:r>
          </a:p>
          <a:p>
            <a:pPr algn="l" marL="539749" indent="-269875" lvl="1">
              <a:lnSpc>
                <a:spcPts val="3499"/>
              </a:lnSpc>
              <a:buFont typeface="Arial"/>
              <a:buChar char="•"/>
            </a:pPr>
            <a:r>
              <a:rPr lang="en-US" sz="2499" spc="-42">
                <a:solidFill>
                  <a:srgbClr val="203251"/>
                </a:solidFill>
                <a:latin typeface="Raleway"/>
                <a:ea typeface="Raleway"/>
                <a:cs typeface="Raleway"/>
                <a:sym typeface="Raleway"/>
              </a:rPr>
              <a:t>İşletim sisteminin başlat menüsünden IDLE (Python 3.x.x) uygulamasını arayarak açınız.</a:t>
            </a:r>
          </a:p>
          <a:p>
            <a:pPr algn="l" marL="539749" indent="-269875" lvl="1">
              <a:lnSpc>
                <a:spcPts val="3499"/>
              </a:lnSpc>
              <a:buFont typeface="Arial"/>
              <a:buChar char="•"/>
            </a:pPr>
            <a:r>
              <a:rPr lang="en-US" sz="2499" spc="-42">
                <a:solidFill>
                  <a:srgbClr val="203251"/>
                </a:solidFill>
                <a:latin typeface="Raleway"/>
                <a:ea typeface="Raleway"/>
                <a:cs typeface="Raleway"/>
                <a:sym typeface="Raleway"/>
              </a:rPr>
              <a:t>Ekrana gelen etkileşimli kabuk alanına Python söz dizimine uygun temel matematiksel ifadeler (örneğin 15 + 25) yazarak anlık sonuçları inceleyiniz.</a:t>
            </a:r>
          </a:p>
        </p:txBody>
      </p:sp>
      <p:sp>
        <p:nvSpPr>
          <p:cNvPr name="AutoShape 10" id="10"/>
          <p:cNvSpPr/>
          <p:nvPr/>
        </p:nvSpPr>
        <p:spPr>
          <a:xfrm flipV="true">
            <a:off x="5675361" y="5250473"/>
            <a:ext cx="1715900" cy="42420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47833" y="4554073"/>
            <a:ext cx="6977715" cy="4538810"/>
          </a:xfrm>
          <a:custGeom>
            <a:avLst/>
            <a:gdLst/>
            <a:ahLst/>
            <a:cxnLst/>
            <a:rect r="r" b="b" t="t" l="l"/>
            <a:pathLst>
              <a:path h="4538810" w="6977715">
                <a:moveTo>
                  <a:pt x="0" y="0"/>
                </a:moveTo>
                <a:lnTo>
                  <a:pt x="6977715" y="0"/>
                </a:lnTo>
                <a:lnTo>
                  <a:pt x="6977715" y="4538810"/>
                </a:lnTo>
                <a:lnTo>
                  <a:pt x="0" y="4538810"/>
                </a:lnTo>
                <a:lnTo>
                  <a:pt x="0" y="0"/>
                </a:lnTo>
                <a:close/>
              </a:path>
            </a:pathLst>
          </a:custGeom>
          <a:blipFill>
            <a:blip r:embed="rId2"/>
            <a:stretch>
              <a:fillRect l="0" t="0" r="0" b="0"/>
            </a:stretch>
          </a:blipFill>
        </p:spPr>
      </p:sp>
      <p:sp>
        <p:nvSpPr>
          <p:cNvPr name="Freeform 3" id="3"/>
          <p:cNvSpPr/>
          <p:nvPr/>
        </p:nvSpPr>
        <p:spPr>
          <a:xfrm flipH="false" flipV="false" rot="0">
            <a:off x="11106070" y="4554073"/>
            <a:ext cx="4576224" cy="4062290"/>
          </a:xfrm>
          <a:custGeom>
            <a:avLst/>
            <a:gdLst/>
            <a:ahLst/>
            <a:cxnLst/>
            <a:rect r="r" b="b" t="t" l="l"/>
            <a:pathLst>
              <a:path h="4062290" w="4576224">
                <a:moveTo>
                  <a:pt x="0" y="0"/>
                </a:moveTo>
                <a:lnTo>
                  <a:pt x="4576225" y="0"/>
                </a:lnTo>
                <a:lnTo>
                  <a:pt x="4576225" y="4062290"/>
                </a:lnTo>
                <a:lnTo>
                  <a:pt x="0" y="4062290"/>
                </a:lnTo>
                <a:lnTo>
                  <a:pt x="0" y="0"/>
                </a:lnTo>
                <a:close/>
              </a:path>
            </a:pathLst>
          </a:custGeom>
          <a:blipFill>
            <a:blip r:embed="rId3"/>
            <a:stretch>
              <a:fillRect l="0" t="0" r="-81484" b="0"/>
            </a:stretch>
          </a:blipFill>
        </p:spPr>
      </p:sp>
      <p:sp>
        <p:nvSpPr>
          <p:cNvPr name="TextBox 4" id="4"/>
          <p:cNvSpPr txBox="true"/>
          <p:nvPr/>
        </p:nvSpPr>
        <p:spPr>
          <a:xfrm rot="0">
            <a:off x="1028700" y="971550"/>
            <a:ext cx="16230600" cy="218440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2. Aşama: </a:t>
            </a:r>
            <a:r>
              <a:rPr lang="en-US" sz="2499" spc="-42">
                <a:solidFill>
                  <a:srgbClr val="203251"/>
                </a:solidFill>
                <a:latin typeface="Raleway"/>
                <a:ea typeface="Raleway"/>
                <a:cs typeface="Raleway"/>
                <a:sym typeface="Raleway"/>
              </a:rPr>
              <a:t>Editör</a:t>
            </a:r>
            <a:r>
              <a:rPr lang="en-US" sz="2499" spc="-42">
                <a:solidFill>
                  <a:srgbClr val="203251"/>
                </a:solidFill>
                <a:latin typeface="Raleway"/>
                <a:ea typeface="Raleway"/>
                <a:cs typeface="Raleway"/>
                <a:sym typeface="Raleway"/>
              </a:rPr>
              <a:t> Modunda Program Dosyası Oluşturma</a:t>
            </a:r>
          </a:p>
          <a:p>
            <a:pPr algn="l" marL="539749" indent="-269875" lvl="1">
              <a:lnSpc>
                <a:spcPts val="3499"/>
              </a:lnSpc>
              <a:buFont typeface="Arial"/>
              <a:buChar char="•"/>
            </a:pPr>
            <a:r>
              <a:rPr lang="en-US" sz="2499" spc="-42">
                <a:solidFill>
                  <a:srgbClr val="203251"/>
                </a:solidFill>
                <a:latin typeface="Raleway"/>
                <a:ea typeface="Raleway"/>
                <a:cs typeface="Raleway"/>
                <a:sym typeface="Raleway"/>
              </a:rPr>
              <a:t>Etki</a:t>
            </a:r>
            <a:r>
              <a:rPr lang="en-US" sz="2499" spc="-42">
                <a:solidFill>
                  <a:srgbClr val="203251"/>
                </a:solidFill>
                <a:latin typeface="Raleway"/>
                <a:ea typeface="Raleway"/>
                <a:cs typeface="Raleway"/>
                <a:sym typeface="Raleway"/>
              </a:rPr>
              <a:t>leşimli kabukta yapılan denemeler doğrudan düzenlenebilir bir </a:t>
            </a:r>
            <a:r>
              <a:rPr lang="en-US" b="true" sz="2499" spc="-42">
                <a:solidFill>
                  <a:srgbClr val="203251"/>
                </a:solidFill>
                <a:latin typeface="Raleway Bold"/>
                <a:ea typeface="Raleway Bold"/>
                <a:cs typeface="Raleway Bold"/>
                <a:sym typeface="Raleway Bold"/>
              </a:rPr>
              <a:t>.py </a:t>
            </a:r>
            <a:r>
              <a:rPr lang="en-US" sz="2499" spc="-42">
                <a:solidFill>
                  <a:srgbClr val="203251"/>
                </a:solidFill>
                <a:latin typeface="Raleway"/>
                <a:ea typeface="Raleway"/>
                <a:cs typeface="Raleway"/>
                <a:sym typeface="Raleway"/>
              </a:rPr>
              <a:t>dosyası olarak saklanmadığı için bağımsız bir kaynak dosyası oluşturmak amacıyla IDLE üst menüsünden </a:t>
            </a:r>
            <a:r>
              <a:rPr lang="en-US" b="true" sz="2499" spc="-42">
                <a:solidFill>
                  <a:srgbClr val="203251"/>
                </a:solidFill>
                <a:latin typeface="Raleway Bold"/>
                <a:ea typeface="Raleway Bold"/>
                <a:cs typeface="Raleway Bold"/>
                <a:sym typeface="Raleway Bold"/>
              </a:rPr>
              <a:t>File &gt; New File</a:t>
            </a:r>
            <a:r>
              <a:rPr lang="en-US" sz="2499" spc="-42">
                <a:solidFill>
                  <a:srgbClr val="203251"/>
                </a:solidFill>
                <a:latin typeface="Raleway"/>
                <a:ea typeface="Raleway"/>
                <a:cs typeface="Raleway"/>
                <a:sym typeface="Raleway"/>
              </a:rPr>
              <a:t> bağlantısına tıklayınız.</a:t>
            </a:r>
          </a:p>
          <a:p>
            <a:pPr algn="l" marL="539749" indent="-269875" lvl="1">
              <a:lnSpc>
                <a:spcPts val="3499"/>
              </a:lnSpc>
              <a:buFont typeface="Arial"/>
              <a:buChar char="•"/>
            </a:pPr>
            <a:r>
              <a:rPr lang="en-US" sz="2499" spc="-42">
                <a:solidFill>
                  <a:srgbClr val="203251"/>
                </a:solidFill>
                <a:latin typeface="Raleway"/>
                <a:ea typeface="Raleway"/>
                <a:cs typeface="Raleway"/>
                <a:sym typeface="Raleway"/>
              </a:rPr>
              <a:t>Açılan boş kod düzenleyici penceresine, iki sayının aritmetik toplama sürecini yürüten ve sonucu ekrana yazdıran şu standart Python komut bloklarını kodlayınız: </a:t>
            </a:r>
            <a:r>
              <a:rPr lang="en-US" b="true" sz="2499" spc="-42">
                <a:solidFill>
                  <a:srgbClr val="203251"/>
                </a:solidFill>
                <a:latin typeface="Raleway Bold"/>
                <a:ea typeface="Raleway Bold"/>
                <a:cs typeface="Raleway Bold"/>
                <a:sym typeface="Raleway Bold"/>
              </a:rPr>
              <a:t>print(15+25)</a:t>
            </a:r>
          </a:p>
        </p:txBody>
      </p:sp>
      <p:grpSp>
        <p:nvGrpSpPr>
          <p:cNvPr name="Group 5" id="5"/>
          <p:cNvGrpSpPr/>
          <p:nvPr/>
        </p:nvGrpSpPr>
        <p:grpSpPr>
          <a:xfrm rot="0">
            <a:off x="3005841" y="4836602"/>
            <a:ext cx="470624" cy="269105"/>
            <a:chOff x="0" y="0"/>
            <a:chExt cx="123950" cy="70875"/>
          </a:xfrm>
        </p:grpSpPr>
        <p:sp>
          <p:nvSpPr>
            <p:cNvPr name="Freeform 6" id="6"/>
            <p:cNvSpPr/>
            <p:nvPr/>
          </p:nvSpPr>
          <p:spPr>
            <a:xfrm flipH="false" flipV="false" rot="0">
              <a:off x="0" y="0"/>
              <a:ext cx="123950" cy="70875"/>
            </a:xfrm>
            <a:custGeom>
              <a:avLst/>
              <a:gdLst/>
              <a:ahLst/>
              <a:cxnLst/>
              <a:rect r="r" b="b" t="t" l="l"/>
              <a:pathLst>
                <a:path h="70875" w="123950">
                  <a:moveTo>
                    <a:pt x="35438" y="0"/>
                  </a:moveTo>
                  <a:lnTo>
                    <a:pt x="88513" y="0"/>
                  </a:lnTo>
                  <a:cubicBezTo>
                    <a:pt x="108084" y="0"/>
                    <a:pt x="123950" y="15866"/>
                    <a:pt x="123950" y="35438"/>
                  </a:cubicBezTo>
                  <a:lnTo>
                    <a:pt x="123950" y="35438"/>
                  </a:lnTo>
                  <a:cubicBezTo>
                    <a:pt x="123950" y="44836"/>
                    <a:pt x="120217" y="53850"/>
                    <a:pt x="113571" y="60496"/>
                  </a:cubicBezTo>
                  <a:cubicBezTo>
                    <a:pt x="106925" y="67142"/>
                    <a:pt x="97911" y="70875"/>
                    <a:pt x="88513" y="70875"/>
                  </a:cubicBezTo>
                  <a:lnTo>
                    <a:pt x="35438" y="70875"/>
                  </a:lnTo>
                  <a:cubicBezTo>
                    <a:pt x="26039" y="70875"/>
                    <a:pt x="17025" y="67142"/>
                    <a:pt x="10379" y="60496"/>
                  </a:cubicBezTo>
                  <a:cubicBezTo>
                    <a:pt x="3734" y="53850"/>
                    <a:pt x="0" y="44836"/>
                    <a:pt x="0" y="35438"/>
                  </a:cubicBezTo>
                  <a:lnTo>
                    <a:pt x="0" y="35438"/>
                  </a:lnTo>
                  <a:cubicBezTo>
                    <a:pt x="0" y="26039"/>
                    <a:pt x="3734" y="17025"/>
                    <a:pt x="10379" y="10379"/>
                  </a:cubicBezTo>
                  <a:cubicBezTo>
                    <a:pt x="17025" y="3734"/>
                    <a:pt x="26039" y="0"/>
                    <a:pt x="35438" y="0"/>
                  </a:cubicBezTo>
                  <a:close/>
                </a:path>
              </a:pathLst>
            </a:custGeom>
            <a:ln w="38100" cap="sq">
              <a:solidFill>
                <a:srgbClr val="FF000A"/>
              </a:solidFill>
              <a:prstDash val="sysDot"/>
              <a:miter/>
            </a:ln>
          </p:spPr>
        </p:sp>
        <p:sp>
          <p:nvSpPr>
            <p:cNvPr name="TextBox 7" id="7"/>
            <p:cNvSpPr txBox="true"/>
            <p:nvPr/>
          </p:nvSpPr>
          <p:spPr>
            <a:xfrm>
              <a:off x="0" y="-57150"/>
              <a:ext cx="123950" cy="128025"/>
            </a:xfrm>
            <a:prstGeom prst="rect">
              <a:avLst/>
            </a:prstGeom>
          </p:spPr>
          <p:txBody>
            <a:bodyPr anchor="ctr" rtlCol="false" tIns="50800" lIns="50800" bIns="50800" rIns="50800"/>
            <a:lstStyle/>
            <a:p>
              <a:pPr algn="ctr">
                <a:lnSpc>
                  <a:spcPts val="3499"/>
                </a:lnSpc>
                <a:spcBef>
                  <a:spcPct val="0"/>
                </a:spcBef>
              </a:pPr>
            </a:p>
          </p:txBody>
        </p:sp>
      </p:grpSp>
      <p:grpSp>
        <p:nvGrpSpPr>
          <p:cNvPr name="Group 8" id="8"/>
          <p:cNvGrpSpPr/>
          <p:nvPr/>
        </p:nvGrpSpPr>
        <p:grpSpPr>
          <a:xfrm rot="0">
            <a:off x="3005841" y="5076313"/>
            <a:ext cx="2381250" cy="306898"/>
            <a:chOff x="0" y="0"/>
            <a:chExt cx="627160" cy="80829"/>
          </a:xfrm>
        </p:grpSpPr>
        <p:sp>
          <p:nvSpPr>
            <p:cNvPr name="Freeform 9" id="9"/>
            <p:cNvSpPr/>
            <p:nvPr/>
          </p:nvSpPr>
          <p:spPr>
            <a:xfrm flipH="false" flipV="false" rot="0">
              <a:off x="0" y="0"/>
              <a:ext cx="627161" cy="80829"/>
            </a:xfrm>
            <a:custGeom>
              <a:avLst/>
              <a:gdLst/>
              <a:ahLst/>
              <a:cxnLst/>
              <a:rect r="r" b="b" t="t" l="l"/>
              <a:pathLst>
                <a:path h="80829" w="627161">
                  <a:moveTo>
                    <a:pt x="40415" y="0"/>
                  </a:moveTo>
                  <a:lnTo>
                    <a:pt x="586746" y="0"/>
                  </a:lnTo>
                  <a:cubicBezTo>
                    <a:pt x="597465" y="0"/>
                    <a:pt x="607744" y="4258"/>
                    <a:pt x="615323" y="11837"/>
                  </a:cubicBezTo>
                  <a:cubicBezTo>
                    <a:pt x="622903" y="19416"/>
                    <a:pt x="627161" y="29696"/>
                    <a:pt x="627161" y="40415"/>
                  </a:cubicBezTo>
                  <a:lnTo>
                    <a:pt x="627161" y="40415"/>
                  </a:lnTo>
                  <a:cubicBezTo>
                    <a:pt x="627161" y="51133"/>
                    <a:pt x="622903" y="61413"/>
                    <a:pt x="615323" y="68992"/>
                  </a:cubicBezTo>
                  <a:cubicBezTo>
                    <a:pt x="607744" y="76571"/>
                    <a:pt x="597465" y="80829"/>
                    <a:pt x="586746" y="80829"/>
                  </a:cubicBezTo>
                  <a:lnTo>
                    <a:pt x="40415" y="80829"/>
                  </a:lnTo>
                  <a:cubicBezTo>
                    <a:pt x="29696" y="80829"/>
                    <a:pt x="19416" y="76571"/>
                    <a:pt x="11837" y="68992"/>
                  </a:cubicBezTo>
                  <a:cubicBezTo>
                    <a:pt x="4258" y="61413"/>
                    <a:pt x="0" y="51133"/>
                    <a:pt x="0" y="40415"/>
                  </a:cubicBezTo>
                  <a:lnTo>
                    <a:pt x="0" y="40415"/>
                  </a:lnTo>
                  <a:cubicBezTo>
                    <a:pt x="0" y="29696"/>
                    <a:pt x="4258" y="19416"/>
                    <a:pt x="11837" y="11837"/>
                  </a:cubicBezTo>
                  <a:cubicBezTo>
                    <a:pt x="19416" y="4258"/>
                    <a:pt x="29696" y="0"/>
                    <a:pt x="40415" y="0"/>
                  </a:cubicBezTo>
                  <a:close/>
                </a:path>
              </a:pathLst>
            </a:custGeom>
            <a:ln w="38100" cap="sq">
              <a:solidFill>
                <a:srgbClr val="FF000A"/>
              </a:solidFill>
              <a:prstDash val="sysDot"/>
              <a:miter/>
            </a:ln>
          </p:spPr>
        </p:sp>
        <p:sp>
          <p:nvSpPr>
            <p:cNvPr name="TextBox 10" id="10"/>
            <p:cNvSpPr txBox="true"/>
            <p:nvPr/>
          </p:nvSpPr>
          <p:spPr>
            <a:xfrm>
              <a:off x="0" y="-57150"/>
              <a:ext cx="627160" cy="137979"/>
            </a:xfrm>
            <a:prstGeom prst="rect">
              <a:avLst/>
            </a:prstGeom>
          </p:spPr>
          <p:txBody>
            <a:bodyPr anchor="ctr" rtlCol="false" tIns="50800" lIns="50800" bIns="50800" rIns="50800"/>
            <a:lstStyle/>
            <a:p>
              <a:pPr algn="ctr">
                <a:lnSpc>
                  <a:spcPts val="3499"/>
                </a:lnSpc>
                <a:spcBef>
                  <a:spcPct val="0"/>
                </a:spcBef>
              </a:pPr>
            </a:p>
          </p:txBody>
        </p:sp>
      </p:grpSp>
      <p:sp>
        <p:nvSpPr>
          <p:cNvPr name="Freeform 11" id="11"/>
          <p:cNvSpPr/>
          <p:nvPr/>
        </p:nvSpPr>
        <p:spPr>
          <a:xfrm flipH="false" flipV="false" rot="0">
            <a:off x="4940897" y="5143500"/>
            <a:ext cx="302447" cy="351682"/>
          </a:xfrm>
          <a:custGeom>
            <a:avLst/>
            <a:gdLst/>
            <a:ahLst/>
            <a:cxnLst/>
            <a:rect r="r" b="b" t="t" l="l"/>
            <a:pathLst>
              <a:path h="351682" w="302447">
                <a:moveTo>
                  <a:pt x="0" y="0"/>
                </a:moveTo>
                <a:lnTo>
                  <a:pt x="302446" y="0"/>
                </a:lnTo>
                <a:lnTo>
                  <a:pt x="302446" y="351682"/>
                </a:lnTo>
                <a:lnTo>
                  <a:pt x="0" y="3516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flipV="true">
            <a:off x="5387091" y="4780164"/>
            <a:ext cx="5718979" cy="449598"/>
          </a:xfrm>
          <a:prstGeom prst="line">
            <a:avLst/>
          </a:prstGeom>
          <a:ln cap="flat" w="38100">
            <a:solidFill>
              <a:srgbClr val="FF000A"/>
            </a:solidFill>
            <a:prstDash val="solid"/>
            <a:headEnd type="none" len="sm" w="sm"/>
            <a:tailEnd type="triangle" len="med" w="lg"/>
          </a:ln>
        </p:spPr>
      </p:sp>
      <p:sp>
        <p:nvSpPr>
          <p:cNvPr name="AutoShape 13" id="13"/>
          <p:cNvSpPr/>
          <p:nvPr/>
        </p:nvSpPr>
        <p:spPr>
          <a:xfrm>
            <a:off x="15682295" y="6116629"/>
            <a:ext cx="3432730" cy="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9362831" y="3984932"/>
            <a:ext cx="6441775" cy="4030415"/>
          </a:xfrm>
          <a:custGeom>
            <a:avLst/>
            <a:gdLst/>
            <a:ahLst/>
            <a:cxnLst/>
            <a:rect r="r" b="b" t="t" l="l"/>
            <a:pathLst>
              <a:path h="4030415" w="6441775">
                <a:moveTo>
                  <a:pt x="0" y="0"/>
                </a:moveTo>
                <a:lnTo>
                  <a:pt x="6441775" y="0"/>
                </a:lnTo>
                <a:lnTo>
                  <a:pt x="6441775" y="4030415"/>
                </a:lnTo>
                <a:lnTo>
                  <a:pt x="0" y="4030415"/>
                </a:lnTo>
                <a:lnTo>
                  <a:pt x="0" y="0"/>
                </a:lnTo>
                <a:close/>
              </a:path>
            </a:pathLst>
          </a:custGeom>
          <a:blipFill>
            <a:blip r:embed="rId2"/>
            <a:stretch>
              <a:fillRect l="0" t="0" r="0" b="0"/>
            </a:stretch>
          </a:blipFill>
        </p:spPr>
      </p:sp>
      <p:sp>
        <p:nvSpPr>
          <p:cNvPr name="Freeform 3" id="3"/>
          <p:cNvSpPr/>
          <p:nvPr/>
        </p:nvSpPr>
        <p:spPr>
          <a:xfrm flipH="false" flipV="false" rot="0">
            <a:off x="890421" y="3984932"/>
            <a:ext cx="7888099" cy="4030415"/>
          </a:xfrm>
          <a:custGeom>
            <a:avLst/>
            <a:gdLst/>
            <a:ahLst/>
            <a:cxnLst/>
            <a:rect r="r" b="b" t="t" l="l"/>
            <a:pathLst>
              <a:path h="4030415" w="7888099">
                <a:moveTo>
                  <a:pt x="0" y="0"/>
                </a:moveTo>
                <a:lnTo>
                  <a:pt x="7888099" y="0"/>
                </a:lnTo>
                <a:lnTo>
                  <a:pt x="7888099" y="4030415"/>
                </a:lnTo>
                <a:lnTo>
                  <a:pt x="0" y="4030415"/>
                </a:lnTo>
                <a:lnTo>
                  <a:pt x="0" y="0"/>
                </a:lnTo>
                <a:close/>
              </a:path>
            </a:pathLst>
          </a:custGeom>
          <a:blipFill>
            <a:blip r:embed="rId3"/>
            <a:stretch>
              <a:fillRect l="0" t="0" r="0" b="0"/>
            </a:stretch>
          </a:blipFill>
        </p:spPr>
      </p:sp>
      <p:sp>
        <p:nvSpPr>
          <p:cNvPr name="AutoShape 4" id="4"/>
          <p:cNvSpPr/>
          <p:nvPr/>
        </p:nvSpPr>
        <p:spPr>
          <a:xfrm>
            <a:off x="-2542309" y="6116629"/>
            <a:ext cx="3432730" cy="0"/>
          </a:xfrm>
          <a:prstGeom prst="line">
            <a:avLst/>
          </a:prstGeom>
          <a:ln cap="flat" w="38100">
            <a:solidFill>
              <a:srgbClr val="FF000A"/>
            </a:solidFill>
            <a:prstDash val="solid"/>
            <a:headEnd type="none" len="sm" w="sm"/>
            <a:tailEnd type="triangle" len="med" w="lg"/>
          </a:ln>
        </p:spPr>
      </p:sp>
      <p:grpSp>
        <p:nvGrpSpPr>
          <p:cNvPr name="Group 5" id="5"/>
          <p:cNvGrpSpPr/>
          <p:nvPr/>
        </p:nvGrpSpPr>
        <p:grpSpPr>
          <a:xfrm rot="0">
            <a:off x="890421" y="6254831"/>
            <a:ext cx="2381250" cy="306898"/>
            <a:chOff x="0" y="0"/>
            <a:chExt cx="627160" cy="80829"/>
          </a:xfrm>
        </p:grpSpPr>
        <p:sp>
          <p:nvSpPr>
            <p:cNvPr name="Freeform 6" id="6"/>
            <p:cNvSpPr/>
            <p:nvPr/>
          </p:nvSpPr>
          <p:spPr>
            <a:xfrm flipH="false" flipV="false" rot="0">
              <a:off x="0" y="0"/>
              <a:ext cx="627161" cy="80829"/>
            </a:xfrm>
            <a:custGeom>
              <a:avLst/>
              <a:gdLst/>
              <a:ahLst/>
              <a:cxnLst/>
              <a:rect r="r" b="b" t="t" l="l"/>
              <a:pathLst>
                <a:path h="80829" w="627161">
                  <a:moveTo>
                    <a:pt x="40415" y="0"/>
                  </a:moveTo>
                  <a:lnTo>
                    <a:pt x="586746" y="0"/>
                  </a:lnTo>
                  <a:cubicBezTo>
                    <a:pt x="597465" y="0"/>
                    <a:pt x="607744" y="4258"/>
                    <a:pt x="615323" y="11837"/>
                  </a:cubicBezTo>
                  <a:cubicBezTo>
                    <a:pt x="622903" y="19416"/>
                    <a:pt x="627161" y="29696"/>
                    <a:pt x="627161" y="40415"/>
                  </a:cubicBezTo>
                  <a:lnTo>
                    <a:pt x="627161" y="40415"/>
                  </a:lnTo>
                  <a:cubicBezTo>
                    <a:pt x="627161" y="51133"/>
                    <a:pt x="622903" y="61413"/>
                    <a:pt x="615323" y="68992"/>
                  </a:cubicBezTo>
                  <a:cubicBezTo>
                    <a:pt x="607744" y="76571"/>
                    <a:pt x="597465" y="80829"/>
                    <a:pt x="586746" y="80829"/>
                  </a:cubicBezTo>
                  <a:lnTo>
                    <a:pt x="40415" y="80829"/>
                  </a:lnTo>
                  <a:cubicBezTo>
                    <a:pt x="29696" y="80829"/>
                    <a:pt x="19416" y="76571"/>
                    <a:pt x="11837" y="68992"/>
                  </a:cubicBezTo>
                  <a:cubicBezTo>
                    <a:pt x="4258" y="61413"/>
                    <a:pt x="0" y="51133"/>
                    <a:pt x="0" y="40415"/>
                  </a:cubicBezTo>
                  <a:lnTo>
                    <a:pt x="0" y="40415"/>
                  </a:lnTo>
                  <a:cubicBezTo>
                    <a:pt x="0" y="29696"/>
                    <a:pt x="4258" y="19416"/>
                    <a:pt x="11837" y="11837"/>
                  </a:cubicBezTo>
                  <a:cubicBezTo>
                    <a:pt x="19416" y="4258"/>
                    <a:pt x="29696" y="0"/>
                    <a:pt x="40415" y="0"/>
                  </a:cubicBezTo>
                  <a:close/>
                </a:path>
              </a:pathLst>
            </a:custGeom>
            <a:ln w="38100" cap="sq">
              <a:solidFill>
                <a:srgbClr val="FF000A"/>
              </a:solidFill>
              <a:prstDash val="sysDot"/>
              <a:miter/>
            </a:ln>
          </p:spPr>
        </p:sp>
        <p:sp>
          <p:nvSpPr>
            <p:cNvPr name="TextBox 7" id="7"/>
            <p:cNvSpPr txBox="true"/>
            <p:nvPr/>
          </p:nvSpPr>
          <p:spPr>
            <a:xfrm>
              <a:off x="0" y="-47625"/>
              <a:ext cx="627160" cy="12845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817155" y="4269343"/>
            <a:ext cx="469028" cy="306898"/>
            <a:chOff x="0" y="0"/>
            <a:chExt cx="123530" cy="80829"/>
          </a:xfrm>
        </p:grpSpPr>
        <p:sp>
          <p:nvSpPr>
            <p:cNvPr name="Freeform 9" id="9"/>
            <p:cNvSpPr/>
            <p:nvPr/>
          </p:nvSpPr>
          <p:spPr>
            <a:xfrm flipH="false" flipV="false" rot="0">
              <a:off x="0" y="0"/>
              <a:ext cx="123530" cy="80829"/>
            </a:xfrm>
            <a:custGeom>
              <a:avLst/>
              <a:gdLst/>
              <a:ahLst/>
              <a:cxnLst/>
              <a:rect r="r" b="b" t="t" l="l"/>
              <a:pathLst>
                <a:path h="80829" w="123530">
                  <a:moveTo>
                    <a:pt x="40415" y="0"/>
                  </a:moveTo>
                  <a:lnTo>
                    <a:pt x="83115" y="0"/>
                  </a:lnTo>
                  <a:cubicBezTo>
                    <a:pt x="93834" y="0"/>
                    <a:pt x="104114" y="4258"/>
                    <a:pt x="111693" y="11837"/>
                  </a:cubicBezTo>
                  <a:cubicBezTo>
                    <a:pt x="119272" y="19416"/>
                    <a:pt x="123530" y="29696"/>
                    <a:pt x="123530" y="40415"/>
                  </a:cubicBezTo>
                  <a:lnTo>
                    <a:pt x="123530" y="40415"/>
                  </a:lnTo>
                  <a:cubicBezTo>
                    <a:pt x="123530" y="51133"/>
                    <a:pt x="119272" y="61413"/>
                    <a:pt x="111693" y="68992"/>
                  </a:cubicBezTo>
                  <a:cubicBezTo>
                    <a:pt x="104114" y="76571"/>
                    <a:pt x="93834" y="80829"/>
                    <a:pt x="83115" y="80829"/>
                  </a:cubicBezTo>
                  <a:lnTo>
                    <a:pt x="40415" y="80829"/>
                  </a:lnTo>
                  <a:cubicBezTo>
                    <a:pt x="29696" y="80829"/>
                    <a:pt x="19416" y="76571"/>
                    <a:pt x="11837" y="68992"/>
                  </a:cubicBezTo>
                  <a:cubicBezTo>
                    <a:pt x="4258" y="61413"/>
                    <a:pt x="0" y="51133"/>
                    <a:pt x="0" y="40415"/>
                  </a:cubicBezTo>
                  <a:lnTo>
                    <a:pt x="0" y="40415"/>
                  </a:lnTo>
                  <a:cubicBezTo>
                    <a:pt x="0" y="29696"/>
                    <a:pt x="4258" y="19416"/>
                    <a:pt x="11837" y="11837"/>
                  </a:cubicBezTo>
                  <a:cubicBezTo>
                    <a:pt x="19416" y="4258"/>
                    <a:pt x="29696" y="0"/>
                    <a:pt x="40415" y="0"/>
                  </a:cubicBezTo>
                  <a:close/>
                </a:path>
              </a:pathLst>
            </a:custGeom>
            <a:ln w="38100" cap="sq">
              <a:solidFill>
                <a:srgbClr val="FF000A"/>
              </a:solidFill>
              <a:prstDash val="sysDot"/>
              <a:miter/>
            </a:ln>
          </p:spPr>
        </p:sp>
        <p:sp>
          <p:nvSpPr>
            <p:cNvPr name="TextBox 10" id="10"/>
            <p:cNvSpPr txBox="true"/>
            <p:nvPr/>
          </p:nvSpPr>
          <p:spPr>
            <a:xfrm>
              <a:off x="0" y="-57150"/>
              <a:ext cx="123530" cy="137979"/>
            </a:xfrm>
            <a:prstGeom prst="rect">
              <a:avLst/>
            </a:prstGeom>
          </p:spPr>
          <p:txBody>
            <a:bodyPr anchor="ctr" rtlCol="false" tIns="50800" lIns="50800" bIns="50800" rIns="50800"/>
            <a:lstStyle/>
            <a:p>
              <a:pPr algn="ctr">
                <a:lnSpc>
                  <a:spcPts val="3499"/>
                </a:lnSpc>
                <a:spcBef>
                  <a:spcPct val="0"/>
                </a:spcBef>
              </a:pPr>
            </a:p>
          </p:txBody>
        </p:sp>
      </p:grpSp>
      <p:sp>
        <p:nvSpPr>
          <p:cNvPr name="Freeform 11" id="11"/>
          <p:cNvSpPr/>
          <p:nvPr/>
        </p:nvSpPr>
        <p:spPr>
          <a:xfrm flipH="false" flipV="false" rot="0">
            <a:off x="1114985" y="4422792"/>
            <a:ext cx="206710" cy="240360"/>
          </a:xfrm>
          <a:custGeom>
            <a:avLst/>
            <a:gdLst/>
            <a:ahLst/>
            <a:cxnLst/>
            <a:rect r="r" b="b" t="t" l="l"/>
            <a:pathLst>
              <a:path h="240360" w="206710">
                <a:moveTo>
                  <a:pt x="0" y="0"/>
                </a:moveTo>
                <a:lnTo>
                  <a:pt x="206709" y="0"/>
                </a:lnTo>
                <a:lnTo>
                  <a:pt x="206709" y="240360"/>
                </a:lnTo>
                <a:lnTo>
                  <a:pt x="0" y="2403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3064961" y="6351976"/>
            <a:ext cx="206710" cy="240360"/>
          </a:xfrm>
          <a:custGeom>
            <a:avLst/>
            <a:gdLst/>
            <a:ahLst/>
            <a:cxnLst/>
            <a:rect r="r" b="b" t="t" l="l"/>
            <a:pathLst>
              <a:path h="240360" w="206710">
                <a:moveTo>
                  <a:pt x="0" y="0"/>
                </a:moveTo>
                <a:lnTo>
                  <a:pt x="206710" y="0"/>
                </a:lnTo>
                <a:lnTo>
                  <a:pt x="206710" y="240360"/>
                </a:lnTo>
                <a:lnTo>
                  <a:pt x="0" y="2403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3" id="13"/>
          <p:cNvSpPr/>
          <p:nvPr/>
        </p:nvSpPr>
        <p:spPr>
          <a:xfrm flipV="true">
            <a:off x="3271671" y="4806684"/>
            <a:ext cx="6091161" cy="1601596"/>
          </a:xfrm>
          <a:prstGeom prst="line">
            <a:avLst/>
          </a:prstGeom>
          <a:ln cap="flat" w="38100">
            <a:solidFill>
              <a:srgbClr val="FF000A"/>
            </a:solidFill>
            <a:prstDash val="solid"/>
            <a:headEnd type="none" len="sm" w="sm"/>
            <a:tailEnd type="triangle" len="med" w="lg"/>
          </a:ln>
        </p:spPr>
      </p:sp>
      <p:grpSp>
        <p:nvGrpSpPr>
          <p:cNvPr name="Group 14" id="14"/>
          <p:cNvGrpSpPr/>
          <p:nvPr/>
        </p:nvGrpSpPr>
        <p:grpSpPr>
          <a:xfrm rot="0">
            <a:off x="9808162" y="6668528"/>
            <a:ext cx="2654425" cy="556318"/>
            <a:chOff x="0" y="0"/>
            <a:chExt cx="699108" cy="146520"/>
          </a:xfrm>
        </p:grpSpPr>
        <p:sp>
          <p:nvSpPr>
            <p:cNvPr name="Freeform 15" id="15"/>
            <p:cNvSpPr/>
            <p:nvPr/>
          </p:nvSpPr>
          <p:spPr>
            <a:xfrm flipH="false" flipV="false" rot="0">
              <a:off x="0" y="0"/>
              <a:ext cx="699108" cy="146520"/>
            </a:xfrm>
            <a:custGeom>
              <a:avLst/>
              <a:gdLst/>
              <a:ahLst/>
              <a:cxnLst/>
              <a:rect r="r" b="b" t="t" l="l"/>
              <a:pathLst>
                <a:path h="146520" w="699108">
                  <a:moveTo>
                    <a:pt x="49582" y="0"/>
                  </a:moveTo>
                  <a:lnTo>
                    <a:pt x="649525" y="0"/>
                  </a:lnTo>
                  <a:cubicBezTo>
                    <a:pt x="676909" y="0"/>
                    <a:pt x="699108" y="22199"/>
                    <a:pt x="699108" y="49582"/>
                  </a:cubicBezTo>
                  <a:lnTo>
                    <a:pt x="699108" y="96938"/>
                  </a:lnTo>
                  <a:cubicBezTo>
                    <a:pt x="699108" y="110088"/>
                    <a:pt x="693884" y="122699"/>
                    <a:pt x="684585" y="131998"/>
                  </a:cubicBezTo>
                  <a:cubicBezTo>
                    <a:pt x="675287" y="141296"/>
                    <a:pt x="662675" y="146520"/>
                    <a:pt x="649525" y="146520"/>
                  </a:cubicBezTo>
                  <a:lnTo>
                    <a:pt x="49582" y="146520"/>
                  </a:lnTo>
                  <a:cubicBezTo>
                    <a:pt x="22199" y="146520"/>
                    <a:pt x="0" y="124321"/>
                    <a:pt x="0" y="96938"/>
                  </a:cubicBezTo>
                  <a:lnTo>
                    <a:pt x="0" y="49582"/>
                  </a:lnTo>
                  <a:cubicBezTo>
                    <a:pt x="0" y="22199"/>
                    <a:pt x="22199" y="0"/>
                    <a:pt x="49582" y="0"/>
                  </a:cubicBezTo>
                  <a:close/>
                </a:path>
              </a:pathLst>
            </a:custGeom>
            <a:ln w="38100" cap="sq">
              <a:solidFill>
                <a:srgbClr val="FF000A"/>
              </a:solidFill>
              <a:prstDash val="sysDot"/>
              <a:miter/>
            </a:ln>
          </p:spPr>
        </p:sp>
        <p:sp>
          <p:nvSpPr>
            <p:cNvPr name="TextBox 16" id="16"/>
            <p:cNvSpPr txBox="true"/>
            <p:nvPr/>
          </p:nvSpPr>
          <p:spPr>
            <a:xfrm>
              <a:off x="0" y="-47625"/>
              <a:ext cx="699108" cy="194145"/>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4022549" y="7613432"/>
            <a:ext cx="801588" cy="295021"/>
            <a:chOff x="0" y="0"/>
            <a:chExt cx="211118" cy="77701"/>
          </a:xfrm>
        </p:grpSpPr>
        <p:sp>
          <p:nvSpPr>
            <p:cNvPr name="Freeform 18" id="18"/>
            <p:cNvSpPr/>
            <p:nvPr/>
          </p:nvSpPr>
          <p:spPr>
            <a:xfrm flipH="false" flipV="false" rot="0">
              <a:off x="0" y="0"/>
              <a:ext cx="211118" cy="77701"/>
            </a:xfrm>
            <a:custGeom>
              <a:avLst/>
              <a:gdLst/>
              <a:ahLst/>
              <a:cxnLst/>
              <a:rect r="r" b="b" t="t" l="l"/>
              <a:pathLst>
                <a:path h="77701" w="211118">
                  <a:moveTo>
                    <a:pt x="38850" y="0"/>
                  </a:moveTo>
                  <a:lnTo>
                    <a:pt x="172267" y="0"/>
                  </a:lnTo>
                  <a:cubicBezTo>
                    <a:pt x="193724" y="0"/>
                    <a:pt x="211118" y="17394"/>
                    <a:pt x="211118" y="38850"/>
                  </a:cubicBezTo>
                  <a:lnTo>
                    <a:pt x="211118" y="38850"/>
                  </a:lnTo>
                  <a:cubicBezTo>
                    <a:pt x="211118" y="60307"/>
                    <a:pt x="193724" y="77701"/>
                    <a:pt x="172267" y="77701"/>
                  </a:cubicBezTo>
                  <a:lnTo>
                    <a:pt x="38850" y="77701"/>
                  </a:lnTo>
                  <a:cubicBezTo>
                    <a:pt x="17394" y="77701"/>
                    <a:pt x="0" y="60307"/>
                    <a:pt x="0" y="38850"/>
                  </a:cubicBezTo>
                  <a:lnTo>
                    <a:pt x="0" y="38850"/>
                  </a:lnTo>
                  <a:cubicBezTo>
                    <a:pt x="0" y="17394"/>
                    <a:pt x="17394" y="0"/>
                    <a:pt x="38850" y="0"/>
                  </a:cubicBezTo>
                  <a:close/>
                </a:path>
              </a:pathLst>
            </a:custGeom>
            <a:ln w="38100" cap="sq">
              <a:solidFill>
                <a:srgbClr val="FF000A"/>
              </a:solidFill>
              <a:prstDash val="sysDot"/>
              <a:miter/>
            </a:ln>
          </p:spPr>
        </p:sp>
        <p:sp>
          <p:nvSpPr>
            <p:cNvPr name="TextBox 19" id="19"/>
            <p:cNvSpPr txBox="true"/>
            <p:nvPr/>
          </p:nvSpPr>
          <p:spPr>
            <a:xfrm>
              <a:off x="0" y="-47625"/>
              <a:ext cx="211118" cy="125326"/>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4617428" y="7774987"/>
            <a:ext cx="206710" cy="240360"/>
          </a:xfrm>
          <a:custGeom>
            <a:avLst/>
            <a:gdLst/>
            <a:ahLst/>
            <a:cxnLst/>
            <a:rect r="r" b="b" t="t" l="l"/>
            <a:pathLst>
              <a:path h="240360" w="206710">
                <a:moveTo>
                  <a:pt x="0" y="0"/>
                </a:moveTo>
                <a:lnTo>
                  <a:pt x="206709" y="0"/>
                </a:lnTo>
                <a:lnTo>
                  <a:pt x="206709" y="240360"/>
                </a:lnTo>
                <a:lnTo>
                  <a:pt x="0" y="2403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6503072" y="5451148"/>
            <a:ext cx="1512457" cy="1330962"/>
          </a:xfrm>
          <a:custGeom>
            <a:avLst/>
            <a:gdLst/>
            <a:ahLst/>
            <a:cxnLst/>
            <a:rect r="r" b="b" t="t" l="l"/>
            <a:pathLst>
              <a:path h="1330962" w="1512457">
                <a:moveTo>
                  <a:pt x="0" y="0"/>
                </a:moveTo>
                <a:lnTo>
                  <a:pt x="1512456" y="0"/>
                </a:lnTo>
                <a:lnTo>
                  <a:pt x="1512456" y="1330962"/>
                </a:lnTo>
                <a:lnTo>
                  <a:pt x="0" y="1330962"/>
                </a:lnTo>
                <a:lnTo>
                  <a:pt x="0" y="0"/>
                </a:lnTo>
                <a:close/>
              </a:path>
            </a:pathLst>
          </a:custGeom>
          <a:blipFill>
            <a:blip r:embed="rId6"/>
            <a:stretch>
              <a:fillRect l="0" t="0" r="0" b="0"/>
            </a:stretch>
          </a:blipFill>
        </p:spPr>
      </p:sp>
      <p:sp>
        <p:nvSpPr>
          <p:cNvPr name="AutoShape 22" id="22"/>
          <p:cNvSpPr/>
          <p:nvPr/>
        </p:nvSpPr>
        <p:spPr>
          <a:xfrm flipV="true">
            <a:off x="14792047" y="6170554"/>
            <a:ext cx="1778215" cy="1498524"/>
          </a:xfrm>
          <a:prstGeom prst="line">
            <a:avLst/>
          </a:prstGeom>
          <a:ln cap="flat" w="38100">
            <a:solidFill>
              <a:srgbClr val="FF000A"/>
            </a:solidFill>
            <a:prstDash val="solid"/>
            <a:headEnd type="none" len="sm" w="sm"/>
            <a:tailEnd type="triangle" len="med" w="lg"/>
          </a:ln>
        </p:spPr>
      </p:sp>
      <p:sp>
        <p:nvSpPr>
          <p:cNvPr name="TextBox 23" id="23"/>
          <p:cNvSpPr txBox="true"/>
          <p:nvPr/>
        </p:nvSpPr>
        <p:spPr>
          <a:xfrm rot="0">
            <a:off x="1028700" y="971550"/>
            <a:ext cx="16230600" cy="869950"/>
          </a:xfrm>
          <a:prstGeom prst="rect">
            <a:avLst/>
          </a:prstGeom>
        </p:spPr>
        <p:txBody>
          <a:bodyPr anchor="t" rtlCol="false" tIns="0" lIns="0" bIns="0" rIns="0">
            <a:spAutoFit/>
          </a:bodyPr>
          <a:lstStyle/>
          <a:p>
            <a:pPr algn="l" marL="539749" indent="-269875" lvl="1">
              <a:lnSpc>
                <a:spcPts val="3499"/>
              </a:lnSpc>
              <a:buFont typeface="Arial"/>
              <a:buChar char="•"/>
            </a:pPr>
            <a:r>
              <a:rPr lang="en-US" sz="2499" spc="-42">
                <a:solidFill>
                  <a:srgbClr val="203251"/>
                </a:solidFill>
                <a:latin typeface="Raleway"/>
                <a:ea typeface="Raleway"/>
                <a:cs typeface="Raleway"/>
                <a:sym typeface="Raleway"/>
              </a:rPr>
              <a:t>Yazılan kod dosyasını yerel depoya kaydetmek amacıyla </a:t>
            </a:r>
            <a:r>
              <a:rPr lang="en-US" b="true" sz="2499" spc="-42">
                <a:solidFill>
                  <a:srgbClr val="203251"/>
                </a:solidFill>
                <a:latin typeface="Raleway Bold"/>
                <a:ea typeface="Raleway Bold"/>
                <a:cs typeface="Raleway Bold"/>
                <a:sym typeface="Raleway Bold"/>
              </a:rPr>
              <a:t>File &gt; Save As</a:t>
            </a:r>
            <a:r>
              <a:rPr lang="en-US" sz="2499" spc="-42">
                <a:solidFill>
                  <a:srgbClr val="203251"/>
                </a:solidFill>
                <a:latin typeface="Raleway"/>
                <a:ea typeface="Raleway"/>
                <a:cs typeface="Raleway"/>
                <a:sym typeface="Raleway"/>
              </a:rPr>
              <a:t> menüsüne tıklayınız, dosya adını </a:t>
            </a:r>
            <a:r>
              <a:rPr lang="en-US" b="true" sz="2499" spc="-42">
                <a:solidFill>
                  <a:srgbClr val="203251"/>
                </a:solidFill>
                <a:latin typeface="Raleway Bold"/>
                <a:ea typeface="Raleway Bold"/>
                <a:cs typeface="Raleway Bold"/>
                <a:sym typeface="Raleway Bold"/>
              </a:rPr>
              <a:t>toplama_islemi </a:t>
            </a:r>
            <a:r>
              <a:rPr lang="en-US" sz="2499" spc="-42">
                <a:solidFill>
                  <a:srgbClr val="203251"/>
                </a:solidFill>
                <a:latin typeface="Raleway"/>
                <a:ea typeface="Raleway"/>
                <a:cs typeface="Raleway"/>
                <a:sym typeface="Raleway"/>
              </a:rPr>
              <a:t>şeklinde belirleyip</a:t>
            </a:r>
            <a:r>
              <a:rPr lang="en-US" b="true" sz="2499" spc="-42">
                <a:solidFill>
                  <a:srgbClr val="203251"/>
                </a:solidFill>
                <a:latin typeface="Raleway Bold"/>
                <a:ea typeface="Raleway Bold"/>
                <a:cs typeface="Raleway Bold"/>
                <a:sym typeface="Raleway Bold"/>
              </a:rPr>
              <a:t> .py </a:t>
            </a:r>
            <a:r>
              <a:rPr lang="en-US" sz="2499" spc="-42">
                <a:solidFill>
                  <a:srgbClr val="203251"/>
                </a:solidFill>
                <a:latin typeface="Raleway"/>
                <a:ea typeface="Raleway"/>
                <a:cs typeface="Raleway"/>
                <a:sym typeface="Raleway"/>
              </a:rPr>
              <a:t>(Python kaynak kodu) uzantısıyla kaydediniz.</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17459" y="4424952"/>
            <a:ext cx="9505274" cy="3386541"/>
          </a:xfrm>
          <a:custGeom>
            <a:avLst/>
            <a:gdLst/>
            <a:ahLst/>
            <a:cxnLst/>
            <a:rect r="r" b="b" t="t" l="l"/>
            <a:pathLst>
              <a:path h="3386541" w="9505274">
                <a:moveTo>
                  <a:pt x="0" y="0"/>
                </a:moveTo>
                <a:lnTo>
                  <a:pt x="9505275" y="0"/>
                </a:lnTo>
                <a:lnTo>
                  <a:pt x="9505275" y="3386541"/>
                </a:lnTo>
                <a:lnTo>
                  <a:pt x="0" y="3386541"/>
                </a:lnTo>
                <a:lnTo>
                  <a:pt x="0" y="0"/>
                </a:lnTo>
                <a:close/>
              </a:path>
            </a:pathLst>
          </a:custGeom>
          <a:blipFill>
            <a:blip r:embed="rId2"/>
            <a:stretch>
              <a:fillRect l="0" t="0" r="0" b="0"/>
            </a:stretch>
          </a:blipFill>
        </p:spPr>
      </p:sp>
      <p:sp>
        <p:nvSpPr>
          <p:cNvPr name="Freeform 3" id="3"/>
          <p:cNvSpPr/>
          <p:nvPr/>
        </p:nvSpPr>
        <p:spPr>
          <a:xfrm flipH="false" flipV="false" rot="0">
            <a:off x="11415942" y="4424952"/>
            <a:ext cx="5648122" cy="3047604"/>
          </a:xfrm>
          <a:custGeom>
            <a:avLst/>
            <a:gdLst/>
            <a:ahLst/>
            <a:cxnLst/>
            <a:rect r="r" b="b" t="t" l="l"/>
            <a:pathLst>
              <a:path h="3047604" w="5648122">
                <a:moveTo>
                  <a:pt x="0" y="0"/>
                </a:moveTo>
                <a:lnTo>
                  <a:pt x="5648122" y="0"/>
                </a:lnTo>
                <a:lnTo>
                  <a:pt x="5648122" y="3047605"/>
                </a:lnTo>
                <a:lnTo>
                  <a:pt x="0" y="3047605"/>
                </a:lnTo>
                <a:lnTo>
                  <a:pt x="0" y="0"/>
                </a:lnTo>
                <a:close/>
              </a:path>
            </a:pathLst>
          </a:custGeom>
          <a:blipFill>
            <a:blip r:embed="rId3"/>
            <a:stretch>
              <a:fillRect l="0" t="0" r="-72265" b="0"/>
            </a:stretch>
          </a:blipFill>
        </p:spPr>
      </p:sp>
      <p:sp>
        <p:nvSpPr>
          <p:cNvPr name="TextBox 4" id="4"/>
          <p:cNvSpPr txBox="true"/>
          <p:nvPr/>
        </p:nvSpPr>
        <p:spPr>
          <a:xfrm rot="0">
            <a:off x="1028700" y="971550"/>
            <a:ext cx="16230600" cy="2622550"/>
          </a:xfrm>
          <a:prstGeom prst="rect">
            <a:avLst/>
          </a:prstGeom>
        </p:spPr>
        <p:txBody>
          <a:bodyPr anchor="t" rtlCol="false" tIns="0" lIns="0" bIns="0" rIns="0">
            <a:spAutoFit/>
          </a:bodyPr>
          <a:lstStyle/>
          <a:p>
            <a:pPr algn="l">
              <a:lnSpc>
                <a:spcPts val="3499"/>
              </a:lnSpc>
            </a:pPr>
            <a:r>
              <a:rPr lang="en-US" sz="2499" spc="-42" b="true">
                <a:solidFill>
                  <a:srgbClr val="203251"/>
                </a:solidFill>
                <a:latin typeface="Raleway Semi-Bold"/>
                <a:ea typeface="Raleway Semi-Bold"/>
                <a:cs typeface="Raleway Semi-Bold"/>
                <a:sym typeface="Raleway Semi-Bold"/>
              </a:rPr>
              <a:t>3. Aşama: </a:t>
            </a:r>
            <a:r>
              <a:rPr lang="en-US" sz="2499" spc="-42">
                <a:solidFill>
                  <a:srgbClr val="203251"/>
                </a:solidFill>
                <a:latin typeface="Raleway"/>
                <a:ea typeface="Raleway"/>
                <a:cs typeface="Raleway"/>
                <a:sym typeface="Raleway"/>
              </a:rPr>
              <a:t>K</a:t>
            </a:r>
            <a:r>
              <a:rPr lang="en-US" sz="2499" spc="-42">
                <a:solidFill>
                  <a:srgbClr val="203251"/>
                </a:solidFill>
                <a:latin typeface="Raleway"/>
                <a:ea typeface="Raleway"/>
                <a:cs typeface="Raleway"/>
                <a:sym typeface="Raleway"/>
              </a:rPr>
              <a:t>odun Yorumlayıcı Tarafından Çalıştırılması</a:t>
            </a:r>
          </a:p>
          <a:p>
            <a:pPr algn="l" marL="539749" indent="-269875" lvl="1">
              <a:lnSpc>
                <a:spcPts val="3499"/>
              </a:lnSpc>
              <a:buFont typeface="Arial"/>
              <a:buChar char="•"/>
            </a:pPr>
            <a:r>
              <a:rPr lang="en-US" sz="2499" spc="-42">
                <a:solidFill>
                  <a:srgbClr val="203251"/>
                </a:solidFill>
                <a:latin typeface="Raleway"/>
                <a:ea typeface="Raleway"/>
                <a:cs typeface="Raleway"/>
                <a:sym typeface="Raleway"/>
              </a:rPr>
              <a:t>Düzen</a:t>
            </a:r>
            <a:r>
              <a:rPr lang="en-US" sz="2499" spc="-42">
                <a:solidFill>
                  <a:srgbClr val="203251"/>
                </a:solidFill>
                <a:latin typeface="Raleway"/>
                <a:ea typeface="Raleway"/>
                <a:cs typeface="Raleway"/>
                <a:sym typeface="Raleway"/>
              </a:rPr>
              <a:t>leyici penceresinde kayıt altına alınan kod blokunu çalıştırmak için üst menüde yer alan </a:t>
            </a:r>
            <a:r>
              <a:rPr lang="en-US" b="true" sz="2499" spc="-42">
                <a:solidFill>
                  <a:srgbClr val="203251"/>
                </a:solidFill>
                <a:latin typeface="Raleway Bold"/>
                <a:ea typeface="Raleway Bold"/>
                <a:cs typeface="Raleway Bold"/>
                <a:sym typeface="Raleway Bold"/>
              </a:rPr>
              <a:t>Run &gt; Run Module</a:t>
            </a:r>
            <a:r>
              <a:rPr lang="en-US" sz="2499" spc="-42">
                <a:solidFill>
                  <a:srgbClr val="203251"/>
                </a:solidFill>
                <a:latin typeface="Raleway"/>
                <a:ea typeface="Raleway"/>
                <a:cs typeface="Raleway"/>
                <a:sym typeface="Raleway"/>
              </a:rPr>
              <a:t> seçeneğine tıklayınız veya klavyeden doğrudan </a:t>
            </a:r>
            <a:r>
              <a:rPr lang="en-US" b="true" sz="2499" spc="-42">
                <a:solidFill>
                  <a:srgbClr val="203251"/>
                </a:solidFill>
                <a:latin typeface="Raleway Bold"/>
                <a:ea typeface="Raleway Bold"/>
                <a:cs typeface="Raleway Bold"/>
                <a:sym typeface="Raleway Bold"/>
              </a:rPr>
              <a:t>F5 </a:t>
            </a:r>
            <a:r>
              <a:rPr lang="en-US" sz="2499" spc="-42">
                <a:solidFill>
                  <a:srgbClr val="203251"/>
                </a:solidFill>
                <a:latin typeface="Raleway"/>
                <a:ea typeface="Raleway"/>
                <a:cs typeface="Raleway"/>
                <a:sym typeface="Raleway"/>
              </a:rPr>
              <a:t>fonksiyon tuşuna basınız.</a:t>
            </a:r>
          </a:p>
          <a:p>
            <a:pPr algn="l" marL="539749" indent="-269875" lvl="1">
              <a:lnSpc>
                <a:spcPts val="3499"/>
              </a:lnSpc>
              <a:buFont typeface="Arial"/>
              <a:buChar char="•"/>
            </a:pPr>
            <a:r>
              <a:rPr lang="en-US" sz="2499" spc="-42">
                <a:solidFill>
                  <a:srgbClr val="203251"/>
                </a:solidFill>
                <a:latin typeface="Raleway"/>
                <a:ea typeface="Raleway"/>
                <a:cs typeface="Raleway"/>
                <a:sym typeface="Raleway"/>
              </a:rPr>
              <a:t>Editör penceresinden ayrılan akış, otomatik olarak IDLE kabuk (shell) ekranına geçiş yapar ve ekranda hesaplama işleminin somut çıktısı olan </a:t>
            </a:r>
            <a:r>
              <a:rPr lang="en-US" b="true" sz="2499" spc="-42">
                <a:solidFill>
                  <a:srgbClr val="203251"/>
                </a:solidFill>
                <a:latin typeface="Raleway Bold"/>
                <a:ea typeface="Raleway Bold"/>
                <a:cs typeface="Raleway Bold"/>
                <a:sym typeface="Raleway Bold"/>
              </a:rPr>
              <a:t>40 </a:t>
            </a:r>
            <a:r>
              <a:rPr lang="en-US" sz="2499" spc="-42">
                <a:solidFill>
                  <a:srgbClr val="203251"/>
                </a:solidFill>
                <a:latin typeface="Raleway"/>
                <a:ea typeface="Raleway"/>
                <a:cs typeface="Raleway"/>
                <a:sym typeface="Raleway"/>
              </a:rPr>
              <a:t>değerini yansıtır. Böylece kâğıt üzerinde tasarlanan toplama algoritması, bilgisayar ortamında başarılı bir şekilde çalıştırılır.</a:t>
            </a:r>
          </a:p>
        </p:txBody>
      </p:sp>
      <p:grpSp>
        <p:nvGrpSpPr>
          <p:cNvPr name="Group 5" id="5"/>
          <p:cNvGrpSpPr/>
          <p:nvPr/>
        </p:nvGrpSpPr>
        <p:grpSpPr>
          <a:xfrm rot="0">
            <a:off x="3107092" y="5101127"/>
            <a:ext cx="2583176" cy="295021"/>
            <a:chOff x="0" y="0"/>
            <a:chExt cx="680343" cy="77701"/>
          </a:xfrm>
        </p:grpSpPr>
        <p:sp>
          <p:nvSpPr>
            <p:cNvPr name="Freeform 6" id="6"/>
            <p:cNvSpPr/>
            <p:nvPr/>
          </p:nvSpPr>
          <p:spPr>
            <a:xfrm flipH="false" flipV="false" rot="0">
              <a:off x="0" y="0"/>
              <a:ext cx="680343" cy="77701"/>
            </a:xfrm>
            <a:custGeom>
              <a:avLst/>
              <a:gdLst/>
              <a:ahLst/>
              <a:cxnLst/>
              <a:rect r="r" b="b" t="t" l="l"/>
              <a:pathLst>
                <a:path h="77701" w="680343">
                  <a:moveTo>
                    <a:pt x="38850" y="0"/>
                  </a:moveTo>
                  <a:lnTo>
                    <a:pt x="641492" y="0"/>
                  </a:lnTo>
                  <a:cubicBezTo>
                    <a:pt x="662949" y="0"/>
                    <a:pt x="680343" y="17394"/>
                    <a:pt x="680343" y="38850"/>
                  </a:cubicBezTo>
                  <a:lnTo>
                    <a:pt x="680343" y="38850"/>
                  </a:lnTo>
                  <a:cubicBezTo>
                    <a:pt x="680343" y="60307"/>
                    <a:pt x="662949" y="77701"/>
                    <a:pt x="641492" y="77701"/>
                  </a:cubicBezTo>
                  <a:lnTo>
                    <a:pt x="38850" y="77701"/>
                  </a:lnTo>
                  <a:cubicBezTo>
                    <a:pt x="17394" y="77701"/>
                    <a:pt x="0" y="60307"/>
                    <a:pt x="0" y="38850"/>
                  </a:cubicBezTo>
                  <a:lnTo>
                    <a:pt x="0" y="38850"/>
                  </a:lnTo>
                  <a:cubicBezTo>
                    <a:pt x="0" y="17394"/>
                    <a:pt x="17394" y="0"/>
                    <a:pt x="38850" y="0"/>
                  </a:cubicBezTo>
                  <a:close/>
                </a:path>
              </a:pathLst>
            </a:custGeom>
            <a:ln w="38100" cap="sq">
              <a:solidFill>
                <a:srgbClr val="FF000A"/>
              </a:solidFill>
              <a:prstDash val="sysDot"/>
              <a:miter/>
            </a:ln>
          </p:spPr>
        </p:sp>
        <p:sp>
          <p:nvSpPr>
            <p:cNvPr name="TextBox 7" id="7"/>
            <p:cNvSpPr txBox="true"/>
            <p:nvPr/>
          </p:nvSpPr>
          <p:spPr>
            <a:xfrm>
              <a:off x="0" y="-57150"/>
              <a:ext cx="680343" cy="134851"/>
            </a:xfrm>
            <a:prstGeom prst="rect">
              <a:avLst/>
            </a:prstGeom>
          </p:spPr>
          <p:txBody>
            <a:bodyPr anchor="ctr" rtlCol="false" tIns="50800" lIns="50800" bIns="50800" rIns="50800"/>
            <a:lstStyle/>
            <a:p>
              <a:pPr algn="ctr">
                <a:lnSpc>
                  <a:spcPts val="3499"/>
                </a:lnSpc>
                <a:spcBef>
                  <a:spcPct val="0"/>
                </a:spcBef>
              </a:pPr>
            </a:p>
          </p:txBody>
        </p:sp>
      </p:grpSp>
      <p:sp>
        <p:nvSpPr>
          <p:cNvPr name="Freeform 8" id="8"/>
          <p:cNvSpPr/>
          <p:nvPr/>
        </p:nvSpPr>
        <p:spPr>
          <a:xfrm flipH="false" flipV="false" rot="0">
            <a:off x="4615114" y="5201908"/>
            <a:ext cx="261120" cy="303628"/>
          </a:xfrm>
          <a:custGeom>
            <a:avLst/>
            <a:gdLst/>
            <a:ahLst/>
            <a:cxnLst/>
            <a:rect r="r" b="b" t="t" l="l"/>
            <a:pathLst>
              <a:path h="303628" w="261120">
                <a:moveTo>
                  <a:pt x="0" y="0"/>
                </a:moveTo>
                <a:lnTo>
                  <a:pt x="261120" y="0"/>
                </a:lnTo>
                <a:lnTo>
                  <a:pt x="261120" y="303628"/>
                </a:lnTo>
                <a:lnTo>
                  <a:pt x="0" y="303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a:off x="5653853" y="5151593"/>
            <a:ext cx="5762089" cy="27070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40.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2.1.6. Yazılım Geliştirme Ortamları</a:t>
            </a:r>
          </a:p>
        </p:txBody>
      </p:sp>
      <p:sp>
        <p:nvSpPr>
          <p:cNvPr name="TextBox 3" id="3"/>
          <p:cNvSpPr txBox="true"/>
          <p:nvPr/>
        </p:nvSpPr>
        <p:spPr>
          <a:xfrm rot="0">
            <a:off x="1028700" y="1756117"/>
            <a:ext cx="16230600" cy="26225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Python yerleşik etkileşimli kabuğu, programlama süreçlerinin temel mantığını kavramak ve küçük kod parçalarını anlık olarak test etmek açısından işlevsel bir yapı sunar. Ancak projelerin hacmi büyüdükçe, çoklu dosyaların yönetilmesi, yazım hatalarının anlık olarak denetlenmesi ve kod bloklarının kararlı bir hiyerarşiyle yapılandırılması için daha gelişmiş araçlara ihtiyaç duyulur.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İki Temel Kategori:</a:t>
            </a:r>
          </a:p>
        </p:txBody>
      </p:sp>
      <p:graphicFrame>
        <p:nvGraphicFramePr>
          <p:cNvPr name="Table 4" id="4"/>
          <p:cNvGraphicFramePr>
            <a:graphicFrameLocks noGrp="true"/>
          </p:cNvGraphicFramePr>
          <p:nvPr/>
        </p:nvGraphicFramePr>
        <p:xfrm>
          <a:off x="1028700" y="4540887"/>
          <a:ext cx="16230600" cy="4638675"/>
        </p:xfrm>
        <a:graphic>
          <a:graphicData uri="http://schemas.openxmlformats.org/drawingml/2006/table">
            <a:tbl>
              <a:tblPr/>
              <a:tblGrid>
                <a:gridCol w="3721475"/>
                <a:gridCol w="6792377"/>
                <a:gridCol w="5716747"/>
              </a:tblGrid>
              <a:tr h="668122">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Kategori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Tanım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163212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Kaynak Kod Editörleri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marL="431801" indent="-215900" lvl="1">
                        <a:lnSpc>
                          <a:spcPts val="2800"/>
                        </a:lnSpc>
                        <a:buFont typeface="Arial"/>
                        <a:buChar char="•"/>
                        <a:defRPr/>
                      </a:pPr>
                      <a:r>
                        <a:rPr lang="en-US" sz="2000">
                          <a:solidFill>
                            <a:srgbClr val="000000"/>
                          </a:solidFill>
                          <a:latin typeface="Raleway"/>
                          <a:ea typeface="Raleway"/>
                          <a:cs typeface="Raleway"/>
                          <a:sym typeface="Raleway"/>
                        </a:rPr>
                        <a:t>Temelde hafif ve çok hızlı çalışan metin editörleridir. </a:t>
                      </a:r>
                      <a:endParaRPr lang="en-US" sz="1100"/>
                    </a:p>
                    <a:p>
                      <a:pPr algn="l" marL="431801" indent="-215900" lvl="1">
                        <a:lnSpc>
                          <a:spcPts val="2800"/>
                        </a:lnSpc>
                        <a:buFont typeface="Arial"/>
                        <a:buChar char="•"/>
                      </a:pPr>
                      <a:r>
                        <a:rPr lang="en-US" sz="2000">
                          <a:solidFill>
                            <a:srgbClr val="000000"/>
                          </a:solidFill>
                          <a:latin typeface="Raleway"/>
                          <a:ea typeface="Raleway"/>
                          <a:cs typeface="Raleway"/>
                          <a:sym typeface="Raleway"/>
                        </a:rPr>
                        <a:t>Metin düzenleme ve söz dizimi kurallarına göre kod renklendirme yaparlar. </a:t>
                      </a:r>
                    </a:p>
                    <a:p>
                      <a:pPr algn="l" marL="431801" indent="-215900" lvl="1">
                        <a:lnSpc>
                          <a:spcPts val="2800"/>
                        </a:lnSpc>
                        <a:buFont typeface="Arial"/>
                        <a:buChar char="•"/>
                      </a:pPr>
                      <a:r>
                        <a:rPr lang="en-US" sz="2000">
                          <a:solidFill>
                            <a:srgbClr val="000000"/>
                          </a:solidFill>
                          <a:latin typeface="Raleway"/>
                          <a:ea typeface="Raleway"/>
                          <a:cs typeface="Raleway"/>
                          <a:sym typeface="Raleway"/>
                        </a:rPr>
                        <a:t>Haricî eklentilerle (plugin) güçlendirilebilirler.</a:t>
                      </a:r>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Visual Studio Code, Sublime Text, Atom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2338427">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Entegre Geliştirme Ortamları (IDE)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marL="431801" indent="-215900" lvl="1">
                        <a:lnSpc>
                          <a:spcPts val="2800"/>
                        </a:lnSpc>
                        <a:buFont typeface="Arial"/>
                        <a:buChar char="•"/>
                        <a:defRPr/>
                      </a:pPr>
                      <a:r>
                        <a:rPr lang="en-US" sz="2000">
                          <a:solidFill>
                            <a:srgbClr val="000000"/>
                          </a:solidFill>
                          <a:latin typeface="Raleway"/>
                          <a:ea typeface="Raleway"/>
                          <a:cs typeface="Raleway"/>
                          <a:sym typeface="Raleway"/>
                        </a:rPr>
                        <a:t>Yazılımın kodlanması, test edilmesi, hata ayıklanması ve derlenmesini içerir. </a:t>
                      </a:r>
                      <a:endParaRPr lang="en-US" sz="1100"/>
                    </a:p>
                    <a:p>
                      <a:pPr algn="l" marL="431801" indent="-215900" lvl="1">
                        <a:lnSpc>
                          <a:spcPts val="2800"/>
                        </a:lnSpc>
                        <a:buFont typeface="Arial"/>
                        <a:buChar char="•"/>
                      </a:pPr>
                      <a:r>
                        <a:rPr lang="en-US" sz="2000">
                          <a:solidFill>
                            <a:srgbClr val="000000"/>
                          </a:solidFill>
                          <a:latin typeface="Raleway"/>
                          <a:ea typeface="Raleway"/>
                          <a:cs typeface="Raleway"/>
                          <a:sym typeface="Raleway"/>
                        </a:rPr>
                        <a:t>Çok sayıda aracı tek çatı altında topladığı için daha kapsamlıdır. </a:t>
                      </a:r>
                    </a:p>
                    <a:p>
                      <a:pPr algn="l" marL="431801" indent="-215900" lvl="1">
                        <a:lnSpc>
                          <a:spcPts val="2800"/>
                        </a:lnSpc>
                        <a:buFont typeface="Arial"/>
                        <a:buChar char="•"/>
                      </a:pPr>
                      <a:r>
                        <a:rPr lang="en-US" sz="2000">
                          <a:solidFill>
                            <a:srgbClr val="000000"/>
                          </a:solidFill>
                          <a:latin typeface="Raleway"/>
                          <a:ea typeface="Raleway"/>
                          <a:cs typeface="Raleway"/>
                          <a:sym typeface="Raleway"/>
                        </a:rPr>
                        <a:t>Gerekli tüm araçlar ve kütüphane yöneticileri sisteme yerleşik gelir.</a:t>
                      </a:r>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PyCharm, Spyder, Visual Studio</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41.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Gelişmiş Kod Editörleri ve IDE'lerin Sunduğu Özellikler:</a:t>
            </a:r>
          </a:p>
        </p:txBody>
      </p:sp>
      <p:graphicFrame>
        <p:nvGraphicFramePr>
          <p:cNvPr name="Table 3" id="3"/>
          <p:cNvGraphicFramePr>
            <a:graphicFrameLocks noGrp="true"/>
          </p:cNvGraphicFramePr>
          <p:nvPr/>
        </p:nvGraphicFramePr>
        <p:xfrm>
          <a:off x="1028700" y="1673958"/>
          <a:ext cx="16230600" cy="5388610"/>
        </p:xfrm>
        <a:graphic>
          <a:graphicData uri="http://schemas.openxmlformats.org/drawingml/2006/table">
            <a:tbl>
              <a:tblPr/>
              <a:tblGrid>
                <a:gridCol w="3150047"/>
                <a:gridCol w="7363806"/>
                <a:gridCol w="5716747"/>
              </a:tblGrid>
              <a:tr h="667931">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Özellik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Faydası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92556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Akıllı Kod Tamamlama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Yazım esnasında komutların eksik kalan kısımlarını otomatik şekilde önerir.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Kodlama hızını artırır, hatalı komut yazılma riskini azaltır.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3789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Söz Dizimi Denetimi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Kodlama esnasında yapılan yazım hatalarını ve eksik bırakılan karakterleri (parantez, tırnak işareti vb.) anında tespit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Hataları çalıştırmadan önce görme imkânı sağlar.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861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Kod Renklendirme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Kaynak kod içerisindeki anahtar kelimeleri, değişkenleri, metinsel ifadeleri ve sayısal değerleri farklı renk tonlarıyla yansıtır.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Kodun okunabilirliğini ve takibini kolaylaştırır.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861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Proje ve Dosya Yönetimi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Birden fazla kaynak kod dosyasının, tasarım belgesinin ve sürüm notunun tek bir panel üzerinden düzenli ve hiyerarşik bir şekilde yönetilmesini sağlar.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Büyük projelerde düzeni korur.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Popüler Python Geliştirme Ortamları ve Kullanım Alanları</a:t>
            </a:r>
          </a:p>
        </p:txBody>
      </p:sp>
      <p:graphicFrame>
        <p:nvGraphicFramePr>
          <p:cNvPr name="Table 3" id="3"/>
          <p:cNvGraphicFramePr>
            <a:graphicFrameLocks noGrp="true"/>
          </p:cNvGraphicFramePr>
          <p:nvPr/>
        </p:nvGraphicFramePr>
        <p:xfrm>
          <a:off x="1028700" y="1673958"/>
          <a:ext cx="16230600" cy="5295900"/>
        </p:xfrm>
        <a:graphic>
          <a:graphicData uri="http://schemas.openxmlformats.org/drawingml/2006/table">
            <a:tbl>
              <a:tblPr/>
              <a:tblGrid>
                <a:gridCol w="3150047"/>
                <a:gridCol w="2825991"/>
                <a:gridCol w="10254562"/>
              </a:tblGrid>
              <a:tr h="667951">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Geliştirme Ortamı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Türü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Öne Çıkan Özellikleri ve Kullanım Alanları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92559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Visual Studio Code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Kaynak Kod Editörü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Hafif ve esnek yapısıyla öne çıkar. Resmî Python eklentileri vasıtasıyla IDE özelliklerini kazanarak kararlı bir çalışma alanı sunar.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9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PyCharm (Community)</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IDE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Python dili için özel tasarlanmıştır. Proje yönetimi, gelişmiş hata ayıklama ve kod analiz araçları bakımından yapılandırılmış bir mimariye sahiptir.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9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Jupyter Notebook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Web Tabanlı Ortam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Kodların bağımsız hücreler hâlinde adım adım çalıştırılmasına ve sonuçların anlık görselleştirilmesine imkân tanır. Özellikle veri analizinde tercih edilir.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9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Spyder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IDE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Bilimsel hesaplama araçlarını tek bir arayüzde toplar. Matematiksel modellemeler ve akademik araştırmalar için optimize edilmiştir.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9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Google Colab</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Bulut Tabanlı Ortam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Yerel kurulum gerektirmeyen tarayıcı tabanlı bir ortamdır. Uzak sunucular üzerinden Python kodları yazılmasına ve çalıştırılmasına olanak tanır.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4248571" cy="10572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Semi-Bold"/>
                <a:ea typeface="Raleway Semi-Bold"/>
                <a:cs typeface="Raleway Semi-Bold"/>
                <a:sym typeface="Raleway Semi-Bold"/>
              </a:rPr>
              <a:t>UYGULAMA 3: </a:t>
            </a:r>
            <a:r>
              <a:rPr lang="en-US" sz="3000" spc="-51">
                <a:solidFill>
                  <a:srgbClr val="203251"/>
                </a:solidFill>
                <a:latin typeface="Raleway"/>
                <a:ea typeface="Raleway"/>
                <a:cs typeface="Raleway"/>
                <a:sym typeface="Raleway"/>
              </a:rPr>
              <a:t>GELİŞMİŞ KAYNAK KOD EDİTÖRÜNÜN KURULUMU VE YAPILANDIRILMASI</a:t>
            </a:r>
          </a:p>
        </p:txBody>
      </p:sp>
      <p:sp>
        <p:nvSpPr>
          <p:cNvPr name="TextBox 4" id="4"/>
          <p:cNvSpPr txBox="true"/>
          <p:nvPr/>
        </p:nvSpPr>
        <p:spPr>
          <a:xfrm rot="0">
            <a:off x="1028700" y="2305055"/>
            <a:ext cx="13314268" cy="492633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Bold"/>
                <a:ea typeface="Raleway Bold"/>
                <a:cs typeface="Raleway Bold"/>
                <a:sym typeface="Raleway Bold"/>
              </a:rPr>
              <a:t>Uygulamanın Amacı:</a:t>
            </a:r>
            <a:r>
              <a:rPr lang="en-US" sz="2550" spc="-43">
                <a:solidFill>
                  <a:srgbClr val="203251"/>
                </a:solidFill>
                <a:latin typeface="Raleway"/>
                <a:ea typeface="Raleway"/>
                <a:cs typeface="Raleway"/>
                <a:sym typeface="Raleway"/>
              </a:rPr>
              <a:t> </a:t>
            </a:r>
            <a:r>
              <a:rPr lang="en-US" sz="2550" spc="-43">
                <a:solidFill>
                  <a:srgbClr val="203251"/>
                </a:solidFill>
                <a:latin typeface="Raleway"/>
                <a:ea typeface="Raleway"/>
                <a:cs typeface="Raleway"/>
                <a:sym typeface="Raleway"/>
              </a:rPr>
              <a:t>Visual Studio Code (VS Code) programını resmî kaynaklardan güvenle indirmek, bilgisayara kurmak ve Python çalışma alanını (Workspace) hazırlamak</a:t>
            </a:r>
          </a:p>
          <a:p>
            <a:pPr algn="l">
              <a:lnSpc>
                <a:spcPts val="3569"/>
              </a:lnSpc>
            </a:pPr>
          </a:p>
          <a:p>
            <a:pPr algn="l">
              <a:lnSpc>
                <a:spcPts val="3569"/>
              </a:lnSpc>
            </a:pPr>
            <a:r>
              <a:rPr lang="en-US" sz="2550" spc="-43" b="true">
                <a:solidFill>
                  <a:srgbClr val="203251"/>
                </a:solidFill>
                <a:latin typeface="Raleway Bold"/>
                <a:ea typeface="Raleway Bold"/>
                <a:cs typeface="Raleway Bold"/>
                <a:sym typeface="Raleway Bold"/>
              </a:rPr>
              <a:t>Problem Senaryosu:</a:t>
            </a:r>
            <a:r>
              <a:rPr lang="en-US" sz="2550" spc="-43">
                <a:solidFill>
                  <a:srgbClr val="203251"/>
                </a:solidFill>
                <a:latin typeface="Raleway"/>
                <a:ea typeface="Raleway"/>
                <a:cs typeface="Raleway"/>
                <a:sym typeface="Raleway"/>
              </a:rPr>
              <a:t> Yerel sisteme entegre edilen Python yorumlayıcısının, sarmal olarak yürütülen Kod-Asistan projesinin kaynak kodlarını ve tasarım belgelerini daha düzenli işleyebilmesi istenmektedir. IDLE kabuk arayüzü temel denemeler için işlevsel olsa da projenin hacmi büyüdükçe çoklu dosyaların yönetilmesi ve akıllı kod tamamlama özelliklerinin kullanılması bir ihtiyaç hâline gelmiştir. Bu ihtiyacı karşılamak üzere endüstri standartlarında bir geliştirme ortamının yerel bilgisayarda kurulması ve yapılandırılması gerekmektedir.</a:t>
            </a:r>
          </a:p>
          <a:p>
            <a:pPr algn="l">
              <a:lnSpc>
                <a:spcPts val="3569"/>
              </a:lnSpc>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275937" y="3472387"/>
            <a:ext cx="12265602" cy="6233550"/>
          </a:xfrm>
          <a:custGeom>
            <a:avLst/>
            <a:gdLst/>
            <a:ahLst/>
            <a:cxnLst/>
            <a:rect r="r" b="b" t="t" l="l"/>
            <a:pathLst>
              <a:path h="6233550" w="12265602">
                <a:moveTo>
                  <a:pt x="0" y="0"/>
                </a:moveTo>
                <a:lnTo>
                  <a:pt x="12265602" y="0"/>
                </a:lnTo>
                <a:lnTo>
                  <a:pt x="12265602" y="6233549"/>
                </a:lnTo>
                <a:lnTo>
                  <a:pt x="0" y="6233549"/>
                </a:lnTo>
                <a:lnTo>
                  <a:pt x="0" y="0"/>
                </a:lnTo>
                <a:close/>
              </a:path>
            </a:pathLst>
          </a:custGeom>
          <a:blipFill>
            <a:blip r:embed="rId2"/>
            <a:stretch>
              <a:fillRect l="0" t="0" r="0" b="-4286"/>
            </a:stretch>
          </a:blipFill>
        </p:spPr>
      </p:sp>
      <p:grpSp>
        <p:nvGrpSpPr>
          <p:cNvPr name="Group 3" id="3"/>
          <p:cNvGrpSpPr/>
          <p:nvPr/>
        </p:nvGrpSpPr>
        <p:grpSpPr>
          <a:xfrm rot="0">
            <a:off x="5897618" y="6781522"/>
            <a:ext cx="2929043" cy="537651"/>
            <a:chOff x="0" y="0"/>
            <a:chExt cx="822922" cy="151054"/>
          </a:xfrm>
        </p:grpSpPr>
        <p:sp>
          <p:nvSpPr>
            <p:cNvPr name="Freeform 4" id="4"/>
            <p:cNvSpPr/>
            <p:nvPr/>
          </p:nvSpPr>
          <p:spPr>
            <a:xfrm flipH="false" flipV="false" rot="0">
              <a:off x="0" y="0"/>
              <a:ext cx="822922" cy="151054"/>
            </a:xfrm>
            <a:custGeom>
              <a:avLst/>
              <a:gdLst/>
              <a:ahLst/>
              <a:cxnLst/>
              <a:rect r="r" b="b" t="t" l="l"/>
              <a:pathLst>
                <a:path h="151054" w="822922">
                  <a:moveTo>
                    <a:pt x="44934" y="0"/>
                  </a:moveTo>
                  <a:lnTo>
                    <a:pt x="777988" y="0"/>
                  </a:lnTo>
                  <a:cubicBezTo>
                    <a:pt x="789906" y="0"/>
                    <a:pt x="801335" y="4734"/>
                    <a:pt x="809761" y="13161"/>
                  </a:cubicBezTo>
                  <a:cubicBezTo>
                    <a:pt x="818188" y="21587"/>
                    <a:pt x="822922" y="33017"/>
                    <a:pt x="822922" y="44934"/>
                  </a:cubicBezTo>
                  <a:lnTo>
                    <a:pt x="822922" y="106121"/>
                  </a:lnTo>
                  <a:cubicBezTo>
                    <a:pt x="822922" y="130937"/>
                    <a:pt x="802805" y="151054"/>
                    <a:pt x="777988" y="151054"/>
                  </a:cubicBezTo>
                  <a:lnTo>
                    <a:pt x="44934" y="151054"/>
                  </a:lnTo>
                  <a:cubicBezTo>
                    <a:pt x="33017" y="151054"/>
                    <a:pt x="21587" y="146320"/>
                    <a:pt x="13161" y="137894"/>
                  </a:cubicBezTo>
                  <a:cubicBezTo>
                    <a:pt x="4734" y="129467"/>
                    <a:pt x="0" y="118038"/>
                    <a:pt x="0" y="106121"/>
                  </a:cubicBezTo>
                  <a:lnTo>
                    <a:pt x="0" y="44934"/>
                  </a:lnTo>
                  <a:cubicBezTo>
                    <a:pt x="0" y="20117"/>
                    <a:pt x="20117" y="0"/>
                    <a:pt x="44934" y="0"/>
                  </a:cubicBezTo>
                  <a:close/>
                </a:path>
              </a:pathLst>
            </a:custGeom>
            <a:ln w="38100" cap="sq">
              <a:solidFill>
                <a:srgbClr val="FF000A"/>
              </a:solidFill>
              <a:prstDash val="sysDot"/>
              <a:miter/>
            </a:ln>
          </p:spPr>
        </p:sp>
        <p:sp>
          <p:nvSpPr>
            <p:cNvPr name="TextBox 5" id="5"/>
            <p:cNvSpPr txBox="true"/>
            <p:nvPr/>
          </p:nvSpPr>
          <p:spPr>
            <a:xfrm>
              <a:off x="0" y="-47625"/>
              <a:ext cx="822922" cy="19867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464749" y="7050347"/>
            <a:ext cx="283524" cy="329679"/>
          </a:xfrm>
          <a:custGeom>
            <a:avLst/>
            <a:gdLst/>
            <a:ahLst/>
            <a:cxnLst/>
            <a:rect r="r" b="b" t="t" l="l"/>
            <a:pathLst>
              <a:path h="329679" w="283524">
                <a:moveTo>
                  <a:pt x="0" y="0"/>
                </a:moveTo>
                <a:lnTo>
                  <a:pt x="283523" y="0"/>
                </a:lnTo>
                <a:lnTo>
                  <a:pt x="283523" y="329679"/>
                </a:lnTo>
                <a:lnTo>
                  <a:pt x="0" y="3296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732659" y="4594956"/>
            <a:ext cx="4296907" cy="1994206"/>
          </a:xfrm>
          <a:custGeom>
            <a:avLst/>
            <a:gdLst/>
            <a:ahLst/>
            <a:cxnLst/>
            <a:rect r="r" b="b" t="t" l="l"/>
            <a:pathLst>
              <a:path h="1994206" w="4296907">
                <a:moveTo>
                  <a:pt x="0" y="0"/>
                </a:moveTo>
                <a:lnTo>
                  <a:pt x="4296908" y="0"/>
                </a:lnTo>
                <a:lnTo>
                  <a:pt x="4296908" y="1994205"/>
                </a:lnTo>
                <a:lnTo>
                  <a:pt x="0" y="1994205"/>
                </a:lnTo>
                <a:lnTo>
                  <a:pt x="0" y="0"/>
                </a:lnTo>
                <a:close/>
              </a:path>
            </a:pathLst>
          </a:custGeom>
          <a:blipFill>
            <a:blip r:embed="rId5"/>
            <a:stretch>
              <a:fillRect l="0" t="0" r="0" b="0"/>
            </a:stretch>
          </a:blipFill>
        </p:spPr>
      </p:sp>
      <p:sp>
        <p:nvSpPr>
          <p:cNvPr name="TextBox 8" id="8"/>
          <p:cNvSpPr txBox="true"/>
          <p:nvPr/>
        </p:nvSpPr>
        <p:spPr>
          <a:xfrm rot="0">
            <a:off x="1028700" y="962025"/>
            <a:ext cx="13314268"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a:t>
            </a:r>
            <a:r>
              <a:rPr lang="en-US" sz="2550" spc="-43" b="true">
                <a:solidFill>
                  <a:srgbClr val="203251"/>
                </a:solidFill>
                <a:latin typeface="Raleway Semi-Bold"/>
                <a:ea typeface="Raleway Semi-Bold"/>
                <a:cs typeface="Raleway Semi-Bold"/>
                <a:sym typeface="Raleway Semi-Bold"/>
              </a:rPr>
              <a:t>şamaları:</a:t>
            </a:r>
          </a:p>
        </p:txBody>
      </p:sp>
      <p:sp>
        <p:nvSpPr>
          <p:cNvPr name="TextBox 9" id="9"/>
          <p:cNvSpPr txBox="true"/>
          <p:nvPr/>
        </p:nvSpPr>
        <p:spPr>
          <a:xfrm rot="0">
            <a:off x="1028700" y="1653747"/>
            <a:ext cx="16230600" cy="151384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1. Aşama:</a:t>
            </a:r>
            <a:r>
              <a:rPr lang="en-US" sz="2550" spc="-43">
                <a:solidFill>
                  <a:srgbClr val="203251"/>
                </a:solidFill>
                <a:latin typeface="Raleway"/>
                <a:ea typeface="Raleway"/>
                <a:cs typeface="Raleway"/>
                <a:sym typeface="Raleway"/>
              </a:rPr>
              <a:t> Güvenli Dağıtım Kanalından İndirme</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İnternet tarayıcısı üzerinden Visual Studio Code platformunun resmî dağıtım </a:t>
            </a:r>
            <a:r>
              <a:rPr lang="en-US" sz="2000" spc="-34">
                <a:solidFill>
                  <a:srgbClr val="203251"/>
                </a:solidFill>
                <a:latin typeface="Raleway"/>
                <a:ea typeface="Raleway"/>
                <a:cs typeface="Raleway"/>
                <a:sym typeface="Raleway"/>
              </a:rPr>
              <a:t>kanalı olan</a:t>
            </a:r>
            <a:r>
              <a:rPr lang="en-US" b="true" sz="2000" spc="-34">
                <a:solidFill>
                  <a:srgbClr val="203251"/>
                </a:solidFill>
                <a:latin typeface="Raleway Bold"/>
                <a:ea typeface="Raleway Bold"/>
                <a:cs typeface="Raleway Bold"/>
                <a:sym typeface="Raleway Bold"/>
              </a:rPr>
              <a:t> </a:t>
            </a:r>
            <a:r>
              <a:rPr lang="en-US" b="true" sz="2000" spc="-34" u="sng">
                <a:solidFill>
                  <a:srgbClr val="203251"/>
                </a:solidFill>
                <a:latin typeface="Raleway Bold"/>
                <a:ea typeface="Raleway Bold"/>
                <a:cs typeface="Raleway Bold"/>
                <a:sym typeface="Raleway Bold"/>
                <a:hlinkClick r:id="rId6" tooltip="https://code.visualstudio.com"/>
              </a:rPr>
              <a:t>code.visualstudio.com</a:t>
            </a:r>
            <a:r>
              <a:rPr lang="en-US" sz="2000" spc="-34">
                <a:solidFill>
                  <a:srgbClr val="203251"/>
                </a:solidFill>
                <a:latin typeface="Raleway"/>
                <a:ea typeface="Raleway"/>
                <a:cs typeface="Raleway"/>
                <a:sym typeface="Raleway"/>
              </a:rPr>
              <a:t> adresine erişim sağlayınız.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Ana sayfada yer alan ve işletim sisteminin mimari yapısına uygun olarak sunulan indirme bağlantısına tıklayarak kurulum paketini yerel depoya aktarınız.</a:t>
            </a:r>
          </a:p>
        </p:txBody>
      </p:sp>
      <p:sp>
        <p:nvSpPr>
          <p:cNvPr name="AutoShape 10" id="10"/>
          <p:cNvSpPr/>
          <p:nvPr/>
        </p:nvSpPr>
        <p:spPr>
          <a:xfrm flipV="true">
            <a:off x="8826661" y="5592059"/>
            <a:ext cx="4905999" cy="1458288"/>
          </a:xfrm>
          <a:prstGeom prst="line">
            <a:avLst/>
          </a:prstGeom>
          <a:ln cap="flat" w="38100">
            <a:solidFill>
              <a:srgbClr val="FF000A"/>
            </a:solidFill>
            <a:prstDash val="solid"/>
            <a:headEnd type="none" len="sm" w="sm"/>
            <a:tailEnd type="triangle" len="med" w="lg"/>
          </a:ln>
        </p:spPr>
      </p:sp>
      <p:grpSp>
        <p:nvGrpSpPr>
          <p:cNvPr name="Group 11" id="11"/>
          <p:cNvGrpSpPr/>
          <p:nvPr/>
        </p:nvGrpSpPr>
        <p:grpSpPr>
          <a:xfrm rot="0">
            <a:off x="2170573" y="3760377"/>
            <a:ext cx="2103584" cy="448573"/>
            <a:chOff x="0" y="0"/>
            <a:chExt cx="591007" cy="126028"/>
          </a:xfrm>
        </p:grpSpPr>
        <p:sp>
          <p:nvSpPr>
            <p:cNvPr name="Freeform 12" id="12"/>
            <p:cNvSpPr/>
            <p:nvPr/>
          </p:nvSpPr>
          <p:spPr>
            <a:xfrm flipH="false" flipV="false" rot="0">
              <a:off x="0" y="0"/>
              <a:ext cx="591007" cy="126028"/>
            </a:xfrm>
            <a:custGeom>
              <a:avLst/>
              <a:gdLst/>
              <a:ahLst/>
              <a:cxnLst/>
              <a:rect r="r" b="b" t="t" l="l"/>
              <a:pathLst>
                <a:path h="126028" w="591007">
                  <a:moveTo>
                    <a:pt x="62566" y="0"/>
                  </a:moveTo>
                  <a:lnTo>
                    <a:pt x="528441" y="0"/>
                  </a:lnTo>
                  <a:cubicBezTo>
                    <a:pt x="545035" y="0"/>
                    <a:pt x="560949" y="6592"/>
                    <a:pt x="572682" y="18325"/>
                  </a:cubicBezTo>
                  <a:cubicBezTo>
                    <a:pt x="584416" y="30059"/>
                    <a:pt x="591007" y="45972"/>
                    <a:pt x="591007" y="62566"/>
                  </a:cubicBezTo>
                  <a:lnTo>
                    <a:pt x="591007" y="63462"/>
                  </a:lnTo>
                  <a:cubicBezTo>
                    <a:pt x="591007" y="80055"/>
                    <a:pt x="584416" y="95969"/>
                    <a:pt x="572682" y="107703"/>
                  </a:cubicBezTo>
                  <a:cubicBezTo>
                    <a:pt x="560949" y="119436"/>
                    <a:pt x="545035" y="126028"/>
                    <a:pt x="528441" y="126028"/>
                  </a:cubicBezTo>
                  <a:lnTo>
                    <a:pt x="62566" y="126028"/>
                  </a:lnTo>
                  <a:cubicBezTo>
                    <a:pt x="45972" y="126028"/>
                    <a:pt x="30059" y="119436"/>
                    <a:pt x="18325" y="107703"/>
                  </a:cubicBezTo>
                  <a:cubicBezTo>
                    <a:pt x="6592" y="95969"/>
                    <a:pt x="0" y="80055"/>
                    <a:pt x="0" y="63462"/>
                  </a:cubicBezTo>
                  <a:lnTo>
                    <a:pt x="0" y="62566"/>
                  </a:lnTo>
                  <a:cubicBezTo>
                    <a:pt x="0" y="45972"/>
                    <a:pt x="6592" y="30059"/>
                    <a:pt x="18325" y="18325"/>
                  </a:cubicBezTo>
                  <a:cubicBezTo>
                    <a:pt x="30059" y="6592"/>
                    <a:pt x="45972" y="0"/>
                    <a:pt x="62566" y="0"/>
                  </a:cubicBezTo>
                  <a:close/>
                </a:path>
              </a:pathLst>
            </a:custGeom>
            <a:ln w="38100" cap="sq">
              <a:solidFill>
                <a:srgbClr val="FF000A"/>
              </a:solidFill>
              <a:prstDash val="sysDot"/>
              <a:miter/>
            </a:ln>
          </p:spPr>
        </p:sp>
        <p:sp>
          <p:nvSpPr>
            <p:cNvPr name="TextBox 13" id="13"/>
            <p:cNvSpPr txBox="true"/>
            <p:nvPr/>
          </p:nvSpPr>
          <p:spPr>
            <a:xfrm>
              <a:off x="0" y="-47625"/>
              <a:ext cx="591007" cy="17365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492170" y="4085849"/>
            <a:ext cx="5501836" cy="4462245"/>
          </a:xfrm>
          <a:custGeom>
            <a:avLst/>
            <a:gdLst/>
            <a:ahLst/>
            <a:cxnLst/>
            <a:rect r="r" b="b" t="t" l="l"/>
            <a:pathLst>
              <a:path h="4462245" w="5501836">
                <a:moveTo>
                  <a:pt x="0" y="0"/>
                </a:moveTo>
                <a:lnTo>
                  <a:pt x="5501837" y="0"/>
                </a:lnTo>
                <a:lnTo>
                  <a:pt x="5501837" y="4462246"/>
                </a:lnTo>
                <a:lnTo>
                  <a:pt x="0" y="4462246"/>
                </a:lnTo>
                <a:lnTo>
                  <a:pt x="0" y="0"/>
                </a:lnTo>
                <a:close/>
              </a:path>
            </a:pathLst>
          </a:custGeom>
          <a:blipFill>
            <a:blip r:embed="rId2"/>
            <a:stretch>
              <a:fillRect l="0" t="0" r="0" b="0"/>
            </a:stretch>
          </a:blipFill>
        </p:spPr>
      </p:sp>
      <p:sp>
        <p:nvSpPr>
          <p:cNvPr name="Freeform 3" id="3"/>
          <p:cNvSpPr/>
          <p:nvPr/>
        </p:nvSpPr>
        <p:spPr>
          <a:xfrm flipH="false" flipV="false" rot="0">
            <a:off x="6424909" y="4085849"/>
            <a:ext cx="5487680" cy="4462245"/>
          </a:xfrm>
          <a:custGeom>
            <a:avLst/>
            <a:gdLst/>
            <a:ahLst/>
            <a:cxnLst/>
            <a:rect r="r" b="b" t="t" l="l"/>
            <a:pathLst>
              <a:path h="4462245" w="5487680">
                <a:moveTo>
                  <a:pt x="0" y="0"/>
                </a:moveTo>
                <a:lnTo>
                  <a:pt x="5487680" y="0"/>
                </a:lnTo>
                <a:lnTo>
                  <a:pt x="5487680" y="4462246"/>
                </a:lnTo>
                <a:lnTo>
                  <a:pt x="0" y="4462246"/>
                </a:lnTo>
                <a:lnTo>
                  <a:pt x="0" y="0"/>
                </a:lnTo>
                <a:close/>
              </a:path>
            </a:pathLst>
          </a:custGeom>
          <a:blipFill>
            <a:blip r:embed="rId3"/>
            <a:stretch>
              <a:fillRect l="0" t="0" r="0" b="0"/>
            </a:stretch>
          </a:blipFill>
        </p:spPr>
      </p:sp>
      <p:sp>
        <p:nvSpPr>
          <p:cNvPr name="Freeform 4" id="4"/>
          <p:cNvSpPr/>
          <p:nvPr/>
        </p:nvSpPr>
        <p:spPr>
          <a:xfrm flipH="false" flipV="false" rot="0">
            <a:off x="12341214" y="4080884"/>
            <a:ext cx="5454616" cy="4467211"/>
          </a:xfrm>
          <a:custGeom>
            <a:avLst/>
            <a:gdLst/>
            <a:ahLst/>
            <a:cxnLst/>
            <a:rect r="r" b="b" t="t" l="l"/>
            <a:pathLst>
              <a:path h="4467211" w="5454616">
                <a:moveTo>
                  <a:pt x="0" y="0"/>
                </a:moveTo>
                <a:lnTo>
                  <a:pt x="5454616" y="0"/>
                </a:lnTo>
                <a:lnTo>
                  <a:pt x="5454616" y="4467211"/>
                </a:lnTo>
                <a:lnTo>
                  <a:pt x="0" y="4467211"/>
                </a:lnTo>
                <a:lnTo>
                  <a:pt x="0" y="0"/>
                </a:lnTo>
                <a:close/>
              </a:path>
            </a:pathLst>
          </a:custGeom>
          <a:blipFill>
            <a:blip r:embed="rId4"/>
            <a:stretch>
              <a:fillRect l="0" t="0" r="0" b="0"/>
            </a:stretch>
          </a:blipFill>
        </p:spPr>
      </p:sp>
      <p:sp>
        <p:nvSpPr>
          <p:cNvPr name="TextBox 5" id="5"/>
          <p:cNvSpPr txBox="true"/>
          <p:nvPr/>
        </p:nvSpPr>
        <p:spPr>
          <a:xfrm rot="0">
            <a:off x="1028700" y="962025"/>
            <a:ext cx="16230600" cy="292354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2. Aşama:</a:t>
            </a:r>
            <a:r>
              <a:rPr lang="en-US" sz="2550" spc="-43">
                <a:solidFill>
                  <a:srgbClr val="203251"/>
                </a:solidFill>
                <a:latin typeface="Raleway"/>
                <a:ea typeface="Raleway"/>
                <a:cs typeface="Raleway"/>
                <a:sym typeface="Raleway"/>
              </a:rPr>
              <a:t> Kurulum ve Sistem Değişkenlerinin Yapılandırılması</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İndirilen çalıştırılabilir kurulum dosyasını ç</a:t>
            </a:r>
            <a:r>
              <a:rPr lang="en-US" sz="2000" spc="-34">
                <a:solidFill>
                  <a:srgbClr val="203251"/>
                </a:solidFill>
                <a:latin typeface="Raleway"/>
                <a:ea typeface="Raleway"/>
                <a:cs typeface="Raleway"/>
                <a:sym typeface="Raleway"/>
              </a:rPr>
              <a:t>alıştırarak yük</a:t>
            </a:r>
            <a:r>
              <a:rPr lang="en-US" sz="2000" spc="-34" u="none">
                <a:solidFill>
                  <a:srgbClr val="203251"/>
                </a:solidFill>
                <a:latin typeface="Raleway"/>
                <a:ea typeface="Raleway"/>
                <a:cs typeface="Raleway"/>
                <a:sym typeface="Raleway"/>
              </a:rPr>
              <a:t>l</a:t>
            </a:r>
            <a:r>
              <a:rPr lang="en-US" sz="2000" spc="-34">
                <a:solidFill>
                  <a:srgbClr val="203251"/>
                </a:solidFill>
                <a:latin typeface="Raleway"/>
                <a:ea typeface="Raleway"/>
                <a:cs typeface="Raleway"/>
                <a:sym typeface="Raleway"/>
              </a:rPr>
              <a:t>eme sihirbazını başlatınız. İlk aşamada ekrana gelen kullanıcı lisans sözleşmesi metnini inceleyerek, </a:t>
            </a:r>
            <a:r>
              <a:rPr lang="en-US" b="true" sz="2000" spc="-34">
                <a:solidFill>
                  <a:srgbClr val="203251"/>
                </a:solidFill>
                <a:latin typeface="Raleway Bold"/>
                <a:ea typeface="Raleway Bold"/>
                <a:cs typeface="Raleway Bold"/>
                <a:sym typeface="Raleway Bold"/>
              </a:rPr>
              <a:t>Anlaşmayı kabul ediyorum</a:t>
            </a:r>
            <a:r>
              <a:rPr lang="en-US" sz="2000" spc="-34">
                <a:solidFill>
                  <a:srgbClr val="203251"/>
                </a:solidFill>
                <a:latin typeface="Raleway"/>
                <a:ea typeface="Raleway"/>
                <a:cs typeface="Raleway"/>
                <a:sym typeface="Raleway"/>
              </a:rPr>
              <a:t> seçeneğini işaretleyip </a:t>
            </a:r>
            <a:r>
              <a:rPr lang="en-US" b="true" sz="2000" spc="-34">
                <a:solidFill>
                  <a:srgbClr val="203251"/>
                </a:solidFill>
                <a:latin typeface="Raleway Bold"/>
                <a:ea typeface="Raleway Bold"/>
                <a:cs typeface="Raleway Bold"/>
                <a:sym typeface="Raleway Bold"/>
              </a:rPr>
              <a:t>Sonraki </a:t>
            </a:r>
            <a:r>
              <a:rPr lang="en-US" sz="2000" spc="-34">
                <a:solidFill>
                  <a:srgbClr val="203251"/>
                </a:solidFill>
                <a:latin typeface="Raleway"/>
                <a:ea typeface="Raleway"/>
                <a:cs typeface="Raleway"/>
                <a:sym typeface="Raleway"/>
              </a:rPr>
              <a:t>butonuna tıklayınız.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Kurulum seçeneklerinin yer aldığı ekranda, işletim sisteminin komut satırı üzerinden editöre doğrudan erişebilmesini sağlayan </a:t>
            </a:r>
            <a:r>
              <a:rPr lang="en-US" b="true" sz="2000" spc="-34">
                <a:solidFill>
                  <a:srgbClr val="203251"/>
                </a:solidFill>
                <a:latin typeface="Raleway Bold"/>
                <a:ea typeface="Raleway Bold"/>
                <a:cs typeface="Raleway Bold"/>
                <a:sym typeface="Raleway Bold"/>
              </a:rPr>
              <a:t>PATH'e ekle (add to PATH) </a:t>
            </a:r>
            <a:r>
              <a:rPr lang="en-US" sz="2000" spc="-34">
                <a:solidFill>
                  <a:srgbClr val="203251"/>
                </a:solidFill>
                <a:latin typeface="Raleway"/>
                <a:ea typeface="Raleway"/>
                <a:cs typeface="Raleway"/>
                <a:sym typeface="Raleway"/>
              </a:rPr>
              <a:t>onay kutucuğunu işaretleyiniz. İsteğe bağlı olarak masaüstü simgesi oluşturma seçeneğini de seçerek </a:t>
            </a:r>
            <a:r>
              <a:rPr lang="en-US" b="true" sz="2000" spc="-34">
                <a:solidFill>
                  <a:srgbClr val="203251"/>
                </a:solidFill>
                <a:latin typeface="Raleway Bold"/>
                <a:ea typeface="Raleway Bold"/>
                <a:cs typeface="Raleway Bold"/>
                <a:sym typeface="Raleway Bold"/>
              </a:rPr>
              <a:t>Sonraki </a:t>
            </a:r>
            <a:r>
              <a:rPr lang="en-US" sz="2000" spc="-34">
                <a:solidFill>
                  <a:srgbClr val="203251"/>
                </a:solidFill>
                <a:latin typeface="Raleway"/>
                <a:ea typeface="Raleway"/>
                <a:cs typeface="Raleway"/>
                <a:sym typeface="Raleway"/>
              </a:rPr>
              <a:t>adımını takip ediniz.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Özet penceresinin ardından </a:t>
            </a:r>
            <a:r>
              <a:rPr lang="en-US" b="true" sz="2000" spc="-34">
                <a:solidFill>
                  <a:srgbClr val="203251"/>
                </a:solidFill>
                <a:latin typeface="Raleway Bold"/>
                <a:ea typeface="Raleway Bold"/>
                <a:cs typeface="Raleway Bold"/>
                <a:sym typeface="Raleway Bold"/>
              </a:rPr>
              <a:t>Kur </a:t>
            </a:r>
            <a:r>
              <a:rPr lang="en-US" sz="2000" spc="-34">
                <a:solidFill>
                  <a:srgbClr val="203251"/>
                </a:solidFill>
                <a:latin typeface="Raleway"/>
                <a:ea typeface="Raleway"/>
                <a:cs typeface="Raleway"/>
                <a:sym typeface="Raleway"/>
              </a:rPr>
              <a:t>butonuna tıklayarak dosyaların sisteme aktarılma sürecini başlatınız. Yükleme barının tamamlanmasıyla birlikte editörü ilk kullanıma hazır hâle getiriniz.</a:t>
            </a:r>
          </a:p>
        </p:txBody>
      </p:sp>
      <p:grpSp>
        <p:nvGrpSpPr>
          <p:cNvPr name="Group 6" id="6"/>
          <p:cNvGrpSpPr/>
          <p:nvPr/>
        </p:nvGrpSpPr>
        <p:grpSpPr>
          <a:xfrm rot="0">
            <a:off x="4382094" y="8255883"/>
            <a:ext cx="805498" cy="275549"/>
            <a:chOff x="0" y="0"/>
            <a:chExt cx="226307" cy="77416"/>
          </a:xfrm>
        </p:grpSpPr>
        <p:sp>
          <p:nvSpPr>
            <p:cNvPr name="Freeform 7" id="7"/>
            <p:cNvSpPr/>
            <p:nvPr/>
          </p:nvSpPr>
          <p:spPr>
            <a:xfrm flipH="false" flipV="false" rot="0">
              <a:off x="0" y="0"/>
              <a:ext cx="226307" cy="77416"/>
            </a:xfrm>
            <a:custGeom>
              <a:avLst/>
              <a:gdLst/>
              <a:ahLst/>
              <a:cxnLst/>
              <a:rect r="r" b="b" t="t" l="l"/>
              <a:pathLst>
                <a:path h="77416" w="226307">
                  <a:moveTo>
                    <a:pt x="38708" y="0"/>
                  </a:moveTo>
                  <a:lnTo>
                    <a:pt x="187599" y="0"/>
                  </a:lnTo>
                  <a:cubicBezTo>
                    <a:pt x="197865" y="0"/>
                    <a:pt x="207710" y="4078"/>
                    <a:pt x="214969" y="11337"/>
                  </a:cubicBezTo>
                  <a:cubicBezTo>
                    <a:pt x="222228" y="18597"/>
                    <a:pt x="226307" y="28442"/>
                    <a:pt x="226307" y="38708"/>
                  </a:cubicBezTo>
                  <a:lnTo>
                    <a:pt x="226307" y="38708"/>
                  </a:lnTo>
                  <a:cubicBezTo>
                    <a:pt x="226307" y="48974"/>
                    <a:pt x="222228" y="58820"/>
                    <a:pt x="214969" y="66079"/>
                  </a:cubicBezTo>
                  <a:cubicBezTo>
                    <a:pt x="207710" y="73338"/>
                    <a:pt x="197865" y="77416"/>
                    <a:pt x="187599" y="77416"/>
                  </a:cubicBezTo>
                  <a:lnTo>
                    <a:pt x="38708" y="77416"/>
                  </a:lnTo>
                  <a:cubicBezTo>
                    <a:pt x="28442" y="77416"/>
                    <a:pt x="18597" y="73338"/>
                    <a:pt x="11337" y="66079"/>
                  </a:cubicBezTo>
                  <a:cubicBezTo>
                    <a:pt x="4078" y="58820"/>
                    <a:pt x="0" y="48974"/>
                    <a:pt x="0" y="38708"/>
                  </a:cubicBezTo>
                  <a:lnTo>
                    <a:pt x="0" y="38708"/>
                  </a:lnTo>
                  <a:cubicBezTo>
                    <a:pt x="0" y="28442"/>
                    <a:pt x="4078" y="18597"/>
                    <a:pt x="11337" y="11337"/>
                  </a:cubicBezTo>
                  <a:cubicBezTo>
                    <a:pt x="18597" y="4078"/>
                    <a:pt x="28442" y="0"/>
                    <a:pt x="38708" y="0"/>
                  </a:cubicBezTo>
                  <a:close/>
                </a:path>
              </a:pathLst>
            </a:custGeom>
            <a:ln w="38100" cap="sq">
              <a:solidFill>
                <a:srgbClr val="FF000A"/>
              </a:solidFill>
              <a:prstDash val="sysDot"/>
              <a:miter/>
            </a:ln>
          </p:spPr>
        </p:sp>
        <p:sp>
          <p:nvSpPr>
            <p:cNvPr name="TextBox 8" id="8"/>
            <p:cNvSpPr txBox="true"/>
            <p:nvPr/>
          </p:nvSpPr>
          <p:spPr>
            <a:xfrm>
              <a:off x="0" y="-47625"/>
              <a:ext cx="226307" cy="125041"/>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904068" y="8366593"/>
            <a:ext cx="283524" cy="329679"/>
          </a:xfrm>
          <a:custGeom>
            <a:avLst/>
            <a:gdLst/>
            <a:ahLst/>
            <a:cxnLst/>
            <a:rect r="r" b="b" t="t" l="l"/>
            <a:pathLst>
              <a:path h="329679" w="283524">
                <a:moveTo>
                  <a:pt x="0" y="0"/>
                </a:moveTo>
                <a:lnTo>
                  <a:pt x="283524" y="0"/>
                </a:lnTo>
                <a:lnTo>
                  <a:pt x="283524" y="329678"/>
                </a:lnTo>
                <a:lnTo>
                  <a:pt x="0" y="3296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354301" y="8255883"/>
            <a:ext cx="805498" cy="275549"/>
            <a:chOff x="0" y="0"/>
            <a:chExt cx="226307" cy="77416"/>
          </a:xfrm>
        </p:grpSpPr>
        <p:sp>
          <p:nvSpPr>
            <p:cNvPr name="Freeform 11" id="11"/>
            <p:cNvSpPr/>
            <p:nvPr/>
          </p:nvSpPr>
          <p:spPr>
            <a:xfrm flipH="false" flipV="false" rot="0">
              <a:off x="0" y="0"/>
              <a:ext cx="226307" cy="77416"/>
            </a:xfrm>
            <a:custGeom>
              <a:avLst/>
              <a:gdLst/>
              <a:ahLst/>
              <a:cxnLst/>
              <a:rect r="r" b="b" t="t" l="l"/>
              <a:pathLst>
                <a:path h="77416" w="226307">
                  <a:moveTo>
                    <a:pt x="38708" y="0"/>
                  </a:moveTo>
                  <a:lnTo>
                    <a:pt x="187599" y="0"/>
                  </a:lnTo>
                  <a:cubicBezTo>
                    <a:pt x="197865" y="0"/>
                    <a:pt x="207710" y="4078"/>
                    <a:pt x="214969" y="11337"/>
                  </a:cubicBezTo>
                  <a:cubicBezTo>
                    <a:pt x="222228" y="18597"/>
                    <a:pt x="226307" y="28442"/>
                    <a:pt x="226307" y="38708"/>
                  </a:cubicBezTo>
                  <a:lnTo>
                    <a:pt x="226307" y="38708"/>
                  </a:lnTo>
                  <a:cubicBezTo>
                    <a:pt x="226307" y="48974"/>
                    <a:pt x="222228" y="58820"/>
                    <a:pt x="214969" y="66079"/>
                  </a:cubicBezTo>
                  <a:cubicBezTo>
                    <a:pt x="207710" y="73338"/>
                    <a:pt x="197865" y="77416"/>
                    <a:pt x="187599" y="77416"/>
                  </a:cubicBezTo>
                  <a:lnTo>
                    <a:pt x="38708" y="77416"/>
                  </a:lnTo>
                  <a:cubicBezTo>
                    <a:pt x="28442" y="77416"/>
                    <a:pt x="18597" y="73338"/>
                    <a:pt x="11337" y="66079"/>
                  </a:cubicBezTo>
                  <a:cubicBezTo>
                    <a:pt x="4078" y="58820"/>
                    <a:pt x="0" y="48974"/>
                    <a:pt x="0" y="38708"/>
                  </a:cubicBezTo>
                  <a:lnTo>
                    <a:pt x="0" y="38708"/>
                  </a:lnTo>
                  <a:cubicBezTo>
                    <a:pt x="0" y="28442"/>
                    <a:pt x="4078" y="18597"/>
                    <a:pt x="11337" y="11337"/>
                  </a:cubicBezTo>
                  <a:cubicBezTo>
                    <a:pt x="18597" y="4078"/>
                    <a:pt x="28442" y="0"/>
                    <a:pt x="38708" y="0"/>
                  </a:cubicBezTo>
                  <a:close/>
                </a:path>
              </a:pathLst>
            </a:custGeom>
            <a:ln w="38100" cap="sq">
              <a:solidFill>
                <a:srgbClr val="FF000A"/>
              </a:solidFill>
              <a:prstDash val="sysDot"/>
              <a:miter/>
            </a:ln>
          </p:spPr>
        </p:sp>
        <p:sp>
          <p:nvSpPr>
            <p:cNvPr name="TextBox 12" id="12"/>
            <p:cNvSpPr txBox="true"/>
            <p:nvPr/>
          </p:nvSpPr>
          <p:spPr>
            <a:xfrm>
              <a:off x="0" y="-47625"/>
              <a:ext cx="226307" cy="125041"/>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876275" y="8366593"/>
            <a:ext cx="283524" cy="329679"/>
          </a:xfrm>
          <a:custGeom>
            <a:avLst/>
            <a:gdLst/>
            <a:ahLst/>
            <a:cxnLst/>
            <a:rect r="r" b="b" t="t" l="l"/>
            <a:pathLst>
              <a:path h="329679" w="283524">
                <a:moveTo>
                  <a:pt x="0" y="0"/>
                </a:moveTo>
                <a:lnTo>
                  <a:pt x="283523" y="0"/>
                </a:lnTo>
                <a:lnTo>
                  <a:pt x="283523" y="329678"/>
                </a:lnTo>
                <a:lnTo>
                  <a:pt x="0" y="3296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6222073" y="8220572"/>
            <a:ext cx="805498" cy="275549"/>
            <a:chOff x="0" y="0"/>
            <a:chExt cx="226307" cy="77416"/>
          </a:xfrm>
        </p:grpSpPr>
        <p:sp>
          <p:nvSpPr>
            <p:cNvPr name="Freeform 15" id="15"/>
            <p:cNvSpPr/>
            <p:nvPr/>
          </p:nvSpPr>
          <p:spPr>
            <a:xfrm flipH="false" flipV="false" rot="0">
              <a:off x="0" y="0"/>
              <a:ext cx="226307" cy="77416"/>
            </a:xfrm>
            <a:custGeom>
              <a:avLst/>
              <a:gdLst/>
              <a:ahLst/>
              <a:cxnLst/>
              <a:rect r="r" b="b" t="t" l="l"/>
              <a:pathLst>
                <a:path h="77416" w="226307">
                  <a:moveTo>
                    <a:pt x="38708" y="0"/>
                  </a:moveTo>
                  <a:lnTo>
                    <a:pt x="187599" y="0"/>
                  </a:lnTo>
                  <a:cubicBezTo>
                    <a:pt x="197865" y="0"/>
                    <a:pt x="207710" y="4078"/>
                    <a:pt x="214969" y="11337"/>
                  </a:cubicBezTo>
                  <a:cubicBezTo>
                    <a:pt x="222228" y="18597"/>
                    <a:pt x="226307" y="28442"/>
                    <a:pt x="226307" y="38708"/>
                  </a:cubicBezTo>
                  <a:lnTo>
                    <a:pt x="226307" y="38708"/>
                  </a:lnTo>
                  <a:cubicBezTo>
                    <a:pt x="226307" y="48974"/>
                    <a:pt x="222228" y="58820"/>
                    <a:pt x="214969" y="66079"/>
                  </a:cubicBezTo>
                  <a:cubicBezTo>
                    <a:pt x="207710" y="73338"/>
                    <a:pt x="197865" y="77416"/>
                    <a:pt x="187599" y="77416"/>
                  </a:cubicBezTo>
                  <a:lnTo>
                    <a:pt x="38708" y="77416"/>
                  </a:lnTo>
                  <a:cubicBezTo>
                    <a:pt x="28442" y="77416"/>
                    <a:pt x="18597" y="73338"/>
                    <a:pt x="11337" y="66079"/>
                  </a:cubicBezTo>
                  <a:cubicBezTo>
                    <a:pt x="4078" y="58820"/>
                    <a:pt x="0" y="48974"/>
                    <a:pt x="0" y="38708"/>
                  </a:cubicBezTo>
                  <a:lnTo>
                    <a:pt x="0" y="38708"/>
                  </a:lnTo>
                  <a:cubicBezTo>
                    <a:pt x="0" y="28442"/>
                    <a:pt x="4078" y="18597"/>
                    <a:pt x="11337" y="11337"/>
                  </a:cubicBezTo>
                  <a:cubicBezTo>
                    <a:pt x="18597" y="4078"/>
                    <a:pt x="28442" y="0"/>
                    <a:pt x="38708" y="0"/>
                  </a:cubicBezTo>
                  <a:close/>
                </a:path>
              </a:pathLst>
            </a:custGeom>
            <a:ln w="38100" cap="sq">
              <a:solidFill>
                <a:srgbClr val="FF000A"/>
              </a:solidFill>
              <a:prstDash val="sysDot"/>
              <a:miter/>
            </a:ln>
          </p:spPr>
        </p:sp>
        <p:sp>
          <p:nvSpPr>
            <p:cNvPr name="TextBox 16" id="16"/>
            <p:cNvSpPr txBox="true"/>
            <p:nvPr/>
          </p:nvSpPr>
          <p:spPr>
            <a:xfrm>
              <a:off x="0" y="-47625"/>
              <a:ext cx="226307" cy="125041"/>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16744047" y="8331282"/>
            <a:ext cx="283524" cy="329679"/>
          </a:xfrm>
          <a:custGeom>
            <a:avLst/>
            <a:gdLst/>
            <a:ahLst/>
            <a:cxnLst/>
            <a:rect r="r" b="b" t="t" l="l"/>
            <a:pathLst>
              <a:path h="329679" w="283524">
                <a:moveTo>
                  <a:pt x="0" y="0"/>
                </a:moveTo>
                <a:lnTo>
                  <a:pt x="283524" y="0"/>
                </a:lnTo>
                <a:lnTo>
                  <a:pt x="283524" y="329679"/>
                </a:lnTo>
                <a:lnTo>
                  <a:pt x="0" y="3296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8" id="18"/>
          <p:cNvSpPr/>
          <p:nvPr/>
        </p:nvSpPr>
        <p:spPr>
          <a:xfrm flipV="true">
            <a:off x="5994007" y="6316972"/>
            <a:ext cx="430902" cy="0"/>
          </a:xfrm>
          <a:prstGeom prst="line">
            <a:avLst/>
          </a:prstGeom>
          <a:ln cap="flat" w="38100">
            <a:solidFill>
              <a:srgbClr val="FF000A"/>
            </a:solidFill>
            <a:prstDash val="solid"/>
            <a:headEnd type="none" len="sm" w="sm"/>
            <a:tailEnd type="triangle" len="med" w="lg"/>
          </a:ln>
        </p:spPr>
      </p:sp>
      <p:sp>
        <p:nvSpPr>
          <p:cNvPr name="AutoShape 19" id="19"/>
          <p:cNvSpPr/>
          <p:nvPr/>
        </p:nvSpPr>
        <p:spPr>
          <a:xfrm flipV="true">
            <a:off x="11912589" y="6314489"/>
            <a:ext cx="428625" cy="2483"/>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2106825" y="2533509"/>
            <a:ext cx="14074350" cy="7459406"/>
          </a:xfrm>
          <a:custGeom>
            <a:avLst/>
            <a:gdLst/>
            <a:ahLst/>
            <a:cxnLst/>
            <a:rect r="r" b="b" t="t" l="l"/>
            <a:pathLst>
              <a:path h="7459406" w="14074350">
                <a:moveTo>
                  <a:pt x="0" y="0"/>
                </a:moveTo>
                <a:lnTo>
                  <a:pt x="14074350" y="0"/>
                </a:lnTo>
                <a:lnTo>
                  <a:pt x="14074350" y="7459406"/>
                </a:lnTo>
                <a:lnTo>
                  <a:pt x="0" y="7459406"/>
                </a:lnTo>
                <a:lnTo>
                  <a:pt x="0" y="0"/>
                </a:lnTo>
                <a:close/>
              </a:path>
            </a:pathLst>
          </a:custGeom>
          <a:blipFill>
            <a:blip r:embed="rId2"/>
            <a:stretch>
              <a:fillRect l="0" t="0" r="0" b="0"/>
            </a:stretch>
          </a:blipFill>
        </p:spPr>
      </p:sp>
      <p:sp>
        <p:nvSpPr>
          <p:cNvPr name="TextBox 3" id="3"/>
          <p:cNvSpPr txBox="true"/>
          <p:nvPr/>
        </p:nvSpPr>
        <p:spPr>
          <a:xfrm rot="0">
            <a:off x="1028700" y="962025"/>
            <a:ext cx="16230600" cy="11614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3. Aşama:</a:t>
            </a:r>
            <a:r>
              <a:rPr lang="en-US" sz="2550" spc="-43">
                <a:solidFill>
                  <a:srgbClr val="203251"/>
                </a:solidFill>
                <a:latin typeface="Raleway"/>
                <a:ea typeface="Raleway"/>
                <a:cs typeface="Raleway"/>
                <a:sym typeface="Raleway"/>
              </a:rPr>
              <a:t> İlk Çalışma Alanının Oluşturulması</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P</a:t>
            </a:r>
            <a:r>
              <a:rPr lang="en-US" sz="2000" spc="-34">
                <a:solidFill>
                  <a:srgbClr val="203251"/>
                </a:solidFill>
                <a:latin typeface="Raleway"/>
                <a:ea typeface="Raleway"/>
                <a:cs typeface="Raleway"/>
                <a:sym typeface="Raleway"/>
              </a:rPr>
              <a:t>rogram ilk aç</a:t>
            </a:r>
            <a:r>
              <a:rPr lang="en-US" sz="2000" spc="-34">
                <a:solidFill>
                  <a:srgbClr val="203251"/>
                </a:solidFill>
                <a:latin typeface="Raleway"/>
                <a:ea typeface="Raleway"/>
                <a:cs typeface="Raleway"/>
                <a:sym typeface="Raleway"/>
              </a:rPr>
              <a:t>ı</a:t>
            </a:r>
            <a:r>
              <a:rPr lang="en-US" sz="2000" spc="-34" u="none">
                <a:solidFill>
                  <a:srgbClr val="203251"/>
                </a:solidFill>
                <a:latin typeface="Raleway"/>
                <a:ea typeface="Raleway"/>
                <a:cs typeface="Raleway"/>
                <a:sym typeface="Raleway"/>
              </a:rPr>
              <a:t>ld</a:t>
            </a:r>
            <a:r>
              <a:rPr lang="en-US" sz="2000" spc="-34">
                <a:solidFill>
                  <a:srgbClr val="203251"/>
                </a:solidFill>
                <a:latin typeface="Raleway"/>
                <a:ea typeface="Raleway"/>
                <a:cs typeface="Raleway"/>
                <a:sym typeface="Raleway"/>
              </a:rPr>
              <a:t>ığında kullanıcıyı karşılayan sade arayüzün sol tarafında dikey bir araç paneli yer alır. Bu panel; dosya gezgini, arama modülü, kaynak kontrolü ve eklentiler pencerelerine hızlı erişim sağlar.</a:t>
            </a:r>
          </a:p>
        </p:txBody>
      </p:sp>
      <p:grpSp>
        <p:nvGrpSpPr>
          <p:cNvPr name="Group 4" id="4"/>
          <p:cNvGrpSpPr/>
          <p:nvPr/>
        </p:nvGrpSpPr>
        <p:grpSpPr>
          <a:xfrm rot="0">
            <a:off x="2106825" y="2847295"/>
            <a:ext cx="444845" cy="2497231"/>
            <a:chOff x="0" y="0"/>
            <a:chExt cx="111261" cy="624586"/>
          </a:xfrm>
        </p:grpSpPr>
        <p:sp>
          <p:nvSpPr>
            <p:cNvPr name="Freeform 5" id="5"/>
            <p:cNvSpPr/>
            <p:nvPr/>
          </p:nvSpPr>
          <p:spPr>
            <a:xfrm flipH="false" flipV="false" rot="0">
              <a:off x="0" y="0"/>
              <a:ext cx="111261" cy="624586"/>
            </a:xfrm>
            <a:custGeom>
              <a:avLst/>
              <a:gdLst/>
              <a:ahLst/>
              <a:cxnLst/>
              <a:rect r="r" b="b" t="t" l="l"/>
              <a:pathLst>
                <a:path h="624586" w="111261">
                  <a:moveTo>
                    <a:pt x="55630" y="0"/>
                  </a:moveTo>
                  <a:lnTo>
                    <a:pt x="55630" y="0"/>
                  </a:lnTo>
                  <a:cubicBezTo>
                    <a:pt x="70384" y="0"/>
                    <a:pt x="84534" y="5861"/>
                    <a:pt x="94967" y="16294"/>
                  </a:cubicBezTo>
                  <a:cubicBezTo>
                    <a:pt x="105400" y="26726"/>
                    <a:pt x="111261" y="40876"/>
                    <a:pt x="111261" y="55630"/>
                  </a:cubicBezTo>
                  <a:lnTo>
                    <a:pt x="111261" y="568955"/>
                  </a:lnTo>
                  <a:cubicBezTo>
                    <a:pt x="111261" y="599679"/>
                    <a:pt x="86354" y="624586"/>
                    <a:pt x="55630" y="624586"/>
                  </a:cubicBezTo>
                  <a:lnTo>
                    <a:pt x="55630" y="624586"/>
                  </a:lnTo>
                  <a:cubicBezTo>
                    <a:pt x="24907" y="624586"/>
                    <a:pt x="0" y="599679"/>
                    <a:pt x="0" y="568955"/>
                  </a:cubicBezTo>
                  <a:lnTo>
                    <a:pt x="0" y="55630"/>
                  </a:lnTo>
                  <a:cubicBezTo>
                    <a:pt x="0" y="24907"/>
                    <a:pt x="24907" y="0"/>
                    <a:pt x="55630" y="0"/>
                  </a:cubicBezTo>
                  <a:close/>
                </a:path>
              </a:pathLst>
            </a:custGeom>
            <a:ln w="38100" cap="sq">
              <a:solidFill>
                <a:srgbClr val="FF000A"/>
              </a:solidFill>
              <a:prstDash val="sysDot"/>
              <a:miter/>
            </a:ln>
          </p:spPr>
        </p:sp>
        <p:sp>
          <p:nvSpPr>
            <p:cNvPr name="TextBox 6" id="6"/>
            <p:cNvSpPr txBox="true"/>
            <p:nvPr/>
          </p:nvSpPr>
          <p:spPr>
            <a:xfrm>
              <a:off x="0" y="-47625"/>
              <a:ext cx="111261" cy="672211"/>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8330097" y="3886384"/>
            <a:ext cx="6884250" cy="4331496"/>
          </a:xfrm>
          <a:custGeom>
            <a:avLst/>
            <a:gdLst/>
            <a:ahLst/>
            <a:cxnLst/>
            <a:rect r="r" b="b" t="t" l="l"/>
            <a:pathLst>
              <a:path h="4331496" w="6884250">
                <a:moveTo>
                  <a:pt x="0" y="0"/>
                </a:moveTo>
                <a:lnTo>
                  <a:pt x="6884250" y="0"/>
                </a:lnTo>
                <a:lnTo>
                  <a:pt x="6884250" y="4331496"/>
                </a:lnTo>
                <a:lnTo>
                  <a:pt x="0" y="4331496"/>
                </a:lnTo>
                <a:lnTo>
                  <a:pt x="0" y="0"/>
                </a:lnTo>
                <a:close/>
              </a:path>
            </a:pathLst>
          </a:custGeom>
          <a:blipFill>
            <a:blip r:embed="rId2"/>
            <a:stretch>
              <a:fillRect l="0" t="0" r="0" b="0"/>
            </a:stretch>
          </a:blipFill>
        </p:spPr>
      </p:sp>
      <p:sp>
        <p:nvSpPr>
          <p:cNvPr name="Freeform 3" id="3"/>
          <p:cNvSpPr/>
          <p:nvPr/>
        </p:nvSpPr>
        <p:spPr>
          <a:xfrm flipH="false" flipV="false" rot="0">
            <a:off x="2548988" y="2327834"/>
            <a:ext cx="4608503" cy="7448597"/>
          </a:xfrm>
          <a:custGeom>
            <a:avLst/>
            <a:gdLst/>
            <a:ahLst/>
            <a:cxnLst/>
            <a:rect r="r" b="b" t="t" l="l"/>
            <a:pathLst>
              <a:path h="7448597" w="4608503">
                <a:moveTo>
                  <a:pt x="0" y="0"/>
                </a:moveTo>
                <a:lnTo>
                  <a:pt x="4608503" y="0"/>
                </a:lnTo>
                <a:lnTo>
                  <a:pt x="4608503" y="7448596"/>
                </a:lnTo>
                <a:lnTo>
                  <a:pt x="0" y="7448596"/>
                </a:lnTo>
                <a:lnTo>
                  <a:pt x="0" y="0"/>
                </a:lnTo>
                <a:close/>
              </a:path>
            </a:pathLst>
          </a:custGeom>
          <a:blipFill>
            <a:blip r:embed="rId3"/>
            <a:stretch>
              <a:fillRect l="0" t="0" r="-6775" b="0"/>
            </a:stretch>
          </a:blipFill>
        </p:spPr>
      </p:sp>
      <p:grpSp>
        <p:nvGrpSpPr>
          <p:cNvPr name="Group 4" id="4"/>
          <p:cNvGrpSpPr/>
          <p:nvPr/>
        </p:nvGrpSpPr>
        <p:grpSpPr>
          <a:xfrm rot="0">
            <a:off x="2949370" y="4135742"/>
            <a:ext cx="3497820" cy="345493"/>
            <a:chOff x="0" y="0"/>
            <a:chExt cx="1131582" cy="111770"/>
          </a:xfrm>
        </p:grpSpPr>
        <p:sp>
          <p:nvSpPr>
            <p:cNvPr name="Freeform 5" id="5"/>
            <p:cNvSpPr/>
            <p:nvPr/>
          </p:nvSpPr>
          <p:spPr>
            <a:xfrm flipH="false" flipV="false" rot="0">
              <a:off x="0" y="0"/>
              <a:ext cx="1131582" cy="111770"/>
            </a:xfrm>
            <a:custGeom>
              <a:avLst/>
              <a:gdLst/>
              <a:ahLst/>
              <a:cxnLst/>
              <a:rect r="r" b="b" t="t" l="l"/>
              <a:pathLst>
                <a:path h="111770" w="1131582">
                  <a:moveTo>
                    <a:pt x="37627" y="0"/>
                  </a:moveTo>
                  <a:lnTo>
                    <a:pt x="1093955" y="0"/>
                  </a:lnTo>
                  <a:cubicBezTo>
                    <a:pt x="1103934" y="0"/>
                    <a:pt x="1113505" y="3964"/>
                    <a:pt x="1120561" y="11021"/>
                  </a:cubicBezTo>
                  <a:cubicBezTo>
                    <a:pt x="1127618" y="18077"/>
                    <a:pt x="1131582" y="27648"/>
                    <a:pt x="1131582" y="37627"/>
                  </a:cubicBezTo>
                  <a:lnTo>
                    <a:pt x="1131582" y="74143"/>
                  </a:lnTo>
                  <a:cubicBezTo>
                    <a:pt x="1131582" y="84123"/>
                    <a:pt x="1127618" y="93693"/>
                    <a:pt x="1120561" y="100750"/>
                  </a:cubicBezTo>
                  <a:cubicBezTo>
                    <a:pt x="1113505" y="107806"/>
                    <a:pt x="1103934" y="111770"/>
                    <a:pt x="1093955" y="111770"/>
                  </a:cubicBezTo>
                  <a:lnTo>
                    <a:pt x="37627" y="111770"/>
                  </a:lnTo>
                  <a:cubicBezTo>
                    <a:pt x="27648" y="111770"/>
                    <a:pt x="18077" y="107806"/>
                    <a:pt x="11021" y="100750"/>
                  </a:cubicBezTo>
                  <a:cubicBezTo>
                    <a:pt x="3964" y="93693"/>
                    <a:pt x="0" y="84123"/>
                    <a:pt x="0" y="74143"/>
                  </a:cubicBezTo>
                  <a:lnTo>
                    <a:pt x="0" y="37627"/>
                  </a:lnTo>
                  <a:cubicBezTo>
                    <a:pt x="0" y="27648"/>
                    <a:pt x="3964" y="18077"/>
                    <a:pt x="11021" y="11021"/>
                  </a:cubicBezTo>
                  <a:cubicBezTo>
                    <a:pt x="18077" y="3964"/>
                    <a:pt x="27648" y="0"/>
                    <a:pt x="37627" y="0"/>
                  </a:cubicBezTo>
                  <a:close/>
                </a:path>
              </a:pathLst>
            </a:custGeom>
            <a:ln w="38100" cap="sq">
              <a:solidFill>
                <a:srgbClr val="FF000A"/>
              </a:solidFill>
              <a:prstDash val="sysDot"/>
              <a:miter/>
            </a:ln>
          </p:spPr>
        </p:sp>
        <p:sp>
          <p:nvSpPr>
            <p:cNvPr name="TextBox 6" id="6"/>
            <p:cNvSpPr txBox="true"/>
            <p:nvPr/>
          </p:nvSpPr>
          <p:spPr>
            <a:xfrm>
              <a:off x="0" y="-47625"/>
              <a:ext cx="1131582" cy="159395"/>
            </a:xfrm>
            <a:prstGeom prst="rect">
              <a:avLst/>
            </a:prstGeom>
          </p:spPr>
          <p:txBody>
            <a:bodyPr anchor="ctr" rtlCol="false" tIns="50800" lIns="50800" bIns="50800" rIns="50800"/>
            <a:lstStyle/>
            <a:p>
              <a:pPr algn="ctr">
                <a:lnSpc>
                  <a:spcPts val="2659"/>
                </a:lnSpc>
                <a:spcBef>
                  <a:spcPct val="0"/>
                </a:spcBef>
              </a:pPr>
            </a:p>
          </p:txBody>
        </p:sp>
      </p:grpSp>
      <p:sp>
        <p:nvSpPr>
          <p:cNvPr name="AutoShape 7" id="7"/>
          <p:cNvSpPr/>
          <p:nvPr/>
        </p:nvSpPr>
        <p:spPr>
          <a:xfrm>
            <a:off x="6447190" y="4308488"/>
            <a:ext cx="1882907" cy="294394"/>
          </a:xfrm>
          <a:prstGeom prst="line">
            <a:avLst/>
          </a:prstGeom>
          <a:ln cap="flat" w="28575">
            <a:solidFill>
              <a:srgbClr val="FF000A"/>
            </a:solidFill>
            <a:prstDash val="solid"/>
            <a:headEnd type="none" len="sm" w="sm"/>
            <a:tailEnd type="triangle" len="med" w="lg"/>
          </a:ln>
        </p:spPr>
      </p:sp>
      <p:sp>
        <p:nvSpPr>
          <p:cNvPr name="Freeform 8" id="8"/>
          <p:cNvSpPr/>
          <p:nvPr/>
        </p:nvSpPr>
        <p:spPr>
          <a:xfrm flipH="false" flipV="false" rot="0">
            <a:off x="4730127" y="4203197"/>
            <a:ext cx="246226" cy="286309"/>
          </a:xfrm>
          <a:custGeom>
            <a:avLst/>
            <a:gdLst/>
            <a:ahLst/>
            <a:cxnLst/>
            <a:rect r="r" b="b" t="t" l="l"/>
            <a:pathLst>
              <a:path h="286309" w="246226">
                <a:moveTo>
                  <a:pt x="0" y="0"/>
                </a:moveTo>
                <a:lnTo>
                  <a:pt x="246226" y="0"/>
                </a:lnTo>
                <a:lnTo>
                  <a:pt x="246226" y="286309"/>
                </a:lnTo>
                <a:lnTo>
                  <a:pt x="0" y="286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3146624" y="7798790"/>
            <a:ext cx="1081366" cy="320960"/>
            <a:chOff x="0" y="0"/>
            <a:chExt cx="349833" cy="103834"/>
          </a:xfrm>
        </p:grpSpPr>
        <p:sp>
          <p:nvSpPr>
            <p:cNvPr name="Freeform 10" id="10"/>
            <p:cNvSpPr/>
            <p:nvPr/>
          </p:nvSpPr>
          <p:spPr>
            <a:xfrm flipH="false" flipV="false" rot="0">
              <a:off x="0" y="0"/>
              <a:ext cx="349833" cy="103834"/>
            </a:xfrm>
            <a:custGeom>
              <a:avLst/>
              <a:gdLst/>
              <a:ahLst/>
              <a:cxnLst/>
              <a:rect r="r" b="b" t="t" l="l"/>
              <a:pathLst>
                <a:path h="103834" w="349833">
                  <a:moveTo>
                    <a:pt x="51917" y="0"/>
                  </a:moveTo>
                  <a:lnTo>
                    <a:pt x="297916" y="0"/>
                  </a:lnTo>
                  <a:cubicBezTo>
                    <a:pt x="326589" y="0"/>
                    <a:pt x="349833" y="23244"/>
                    <a:pt x="349833" y="51917"/>
                  </a:cubicBezTo>
                  <a:lnTo>
                    <a:pt x="349833" y="51917"/>
                  </a:lnTo>
                  <a:cubicBezTo>
                    <a:pt x="349833" y="80590"/>
                    <a:pt x="326589" y="103834"/>
                    <a:pt x="297916" y="103834"/>
                  </a:cubicBezTo>
                  <a:lnTo>
                    <a:pt x="51917" y="103834"/>
                  </a:lnTo>
                  <a:cubicBezTo>
                    <a:pt x="23244" y="103834"/>
                    <a:pt x="0" y="80590"/>
                    <a:pt x="0" y="51917"/>
                  </a:cubicBezTo>
                  <a:lnTo>
                    <a:pt x="0" y="51917"/>
                  </a:lnTo>
                  <a:cubicBezTo>
                    <a:pt x="0" y="23244"/>
                    <a:pt x="23244" y="0"/>
                    <a:pt x="51917" y="0"/>
                  </a:cubicBezTo>
                  <a:close/>
                </a:path>
              </a:pathLst>
            </a:custGeom>
            <a:ln w="38100" cap="sq">
              <a:solidFill>
                <a:srgbClr val="FF000A"/>
              </a:solidFill>
              <a:prstDash val="sysDot"/>
              <a:miter/>
            </a:ln>
          </p:spPr>
        </p:sp>
        <p:sp>
          <p:nvSpPr>
            <p:cNvPr name="TextBox 11" id="11"/>
            <p:cNvSpPr txBox="true"/>
            <p:nvPr/>
          </p:nvSpPr>
          <p:spPr>
            <a:xfrm>
              <a:off x="0" y="-47625"/>
              <a:ext cx="349833" cy="151459"/>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3981764" y="7931570"/>
            <a:ext cx="246226" cy="286309"/>
          </a:xfrm>
          <a:custGeom>
            <a:avLst/>
            <a:gdLst/>
            <a:ahLst/>
            <a:cxnLst/>
            <a:rect r="r" b="b" t="t" l="l"/>
            <a:pathLst>
              <a:path h="286309" w="246226">
                <a:moveTo>
                  <a:pt x="0" y="0"/>
                </a:moveTo>
                <a:lnTo>
                  <a:pt x="246226" y="0"/>
                </a:lnTo>
                <a:lnTo>
                  <a:pt x="246226" y="286310"/>
                </a:lnTo>
                <a:lnTo>
                  <a:pt x="0" y="2863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028700" y="971550"/>
            <a:ext cx="16230600" cy="1063625"/>
          </a:xfrm>
          <a:prstGeom prst="rect">
            <a:avLst/>
          </a:prstGeom>
        </p:spPr>
        <p:txBody>
          <a:bodyPr anchor="t" rtlCol="false" tIns="0" lIns="0" bIns="0" rIns="0">
            <a:spAutoFit/>
          </a:bodyPr>
          <a:lstStyle/>
          <a:p>
            <a:pPr algn="l" marL="431801" indent="-215900" lvl="1">
              <a:lnSpc>
                <a:spcPts val="2800"/>
              </a:lnSpc>
              <a:buFont typeface="Arial"/>
              <a:buChar char="•"/>
            </a:pPr>
            <a:r>
              <a:rPr lang="en-US" sz="2000" spc="-34">
                <a:solidFill>
                  <a:srgbClr val="203251"/>
                </a:solidFill>
                <a:latin typeface="Raleway"/>
                <a:ea typeface="Raleway"/>
                <a:cs typeface="Raleway"/>
                <a:sym typeface="Raleway"/>
              </a:rPr>
              <a:t>Dönem boyu geliştirilecek </a:t>
            </a:r>
            <a:r>
              <a:rPr lang="en-US" b="true" sz="2000" spc="-34">
                <a:solidFill>
                  <a:srgbClr val="203251"/>
                </a:solidFill>
                <a:latin typeface="Raleway Bold"/>
                <a:ea typeface="Raleway Bold"/>
                <a:cs typeface="Raleway Bold"/>
                <a:sym typeface="Raleway Bold"/>
              </a:rPr>
              <a:t>Kod-Asistan</a:t>
            </a:r>
            <a:r>
              <a:rPr lang="en-US" sz="2000" spc="-34">
                <a:solidFill>
                  <a:srgbClr val="203251"/>
                </a:solidFill>
                <a:latin typeface="Raleway"/>
                <a:ea typeface="Raleway"/>
                <a:cs typeface="Raleway"/>
                <a:sym typeface="Raleway"/>
              </a:rPr>
              <a:t> projesine ait tüm belgelerin tek bir merkezden sistematik olarak yönetilebilmesi için üst menüde yer alan </a:t>
            </a:r>
            <a:r>
              <a:rPr lang="en-US" b="true" sz="2000" spc="-34">
                <a:solidFill>
                  <a:srgbClr val="203251"/>
                </a:solidFill>
                <a:latin typeface="Raleway Bold"/>
                <a:ea typeface="Raleway Bold"/>
                <a:cs typeface="Raleway Bold"/>
                <a:sym typeface="Raleway Bold"/>
              </a:rPr>
              <a:t>File &gt; Open Folder (Dosya &gt; Klasör Aç)</a:t>
            </a:r>
            <a:r>
              <a:rPr lang="en-US" sz="2000" spc="-34">
                <a:solidFill>
                  <a:srgbClr val="203251"/>
                </a:solidFill>
                <a:latin typeface="Raleway"/>
                <a:ea typeface="Raleway"/>
                <a:cs typeface="Raleway"/>
                <a:sym typeface="Raleway"/>
              </a:rPr>
              <a:t> sekmesi kullanılır. Bilgisayarın yerel deposunda önceden oluşturulmuş proje klasörünü seçerek editöre dâhil ediniz.</a:t>
            </a:r>
          </a:p>
        </p:txBody>
      </p:sp>
      <p:grpSp>
        <p:nvGrpSpPr>
          <p:cNvPr name="Group 14" id="14"/>
          <p:cNvGrpSpPr/>
          <p:nvPr/>
        </p:nvGrpSpPr>
        <p:grpSpPr>
          <a:xfrm rot="0">
            <a:off x="2862071" y="2357796"/>
            <a:ext cx="555237" cy="345493"/>
            <a:chOff x="0" y="0"/>
            <a:chExt cx="179625" cy="111770"/>
          </a:xfrm>
        </p:grpSpPr>
        <p:sp>
          <p:nvSpPr>
            <p:cNvPr name="Freeform 15" id="15"/>
            <p:cNvSpPr/>
            <p:nvPr/>
          </p:nvSpPr>
          <p:spPr>
            <a:xfrm flipH="false" flipV="false" rot="0">
              <a:off x="0" y="0"/>
              <a:ext cx="179625" cy="111770"/>
            </a:xfrm>
            <a:custGeom>
              <a:avLst/>
              <a:gdLst/>
              <a:ahLst/>
              <a:cxnLst/>
              <a:rect r="r" b="b" t="t" l="l"/>
              <a:pathLst>
                <a:path h="111770" w="179625">
                  <a:moveTo>
                    <a:pt x="55885" y="0"/>
                  </a:moveTo>
                  <a:lnTo>
                    <a:pt x="123740" y="0"/>
                  </a:lnTo>
                  <a:cubicBezTo>
                    <a:pt x="154604" y="0"/>
                    <a:pt x="179625" y="25021"/>
                    <a:pt x="179625" y="55885"/>
                  </a:cubicBezTo>
                  <a:lnTo>
                    <a:pt x="179625" y="55885"/>
                  </a:lnTo>
                  <a:cubicBezTo>
                    <a:pt x="179625" y="70707"/>
                    <a:pt x="173737" y="84922"/>
                    <a:pt x="163257" y="95402"/>
                  </a:cubicBezTo>
                  <a:cubicBezTo>
                    <a:pt x="152776" y="105883"/>
                    <a:pt x="138561" y="111770"/>
                    <a:pt x="123740" y="111770"/>
                  </a:cubicBezTo>
                  <a:lnTo>
                    <a:pt x="55885" y="111770"/>
                  </a:lnTo>
                  <a:cubicBezTo>
                    <a:pt x="25021" y="111770"/>
                    <a:pt x="0" y="86750"/>
                    <a:pt x="0" y="55885"/>
                  </a:cubicBezTo>
                  <a:lnTo>
                    <a:pt x="0" y="55885"/>
                  </a:lnTo>
                  <a:cubicBezTo>
                    <a:pt x="0" y="25021"/>
                    <a:pt x="25021" y="0"/>
                    <a:pt x="55885" y="0"/>
                  </a:cubicBezTo>
                  <a:close/>
                </a:path>
              </a:pathLst>
            </a:custGeom>
            <a:ln w="38100" cap="sq">
              <a:solidFill>
                <a:srgbClr val="FF000A"/>
              </a:solidFill>
              <a:prstDash val="sysDot"/>
              <a:miter/>
            </a:ln>
          </p:spPr>
        </p:sp>
        <p:sp>
          <p:nvSpPr>
            <p:cNvPr name="TextBox 16" id="16"/>
            <p:cNvSpPr txBox="true"/>
            <p:nvPr/>
          </p:nvSpPr>
          <p:spPr>
            <a:xfrm>
              <a:off x="0" y="-47625"/>
              <a:ext cx="179625" cy="159395"/>
            </a:xfrm>
            <a:prstGeom prst="rect">
              <a:avLst/>
            </a:prstGeom>
          </p:spPr>
          <p:txBody>
            <a:bodyPr anchor="ctr" rtlCol="false" tIns="50800" lIns="50800" bIns="50800" rIns="50800"/>
            <a:lstStyle/>
            <a:p>
              <a:pPr algn="ctr">
                <a:lnSpc>
                  <a:spcPts val="2659"/>
                </a:lnSpc>
                <a:spcBef>
                  <a:spcPct val="0"/>
                </a:spcBef>
              </a:pPr>
            </a:p>
          </p:txBody>
        </p:sp>
      </p:grpSp>
      <p:sp>
        <p:nvSpPr>
          <p:cNvPr name="AutoShape 17" id="17"/>
          <p:cNvSpPr/>
          <p:nvPr/>
        </p:nvSpPr>
        <p:spPr>
          <a:xfrm>
            <a:off x="15214347" y="6052132"/>
            <a:ext cx="3735443" cy="0"/>
          </a:xfrm>
          <a:prstGeom prst="line">
            <a:avLst/>
          </a:prstGeom>
          <a:ln cap="flat" w="28575">
            <a:solidFill>
              <a:srgbClr val="FF000A"/>
            </a:solidFill>
            <a:prstDash val="solid"/>
            <a:headEnd type="none" len="sm" w="sm"/>
            <a:tailEnd type="triangle" len="med" w="lg"/>
          </a:ln>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589700" y="593682"/>
            <a:ext cx="17108600" cy="9099636"/>
          </a:xfrm>
          <a:custGeom>
            <a:avLst/>
            <a:gdLst/>
            <a:ahLst/>
            <a:cxnLst/>
            <a:rect r="r" b="b" t="t" l="l"/>
            <a:pathLst>
              <a:path h="9099636" w="17108600">
                <a:moveTo>
                  <a:pt x="0" y="0"/>
                </a:moveTo>
                <a:lnTo>
                  <a:pt x="17108600" y="0"/>
                </a:lnTo>
                <a:lnTo>
                  <a:pt x="17108600" y="9099636"/>
                </a:lnTo>
                <a:lnTo>
                  <a:pt x="0" y="9099636"/>
                </a:lnTo>
                <a:lnTo>
                  <a:pt x="0" y="0"/>
                </a:lnTo>
                <a:close/>
              </a:path>
            </a:pathLst>
          </a:custGeom>
          <a:blipFill>
            <a:blip r:embed="rId2"/>
            <a:stretch>
              <a:fillRect l="0" t="0" r="0" b="0"/>
            </a:stretch>
          </a:blipFill>
        </p:spPr>
      </p:sp>
      <p:grpSp>
        <p:nvGrpSpPr>
          <p:cNvPr name="Group 3" id="3"/>
          <p:cNvGrpSpPr/>
          <p:nvPr/>
        </p:nvGrpSpPr>
        <p:grpSpPr>
          <a:xfrm rot="0">
            <a:off x="1147053" y="1319903"/>
            <a:ext cx="3275272" cy="396214"/>
            <a:chOff x="0" y="0"/>
            <a:chExt cx="923942" cy="111770"/>
          </a:xfrm>
        </p:grpSpPr>
        <p:sp>
          <p:nvSpPr>
            <p:cNvPr name="Freeform 4" id="4"/>
            <p:cNvSpPr/>
            <p:nvPr/>
          </p:nvSpPr>
          <p:spPr>
            <a:xfrm flipH="false" flipV="false" rot="0">
              <a:off x="0" y="0"/>
              <a:ext cx="923942" cy="111770"/>
            </a:xfrm>
            <a:custGeom>
              <a:avLst/>
              <a:gdLst/>
              <a:ahLst/>
              <a:cxnLst/>
              <a:rect r="r" b="b" t="t" l="l"/>
              <a:pathLst>
                <a:path h="111770" w="923942">
                  <a:moveTo>
                    <a:pt x="40184" y="0"/>
                  </a:moveTo>
                  <a:lnTo>
                    <a:pt x="883758" y="0"/>
                  </a:lnTo>
                  <a:cubicBezTo>
                    <a:pt x="894415" y="0"/>
                    <a:pt x="904636" y="4234"/>
                    <a:pt x="912172" y="11770"/>
                  </a:cubicBezTo>
                  <a:cubicBezTo>
                    <a:pt x="919708" y="19305"/>
                    <a:pt x="923942" y="29526"/>
                    <a:pt x="923942" y="40184"/>
                  </a:cubicBezTo>
                  <a:lnTo>
                    <a:pt x="923942" y="71587"/>
                  </a:lnTo>
                  <a:cubicBezTo>
                    <a:pt x="923942" y="93780"/>
                    <a:pt x="905951" y="111770"/>
                    <a:pt x="883758" y="111770"/>
                  </a:cubicBezTo>
                  <a:lnTo>
                    <a:pt x="40184" y="111770"/>
                  </a:lnTo>
                  <a:cubicBezTo>
                    <a:pt x="17991" y="111770"/>
                    <a:pt x="0" y="93780"/>
                    <a:pt x="0" y="71587"/>
                  </a:cubicBezTo>
                  <a:lnTo>
                    <a:pt x="0" y="40184"/>
                  </a:lnTo>
                  <a:cubicBezTo>
                    <a:pt x="0" y="17991"/>
                    <a:pt x="17991" y="0"/>
                    <a:pt x="40184" y="0"/>
                  </a:cubicBezTo>
                  <a:close/>
                </a:path>
              </a:pathLst>
            </a:custGeom>
            <a:ln w="38100" cap="sq">
              <a:solidFill>
                <a:srgbClr val="FF000A"/>
              </a:solidFill>
              <a:prstDash val="sysDot"/>
              <a:miter/>
            </a:ln>
          </p:spPr>
        </p:sp>
        <p:sp>
          <p:nvSpPr>
            <p:cNvPr name="TextBox 5" id="5"/>
            <p:cNvSpPr txBox="true"/>
            <p:nvPr/>
          </p:nvSpPr>
          <p:spPr>
            <a:xfrm>
              <a:off x="0" y="-47625"/>
              <a:ext cx="923942" cy="159395"/>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145743" y="6052132"/>
            <a:ext cx="3735443" cy="0"/>
          </a:xfrm>
          <a:prstGeom prst="line">
            <a:avLst/>
          </a:prstGeom>
          <a:ln cap="flat" w="28575">
            <a:solidFill>
              <a:srgbClr val="FF000A"/>
            </a:solidFill>
            <a:prstDash val="solid"/>
            <a:headEnd type="none" len="sm" w="sm"/>
            <a:tailEnd type="triangle" len="med" w="lg"/>
          </a:ln>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5060553" y="5143500"/>
            <a:ext cx="8166894" cy="4739447"/>
          </a:xfrm>
          <a:custGeom>
            <a:avLst/>
            <a:gdLst/>
            <a:ahLst/>
            <a:cxnLst/>
            <a:rect r="r" b="b" t="t" l="l"/>
            <a:pathLst>
              <a:path h="4739447" w="8166894">
                <a:moveTo>
                  <a:pt x="0" y="0"/>
                </a:moveTo>
                <a:lnTo>
                  <a:pt x="8166894" y="0"/>
                </a:lnTo>
                <a:lnTo>
                  <a:pt x="8166894" y="4739447"/>
                </a:lnTo>
                <a:lnTo>
                  <a:pt x="0" y="4739447"/>
                </a:lnTo>
                <a:lnTo>
                  <a:pt x="0" y="0"/>
                </a:lnTo>
                <a:close/>
              </a:path>
            </a:pathLst>
          </a:custGeom>
          <a:blipFill>
            <a:blip r:embed="rId2"/>
            <a:stretch>
              <a:fillRect l="0" t="0" r="-124822" b="0"/>
            </a:stretch>
          </a:blipFill>
        </p:spPr>
      </p:sp>
      <p:sp>
        <p:nvSpPr>
          <p:cNvPr name="TextBox 3" id="3"/>
          <p:cNvSpPr txBox="true"/>
          <p:nvPr/>
        </p:nvSpPr>
        <p:spPr>
          <a:xfrm rot="0">
            <a:off x="1028700" y="962025"/>
            <a:ext cx="16230600" cy="39808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4. Aşama:</a:t>
            </a:r>
            <a:r>
              <a:rPr lang="en-US" sz="2550" spc="-43">
                <a:solidFill>
                  <a:srgbClr val="203251"/>
                </a:solidFill>
                <a:latin typeface="Raleway"/>
                <a:ea typeface="Raleway"/>
                <a:cs typeface="Raleway"/>
                <a:sym typeface="Raleway"/>
              </a:rPr>
              <a:t> Python Eklentisi ile Editörü Güçlendirme</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Visu</a:t>
            </a:r>
            <a:r>
              <a:rPr lang="en-US" sz="2000" spc="-34">
                <a:solidFill>
                  <a:srgbClr val="203251"/>
                </a:solidFill>
                <a:latin typeface="Raleway"/>
                <a:ea typeface="Raleway"/>
                <a:cs typeface="Raleway"/>
                <a:sym typeface="Raleway"/>
              </a:rPr>
              <a:t>al Studio Co</a:t>
            </a:r>
            <a:r>
              <a:rPr lang="en-US" sz="2000" spc="-34" u="none">
                <a:solidFill>
                  <a:srgbClr val="203251"/>
                </a:solidFill>
                <a:latin typeface="Raleway"/>
                <a:ea typeface="Raleway"/>
                <a:cs typeface="Raleway"/>
                <a:sym typeface="Raleway"/>
              </a:rPr>
              <a:t>de'u</a:t>
            </a:r>
            <a:r>
              <a:rPr lang="en-US" sz="2000" spc="-34">
                <a:solidFill>
                  <a:srgbClr val="203251"/>
                </a:solidFill>
                <a:latin typeface="Raleway"/>
                <a:ea typeface="Raleway"/>
                <a:cs typeface="Raleway"/>
                <a:sym typeface="Raleway"/>
              </a:rPr>
              <a:t>n ilk kurulduğunda </a:t>
            </a:r>
            <a:r>
              <a:rPr lang="en-US" b="true" sz="2000" spc="-34">
                <a:solidFill>
                  <a:srgbClr val="203251"/>
                </a:solidFill>
                <a:latin typeface="Raleway Bold"/>
                <a:ea typeface="Raleway Bold"/>
                <a:cs typeface="Raleway Bold"/>
                <a:sym typeface="Raleway Bold"/>
              </a:rPr>
              <a:t>genel amaçlı bir metin editörü</a:t>
            </a:r>
            <a:r>
              <a:rPr lang="en-US" sz="2000" spc="-34">
                <a:solidFill>
                  <a:srgbClr val="203251"/>
                </a:solidFill>
                <a:latin typeface="Raleway"/>
                <a:ea typeface="Raleway"/>
                <a:cs typeface="Raleway"/>
                <a:sym typeface="Raleway"/>
              </a:rPr>
              <a:t> yapısında olduğunu fark ediniz. </a:t>
            </a:r>
            <a:r>
              <a:rPr lang="en-US" b="true" sz="2000" spc="-34">
                <a:solidFill>
                  <a:srgbClr val="203251"/>
                </a:solidFill>
                <a:latin typeface="Raleway Bold"/>
                <a:ea typeface="Raleway Bold"/>
                <a:cs typeface="Raleway Bold"/>
                <a:sym typeface="Raleway Bold"/>
              </a:rPr>
              <a:t>Bu ortamın Python kaynak kodlarını algılayabilmesi, söz dizimi hatalarını anlık olarak denetleyebilmesi ve akıllı kod tamamlama mekanizmalarını devreye sokabilmesi için eklenti desteğiyle yapılandırılması gerektiğini göz önünde bulundurarak hazırlıklarınızı tamamlayınız.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Editör arayüzünün sol tarafında bulunan dikey araç panelindeki üst üste binen dört kare sembolüne sahip </a:t>
            </a:r>
            <a:r>
              <a:rPr lang="en-US" b="true" sz="2000" spc="-34">
                <a:solidFill>
                  <a:srgbClr val="203251"/>
                </a:solidFill>
                <a:latin typeface="Raleway Bold"/>
                <a:ea typeface="Raleway Bold"/>
                <a:cs typeface="Raleway Bold"/>
                <a:sym typeface="Raleway Bold"/>
              </a:rPr>
              <a:t>Extensions (Eklentiler)</a:t>
            </a:r>
            <a:r>
              <a:rPr lang="en-US" sz="2000" spc="-34">
                <a:solidFill>
                  <a:srgbClr val="203251"/>
                </a:solidFill>
                <a:latin typeface="Raleway"/>
                <a:ea typeface="Raleway"/>
                <a:cs typeface="Raleway"/>
                <a:sym typeface="Raleway"/>
              </a:rPr>
              <a:t> sekmesine tıklayınız (Bu panele klavyeden </a:t>
            </a:r>
            <a:r>
              <a:rPr lang="en-US" b="true" sz="2000" spc="-34">
                <a:solidFill>
                  <a:srgbClr val="203251"/>
                </a:solidFill>
                <a:latin typeface="Raleway Bold"/>
                <a:ea typeface="Raleway Bold"/>
                <a:cs typeface="Raleway Bold"/>
                <a:sym typeface="Raleway Bold"/>
              </a:rPr>
              <a:t>Ctrl + Shift + X</a:t>
            </a:r>
            <a:r>
              <a:rPr lang="en-US" sz="2000" spc="-34">
                <a:solidFill>
                  <a:srgbClr val="203251"/>
                </a:solidFill>
                <a:latin typeface="Raleway"/>
                <a:ea typeface="Raleway"/>
                <a:cs typeface="Raleway"/>
                <a:sym typeface="Raleway"/>
              </a:rPr>
              <a:t> kombinasyonuyla da doğrudan erişim sağlanabilir.).</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Açılan eklenti mağazası arama çubuğuna aralarında boşluk bırakmadan Python ifadesini yazınız.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Listelenen sonuçlar arasından yayıncısı </a:t>
            </a:r>
            <a:r>
              <a:rPr lang="en-US" b="true" sz="2000" spc="-34">
                <a:solidFill>
                  <a:srgbClr val="203251"/>
                </a:solidFill>
                <a:latin typeface="Raleway Bold"/>
                <a:ea typeface="Raleway Bold"/>
                <a:cs typeface="Raleway Bold"/>
                <a:sym typeface="Raleway Bold"/>
              </a:rPr>
              <a:t>Microsoft olan resmî Python eklentisini seçiniz</a:t>
            </a:r>
            <a:r>
              <a:rPr lang="en-US" sz="2000" spc="-34">
                <a:solidFill>
                  <a:srgbClr val="203251"/>
                </a:solidFill>
                <a:latin typeface="Raleway"/>
                <a:ea typeface="Raleway"/>
                <a:cs typeface="Raleway"/>
                <a:sym typeface="Raleway"/>
              </a:rPr>
              <a:t>. Eklenti detay panelinde yer alan mavi renkli </a:t>
            </a:r>
            <a:r>
              <a:rPr lang="en-US" b="true" sz="2000" spc="-34">
                <a:solidFill>
                  <a:srgbClr val="203251"/>
                </a:solidFill>
                <a:latin typeface="Raleway Bold"/>
                <a:ea typeface="Raleway Bold"/>
                <a:cs typeface="Raleway Bold"/>
                <a:sym typeface="Raleway Bold"/>
              </a:rPr>
              <a:t>Install (Kur)</a:t>
            </a:r>
            <a:r>
              <a:rPr lang="en-US" sz="2000" spc="-34">
                <a:solidFill>
                  <a:srgbClr val="203251"/>
                </a:solidFill>
                <a:latin typeface="Raleway"/>
                <a:ea typeface="Raleway"/>
                <a:cs typeface="Raleway"/>
                <a:sym typeface="Raleway"/>
              </a:rPr>
              <a:t> butonuna tıklayarak entegrasyon sürecini başlatınız.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Birkaç saniye süren indirme ve kurulum döngüsünün ardından butonun üzerinde </a:t>
            </a:r>
            <a:r>
              <a:rPr lang="en-US" b="true" sz="2000" spc="-34">
                <a:solidFill>
                  <a:srgbClr val="203251"/>
                </a:solidFill>
                <a:latin typeface="Raleway Bold"/>
                <a:ea typeface="Raleway Bold"/>
                <a:cs typeface="Raleway Bold"/>
                <a:sym typeface="Raleway Bold"/>
              </a:rPr>
              <a:t>Uninstall (Kaldır)</a:t>
            </a:r>
            <a:r>
              <a:rPr lang="en-US" sz="2000" spc="-34">
                <a:solidFill>
                  <a:srgbClr val="203251"/>
                </a:solidFill>
                <a:latin typeface="Raleway"/>
                <a:ea typeface="Raleway"/>
                <a:cs typeface="Raleway"/>
                <a:sym typeface="Raleway"/>
              </a:rPr>
              <a:t> yazısı belirdiğinde editörün Python kaynak kodlarını profesyonel standartlarda işleyebilecek teknik yetkinliğe ulaştığını doğrulayınız.</a:t>
            </a:r>
          </a:p>
        </p:txBody>
      </p:sp>
      <p:grpSp>
        <p:nvGrpSpPr>
          <p:cNvPr name="Group 4" id="4"/>
          <p:cNvGrpSpPr/>
          <p:nvPr/>
        </p:nvGrpSpPr>
        <p:grpSpPr>
          <a:xfrm rot="0">
            <a:off x="5060553" y="7699824"/>
            <a:ext cx="607940" cy="448222"/>
            <a:chOff x="0" y="0"/>
            <a:chExt cx="151598" cy="111770"/>
          </a:xfrm>
        </p:grpSpPr>
        <p:sp>
          <p:nvSpPr>
            <p:cNvPr name="Freeform 5" id="5"/>
            <p:cNvSpPr/>
            <p:nvPr/>
          </p:nvSpPr>
          <p:spPr>
            <a:xfrm flipH="false" flipV="false" rot="0">
              <a:off x="0" y="0"/>
              <a:ext cx="151598" cy="111770"/>
            </a:xfrm>
            <a:custGeom>
              <a:avLst/>
              <a:gdLst/>
              <a:ahLst/>
              <a:cxnLst/>
              <a:rect r="r" b="b" t="t" l="l"/>
              <a:pathLst>
                <a:path h="111770" w="151598">
                  <a:moveTo>
                    <a:pt x="55885" y="0"/>
                  </a:moveTo>
                  <a:lnTo>
                    <a:pt x="95713" y="0"/>
                  </a:lnTo>
                  <a:cubicBezTo>
                    <a:pt x="110535" y="0"/>
                    <a:pt x="124750" y="5888"/>
                    <a:pt x="135230" y="16368"/>
                  </a:cubicBezTo>
                  <a:cubicBezTo>
                    <a:pt x="145711" y="26849"/>
                    <a:pt x="151598" y="41064"/>
                    <a:pt x="151598" y="55885"/>
                  </a:cubicBezTo>
                  <a:lnTo>
                    <a:pt x="151598" y="55885"/>
                  </a:lnTo>
                  <a:cubicBezTo>
                    <a:pt x="151598" y="86750"/>
                    <a:pt x="126578" y="111770"/>
                    <a:pt x="95713" y="111770"/>
                  </a:cubicBezTo>
                  <a:lnTo>
                    <a:pt x="55885" y="111770"/>
                  </a:lnTo>
                  <a:cubicBezTo>
                    <a:pt x="25021" y="111770"/>
                    <a:pt x="0" y="86750"/>
                    <a:pt x="0" y="55885"/>
                  </a:cubicBezTo>
                  <a:lnTo>
                    <a:pt x="0" y="55885"/>
                  </a:lnTo>
                  <a:cubicBezTo>
                    <a:pt x="0" y="25021"/>
                    <a:pt x="25021" y="0"/>
                    <a:pt x="55885" y="0"/>
                  </a:cubicBezTo>
                  <a:close/>
                </a:path>
              </a:pathLst>
            </a:custGeom>
            <a:ln w="38100" cap="sq">
              <a:solidFill>
                <a:srgbClr val="FF000A"/>
              </a:solidFill>
              <a:prstDash val="sysDot"/>
              <a:miter/>
            </a:ln>
          </p:spPr>
        </p:sp>
        <p:sp>
          <p:nvSpPr>
            <p:cNvPr name="TextBox 6" id="6"/>
            <p:cNvSpPr txBox="true"/>
            <p:nvPr/>
          </p:nvSpPr>
          <p:spPr>
            <a:xfrm>
              <a:off x="0" y="-47625"/>
              <a:ext cx="151598" cy="15939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668493" y="6352106"/>
            <a:ext cx="3562678" cy="942262"/>
            <a:chOff x="0" y="0"/>
            <a:chExt cx="888404" cy="234966"/>
          </a:xfrm>
        </p:grpSpPr>
        <p:sp>
          <p:nvSpPr>
            <p:cNvPr name="Freeform 8" id="8"/>
            <p:cNvSpPr/>
            <p:nvPr/>
          </p:nvSpPr>
          <p:spPr>
            <a:xfrm flipH="false" flipV="false" rot="0">
              <a:off x="0" y="0"/>
              <a:ext cx="888404" cy="234966"/>
            </a:xfrm>
            <a:custGeom>
              <a:avLst/>
              <a:gdLst/>
              <a:ahLst/>
              <a:cxnLst/>
              <a:rect r="r" b="b" t="t" l="l"/>
              <a:pathLst>
                <a:path h="234966" w="888404">
                  <a:moveTo>
                    <a:pt x="36942" y="0"/>
                  </a:moveTo>
                  <a:lnTo>
                    <a:pt x="851462" y="0"/>
                  </a:lnTo>
                  <a:cubicBezTo>
                    <a:pt x="871865" y="0"/>
                    <a:pt x="888404" y="16540"/>
                    <a:pt x="888404" y="36942"/>
                  </a:cubicBezTo>
                  <a:lnTo>
                    <a:pt x="888404" y="198024"/>
                  </a:lnTo>
                  <a:cubicBezTo>
                    <a:pt x="888404" y="218427"/>
                    <a:pt x="871865" y="234966"/>
                    <a:pt x="851462" y="234966"/>
                  </a:cubicBezTo>
                  <a:lnTo>
                    <a:pt x="36942" y="234966"/>
                  </a:lnTo>
                  <a:cubicBezTo>
                    <a:pt x="16540" y="234966"/>
                    <a:pt x="0" y="218427"/>
                    <a:pt x="0" y="198024"/>
                  </a:cubicBezTo>
                  <a:lnTo>
                    <a:pt x="0" y="36942"/>
                  </a:lnTo>
                  <a:cubicBezTo>
                    <a:pt x="0" y="16540"/>
                    <a:pt x="16540" y="0"/>
                    <a:pt x="36942" y="0"/>
                  </a:cubicBezTo>
                  <a:close/>
                </a:path>
              </a:pathLst>
            </a:custGeom>
            <a:ln w="38100" cap="sq">
              <a:solidFill>
                <a:srgbClr val="FF000A"/>
              </a:solidFill>
              <a:prstDash val="sysDot"/>
              <a:miter/>
            </a:ln>
          </p:spPr>
        </p:sp>
        <p:sp>
          <p:nvSpPr>
            <p:cNvPr name="TextBox 9" id="9"/>
            <p:cNvSpPr txBox="true"/>
            <p:nvPr/>
          </p:nvSpPr>
          <p:spPr>
            <a:xfrm>
              <a:off x="0" y="-47625"/>
              <a:ext cx="888404" cy="282591"/>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7617888" y="6921414"/>
            <a:ext cx="320740" cy="372953"/>
          </a:xfrm>
          <a:custGeom>
            <a:avLst/>
            <a:gdLst/>
            <a:ahLst/>
            <a:cxnLst/>
            <a:rect r="r" b="b" t="t" l="l"/>
            <a:pathLst>
              <a:path h="372953" w="320740">
                <a:moveTo>
                  <a:pt x="0" y="0"/>
                </a:moveTo>
                <a:lnTo>
                  <a:pt x="320740" y="0"/>
                </a:lnTo>
                <a:lnTo>
                  <a:pt x="320740" y="372953"/>
                </a:lnTo>
                <a:lnTo>
                  <a:pt x="0" y="3729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475207" y="538204"/>
            <a:ext cx="17337586" cy="9210593"/>
          </a:xfrm>
          <a:custGeom>
            <a:avLst/>
            <a:gdLst/>
            <a:ahLst/>
            <a:cxnLst/>
            <a:rect r="r" b="b" t="t" l="l"/>
            <a:pathLst>
              <a:path h="9210593" w="17337586">
                <a:moveTo>
                  <a:pt x="0" y="0"/>
                </a:moveTo>
                <a:lnTo>
                  <a:pt x="17337586" y="0"/>
                </a:lnTo>
                <a:lnTo>
                  <a:pt x="17337586" y="9210592"/>
                </a:lnTo>
                <a:lnTo>
                  <a:pt x="0" y="9210592"/>
                </a:lnTo>
                <a:lnTo>
                  <a:pt x="0" y="0"/>
                </a:lnTo>
                <a:close/>
              </a:path>
            </a:pathLst>
          </a:custGeom>
          <a:blipFill>
            <a:blip r:embed="rId2"/>
            <a:stretch>
              <a:fillRect l="0" t="0" r="0" b="0"/>
            </a:stretch>
          </a:blipFill>
        </p:spPr>
      </p:sp>
      <p:grpSp>
        <p:nvGrpSpPr>
          <p:cNvPr name="Group 3" id="3"/>
          <p:cNvGrpSpPr/>
          <p:nvPr/>
        </p:nvGrpSpPr>
        <p:grpSpPr>
          <a:xfrm rot="0">
            <a:off x="6708484" y="2753007"/>
            <a:ext cx="874137" cy="396214"/>
            <a:chOff x="0" y="0"/>
            <a:chExt cx="246591" cy="111770"/>
          </a:xfrm>
        </p:grpSpPr>
        <p:sp>
          <p:nvSpPr>
            <p:cNvPr name="Freeform 4" id="4"/>
            <p:cNvSpPr/>
            <p:nvPr/>
          </p:nvSpPr>
          <p:spPr>
            <a:xfrm flipH="false" flipV="false" rot="0">
              <a:off x="0" y="0"/>
              <a:ext cx="246591" cy="111770"/>
            </a:xfrm>
            <a:custGeom>
              <a:avLst/>
              <a:gdLst/>
              <a:ahLst/>
              <a:cxnLst/>
              <a:rect r="r" b="b" t="t" l="l"/>
              <a:pathLst>
                <a:path h="111770" w="246591">
                  <a:moveTo>
                    <a:pt x="55885" y="0"/>
                  </a:moveTo>
                  <a:lnTo>
                    <a:pt x="190705" y="0"/>
                  </a:lnTo>
                  <a:cubicBezTo>
                    <a:pt x="221570" y="0"/>
                    <a:pt x="246591" y="25021"/>
                    <a:pt x="246591" y="55885"/>
                  </a:cubicBezTo>
                  <a:lnTo>
                    <a:pt x="246591" y="55885"/>
                  </a:lnTo>
                  <a:cubicBezTo>
                    <a:pt x="246591" y="86750"/>
                    <a:pt x="221570" y="111770"/>
                    <a:pt x="190705" y="111770"/>
                  </a:cubicBezTo>
                  <a:lnTo>
                    <a:pt x="55885" y="111770"/>
                  </a:lnTo>
                  <a:cubicBezTo>
                    <a:pt x="25021" y="111770"/>
                    <a:pt x="0" y="86750"/>
                    <a:pt x="0" y="55885"/>
                  </a:cubicBezTo>
                  <a:lnTo>
                    <a:pt x="0" y="55885"/>
                  </a:lnTo>
                  <a:cubicBezTo>
                    <a:pt x="0" y="25021"/>
                    <a:pt x="25021" y="0"/>
                    <a:pt x="55885" y="0"/>
                  </a:cubicBezTo>
                  <a:close/>
                </a:path>
              </a:pathLst>
            </a:custGeom>
            <a:ln w="38100" cap="sq">
              <a:solidFill>
                <a:srgbClr val="FF000A"/>
              </a:solidFill>
              <a:prstDash val="sysDot"/>
              <a:miter/>
            </a:ln>
          </p:spPr>
        </p:sp>
        <p:sp>
          <p:nvSpPr>
            <p:cNvPr name="TextBox 5" id="5"/>
            <p:cNvSpPr txBox="true"/>
            <p:nvPr/>
          </p:nvSpPr>
          <p:spPr>
            <a:xfrm>
              <a:off x="0" y="-47625"/>
              <a:ext cx="246591" cy="15939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145552" y="2984382"/>
            <a:ext cx="283524" cy="329679"/>
          </a:xfrm>
          <a:custGeom>
            <a:avLst/>
            <a:gdLst/>
            <a:ahLst/>
            <a:cxnLst/>
            <a:rect r="r" b="b" t="t" l="l"/>
            <a:pathLst>
              <a:path h="329679" w="283524">
                <a:moveTo>
                  <a:pt x="0" y="0"/>
                </a:moveTo>
                <a:lnTo>
                  <a:pt x="283524" y="0"/>
                </a:lnTo>
                <a:lnTo>
                  <a:pt x="283524" y="329679"/>
                </a:lnTo>
                <a:lnTo>
                  <a:pt x="0" y="3296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17259300" y="5412869"/>
            <a:ext cx="2091647" cy="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475207" y="538204"/>
            <a:ext cx="17337586" cy="9210593"/>
          </a:xfrm>
          <a:custGeom>
            <a:avLst/>
            <a:gdLst/>
            <a:ahLst/>
            <a:cxnLst/>
            <a:rect r="r" b="b" t="t" l="l"/>
            <a:pathLst>
              <a:path h="9210593" w="17337586">
                <a:moveTo>
                  <a:pt x="0" y="0"/>
                </a:moveTo>
                <a:lnTo>
                  <a:pt x="17337586" y="0"/>
                </a:lnTo>
                <a:lnTo>
                  <a:pt x="17337586" y="9210592"/>
                </a:lnTo>
                <a:lnTo>
                  <a:pt x="0" y="9210592"/>
                </a:lnTo>
                <a:lnTo>
                  <a:pt x="0" y="0"/>
                </a:lnTo>
                <a:close/>
              </a:path>
            </a:pathLst>
          </a:custGeom>
          <a:blipFill>
            <a:blip r:embed="rId2"/>
            <a:stretch>
              <a:fillRect l="0" t="0" r="0" b="0"/>
            </a:stretch>
          </a:blipFill>
        </p:spPr>
      </p:sp>
      <p:sp>
        <p:nvSpPr>
          <p:cNvPr name="AutoShape 3" id="3"/>
          <p:cNvSpPr/>
          <p:nvPr/>
        </p:nvSpPr>
        <p:spPr>
          <a:xfrm>
            <a:off x="-1605872" y="5412869"/>
            <a:ext cx="2091647" cy="0"/>
          </a:xfrm>
          <a:prstGeom prst="line">
            <a:avLst/>
          </a:prstGeom>
          <a:ln cap="flat" w="38100">
            <a:solidFill>
              <a:srgbClr val="FF000A"/>
            </a:solidFill>
            <a:prstDash val="solid"/>
            <a:headEnd type="none" len="sm" w="sm"/>
            <a:tailEnd type="triangle" len="med" w="lg"/>
          </a:ln>
        </p:spPr>
      </p:sp>
      <p:grpSp>
        <p:nvGrpSpPr>
          <p:cNvPr name="Group 4" id="4"/>
          <p:cNvGrpSpPr/>
          <p:nvPr/>
        </p:nvGrpSpPr>
        <p:grpSpPr>
          <a:xfrm rot="0">
            <a:off x="6708484" y="2753007"/>
            <a:ext cx="5578221" cy="396214"/>
            <a:chOff x="0" y="0"/>
            <a:chExt cx="1573595" cy="111770"/>
          </a:xfrm>
        </p:grpSpPr>
        <p:sp>
          <p:nvSpPr>
            <p:cNvPr name="Freeform 5" id="5"/>
            <p:cNvSpPr/>
            <p:nvPr/>
          </p:nvSpPr>
          <p:spPr>
            <a:xfrm flipH="false" flipV="false" rot="0">
              <a:off x="0" y="0"/>
              <a:ext cx="1573595" cy="111770"/>
            </a:xfrm>
            <a:custGeom>
              <a:avLst/>
              <a:gdLst/>
              <a:ahLst/>
              <a:cxnLst/>
              <a:rect r="r" b="b" t="t" l="l"/>
              <a:pathLst>
                <a:path h="111770" w="1573595">
                  <a:moveTo>
                    <a:pt x="23594" y="0"/>
                  </a:moveTo>
                  <a:lnTo>
                    <a:pt x="1550001" y="0"/>
                  </a:lnTo>
                  <a:cubicBezTo>
                    <a:pt x="1556258" y="0"/>
                    <a:pt x="1562259" y="2486"/>
                    <a:pt x="1566684" y="6911"/>
                  </a:cubicBezTo>
                  <a:cubicBezTo>
                    <a:pt x="1571109" y="11335"/>
                    <a:pt x="1573595" y="17336"/>
                    <a:pt x="1573595" y="23594"/>
                  </a:cubicBezTo>
                  <a:lnTo>
                    <a:pt x="1573595" y="88176"/>
                  </a:lnTo>
                  <a:cubicBezTo>
                    <a:pt x="1573595" y="94434"/>
                    <a:pt x="1571109" y="100435"/>
                    <a:pt x="1566684" y="104860"/>
                  </a:cubicBezTo>
                  <a:cubicBezTo>
                    <a:pt x="1562259" y="109285"/>
                    <a:pt x="1556258" y="111770"/>
                    <a:pt x="1550001" y="111770"/>
                  </a:cubicBezTo>
                  <a:lnTo>
                    <a:pt x="23594" y="111770"/>
                  </a:lnTo>
                  <a:cubicBezTo>
                    <a:pt x="17336" y="111770"/>
                    <a:pt x="11335" y="109285"/>
                    <a:pt x="6911" y="104860"/>
                  </a:cubicBezTo>
                  <a:cubicBezTo>
                    <a:pt x="2486" y="100435"/>
                    <a:pt x="0" y="94434"/>
                    <a:pt x="0" y="88176"/>
                  </a:cubicBezTo>
                  <a:lnTo>
                    <a:pt x="0" y="23594"/>
                  </a:lnTo>
                  <a:cubicBezTo>
                    <a:pt x="0" y="17336"/>
                    <a:pt x="2486" y="11335"/>
                    <a:pt x="6911" y="6911"/>
                  </a:cubicBezTo>
                  <a:cubicBezTo>
                    <a:pt x="11335" y="2486"/>
                    <a:pt x="17336" y="0"/>
                    <a:pt x="23594" y="0"/>
                  </a:cubicBezTo>
                  <a:close/>
                </a:path>
              </a:pathLst>
            </a:custGeom>
            <a:ln w="38100" cap="sq">
              <a:solidFill>
                <a:srgbClr val="FF000A"/>
              </a:solidFill>
              <a:prstDash val="sysDot"/>
              <a:miter/>
            </a:ln>
          </p:spPr>
        </p:sp>
        <p:sp>
          <p:nvSpPr>
            <p:cNvPr name="TextBox 6" id="6"/>
            <p:cNvSpPr txBox="true"/>
            <p:nvPr/>
          </p:nvSpPr>
          <p:spPr>
            <a:xfrm>
              <a:off x="0" y="-47625"/>
              <a:ext cx="1573595" cy="15939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4110756" y="1973011"/>
            <a:ext cx="5491238" cy="6340978"/>
          </a:xfrm>
          <a:custGeom>
            <a:avLst/>
            <a:gdLst/>
            <a:ahLst/>
            <a:cxnLst/>
            <a:rect r="r" b="b" t="t" l="l"/>
            <a:pathLst>
              <a:path h="6340978" w="5491238">
                <a:moveTo>
                  <a:pt x="0" y="0"/>
                </a:moveTo>
                <a:lnTo>
                  <a:pt x="5491238" y="0"/>
                </a:lnTo>
                <a:lnTo>
                  <a:pt x="5491238" y="6340978"/>
                </a:lnTo>
                <a:lnTo>
                  <a:pt x="0" y="6340978"/>
                </a:lnTo>
                <a:lnTo>
                  <a:pt x="0" y="0"/>
                </a:lnTo>
                <a:close/>
              </a:path>
            </a:pathLst>
          </a:custGeom>
          <a:blipFill>
            <a:blip r:embed="rId2"/>
            <a:stretch>
              <a:fillRect l="0" t="0" r="0" b="0"/>
            </a:stretch>
          </a:blipFill>
        </p:spPr>
      </p:sp>
      <p:sp>
        <p:nvSpPr>
          <p:cNvPr name="Freeform 3" id="3"/>
          <p:cNvSpPr/>
          <p:nvPr/>
        </p:nvSpPr>
        <p:spPr>
          <a:xfrm flipH="false" flipV="false" rot="0">
            <a:off x="10652314" y="3855438"/>
            <a:ext cx="3524930" cy="3589460"/>
          </a:xfrm>
          <a:custGeom>
            <a:avLst/>
            <a:gdLst/>
            <a:ahLst/>
            <a:cxnLst/>
            <a:rect r="r" b="b" t="t" l="l"/>
            <a:pathLst>
              <a:path h="3589460" w="3524930">
                <a:moveTo>
                  <a:pt x="0" y="0"/>
                </a:moveTo>
                <a:lnTo>
                  <a:pt x="3524930" y="0"/>
                </a:lnTo>
                <a:lnTo>
                  <a:pt x="3524930" y="3589459"/>
                </a:lnTo>
                <a:lnTo>
                  <a:pt x="0" y="3589459"/>
                </a:lnTo>
                <a:lnTo>
                  <a:pt x="0" y="0"/>
                </a:lnTo>
                <a:close/>
              </a:path>
            </a:pathLst>
          </a:custGeom>
          <a:blipFill>
            <a:blip r:embed="rId3"/>
            <a:stretch>
              <a:fillRect l="0" t="0" r="0" b="0"/>
            </a:stretch>
          </a:blipFill>
        </p:spPr>
      </p:sp>
      <p:grpSp>
        <p:nvGrpSpPr>
          <p:cNvPr name="Group 4" id="4"/>
          <p:cNvGrpSpPr/>
          <p:nvPr/>
        </p:nvGrpSpPr>
        <p:grpSpPr>
          <a:xfrm rot="0">
            <a:off x="5674597" y="3572218"/>
            <a:ext cx="2033015" cy="283220"/>
            <a:chOff x="0" y="0"/>
            <a:chExt cx="573506" cy="79895"/>
          </a:xfrm>
        </p:grpSpPr>
        <p:sp>
          <p:nvSpPr>
            <p:cNvPr name="Freeform 5" id="5"/>
            <p:cNvSpPr/>
            <p:nvPr/>
          </p:nvSpPr>
          <p:spPr>
            <a:xfrm flipH="false" flipV="false" rot="0">
              <a:off x="0" y="0"/>
              <a:ext cx="573506" cy="79895"/>
            </a:xfrm>
            <a:custGeom>
              <a:avLst/>
              <a:gdLst/>
              <a:ahLst/>
              <a:cxnLst/>
              <a:rect r="r" b="b" t="t" l="l"/>
              <a:pathLst>
                <a:path h="79895" w="573506">
                  <a:moveTo>
                    <a:pt x="39948" y="0"/>
                  </a:moveTo>
                  <a:lnTo>
                    <a:pt x="533558" y="0"/>
                  </a:lnTo>
                  <a:cubicBezTo>
                    <a:pt x="544153" y="0"/>
                    <a:pt x="554314" y="4209"/>
                    <a:pt x="561805" y="11700"/>
                  </a:cubicBezTo>
                  <a:cubicBezTo>
                    <a:pt x="569297" y="19192"/>
                    <a:pt x="573506" y="29353"/>
                    <a:pt x="573506" y="39948"/>
                  </a:cubicBezTo>
                  <a:lnTo>
                    <a:pt x="573506" y="39948"/>
                  </a:lnTo>
                  <a:cubicBezTo>
                    <a:pt x="573506" y="62010"/>
                    <a:pt x="555621" y="79895"/>
                    <a:pt x="533558" y="79895"/>
                  </a:cubicBezTo>
                  <a:lnTo>
                    <a:pt x="39948" y="79895"/>
                  </a:lnTo>
                  <a:cubicBezTo>
                    <a:pt x="29353" y="79895"/>
                    <a:pt x="19192" y="75686"/>
                    <a:pt x="11700" y="68195"/>
                  </a:cubicBezTo>
                  <a:cubicBezTo>
                    <a:pt x="4209" y="60703"/>
                    <a:pt x="0" y="50542"/>
                    <a:pt x="0" y="39948"/>
                  </a:cubicBezTo>
                  <a:lnTo>
                    <a:pt x="0" y="39948"/>
                  </a:lnTo>
                  <a:cubicBezTo>
                    <a:pt x="0" y="29353"/>
                    <a:pt x="4209" y="19192"/>
                    <a:pt x="11700" y="11700"/>
                  </a:cubicBezTo>
                  <a:cubicBezTo>
                    <a:pt x="19192" y="4209"/>
                    <a:pt x="29353" y="0"/>
                    <a:pt x="39948" y="0"/>
                  </a:cubicBezTo>
                  <a:close/>
                </a:path>
              </a:pathLst>
            </a:custGeom>
            <a:ln w="38100" cap="sq">
              <a:solidFill>
                <a:srgbClr val="FF000A"/>
              </a:solidFill>
              <a:prstDash val="sysDot"/>
              <a:miter/>
            </a:ln>
          </p:spPr>
        </p:sp>
        <p:sp>
          <p:nvSpPr>
            <p:cNvPr name="TextBox 6" id="6"/>
            <p:cNvSpPr txBox="true"/>
            <p:nvPr/>
          </p:nvSpPr>
          <p:spPr>
            <a:xfrm>
              <a:off x="0" y="-47625"/>
              <a:ext cx="573506" cy="12752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5066465" y="4269696"/>
            <a:ext cx="283524" cy="329679"/>
          </a:xfrm>
          <a:custGeom>
            <a:avLst/>
            <a:gdLst/>
            <a:ahLst/>
            <a:cxnLst/>
            <a:rect r="r" b="b" t="t" l="l"/>
            <a:pathLst>
              <a:path h="329679" w="283524">
                <a:moveTo>
                  <a:pt x="0" y="0"/>
                </a:moveTo>
                <a:lnTo>
                  <a:pt x="283524" y="0"/>
                </a:lnTo>
                <a:lnTo>
                  <a:pt x="283524" y="329678"/>
                </a:lnTo>
                <a:lnTo>
                  <a:pt x="0" y="3296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998530" y="3690598"/>
            <a:ext cx="283524" cy="329679"/>
          </a:xfrm>
          <a:custGeom>
            <a:avLst/>
            <a:gdLst/>
            <a:ahLst/>
            <a:cxnLst/>
            <a:rect r="r" b="b" t="t" l="l"/>
            <a:pathLst>
              <a:path h="329679" w="283524">
                <a:moveTo>
                  <a:pt x="0" y="0"/>
                </a:moveTo>
                <a:lnTo>
                  <a:pt x="283524" y="0"/>
                </a:lnTo>
                <a:lnTo>
                  <a:pt x="283524" y="329679"/>
                </a:lnTo>
                <a:lnTo>
                  <a:pt x="0" y="3296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4933482" y="4639355"/>
            <a:ext cx="549490" cy="533400"/>
          </a:xfrm>
          <a:prstGeom prst="rect">
            <a:avLst/>
          </a:prstGeom>
        </p:spPr>
        <p:txBody>
          <a:bodyPr anchor="t" rtlCol="false" tIns="0" lIns="0" bIns="0" rIns="0">
            <a:spAutoFit/>
          </a:bodyPr>
          <a:lstStyle/>
          <a:p>
            <a:pPr algn="l">
              <a:lnSpc>
                <a:spcPts val="2100"/>
              </a:lnSpc>
            </a:pPr>
            <a:r>
              <a:rPr lang="en-US" sz="1500" spc="-25">
                <a:solidFill>
                  <a:srgbClr val="FF0000"/>
                </a:solidFill>
                <a:latin typeface="Raleway"/>
                <a:ea typeface="Raleway"/>
                <a:cs typeface="Raleway"/>
                <a:sym typeface="Raleway"/>
              </a:rPr>
              <a:t>Sağ tik</a:t>
            </a:r>
          </a:p>
        </p:txBody>
      </p:sp>
      <p:sp>
        <p:nvSpPr>
          <p:cNvPr name="AutoShape 10" id="10"/>
          <p:cNvSpPr/>
          <p:nvPr/>
        </p:nvSpPr>
        <p:spPr>
          <a:xfrm>
            <a:off x="7707612" y="3713828"/>
            <a:ext cx="2944702" cy="365058"/>
          </a:xfrm>
          <a:prstGeom prst="line">
            <a:avLst/>
          </a:prstGeom>
          <a:ln cap="flat" w="38100">
            <a:solidFill>
              <a:srgbClr val="FF000A"/>
            </a:solidFill>
            <a:prstDash val="solid"/>
            <a:headEnd type="none" len="sm" w="sm"/>
            <a:tailEnd type="triangle" len="med" w="lg"/>
          </a:ln>
        </p:spPr>
      </p:sp>
      <p:sp>
        <p:nvSpPr>
          <p:cNvPr name="TextBox 11" id="11"/>
          <p:cNvSpPr txBox="true"/>
          <p:nvPr/>
        </p:nvSpPr>
        <p:spPr>
          <a:xfrm rot="0">
            <a:off x="1028700" y="962025"/>
            <a:ext cx="16230600"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İlk python dosyasını oluşturalım:</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859208" y="1484408"/>
            <a:ext cx="16569585" cy="8802592"/>
          </a:xfrm>
          <a:custGeom>
            <a:avLst/>
            <a:gdLst/>
            <a:ahLst/>
            <a:cxnLst/>
            <a:rect r="r" b="b" t="t" l="l"/>
            <a:pathLst>
              <a:path h="8802592" w="16569585">
                <a:moveTo>
                  <a:pt x="0" y="0"/>
                </a:moveTo>
                <a:lnTo>
                  <a:pt x="16569584" y="0"/>
                </a:lnTo>
                <a:lnTo>
                  <a:pt x="16569584" y="8802592"/>
                </a:lnTo>
                <a:lnTo>
                  <a:pt x="0" y="8802592"/>
                </a:lnTo>
                <a:lnTo>
                  <a:pt x="0" y="0"/>
                </a:lnTo>
                <a:close/>
              </a:path>
            </a:pathLst>
          </a:custGeom>
          <a:blipFill>
            <a:blip r:embed="rId2"/>
            <a:stretch>
              <a:fillRect l="0" t="0" r="0" b="0"/>
            </a:stretch>
          </a:blipFill>
        </p:spPr>
      </p:sp>
      <p:grpSp>
        <p:nvGrpSpPr>
          <p:cNvPr name="Group 3" id="3"/>
          <p:cNvGrpSpPr/>
          <p:nvPr/>
        </p:nvGrpSpPr>
        <p:grpSpPr>
          <a:xfrm rot="0">
            <a:off x="4944814" y="8474304"/>
            <a:ext cx="2335757" cy="252474"/>
            <a:chOff x="0" y="0"/>
            <a:chExt cx="658908" cy="71222"/>
          </a:xfrm>
        </p:grpSpPr>
        <p:sp>
          <p:nvSpPr>
            <p:cNvPr name="Freeform 4" id="4"/>
            <p:cNvSpPr/>
            <p:nvPr/>
          </p:nvSpPr>
          <p:spPr>
            <a:xfrm flipH="false" flipV="false" rot="0">
              <a:off x="0" y="0"/>
              <a:ext cx="658908" cy="71222"/>
            </a:xfrm>
            <a:custGeom>
              <a:avLst/>
              <a:gdLst/>
              <a:ahLst/>
              <a:cxnLst/>
              <a:rect r="r" b="b" t="t" l="l"/>
              <a:pathLst>
                <a:path h="71222" w="658908">
                  <a:moveTo>
                    <a:pt x="35611" y="0"/>
                  </a:moveTo>
                  <a:lnTo>
                    <a:pt x="623297" y="0"/>
                  </a:lnTo>
                  <a:cubicBezTo>
                    <a:pt x="642964" y="0"/>
                    <a:pt x="658908" y="15944"/>
                    <a:pt x="658908" y="35611"/>
                  </a:cubicBezTo>
                  <a:lnTo>
                    <a:pt x="658908" y="35611"/>
                  </a:lnTo>
                  <a:cubicBezTo>
                    <a:pt x="658908" y="55278"/>
                    <a:pt x="642964" y="71222"/>
                    <a:pt x="623297" y="71222"/>
                  </a:cubicBezTo>
                  <a:lnTo>
                    <a:pt x="35611" y="71222"/>
                  </a:lnTo>
                  <a:cubicBezTo>
                    <a:pt x="15944" y="71222"/>
                    <a:pt x="0" y="55278"/>
                    <a:pt x="0" y="35611"/>
                  </a:cubicBezTo>
                  <a:lnTo>
                    <a:pt x="0" y="35611"/>
                  </a:lnTo>
                  <a:cubicBezTo>
                    <a:pt x="0" y="15944"/>
                    <a:pt x="15944" y="0"/>
                    <a:pt x="35611" y="0"/>
                  </a:cubicBezTo>
                  <a:close/>
                </a:path>
              </a:pathLst>
            </a:custGeom>
            <a:ln w="38100" cap="sq">
              <a:solidFill>
                <a:srgbClr val="FF000A"/>
              </a:solidFill>
              <a:prstDash val="sysDot"/>
              <a:miter/>
            </a:ln>
          </p:spPr>
        </p:sp>
        <p:sp>
          <p:nvSpPr>
            <p:cNvPr name="TextBox 5" id="5"/>
            <p:cNvSpPr txBox="true"/>
            <p:nvPr/>
          </p:nvSpPr>
          <p:spPr>
            <a:xfrm>
              <a:off x="0" y="-47625"/>
              <a:ext cx="658908" cy="11884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962025"/>
            <a:ext cx="16230600" cy="449580"/>
          </a:xfrm>
          <a:prstGeom prst="rect">
            <a:avLst/>
          </a:prstGeom>
        </p:spPr>
        <p:txBody>
          <a:bodyPr anchor="t" rtlCol="false" tIns="0" lIns="0" bIns="0" rIns="0">
            <a:spAutoFit/>
          </a:bodyPr>
          <a:lstStyle/>
          <a:p>
            <a:pPr algn="l">
              <a:lnSpc>
                <a:spcPts val="3569"/>
              </a:lnSpc>
            </a:pPr>
            <a:r>
              <a:rPr lang="en-US" sz="2550" spc="-43">
                <a:solidFill>
                  <a:srgbClr val="203251"/>
                </a:solidFill>
                <a:latin typeface="Raleway"/>
                <a:ea typeface="Raleway"/>
                <a:cs typeface="Raleway"/>
                <a:sym typeface="Raleway"/>
              </a:rPr>
              <a:t>Oluşturduğumuz python dosyasına </a:t>
            </a:r>
            <a:r>
              <a:rPr lang="en-US" sz="2550" spc="-43" b="true">
                <a:solidFill>
                  <a:srgbClr val="203251"/>
                </a:solidFill>
                <a:latin typeface="Raleway Bold"/>
                <a:ea typeface="Raleway Bold"/>
                <a:cs typeface="Raleway Bold"/>
                <a:sym typeface="Raleway Bold"/>
              </a:rPr>
              <a:t>print(35+45)</a:t>
            </a:r>
            <a:r>
              <a:rPr lang="en-US" sz="2550" spc="-43">
                <a:solidFill>
                  <a:srgbClr val="203251"/>
                </a:solidFill>
                <a:latin typeface="Raleway"/>
                <a:ea typeface="Raleway"/>
                <a:cs typeface="Raleway"/>
                <a:sym typeface="Raleway"/>
              </a:rPr>
              <a:t> kodunu yazınız ve çalıştırınız.</a:t>
            </a:r>
          </a:p>
        </p:txBody>
      </p:sp>
      <p:grpSp>
        <p:nvGrpSpPr>
          <p:cNvPr name="Group 7" id="7"/>
          <p:cNvGrpSpPr/>
          <p:nvPr/>
        </p:nvGrpSpPr>
        <p:grpSpPr>
          <a:xfrm rot="0">
            <a:off x="16268502" y="1897973"/>
            <a:ext cx="582968" cy="312398"/>
            <a:chOff x="0" y="0"/>
            <a:chExt cx="164453" cy="88126"/>
          </a:xfrm>
        </p:grpSpPr>
        <p:sp>
          <p:nvSpPr>
            <p:cNvPr name="Freeform 8" id="8"/>
            <p:cNvSpPr/>
            <p:nvPr/>
          </p:nvSpPr>
          <p:spPr>
            <a:xfrm flipH="false" flipV="false" rot="0">
              <a:off x="0" y="0"/>
              <a:ext cx="164453" cy="88126"/>
            </a:xfrm>
            <a:custGeom>
              <a:avLst/>
              <a:gdLst/>
              <a:ahLst/>
              <a:cxnLst/>
              <a:rect r="r" b="b" t="t" l="l"/>
              <a:pathLst>
                <a:path h="88126" w="164453">
                  <a:moveTo>
                    <a:pt x="44063" y="0"/>
                  </a:moveTo>
                  <a:lnTo>
                    <a:pt x="120390" y="0"/>
                  </a:lnTo>
                  <a:cubicBezTo>
                    <a:pt x="144725" y="0"/>
                    <a:pt x="164453" y="19728"/>
                    <a:pt x="164453" y="44063"/>
                  </a:cubicBezTo>
                  <a:lnTo>
                    <a:pt x="164453" y="44063"/>
                  </a:lnTo>
                  <a:cubicBezTo>
                    <a:pt x="164453" y="68399"/>
                    <a:pt x="144725" y="88126"/>
                    <a:pt x="120390" y="88126"/>
                  </a:cubicBezTo>
                  <a:lnTo>
                    <a:pt x="44063" y="88126"/>
                  </a:lnTo>
                  <a:cubicBezTo>
                    <a:pt x="19728" y="88126"/>
                    <a:pt x="0" y="68399"/>
                    <a:pt x="0" y="44063"/>
                  </a:cubicBezTo>
                  <a:lnTo>
                    <a:pt x="0" y="44063"/>
                  </a:lnTo>
                  <a:cubicBezTo>
                    <a:pt x="0" y="19728"/>
                    <a:pt x="19728" y="0"/>
                    <a:pt x="44063" y="0"/>
                  </a:cubicBezTo>
                  <a:close/>
                </a:path>
              </a:pathLst>
            </a:custGeom>
            <a:ln w="38100" cap="sq">
              <a:solidFill>
                <a:srgbClr val="FF000A"/>
              </a:solidFill>
              <a:prstDash val="sysDot"/>
              <a:miter/>
            </a:ln>
          </p:spPr>
        </p:sp>
        <p:sp>
          <p:nvSpPr>
            <p:cNvPr name="TextBox 9" id="9"/>
            <p:cNvSpPr txBox="true"/>
            <p:nvPr/>
          </p:nvSpPr>
          <p:spPr>
            <a:xfrm>
              <a:off x="0" y="-47625"/>
              <a:ext cx="164453" cy="135751"/>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39808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5. Aşama:</a:t>
            </a:r>
            <a:r>
              <a:rPr lang="en-US" sz="2550" spc="-43">
                <a:solidFill>
                  <a:srgbClr val="203251"/>
                </a:solidFill>
                <a:latin typeface="Raleway"/>
                <a:ea typeface="Raleway"/>
                <a:cs typeface="Raleway"/>
                <a:sym typeface="Raleway"/>
              </a:rPr>
              <a:t> Projenin Dijital Depoya Aktarılması</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Visu</a:t>
            </a:r>
            <a:r>
              <a:rPr lang="en-US" sz="2000" spc="-34">
                <a:solidFill>
                  <a:srgbClr val="203251"/>
                </a:solidFill>
                <a:latin typeface="Raleway"/>
                <a:ea typeface="Raleway"/>
                <a:cs typeface="Raleway"/>
                <a:sym typeface="Raleway"/>
              </a:rPr>
              <a:t>al Studio Co</a:t>
            </a:r>
            <a:r>
              <a:rPr lang="en-US" sz="2000" spc="-34" u="none">
                <a:solidFill>
                  <a:srgbClr val="203251"/>
                </a:solidFill>
                <a:latin typeface="Raleway"/>
                <a:ea typeface="Raleway"/>
                <a:cs typeface="Raleway"/>
                <a:sym typeface="Raleway"/>
              </a:rPr>
              <a:t>de</a:t>
            </a:r>
            <a:r>
              <a:rPr lang="en-US" sz="2000" spc="-34">
                <a:solidFill>
                  <a:srgbClr val="203251"/>
                </a:solidFill>
                <a:latin typeface="Raleway"/>
                <a:ea typeface="Raleway"/>
                <a:cs typeface="Raleway"/>
                <a:sym typeface="Raleway"/>
              </a:rPr>
              <a:t> üzerinde oluşturulan kod_asistanim çalışma alanının ve projenin başlangıç dosyalarının küresel bir bulut deposunda yedeklenmesi, kodların güvenliği ve dürüst sürüm kontrolü açısından kritik bir adımdır. Proje dosyalarınızı tarayıcı üzerinden GitHub platformuna yüklemek için aşağıdaki adımları planlı bir disiplinle uygulayınız.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İnternet tarayıcınızdan</a:t>
            </a:r>
            <a:r>
              <a:rPr lang="en-US" b="true" sz="2000" spc="-34">
                <a:solidFill>
                  <a:srgbClr val="203251"/>
                </a:solidFill>
                <a:latin typeface="Raleway Bold"/>
                <a:ea typeface="Raleway Bold"/>
                <a:cs typeface="Raleway Bold"/>
                <a:sym typeface="Raleway Bold"/>
              </a:rPr>
              <a:t> </a:t>
            </a:r>
            <a:r>
              <a:rPr lang="en-US" b="true" sz="2000" spc="-34" u="sng">
                <a:solidFill>
                  <a:srgbClr val="203251"/>
                </a:solidFill>
                <a:latin typeface="Raleway Bold"/>
                <a:ea typeface="Raleway Bold"/>
                <a:cs typeface="Raleway Bold"/>
                <a:sym typeface="Raleway Bold"/>
                <a:hlinkClick r:id="rId2" tooltip="https://github.com"/>
              </a:rPr>
              <a:t>https://github.com</a:t>
            </a:r>
            <a:r>
              <a:rPr lang="en-US" b="true" sz="2000" spc="-34">
                <a:solidFill>
                  <a:srgbClr val="203251"/>
                </a:solidFill>
                <a:latin typeface="Raleway Bold"/>
                <a:ea typeface="Raleway Bold"/>
                <a:cs typeface="Raleway Bold"/>
                <a:sym typeface="Raleway Bold"/>
              </a:rPr>
              <a:t> </a:t>
            </a:r>
            <a:r>
              <a:rPr lang="en-US" sz="2000" spc="-34">
                <a:solidFill>
                  <a:srgbClr val="203251"/>
                </a:solidFill>
                <a:latin typeface="Raleway"/>
                <a:ea typeface="Raleway"/>
                <a:cs typeface="Raleway"/>
                <a:sym typeface="Raleway"/>
              </a:rPr>
              <a:t>adresine erişim sağlayıp giriş yapınız.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Kod asistan deponuzu açınız.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Depo ekranının üst menüsünde yer alan </a:t>
            </a:r>
            <a:r>
              <a:rPr lang="en-US" b="true" sz="2000" spc="-34">
                <a:solidFill>
                  <a:srgbClr val="203251"/>
                </a:solidFill>
                <a:latin typeface="Raleway Bold"/>
                <a:ea typeface="Raleway Bold"/>
                <a:cs typeface="Raleway Bold"/>
                <a:sym typeface="Raleway Bold"/>
              </a:rPr>
              <a:t>uploading an existing file (mevcut bir dosyayı yükle)</a:t>
            </a:r>
            <a:r>
              <a:rPr lang="en-US" sz="2000" spc="-34">
                <a:solidFill>
                  <a:srgbClr val="203251"/>
                </a:solidFill>
                <a:latin typeface="Raleway"/>
                <a:ea typeface="Raleway"/>
                <a:cs typeface="Raleway"/>
                <a:sym typeface="Raleway"/>
              </a:rPr>
              <a:t> bağlantısına tıklayınız.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Bilgisayarınızın yerel deposundaki kod_asistanim klasörü içerisinde yer alan tüm başlangıç dosyalarını ve tasarım belgelerini sürükleyerek tarayıcıdaki bu alana bırakınız.</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Commit changes (Değişiklikleri kaydet)</a:t>
            </a:r>
            <a:r>
              <a:rPr lang="en-US" sz="2000" spc="-34">
                <a:solidFill>
                  <a:srgbClr val="203251"/>
                </a:solidFill>
                <a:latin typeface="Raleway"/>
                <a:ea typeface="Raleway"/>
                <a:cs typeface="Raleway"/>
                <a:sym typeface="Raleway"/>
              </a:rPr>
              <a:t> kutucuğunun başlık alanına dürüstlük ilkesi çerçevesinde projenin ilk adımını tanımlayan </a:t>
            </a:r>
            <a:r>
              <a:rPr lang="en-US" b="true" sz="2000" spc="-34">
                <a:solidFill>
                  <a:srgbClr val="203251"/>
                </a:solidFill>
                <a:latin typeface="Raleway Bold"/>
                <a:ea typeface="Raleway Bold"/>
                <a:cs typeface="Raleway Bold"/>
                <a:sym typeface="Raleway Bold"/>
              </a:rPr>
              <a:t>İlk sürüm yapılandırması tamamlandı</a:t>
            </a:r>
            <a:r>
              <a:rPr lang="en-US" sz="2000" spc="-34">
                <a:solidFill>
                  <a:srgbClr val="203251"/>
                </a:solidFill>
                <a:latin typeface="Raleway"/>
                <a:ea typeface="Raleway"/>
                <a:cs typeface="Raleway"/>
                <a:sym typeface="Raleway"/>
              </a:rPr>
              <a:t> notunu yazınız ve </a:t>
            </a:r>
            <a:r>
              <a:rPr lang="en-US" b="true" sz="2000" spc="-34">
                <a:solidFill>
                  <a:srgbClr val="203251"/>
                </a:solidFill>
                <a:latin typeface="Raleway Bold"/>
                <a:ea typeface="Raleway Bold"/>
                <a:cs typeface="Raleway Bold"/>
                <a:sym typeface="Raleway Bold"/>
              </a:rPr>
              <a:t>Commit changes</a:t>
            </a:r>
            <a:r>
              <a:rPr lang="en-US" sz="2000" spc="-34">
                <a:solidFill>
                  <a:srgbClr val="203251"/>
                </a:solidFill>
                <a:latin typeface="Raleway"/>
                <a:ea typeface="Raleway"/>
                <a:cs typeface="Raleway"/>
                <a:sym typeface="Raleway"/>
              </a:rPr>
              <a:t> butonuna tıklayarak yükleme döngüsünü tamamlayınız.</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8039192" y="1090258"/>
            <a:ext cx="8323921" cy="8168042"/>
          </a:xfrm>
          <a:custGeom>
            <a:avLst/>
            <a:gdLst/>
            <a:ahLst/>
            <a:cxnLst/>
            <a:rect r="r" b="b" t="t" l="l"/>
            <a:pathLst>
              <a:path h="8168042" w="8323921">
                <a:moveTo>
                  <a:pt x="0" y="0"/>
                </a:moveTo>
                <a:lnTo>
                  <a:pt x="8323921" y="0"/>
                </a:lnTo>
                <a:lnTo>
                  <a:pt x="8323921" y="8168042"/>
                </a:lnTo>
                <a:lnTo>
                  <a:pt x="0" y="8168042"/>
                </a:lnTo>
                <a:lnTo>
                  <a:pt x="0" y="0"/>
                </a:lnTo>
                <a:close/>
              </a:path>
            </a:pathLst>
          </a:custGeom>
          <a:blipFill>
            <a:blip r:embed="rId2"/>
            <a:stretch>
              <a:fillRect l="0" t="0" r="0" b="0"/>
            </a:stretch>
          </a:blipFill>
        </p:spPr>
      </p:sp>
      <p:sp>
        <p:nvSpPr>
          <p:cNvPr name="Freeform 3" id="3"/>
          <p:cNvSpPr/>
          <p:nvPr/>
        </p:nvSpPr>
        <p:spPr>
          <a:xfrm flipH="false" flipV="false" rot="0">
            <a:off x="1981490" y="1028700"/>
            <a:ext cx="5444112" cy="3227581"/>
          </a:xfrm>
          <a:custGeom>
            <a:avLst/>
            <a:gdLst/>
            <a:ahLst/>
            <a:cxnLst/>
            <a:rect r="r" b="b" t="t" l="l"/>
            <a:pathLst>
              <a:path h="3227581" w="5444112">
                <a:moveTo>
                  <a:pt x="0" y="0"/>
                </a:moveTo>
                <a:lnTo>
                  <a:pt x="5444113" y="0"/>
                </a:lnTo>
                <a:lnTo>
                  <a:pt x="5444113" y="3227581"/>
                </a:lnTo>
                <a:lnTo>
                  <a:pt x="0" y="3227581"/>
                </a:lnTo>
                <a:lnTo>
                  <a:pt x="0" y="0"/>
                </a:lnTo>
                <a:close/>
              </a:path>
            </a:pathLst>
          </a:custGeom>
          <a:blipFill>
            <a:blip r:embed="rId3"/>
            <a:stretch>
              <a:fillRect l="0" t="0" r="0" b="0"/>
            </a:stretch>
          </a:blipFill>
        </p:spPr>
      </p:sp>
      <p:grpSp>
        <p:nvGrpSpPr>
          <p:cNvPr name="Group 4" id="4"/>
          <p:cNvGrpSpPr/>
          <p:nvPr/>
        </p:nvGrpSpPr>
        <p:grpSpPr>
          <a:xfrm rot="0">
            <a:off x="3535668" y="1829659"/>
            <a:ext cx="1908180" cy="371246"/>
            <a:chOff x="0" y="0"/>
            <a:chExt cx="538290" cy="104727"/>
          </a:xfrm>
        </p:grpSpPr>
        <p:sp>
          <p:nvSpPr>
            <p:cNvPr name="Freeform 5" id="5"/>
            <p:cNvSpPr/>
            <p:nvPr/>
          </p:nvSpPr>
          <p:spPr>
            <a:xfrm flipH="false" flipV="false" rot="0">
              <a:off x="0" y="0"/>
              <a:ext cx="538290" cy="104727"/>
            </a:xfrm>
            <a:custGeom>
              <a:avLst/>
              <a:gdLst/>
              <a:ahLst/>
              <a:cxnLst/>
              <a:rect r="r" b="b" t="t" l="l"/>
              <a:pathLst>
                <a:path h="104727" w="538290">
                  <a:moveTo>
                    <a:pt x="52363" y="0"/>
                  </a:moveTo>
                  <a:lnTo>
                    <a:pt x="485927" y="0"/>
                  </a:lnTo>
                  <a:cubicBezTo>
                    <a:pt x="499814" y="0"/>
                    <a:pt x="513133" y="5517"/>
                    <a:pt x="522953" y="15337"/>
                  </a:cubicBezTo>
                  <a:cubicBezTo>
                    <a:pt x="532773" y="25157"/>
                    <a:pt x="538290" y="38476"/>
                    <a:pt x="538290" y="52363"/>
                  </a:cubicBezTo>
                  <a:lnTo>
                    <a:pt x="538290" y="52363"/>
                  </a:lnTo>
                  <a:cubicBezTo>
                    <a:pt x="538290" y="66251"/>
                    <a:pt x="532773" y="79570"/>
                    <a:pt x="522953" y="89390"/>
                  </a:cubicBezTo>
                  <a:cubicBezTo>
                    <a:pt x="513133" y="99210"/>
                    <a:pt x="499814" y="104727"/>
                    <a:pt x="485927" y="104727"/>
                  </a:cubicBezTo>
                  <a:lnTo>
                    <a:pt x="52363" y="104727"/>
                  </a:lnTo>
                  <a:cubicBezTo>
                    <a:pt x="38476" y="104727"/>
                    <a:pt x="25157" y="99210"/>
                    <a:pt x="15337" y="89390"/>
                  </a:cubicBezTo>
                  <a:cubicBezTo>
                    <a:pt x="5517" y="79570"/>
                    <a:pt x="0" y="66251"/>
                    <a:pt x="0" y="52363"/>
                  </a:cubicBezTo>
                  <a:lnTo>
                    <a:pt x="0" y="52363"/>
                  </a:lnTo>
                  <a:cubicBezTo>
                    <a:pt x="0" y="38476"/>
                    <a:pt x="5517" y="25157"/>
                    <a:pt x="15337" y="15337"/>
                  </a:cubicBezTo>
                  <a:cubicBezTo>
                    <a:pt x="25157" y="5517"/>
                    <a:pt x="38476" y="0"/>
                    <a:pt x="52363" y="0"/>
                  </a:cubicBezTo>
                  <a:close/>
                </a:path>
              </a:pathLst>
            </a:custGeom>
            <a:ln w="38100" cap="sq">
              <a:solidFill>
                <a:srgbClr val="FF000A"/>
              </a:solidFill>
              <a:prstDash val="sysDot"/>
              <a:miter/>
            </a:ln>
          </p:spPr>
        </p:sp>
        <p:sp>
          <p:nvSpPr>
            <p:cNvPr name="TextBox 6" id="6"/>
            <p:cNvSpPr txBox="true"/>
            <p:nvPr/>
          </p:nvSpPr>
          <p:spPr>
            <a:xfrm>
              <a:off x="0" y="-47625"/>
              <a:ext cx="538290" cy="15235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4840152" y="1090258"/>
            <a:ext cx="603695" cy="381263"/>
            <a:chOff x="0" y="0"/>
            <a:chExt cx="170300" cy="107553"/>
          </a:xfrm>
        </p:grpSpPr>
        <p:sp>
          <p:nvSpPr>
            <p:cNvPr name="Freeform 8" id="8"/>
            <p:cNvSpPr/>
            <p:nvPr/>
          </p:nvSpPr>
          <p:spPr>
            <a:xfrm flipH="false" flipV="false" rot="0">
              <a:off x="0" y="0"/>
              <a:ext cx="170300" cy="107553"/>
            </a:xfrm>
            <a:custGeom>
              <a:avLst/>
              <a:gdLst/>
              <a:ahLst/>
              <a:cxnLst/>
              <a:rect r="r" b="b" t="t" l="l"/>
              <a:pathLst>
                <a:path h="107553" w="170300">
                  <a:moveTo>
                    <a:pt x="53776" y="0"/>
                  </a:moveTo>
                  <a:lnTo>
                    <a:pt x="116524" y="0"/>
                  </a:lnTo>
                  <a:cubicBezTo>
                    <a:pt x="130786" y="0"/>
                    <a:pt x="144464" y="5666"/>
                    <a:pt x="154549" y="15751"/>
                  </a:cubicBezTo>
                  <a:cubicBezTo>
                    <a:pt x="164634" y="25836"/>
                    <a:pt x="170300" y="39514"/>
                    <a:pt x="170300" y="53776"/>
                  </a:cubicBezTo>
                  <a:lnTo>
                    <a:pt x="170300" y="53776"/>
                  </a:lnTo>
                  <a:cubicBezTo>
                    <a:pt x="170300" y="83476"/>
                    <a:pt x="146224" y="107553"/>
                    <a:pt x="116524" y="107553"/>
                  </a:cubicBezTo>
                  <a:lnTo>
                    <a:pt x="53776" y="107553"/>
                  </a:lnTo>
                  <a:cubicBezTo>
                    <a:pt x="39514" y="107553"/>
                    <a:pt x="25836" y="101887"/>
                    <a:pt x="15751" y="91802"/>
                  </a:cubicBezTo>
                  <a:cubicBezTo>
                    <a:pt x="5666" y="81717"/>
                    <a:pt x="0" y="68039"/>
                    <a:pt x="0" y="53776"/>
                  </a:cubicBezTo>
                  <a:lnTo>
                    <a:pt x="0" y="53776"/>
                  </a:lnTo>
                  <a:cubicBezTo>
                    <a:pt x="0" y="39514"/>
                    <a:pt x="5666" y="25836"/>
                    <a:pt x="15751" y="15751"/>
                  </a:cubicBezTo>
                  <a:cubicBezTo>
                    <a:pt x="25836" y="5666"/>
                    <a:pt x="39514" y="0"/>
                    <a:pt x="53776" y="0"/>
                  </a:cubicBezTo>
                  <a:close/>
                </a:path>
              </a:pathLst>
            </a:custGeom>
            <a:ln w="38100" cap="sq">
              <a:solidFill>
                <a:srgbClr val="FF000A"/>
              </a:solidFill>
              <a:prstDash val="sysDot"/>
              <a:miter/>
            </a:ln>
          </p:spPr>
        </p:sp>
        <p:sp>
          <p:nvSpPr>
            <p:cNvPr name="TextBox 9" id="9"/>
            <p:cNvSpPr txBox="true"/>
            <p:nvPr/>
          </p:nvSpPr>
          <p:spPr>
            <a:xfrm>
              <a:off x="0" y="-47625"/>
              <a:ext cx="170300" cy="15517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8540305" y="3875018"/>
            <a:ext cx="7587463" cy="796963"/>
            <a:chOff x="0" y="0"/>
            <a:chExt cx="2140394" cy="224820"/>
          </a:xfrm>
        </p:grpSpPr>
        <p:sp>
          <p:nvSpPr>
            <p:cNvPr name="Freeform 11" id="11"/>
            <p:cNvSpPr/>
            <p:nvPr/>
          </p:nvSpPr>
          <p:spPr>
            <a:xfrm flipH="false" flipV="false" rot="0">
              <a:off x="0" y="0"/>
              <a:ext cx="2140394" cy="224820"/>
            </a:xfrm>
            <a:custGeom>
              <a:avLst/>
              <a:gdLst/>
              <a:ahLst/>
              <a:cxnLst/>
              <a:rect r="r" b="b" t="t" l="l"/>
              <a:pathLst>
                <a:path h="224820" w="2140394">
                  <a:moveTo>
                    <a:pt x="17346" y="0"/>
                  </a:moveTo>
                  <a:lnTo>
                    <a:pt x="2123048" y="0"/>
                  </a:lnTo>
                  <a:cubicBezTo>
                    <a:pt x="2132628" y="0"/>
                    <a:pt x="2140394" y="7766"/>
                    <a:pt x="2140394" y="17346"/>
                  </a:cubicBezTo>
                  <a:lnTo>
                    <a:pt x="2140394" y="207474"/>
                  </a:lnTo>
                  <a:cubicBezTo>
                    <a:pt x="2140394" y="212075"/>
                    <a:pt x="2138567" y="216487"/>
                    <a:pt x="2135314" y="219740"/>
                  </a:cubicBezTo>
                  <a:cubicBezTo>
                    <a:pt x="2132061" y="222993"/>
                    <a:pt x="2127649" y="224820"/>
                    <a:pt x="2123048" y="224820"/>
                  </a:cubicBezTo>
                  <a:lnTo>
                    <a:pt x="17346" y="224820"/>
                  </a:lnTo>
                  <a:cubicBezTo>
                    <a:pt x="12746" y="224820"/>
                    <a:pt x="8334" y="222993"/>
                    <a:pt x="5081" y="219740"/>
                  </a:cubicBezTo>
                  <a:cubicBezTo>
                    <a:pt x="1828" y="216487"/>
                    <a:pt x="0" y="212075"/>
                    <a:pt x="0" y="207474"/>
                  </a:cubicBezTo>
                  <a:lnTo>
                    <a:pt x="0" y="17346"/>
                  </a:lnTo>
                  <a:cubicBezTo>
                    <a:pt x="0" y="12746"/>
                    <a:pt x="1828" y="8334"/>
                    <a:pt x="5081" y="5081"/>
                  </a:cubicBezTo>
                  <a:cubicBezTo>
                    <a:pt x="8334" y="1828"/>
                    <a:pt x="12746" y="0"/>
                    <a:pt x="17346" y="0"/>
                  </a:cubicBezTo>
                  <a:close/>
                </a:path>
              </a:pathLst>
            </a:custGeom>
            <a:ln w="38100" cap="sq">
              <a:solidFill>
                <a:srgbClr val="FF000A"/>
              </a:solidFill>
              <a:prstDash val="sysDot"/>
              <a:miter/>
            </a:ln>
          </p:spPr>
        </p:sp>
        <p:sp>
          <p:nvSpPr>
            <p:cNvPr name="TextBox 12" id="12"/>
            <p:cNvSpPr txBox="true"/>
            <p:nvPr/>
          </p:nvSpPr>
          <p:spPr>
            <a:xfrm>
              <a:off x="0" y="-47625"/>
              <a:ext cx="2140394" cy="27244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8540305" y="6295955"/>
            <a:ext cx="7706235" cy="856349"/>
            <a:chOff x="0" y="0"/>
            <a:chExt cx="2173899" cy="241573"/>
          </a:xfrm>
        </p:grpSpPr>
        <p:sp>
          <p:nvSpPr>
            <p:cNvPr name="Freeform 14" id="14"/>
            <p:cNvSpPr/>
            <p:nvPr/>
          </p:nvSpPr>
          <p:spPr>
            <a:xfrm flipH="false" flipV="false" rot="0">
              <a:off x="0" y="0"/>
              <a:ext cx="2173899" cy="241573"/>
            </a:xfrm>
            <a:custGeom>
              <a:avLst/>
              <a:gdLst/>
              <a:ahLst/>
              <a:cxnLst/>
              <a:rect r="r" b="b" t="t" l="l"/>
              <a:pathLst>
                <a:path h="241573" w="2173899">
                  <a:moveTo>
                    <a:pt x="17079" y="0"/>
                  </a:moveTo>
                  <a:lnTo>
                    <a:pt x="2156820" y="0"/>
                  </a:lnTo>
                  <a:cubicBezTo>
                    <a:pt x="2166253" y="0"/>
                    <a:pt x="2173899" y="7646"/>
                    <a:pt x="2173899" y="17079"/>
                  </a:cubicBezTo>
                  <a:lnTo>
                    <a:pt x="2173899" y="224494"/>
                  </a:lnTo>
                  <a:cubicBezTo>
                    <a:pt x="2173899" y="233926"/>
                    <a:pt x="2166253" y="241573"/>
                    <a:pt x="2156820" y="241573"/>
                  </a:cubicBezTo>
                  <a:lnTo>
                    <a:pt x="17079" y="241573"/>
                  </a:lnTo>
                  <a:cubicBezTo>
                    <a:pt x="7646" y="241573"/>
                    <a:pt x="0" y="233926"/>
                    <a:pt x="0" y="224494"/>
                  </a:cubicBezTo>
                  <a:lnTo>
                    <a:pt x="0" y="17079"/>
                  </a:lnTo>
                  <a:cubicBezTo>
                    <a:pt x="0" y="7646"/>
                    <a:pt x="7646" y="0"/>
                    <a:pt x="17079" y="0"/>
                  </a:cubicBezTo>
                  <a:close/>
                </a:path>
              </a:pathLst>
            </a:custGeom>
            <a:ln w="38100" cap="sq">
              <a:solidFill>
                <a:srgbClr val="FF000A"/>
              </a:solidFill>
              <a:prstDash val="sysDot"/>
              <a:miter/>
            </a:ln>
          </p:spPr>
        </p:sp>
        <p:sp>
          <p:nvSpPr>
            <p:cNvPr name="TextBox 15" id="15"/>
            <p:cNvSpPr txBox="true"/>
            <p:nvPr/>
          </p:nvSpPr>
          <p:spPr>
            <a:xfrm>
              <a:off x="0" y="-47625"/>
              <a:ext cx="2173899" cy="289198"/>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4467054" y="8610015"/>
            <a:ext cx="1720099" cy="476277"/>
            <a:chOff x="0" y="0"/>
            <a:chExt cx="485233" cy="134356"/>
          </a:xfrm>
        </p:grpSpPr>
        <p:sp>
          <p:nvSpPr>
            <p:cNvPr name="Freeform 17" id="17"/>
            <p:cNvSpPr/>
            <p:nvPr/>
          </p:nvSpPr>
          <p:spPr>
            <a:xfrm flipH="false" flipV="false" rot="0">
              <a:off x="0" y="0"/>
              <a:ext cx="485233" cy="134356"/>
            </a:xfrm>
            <a:custGeom>
              <a:avLst/>
              <a:gdLst/>
              <a:ahLst/>
              <a:cxnLst/>
              <a:rect r="r" b="b" t="t" l="l"/>
              <a:pathLst>
                <a:path h="134356" w="485233">
                  <a:moveTo>
                    <a:pt x="67178" y="0"/>
                  </a:moveTo>
                  <a:lnTo>
                    <a:pt x="418055" y="0"/>
                  </a:lnTo>
                  <a:cubicBezTo>
                    <a:pt x="455157" y="0"/>
                    <a:pt x="485233" y="30077"/>
                    <a:pt x="485233" y="67178"/>
                  </a:cubicBezTo>
                  <a:lnTo>
                    <a:pt x="485233" y="67178"/>
                  </a:lnTo>
                  <a:cubicBezTo>
                    <a:pt x="485233" y="84995"/>
                    <a:pt x="478156" y="102082"/>
                    <a:pt x="465557" y="114680"/>
                  </a:cubicBezTo>
                  <a:cubicBezTo>
                    <a:pt x="452959" y="127278"/>
                    <a:pt x="435872" y="134356"/>
                    <a:pt x="418055" y="134356"/>
                  </a:cubicBezTo>
                  <a:lnTo>
                    <a:pt x="67178" y="134356"/>
                  </a:lnTo>
                  <a:cubicBezTo>
                    <a:pt x="49361" y="134356"/>
                    <a:pt x="32274" y="127278"/>
                    <a:pt x="19676" y="114680"/>
                  </a:cubicBezTo>
                  <a:cubicBezTo>
                    <a:pt x="7078" y="102082"/>
                    <a:pt x="0" y="84995"/>
                    <a:pt x="0" y="67178"/>
                  </a:cubicBezTo>
                  <a:lnTo>
                    <a:pt x="0" y="67178"/>
                  </a:lnTo>
                  <a:cubicBezTo>
                    <a:pt x="0" y="49361"/>
                    <a:pt x="7078" y="32274"/>
                    <a:pt x="19676" y="19676"/>
                  </a:cubicBezTo>
                  <a:cubicBezTo>
                    <a:pt x="32274" y="7078"/>
                    <a:pt x="49361" y="0"/>
                    <a:pt x="67178" y="0"/>
                  </a:cubicBezTo>
                  <a:close/>
                </a:path>
              </a:pathLst>
            </a:custGeom>
            <a:ln w="38100" cap="sq">
              <a:solidFill>
                <a:srgbClr val="FF000A"/>
              </a:solidFill>
              <a:prstDash val="sysDot"/>
              <a:miter/>
            </a:ln>
          </p:spPr>
        </p:sp>
        <p:sp>
          <p:nvSpPr>
            <p:cNvPr name="TextBox 18" id="18"/>
            <p:cNvSpPr txBox="true"/>
            <p:nvPr/>
          </p:nvSpPr>
          <p:spPr>
            <a:xfrm>
              <a:off x="0" y="-47625"/>
              <a:ext cx="485233" cy="181981"/>
            </a:xfrm>
            <a:prstGeom prst="rect">
              <a:avLst/>
            </a:prstGeom>
          </p:spPr>
          <p:txBody>
            <a:bodyPr anchor="ctr" rtlCol="false" tIns="50800" lIns="50800" bIns="50800" rIns="50800"/>
            <a:lstStyle/>
            <a:p>
              <a:pPr algn="ctr">
                <a:lnSpc>
                  <a:spcPts val="2659"/>
                </a:lnSpc>
                <a:spcBef>
                  <a:spcPct val="0"/>
                </a:spcBef>
              </a:pPr>
            </a:p>
          </p:txBody>
        </p:sp>
      </p:grpSp>
      <p:sp>
        <p:nvSpPr>
          <p:cNvPr name="AutoShape 19" id="19"/>
          <p:cNvSpPr/>
          <p:nvPr/>
        </p:nvSpPr>
        <p:spPr>
          <a:xfrm flipV="true">
            <a:off x="5443847" y="1761800"/>
            <a:ext cx="2595345" cy="253482"/>
          </a:xfrm>
          <a:prstGeom prst="line">
            <a:avLst/>
          </a:prstGeom>
          <a:ln cap="flat" w="38100">
            <a:solidFill>
              <a:srgbClr val="FF000A"/>
            </a:solidFill>
            <a:prstDash val="solid"/>
            <a:headEnd type="none" len="sm" w="sm"/>
            <a:tailEnd type="triangle" len="med" w="lg"/>
          </a:ln>
        </p:spPr>
      </p:sp>
      <p:sp>
        <p:nvSpPr>
          <p:cNvPr name="Freeform 20" id="20"/>
          <p:cNvSpPr/>
          <p:nvPr/>
        </p:nvSpPr>
        <p:spPr>
          <a:xfrm flipH="false" flipV="false" rot="0">
            <a:off x="5000238" y="2015282"/>
            <a:ext cx="283524" cy="329679"/>
          </a:xfrm>
          <a:custGeom>
            <a:avLst/>
            <a:gdLst/>
            <a:ahLst/>
            <a:cxnLst/>
            <a:rect r="r" b="b" t="t" l="l"/>
            <a:pathLst>
              <a:path h="329679" w="283524">
                <a:moveTo>
                  <a:pt x="0" y="0"/>
                </a:moveTo>
                <a:lnTo>
                  <a:pt x="283524" y="0"/>
                </a:lnTo>
                <a:lnTo>
                  <a:pt x="283524" y="329679"/>
                </a:lnTo>
                <a:lnTo>
                  <a:pt x="0" y="3296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5844244" y="8848153"/>
            <a:ext cx="283524" cy="329679"/>
          </a:xfrm>
          <a:custGeom>
            <a:avLst/>
            <a:gdLst/>
            <a:ahLst/>
            <a:cxnLst/>
            <a:rect r="r" b="b" t="t" l="l"/>
            <a:pathLst>
              <a:path h="329679" w="283524">
                <a:moveTo>
                  <a:pt x="0" y="0"/>
                </a:moveTo>
                <a:lnTo>
                  <a:pt x="283524" y="0"/>
                </a:lnTo>
                <a:lnTo>
                  <a:pt x="283524" y="329679"/>
                </a:lnTo>
                <a:lnTo>
                  <a:pt x="0" y="3296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468122"/>
            <a:ext cx="8033566" cy="7350755"/>
          </a:xfrm>
          <a:custGeom>
            <a:avLst/>
            <a:gdLst/>
            <a:ahLst/>
            <a:cxnLst/>
            <a:rect r="r" b="b" t="t" l="l"/>
            <a:pathLst>
              <a:path h="7350755" w="8033566">
                <a:moveTo>
                  <a:pt x="0" y="0"/>
                </a:moveTo>
                <a:lnTo>
                  <a:pt x="8033566" y="0"/>
                </a:lnTo>
                <a:lnTo>
                  <a:pt x="8033566" y="7350756"/>
                </a:lnTo>
                <a:lnTo>
                  <a:pt x="0" y="7350756"/>
                </a:lnTo>
                <a:lnTo>
                  <a:pt x="0" y="0"/>
                </a:lnTo>
                <a:close/>
              </a:path>
            </a:pathLst>
          </a:custGeom>
          <a:blipFill>
            <a:blip r:embed="rId2"/>
            <a:stretch>
              <a:fillRect l="0" t="0" r="0" b="0"/>
            </a:stretch>
          </a:blipFill>
        </p:spPr>
      </p:sp>
      <p:sp>
        <p:nvSpPr>
          <p:cNvPr name="Freeform 3" id="3"/>
          <p:cNvSpPr/>
          <p:nvPr/>
        </p:nvSpPr>
        <p:spPr>
          <a:xfrm flipH="false" flipV="false" rot="0">
            <a:off x="9501075" y="1468122"/>
            <a:ext cx="7758225" cy="7350755"/>
          </a:xfrm>
          <a:custGeom>
            <a:avLst/>
            <a:gdLst/>
            <a:ahLst/>
            <a:cxnLst/>
            <a:rect r="r" b="b" t="t" l="l"/>
            <a:pathLst>
              <a:path h="7350755" w="7758225">
                <a:moveTo>
                  <a:pt x="0" y="0"/>
                </a:moveTo>
                <a:lnTo>
                  <a:pt x="7758225" y="0"/>
                </a:lnTo>
                <a:lnTo>
                  <a:pt x="7758225" y="7350756"/>
                </a:lnTo>
                <a:lnTo>
                  <a:pt x="0" y="7350756"/>
                </a:lnTo>
                <a:lnTo>
                  <a:pt x="0" y="0"/>
                </a:lnTo>
                <a:close/>
              </a:path>
            </a:pathLst>
          </a:custGeom>
          <a:blipFill>
            <a:blip r:embed="rId3"/>
            <a:stretch>
              <a:fillRect l="0" t="0" r="0" b="0"/>
            </a:stretch>
          </a:blipFill>
        </p:spPr>
      </p:sp>
      <p:grpSp>
        <p:nvGrpSpPr>
          <p:cNvPr name="Group 4" id="4"/>
          <p:cNvGrpSpPr/>
          <p:nvPr/>
        </p:nvGrpSpPr>
        <p:grpSpPr>
          <a:xfrm rot="0">
            <a:off x="10214998" y="6590882"/>
            <a:ext cx="6667661" cy="343274"/>
            <a:chOff x="0" y="0"/>
            <a:chExt cx="1880922" cy="96836"/>
          </a:xfrm>
        </p:grpSpPr>
        <p:sp>
          <p:nvSpPr>
            <p:cNvPr name="Freeform 5" id="5"/>
            <p:cNvSpPr/>
            <p:nvPr/>
          </p:nvSpPr>
          <p:spPr>
            <a:xfrm flipH="false" flipV="false" rot="0">
              <a:off x="0" y="0"/>
              <a:ext cx="1880922" cy="96836"/>
            </a:xfrm>
            <a:custGeom>
              <a:avLst/>
              <a:gdLst/>
              <a:ahLst/>
              <a:cxnLst/>
              <a:rect r="r" b="b" t="t" l="l"/>
              <a:pathLst>
                <a:path h="96836" w="1880922">
                  <a:moveTo>
                    <a:pt x="19739" y="0"/>
                  </a:moveTo>
                  <a:lnTo>
                    <a:pt x="1861183" y="0"/>
                  </a:lnTo>
                  <a:cubicBezTo>
                    <a:pt x="1866418" y="0"/>
                    <a:pt x="1871438" y="2080"/>
                    <a:pt x="1875140" y="5781"/>
                  </a:cubicBezTo>
                  <a:cubicBezTo>
                    <a:pt x="1878842" y="9483"/>
                    <a:pt x="1880922" y="14504"/>
                    <a:pt x="1880922" y="19739"/>
                  </a:cubicBezTo>
                  <a:lnTo>
                    <a:pt x="1880922" y="77097"/>
                  </a:lnTo>
                  <a:cubicBezTo>
                    <a:pt x="1880922" y="82332"/>
                    <a:pt x="1878842" y="87353"/>
                    <a:pt x="1875140" y="91055"/>
                  </a:cubicBezTo>
                  <a:cubicBezTo>
                    <a:pt x="1871438" y="94757"/>
                    <a:pt x="1866418" y="96836"/>
                    <a:pt x="1861183" y="96836"/>
                  </a:cubicBezTo>
                  <a:lnTo>
                    <a:pt x="19739" y="96836"/>
                  </a:lnTo>
                  <a:cubicBezTo>
                    <a:pt x="14504" y="96836"/>
                    <a:pt x="9483" y="94757"/>
                    <a:pt x="5781" y="91055"/>
                  </a:cubicBezTo>
                  <a:cubicBezTo>
                    <a:pt x="2080" y="87353"/>
                    <a:pt x="0" y="82332"/>
                    <a:pt x="0" y="77097"/>
                  </a:cubicBezTo>
                  <a:lnTo>
                    <a:pt x="0" y="19739"/>
                  </a:lnTo>
                  <a:cubicBezTo>
                    <a:pt x="0" y="14504"/>
                    <a:pt x="2080" y="9483"/>
                    <a:pt x="5781" y="5781"/>
                  </a:cubicBezTo>
                  <a:cubicBezTo>
                    <a:pt x="9483" y="2080"/>
                    <a:pt x="14504" y="0"/>
                    <a:pt x="19739" y="0"/>
                  </a:cubicBezTo>
                  <a:close/>
                </a:path>
              </a:pathLst>
            </a:custGeom>
            <a:ln w="38100" cap="sq">
              <a:solidFill>
                <a:srgbClr val="FF000A"/>
              </a:solidFill>
              <a:prstDash val="sysDot"/>
              <a:miter/>
            </a:ln>
          </p:spPr>
        </p:sp>
        <p:sp>
          <p:nvSpPr>
            <p:cNvPr name="TextBox 6" id="6"/>
            <p:cNvSpPr txBox="true"/>
            <p:nvPr/>
          </p:nvSpPr>
          <p:spPr>
            <a:xfrm>
              <a:off x="0" y="-47625"/>
              <a:ext cx="1880922" cy="144461"/>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115123" y="8470789"/>
            <a:ext cx="1275589" cy="348089"/>
            <a:chOff x="0" y="0"/>
            <a:chExt cx="359839" cy="98194"/>
          </a:xfrm>
        </p:grpSpPr>
        <p:sp>
          <p:nvSpPr>
            <p:cNvPr name="Freeform 8" id="8"/>
            <p:cNvSpPr/>
            <p:nvPr/>
          </p:nvSpPr>
          <p:spPr>
            <a:xfrm flipH="false" flipV="false" rot="0">
              <a:off x="0" y="0"/>
              <a:ext cx="359839" cy="98194"/>
            </a:xfrm>
            <a:custGeom>
              <a:avLst/>
              <a:gdLst/>
              <a:ahLst/>
              <a:cxnLst/>
              <a:rect r="r" b="b" t="t" l="l"/>
              <a:pathLst>
                <a:path h="98194" w="359839">
                  <a:moveTo>
                    <a:pt x="49097" y="0"/>
                  </a:moveTo>
                  <a:lnTo>
                    <a:pt x="310742" y="0"/>
                  </a:lnTo>
                  <a:cubicBezTo>
                    <a:pt x="337857" y="0"/>
                    <a:pt x="359839" y="21982"/>
                    <a:pt x="359839" y="49097"/>
                  </a:cubicBezTo>
                  <a:lnTo>
                    <a:pt x="359839" y="49097"/>
                  </a:lnTo>
                  <a:cubicBezTo>
                    <a:pt x="359839" y="62119"/>
                    <a:pt x="354666" y="74607"/>
                    <a:pt x="345459" y="83814"/>
                  </a:cubicBezTo>
                  <a:cubicBezTo>
                    <a:pt x="336251" y="93022"/>
                    <a:pt x="323763" y="98194"/>
                    <a:pt x="310742" y="98194"/>
                  </a:cubicBezTo>
                  <a:lnTo>
                    <a:pt x="49097" y="98194"/>
                  </a:lnTo>
                  <a:cubicBezTo>
                    <a:pt x="21982" y="98194"/>
                    <a:pt x="0" y="76213"/>
                    <a:pt x="0" y="49097"/>
                  </a:cubicBezTo>
                  <a:lnTo>
                    <a:pt x="0" y="49097"/>
                  </a:lnTo>
                  <a:cubicBezTo>
                    <a:pt x="0" y="21982"/>
                    <a:pt x="21982" y="0"/>
                    <a:pt x="49097" y="0"/>
                  </a:cubicBezTo>
                  <a:close/>
                </a:path>
              </a:pathLst>
            </a:custGeom>
            <a:ln w="38100" cap="sq">
              <a:solidFill>
                <a:srgbClr val="FF000A"/>
              </a:solidFill>
              <a:prstDash val="sysDot"/>
              <a:miter/>
            </a:ln>
          </p:spPr>
        </p:sp>
        <p:sp>
          <p:nvSpPr>
            <p:cNvPr name="TextBox 9" id="9"/>
            <p:cNvSpPr txBox="true"/>
            <p:nvPr/>
          </p:nvSpPr>
          <p:spPr>
            <a:xfrm>
              <a:off x="0" y="-47625"/>
              <a:ext cx="359839" cy="145819"/>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4429487" y="4126549"/>
            <a:ext cx="5347466" cy="1432849"/>
          </a:xfrm>
          <a:prstGeom prst="line">
            <a:avLst/>
          </a:prstGeom>
          <a:ln cap="flat" w="38100">
            <a:solidFill>
              <a:srgbClr val="FF000A"/>
            </a:solidFill>
            <a:prstDash val="solid"/>
            <a:headEnd type="none" len="sm" w="sm"/>
            <a:tailEnd type="triangle" len="med" w="lg"/>
          </a:ln>
        </p:spPr>
      </p:sp>
      <p:grpSp>
        <p:nvGrpSpPr>
          <p:cNvPr name="Group 11" id="11"/>
          <p:cNvGrpSpPr/>
          <p:nvPr/>
        </p:nvGrpSpPr>
        <p:grpSpPr>
          <a:xfrm rot="0">
            <a:off x="2394605" y="3169827"/>
            <a:ext cx="2034882" cy="1492159"/>
            <a:chOff x="0" y="0"/>
            <a:chExt cx="574033" cy="420932"/>
          </a:xfrm>
        </p:grpSpPr>
        <p:sp>
          <p:nvSpPr>
            <p:cNvPr name="Freeform 12" id="12"/>
            <p:cNvSpPr/>
            <p:nvPr/>
          </p:nvSpPr>
          <p:spPr>
            <a:xfrm flipH="false" flipV="false" rot="0">
              <a:off x="0" y="0"/>
              <a:ext cx="574033" cy="420932"/>
            </a:xfrm>
            <a:custGeom>
              <a:avLst/>
              <a:gdLst/>
              <a:ahLst/>
              <a:cxnLst/>
              <a:rect r="r" b="b" t="t" l="l"/>
              <a:pathLst>
                <a:path h="420932" w="574033">
                  <a:moveTo>
                    <a:pt x="64678" y="0"/>
                  </a:moveTo>
                  <a:lnTo>
                    <a:pt x="509354" y="0"/>
                  </a:lnTo>
                  <a:cubicBezTo>
                    <a:pt x="545075" y="0"/>
                    <a:pt x="574033" y="28957"/>
                    <a:pt x="574033" y="64678"/>
                  </a:cubicBezTo>
                  <a:lnTo>
                    <a:pt x="574033" y="356254"/>
                  </a:lnTo>
                  <a:cubicBezTo>
                    <a:pt x="574033" y="391975"/>
                    <a:pt x="545075" y="420932"/>
                    <a:pt x="509354" y="420932"/>
                  </a:cubicBezTo>
                  <a:lnTo>
                    <a:pt x="64678" y="420932"/>
                  </a:lnTo>
                  <a:cubicBezTo>
                    <a:pt x="28957" y="420932"/>
                    <a:pt x="0" y="391975"/>
                    <a:pt x="0" y="356254"/>
                  </a:cubicBezTo>
                  <a:lnTo>
                    <a:pt x="0" y="64678"/>
                  </a:lnTo>
                  <a:cubicBezTo>
                    <a:pt x="0" y="28957"/>
                    <a:pt x="28957" y="0"/>
                    <a:pt x="64678" y="0"/>
                  </a:cubicBezTo>
                  <a:close/>
                </a:path>
              </a:pathLst>
            </a:custGeom>
            <a:ln w="38100" cap="sq">
              <a:solidFill>
                <a:srgbClr val="FF000A"/>
              </a:solidFill>
              <a:prstDash val="sysDot"/>
              <a:miter/>
            </a:ln>
          </p:spPr>
        </p:sp>
        <p:sp>
          <p:nvSpPr>
            <p:cNvPr name="TextBox 13" id="13"/>
            <p:cNvSpPr txBox="true"/>
            <p:nvPr/>
          </p:nvSpPr>
          <p:spPr>
            <a:xfrm>
              <a:off x="0" y="-47625"/>
              <a:ext cx="574033" cy="4685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9735477" y="5143500"/>
            <a:ext cx="1944942" cy="916576"/>
            <a:chOff x="0" y="0"/>
            <a:chExt cx="548661" cy="258562"/>
          </a:xfrm>
        </p:grpSpPr>
        <p:sp>
          <p:nvSpPr>
            <p:cNvPr name="Freeform 15" id="15"/>
            <p:cNvSpPr/>
            <p:nvPr/>
          </p:nvSpPr>
          <p:spPr>
            <a:xfrm flipH="false" flipV="false" rot="0">
              <a:off x="0" y="0"/>
              <a:ext cx="548661" cy="258562"/>
            </a:xfrm>
            <a:custGeom>
              <a:avLst/>
              <a:gdLst/>
              <a:ahLst/>
              <a:cxnLst/>
              <a:rect r="r" b="b" t="t" l="l"/>
              <a:pathLst>
                <a:path h="258562" w="548661">
                  <a:moveTo>
                    <a:pt x="67669" y="0"/>
                  </a:moveTo>
                  <a:lnTo>
                    <a:pt x="480991" y="0"/>
                  </a:lnTo>
                  <a:cubicBezTo>
                    <a:pt x="518364" y="0"/>
                    <a:pt x="548661" y="30297"/>
                    <a:pt x="548661" y="67669"/>
                  </a:cubicBezTo>
                  <a:lnTo>
                    <a:pt x="548661" y="190893"/>
                  </a:lnTo>
                  <a:cubicBezTo>
                    <a:pt x="548661" y="208840"/>
                    <a:pt x="541531" y="226052"/>
                    <a:pt x="528841" y="238743"/>
                  </a:cubicBezTo>
                  <a:cubicBezTo>
                    <a:pt x="516150" y="251433"/>
                    <a:pt x="498938" y="258562"/>
                    <a:pt x="480991" y="258562"/>
                  </a:cubicBezTo>
                  <a:lnTo>
                    <a:pt x="67669" y="258562"/>
                  </a:lnTo>
                  <a:cubicBezTo>
                    <a:pt x="30297" y="258562"/>
                    <a:pt x="0" y="228266"/>
                    <a:pt x="0" y="190893"/>
                  </a:cubicBezTo>
                  <a:lnTo>
                    <a:pt x="0" y="67669"/>
                  </a:lnTo>
                  <a:cubicBezTo>
                    <a:pt x="0" y="30297"/>
                    <a:pt x="30297" y="0"/>
                    <a:pt x="67669" y="0"/>
                  </a:cubicBezTo>
                  <a:close/>
                </a:path>
              </a:pathLst>
            </a:custGeom>
            <a:ln w="38100" cap="sq">
              <a:solidFill>
                <a:srgbClr val="FF000A"/>
              </a:solidFill>
              <a:prstDash val="sysDot"/>
              <a:miter/>
            </a:ln>
          </p:spPr>
        </p:sp>
        <p:sp>
          <p:nvSpPr>
            <p:cNvPr name="TextBox 16" id="16"/>
            <p:cNvSpPr txBox="true"/>
            <p:nvPr/>
          </p:nvSpPr>
          <p:spPr>
            <a:xfrm>
              <a:off x="0" y="-47625"/>
              <a:ext cx="548661" cy="306187"/>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11178452" y="8654038"/>
            <a:ext cx="283524" cy="329679"/>
          </a:xfrm>
          <a:custGeom>
            <a:avLst/>
            <a:gdLst/>
            <a:ahLst/>
            <a:cxnLst/>
            <a:rect r="r" b="b" t="t" l="l"/>
            <a:pathLst>
              <a:path h="329679" w="283524">
                <a:moveTo>
                  <a:pt x="0" y="0"/>
                </a:moveTo>
                <a:lnTo>
                  <a:pt x="283524" y="0"/>
                </a:lnTo>
                <a:lnTo>
                  <a:pt x="283524" y="329679"/>
                </a:lnTo>
                <a:lnTo>
                  <a:pt x="0" y="3296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6230600" cy="6835209"/>
          </a:xfrm>
          <a:custGeom>
            <a:avLst/>
            <a:gdLst/>
            <a:ahLst/>
            <a:cxnLst/>
            <a:rect r="r" b="b" t="t" l="l"/>
            <a:pathLst>
              <a:path h="6835209" w="16230600">
                <a:moveTo>
                  <a:pt x="0" y="0"/>
                </a:moveTo>
                <a:lnTo>
                  <a:pt x="16230600" y="0"/>
                </a:lnTo>
                <a:lnTo>
                  <a:pt x="16230600" y="6835209"/>
                </a:lnTo>
                <a:lnTo>
                  <a:pt x="0" y="6835209"/>
                </a:lnTo>
                <a:lnTo>
                  <a:pt x="0" y="0"/>
                </a:lnTo>
                <a:close/>
              </a:path>
            </a:pathLst>
          </a:custGeom>
          <a:blipFill>
            <a:blip r:embed="rId2"/>
            <a:stretch>
              <a:fillRect l="-434" t="0" r="-434" b="0"/>
            </a:stretch>
          </a:blipFill>
        </p:spPr>
      </p:sp>
      <p:grpSp>
        <p:nvGrpSpPr>
          <p:cNvPr name="Group 3" id="3"/>
          <p:cNvGrpSpPr/>
          <p:nvPr/>
        </p:nvGrpSpPr>
        <p:grpSpPr>
          <a:xfrm rot="0">
            <a:off x="3613832" y="4222525"/>
            <a:ext cx="8095394" cy="427258"/>
            <a:chOff x="0" y="0"/>
            <a:chExt cx="2283680" cy="120528"/>
          </a:xfrm>
        </p:grpSpPr>
        <p:sp>
          <p:nvSpPr>
            <p:cNvPr name="Freeform 4" id="4"/>
            <p:cNvSpPr/>
            <p:nvPr/>
          </p:nvSpPr>
          <p:spPr>
            <a:xfrm flipH="false" flipV="false" rot="0">
              <a:off x="0" y="0"/>
              <a:ext cx="2283680" cy="120528"/>
            </a:xfrm>
            <a:custGeom>
              <a:avLst/>
              <a:gdLst/>
              <a:ahLst/>
              <a:cxnLst/>
              <a:rect r="r" b="b" t="t" l="l"/>
              <a:pathLst>
                <a:path h="120528" w="2283680">
                  <a:moveTo>
                    <a:pt x="16258" y="0"/>
                  </a:moveTo>
                  <a:lnTo>
                    <a:pt x="2267422" y="0"/>
                  </a:lnTo>
                  <a:cubicBezTo>
                    <a:pt x="2271734" y="0"/>
                    <a:pt x="2275869" y="1713"/>
                    <a:pt x="2278918" y="4762"/>
                  </a:cubicBezTo>
                  <a:cubicBezTo>
                    <a:pt x="2281967" y="7811"/>
                    <a:pt x="2283680" y="11946"/>
                    <a:pt x="2283680" y="16258"/>
                  </a:cubicBezTo>
                  <a:lnTo>
                    <a:pt x="2283680" y="104270"/>
                  </a:lnTo>
                  <a:cubicBezTo>
                    <a:pt x="2283680" y="108582"/>
                    <a:pt x="2281967" y="112717"/>
                    <a:pt x="2278918" y="115766"/>
                  </a:cubicBezTo>
                  <a:cubicBezTo>
                    <a:pt x="2275869" y="118815"/>
                    <a:pt x="2271734" y="120528"/>
                    <a:pt x="2267422" y="120528"/>
                  </a:cubicBezTo>
                  <a:lnTo>
                    <a:pt x="16258" y="120528"/>
                  </a:lnTo>
                  <a:cubicBezTo>
                    <a:pt x="11946" y="120528"/>
                    <a:pt x="7811" y="118815"/>
                    <a:pt x="4762" y="115766"/>
                  </a:cubicBezTo>
                  <a:cubicBezTo>
                    <a:pt x="1713" y="112717"/>
                    <a:pt x="0" y="108582"/>
                    <a:pt x="0" y="104270"/>
                  </a:cubicBezTo>
                  <a:lnTo>
                    <a:pt x="0" y="16258"/>
                  </a:lnTo>
                  <a:cubicBezTo>
                    <a:pt x="0" y="11946"/>
                    <a:pt x="1713" y="7811"/>
                    <a:pt x="4762" y="4762"/>
                  </a:cubicBezTo>
                  <a:cubicBezTo>
                    <a:pt x="7811" y="1713"/>
                    <a:pt x="11946" y="0"/>
                    <a:pt x="16258" y="0"/>
                  </a:cubicBezTo>
                  <a:close/>
                </a:path>
              </a:pathLst>
            </a:custGeom>
            <a:ln w="38100" cap="sq">
              <a:solidFill>
                <a:srgbClr val="FF000A"/>
              </a:solidFill>
              <a:prstDash val="sysDot"/>
              <a:miter/>
            </a:ln>
          </p:spPr>
        </p:sp>
        <p:sp>
          <p:nvSpPr>
            <p:cNvPr name="TextBox 5" id="5"/>
            <p:cNvSpPr txBox="true"/>
            <p:nvPr/>
          </p:nvSpPr>
          <p:spPr>
            <a:xfrm>
              <a:off x="0" y="-47625"/>
              <a:ext cx="2283680" cy="16815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4136" y="1822121"/>
            <a:ext cx="15279727" cy="8098255"/>
          </a:xfrm>
          <a:custGeom>
            <a:avLst/>
            <a:gdLst/>
            <a:ahLst/>
            <a:cxnLst/>
            <a:rect r="r" b="b" t="t" l="l"/>
            <a:pathLst>
              <a:path h="8098255" w="15279727">
                <a:moveTo>
                  <a:pt x="0" y="0"/>
                </a:moveTo>
                <a:lnTo>
                  <a:pt x="15279728" y="0"/>
                </a:lnTo>
                <a:lnTo>
                  <a:pt x="15279728" y="8098255"/>
                </a:lnTo>
                <a:lnTo>
                  <a:pt x="0" y="8098255"/>
                </a:lnTo>
                <a:lnTo>
                  <a:pt x="0" y="0"/>
                </a:lnTo>
                <a:close/>
              </a:path>
            </a:pathLst>
          </a:custGeom>
          <a:blipFill>
            <a:blip r:embed="rId2"/>
            <a:stretch>
              <a:fillRect l="0" t="0" r="0" b="0"/>
            </a:stretch>
          </a:blipFill>
        </p:spPr>
      </p:sp>
      <p:grpSp>
        <p:nvGrpSpPr>
          <p:cNvPr name="Group 3" id="3"/>
          <p:cNvGrpSpPr/>
          <p:nvPr/>
        </p:nvGrpSpPr>
        <p:grpSpPr>
          <a:xfrm rot="0">
            <a:off x="1915942" y="8275026"/>
            <a:ext cx="3031405" cy="412244"/>
            <a:chOff x="0" y="0"/>
            <a:chExt cx="443703" cy="60340"/>
          </a:xfrm>
        </p:grpSpPr>
        <p:sp>
          <p:nvSpPr>
            <p:cNvPr name="Freeform 4" id="4"/>
            <p:cNvSpPr/>
            <p:nvPr/>
          </p:nvSpPr>
          <p:spPr>
            <a:xfrm flipH="false" flipV="false" rot="0">
              <a:off x="0" y="0"/>
              <a:ext cx="443703" cy="60340"/>
            </a:xfrm>
            <a:custGeom>
              <a:avLst/>
              <a:gdLst/>
              <a:ahLst/>
              <a:cxnLst/>
              <a:rect r="r" b="b" t="t" l="l"/>
              <a:pathLst>
                <a:path h="60340" w="443703">
                  <a:moveTo>
                    <a:pt x="30170" y="0"/>
                  </a:moveTo>
                  <a:lnTo>
                    <a:pt x="413533" y="0"/>
                  </a:lnTo>
                  <a:cubicBezTo>
                    <a:pt x="430196" y="0"/>
                    <a:pt x="443703" y="13508"/>
                    <a:pt x="443703" y="30170"/>
                  </a:cubicBezTo>
                  <a:lnTo>
                    <a:pt x="443703" y="30170"/>
                  </a:lnTo>
                  <a:cubicBezTo>
                    <a:pt x="443703" y="46832"/>
                    <a:pt x="430196" y="60340"/>
                    <a:pt x="413533" y="60340"/>
                  </a:cubicBezTo>
                  <a:lnTo>
                    <a:pt x="30170" y="60340"/>
                  </a:lnTo>
                  <a:cubicBezTo>
                    <a:pt x="13508" y="60340"/>
                    <a:pt x="0" y="46832"/>
                    <a:pt x="0" y="30170"/>
                  </a:cubicBezTo>
                  <a:lnTo>
                    <a:pt x="0" y="30170"/>
                  </a:lnTo>
                  <a:cubicBezTo>
                    <a:pt x="0" y="13508"/>
                    <a:pt x="13508" y="0"/>
                    <a:pt x="30170" y="0"/>
                  </a:cubicBezTo>
                  <a:close/>
                </a:path>
              </a:pathLst>
            </a:custGeom>
            <a:ln w="28575" cap="sq">
              <a:solidFill>
                <a:srgbClr val="FF000A"/>
              </a:solidFill>
              <a:prstDash val="sysDot"/>
              <a:miter/>
            </a:ln>
          </p:spPr>
        </p:sp>
        <p:sp>
          <p:nvSpPr>
            <p:cNvPr name="TextBox 5" id="5"/>
            <p:cNvSpPr txBox="true"/>
            <p:nvPr/>
          </p:nvSpPr>
          <p:spPr>
            <a:xfrm>
              <a:off x="0" y="-47625"/>
              <a:ext cx="443703" cy="10796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4882513" y="8275026"/>
            <a:ext cx="2707917" cy="412244"/>
            <a:chOff x="0" y="0"/>
            <a:chExt cx="396355" cy="60340"/>
          </a:xfrm>
        </p:grpSpPr>
        <p:sp>
          <p:nvSpPr>
            <p:cNvPr name="Freeform 7" id="7"/>
            <p:cNvSpPr/>
            <p:nvPr/>
          </p:nvSpPr>
          <p:spPr>
            <a:xfrm flipH="false" flipV="false" rot="0">
              <a:off x="0" y="0"/>
              <a:ext cx="396355" cy="60340"/>
            </a:xfrm>
            <a:custGeom>
              <a:avLst/>
              <a:gdLst/>
              <a:ahLst/>
              <a:cxnLst/>
              <a:rect r="r" b="b" t="t" l="l"/>
              <a:pathLst>
                <a:path h="60340" w="396355">
                  <a:moveTo>
                    <a:pt x="30170" y="0"/>
                  </a:moveTo>
                  <a:lnTo>
                    <a:pt x="366185" y="0"/>
                  </a:lnTo>
                  <a:cubicBezTo>
                    <a:pt x="382847" y="0"/>
                    <a:pt x="396355" y="13508"/>
                    <a:pt x="396355" y="30170"/>
                  </a:cubicBezTo>
                  <a:lnTo>
                    <a:pt x="396355" y="30170"/>
                  </a:lnTo>
                  <a:cubicBezTo>
                    <a:pt x="396355" y="46832"/>
                    <a:pt x="382847" y="60340"/>
                    <a:pt x="366185" y="60340"/>
                  </a:cubicBezTo>
                  <a:lnTo>
                    <a:pt x="30170" y="60340"/>
                  </a:lnTo>
                  <a:cubicBezTo>
                    <a:pt x="13508" y="60340"/>
                    <a:pt x="0" y="46832"/>
                    <a:pt x="0" y="30170"/>
                  </a:cubicBezTo>
                  <a:lnTo>
                    <a:pt x="0" y="30170"/>
                  </a:lnTo>
                  <a:cubicBezTo>
                    <a:pt x="0" y="13508"/>
                    <a:pt x="13508" y="0"/>
                    <a:pt x="30170" y="0"/>
                  </a:cubicBezTo>
                  <a:close/>
                </a:path>
              </a:pathLst>
            </a:custGeom>
            <a:ln w="28575" cap="sq">
              <a:solidFill>
                <a:srgbClr val="FF000A"/>
              </a:solidFill>
              <a:prstDash val="sysDot"/>
              <a:miter/>
            </a:ln>
          </p:spPr>
        </p:sp>
        <p:sp>
          <p:nvSpPr>
            <p:cNvPr name="TextBox 8" id="8"/>
            <p:cNvSpPr txBox="true"/>
            <p:nvPr/>
          </p:nvSpPr>
          <p:spPr>
            <a:xfrm>
              <a:off x="0" y="-47625"/>
              <a:ext cx="396355" cy="107965"/>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504136" y="9212589"/>
            <a:ext cx="497571" cy="412244"/>
            <a:chOff x="0" y="0"/>
            <a:chExt cx="72829" cy="60340"/>
          </a:xfrm>
        </p:grpSpPr>
        <p:sp>
          <p:nvSpPr>
            <p:cNvPr name="Freeform 10" id="10"/>
            <p:cNvSpPr/>
            <p:nvPr/>
          </p:nvSpPr>
          <p:spPr>
            <a:xfrm flipH="false" flipV="false" rot="0">
              <a:off x="0" y="0"/>
              <a:ext cx="72829" cy="60340"/>
            </a:xfrm>
            <a:custGeom>
              <a:avLst/>
              <a:gdLst/>
              <a:ahLst/>
              <a:cxnLst/>
              <a:rect r="r" b="b" t="t" l="l"/>
              <a:pathLst>
                <a:path h="60340" w="72829">
                  <a:moveTo>
                    <a:pt x="30170" y="0"/>
                  </a:moveTo>
                  <a:lnTo>
                    <a:pt x="42659" y="0"/>
                  </a:lnTo>
                  <a:cubicBezTo>
                    <a:pt x="59321" y="0"/>
                    <a:pt x="72829" y="13508"/>
                    <a:pt x="72829" y="30170"/>
                  </a:cubicBezTo>
                  <a:lnTo>
                    <a:pt x="72829" y="30170"/>
                  </a:lnTo>
                  <a:cubicBezTo>
                    <a:pt x="72829" y="46832"/>
                    <a:pt x="59321" y="60340"/>
                    <a:pt x="42659" y="60340"/>
                  </a:cubicBezTo>
                  <a:lnTo>
                    <a:pt x="30170" y="60340"/>
                  </a:lnTo>
                  <a:cubicBezTo>
                    <a:pt x="13508" y="60340"/>
                    <a:pt x="0" y="46832"/>
                    <a:pt x="0" y="30170"/>
                  </a:cubicBezTo>
                  <a:lnTo>
                    <a:pt x="0" y="30170"/>
                  </a:lnTo>
                  <a:cubicBezTo>
                    <a:pt x="0" y="13508"/>
                    <a:pt x="13508" y="0"/>
                    <a:pt x="30170" y="0"/>
                  </a:cubicBezTo>
                  <a:close/>
                </a:path>
              </a:pathLst>
            </a:custGeom>
            <a:ln w="28575" cap="sq">
              <a:solidFill>
                <a:srgbClr val="FF000A"/>
              </a:solidFill>
              <a:prstDash val="sysDot"/>
              <a:miter/>
            </a:ln>
          </p:spPr>
        </p:sp>
        <p:sp>
          <p:nvSpPr>
            <p:cNvPr name="TextBox 11" id="11"/>
            <p:cNvSpPr txBox="true"/>
            <p:nvPr/>
          </p:nvSpPr>
          <p:spPr>
            <a:xfrm>
              <a:off x="0" y="-47625"/>
              <a:ext cx="72829" cy="107965"/>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7273825" y="8455932"/>
            <a:ext cx="397903" cy="462677"/>
          </a:xfrm>
          <a:custGeom>
            <a:avLst/>
            <a:gdLst/>
            <a:ahLst/>
            <a:cxnLst/>
            <a:rect r="r" b="b" t="t" l="l"/>
            <a:pathLst>
              <a:path h="462677" w="397903">
                <a:moveTo>
                  <a:pt x="0" y="0"/>
                </a:moveTo>
                <a:lnTo>
                  <a:pt x="397902" y="0"/>
                </a:lnTo>
                <a:lnTo>
                  <a:pt x="397902" y="462678"/>
                </a:lnTo>
                <a:lnTo>
                  <a:pt x="0" y="4626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Visual Studio Görünüm Ayarlarını Değiştirme:</a:t>
            </a:r>
          </a:p>
        </p:txBody>
      </p:sp>
      <p:sp>
        <p:nvSpPr>
          <p:cNvPr name="Freeform 14" id="14"/>
          <p:cNvSpPr/>
          <p:nvPr/>
        </p:nvSpPr>
        <p:spPr>
          <a:xfrm flipH="false" flipV="false" rot="0">
            <a:off x="4060303" y="8455932"/>
            <a:ext cx="397903" cy="462677"/>
          </a:xfrm>
          <a:custGeom>
            <a:avLst/>
            <a:gdLst/>
            <a:ahLst/>
            <a:cxnLst/>
            <a:rect r="r" b="b" t="t" l="l"/>
            <a:pathLst>
              <a:path h="462677" w="397903">
                <a:moveTo>
                  <a:pt x="0" y="0"/>
                </a:moveTo>
                <a:lnTo>
                  <a:pt x="397903" y="0"/>
                </a:lnTo>
                <a:lnTo>
                  <a:pt x="397903" y="462678"/>
                </a:lnTo>
                <a:lnTo>
                  <a:pt x="0" y="4626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716991" y="9393495"/>
            <a:ext cx="397903" cy="462677"/>
          </a:xfrm>
          <a:custGeom>
            <a:avLst/>
            <a:gdLst/>
            <a:ahLst/>
            <a:cxnLst/>
            <a:rect r="r" b="b" t="t" l="l"/>
            <a:pathLst>
              <a:path h="462677" w="397903">
                <a:moveTo>
                  <a:pt x="0" y="0"/>
                </a:moveTo>
                <a:lnTo>
                  <a:pt x="397902" y="0"/>
                </a:lnTo>
                <a:lnTo>
                  <a:pt x="397902" y="462678"/>
                </a:lnTo>
                <a:lnTo>
                  <a:pt x="0" y="4626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6" id="16"/>
          <p:cNvSpPr/>
          <p:nvPr/>
        </p:nvSpPr>
        <p:spPr>
          <a:xfrm flipV="true">
            <a:off x="7564216" y="5143500"/>
            <a:ext cx="10723784" cy="3312432"/>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6230600" cy="8612362"/>
          </a:xfrm>
          <a:custGeom>
            <a:avLst/>
            <a:gdLst/>
            <a:ahLst/>
            <a:cxnLst/>
            <a:rect r="r" b="b" t="t" l="l"/>
            <a:pathLst>
              <a:path h="8612362" w="16230600">
                <a:moveTo>
                  <a:pt x="0" y="0"/>
                </a:moveTo>
                <a:lnTo>
                  <a:pt x="16230600" y="0"/>
                </a:lnTo>
                <a:lnTo>
                  <a:pt x="16230600" y="8612362"/>
                </a:lnTo>
                <a:lnTo>
                  <a:pt x="0" y="8612362"/>
                </a:lnTo>
                <a:lnTo>
                  <a:pt x="0" y="0"/>
                </a:lnTo>
                <a:close/>
              </a:path>
            </a:pathLst>
          </a:custGeom>
          <a:blipFill>
            <a:blip r:embed="rId2"/>
            <a:stretch>
              <a:fillRect l="0" t="0" r="0" b="0"/>
            </a:stretch>
          </a:blipFill>
        </p:spPr>
      </p:sp>
      <p:grpSp>
        <p:nvGrpSpPr>
          <p:cNvPr name="Group 3" id="3"/>
          <p:cNvGrpSpPr/>
          <p:nvPr/>
        </p:nvGrpSpPr>
        <p:grpSpPr>
          <a:xfrm rot="0">
            <a:off x="6002396" y="3147664"/>
            <a:ext cx="2260889" cy="246227"/>
            <a:chOff x="0" y="0"/>
            <a:chExt cx="637788" cy="69460"/>
          </a:xfrm>
        </p:grpSpPr>
        <p:sp>
          <p:nvSpPr>
            <p:cNvPr name="Freeform 4" id="4"/>
            <p:cNvSpPr/>
            <p:nvPr/>
          </p:nvSpPr>
          <p:spPr>
            <a:xfrm flipH="false" flipV="false" rot="0">
              <a:off x="0" y="0"/>
              <a:ext cx="637788" cy="69460"/>
            </a:xfrm>
            <a:custGeom>
              <a:avLst/>
              <a:gdLst/>
              <a:ahLst/>
              <a:cxnLst/>
              <a:rect r="r" b="b" t="t" l="l"/>
              <a:pathLst>
                <a:path h="69460" w="637788">
                  <a:moveTo>
                    <a:pt x="34730" y="0"/>
                  </a:moveTo>
                  <a:lnTo>
                    <a:pt x="603058" y="0"/>
                  </a:lnTo>
                  <a:cubicBezTo>
                    <a:pt x="612269" y="0"/>
                    <a:pt x="621103" y="3659"/>
                    <a:pt x="627616" y="10172"/>
                  </a:cubicBezTo>
                  <a:cubicBezTo>
                    <a:pt x="634129" y="16685"/>
                    <a:pt x="637788" y="25519"/>
                    <a:pt x="637788" y="34730"/>
                  </a:cubicBezTo>
                  <a:lnTo>
                    <a:pt x="637788" y="34730"/>
                  </a:lnTo>
                  <a:cubicBezTo>
                    <a:pt x="637788" y="43941"/>
                    <a:pt x="634129" y="52774"/>
                    <a:pt x="627616" y="59287"/>
                  </a:cubicBezTo>
                  <a:cubicBezTo>
                    <a:pt x="621103" y="65801"/>
                    <a:pt x="612269" y="69460"/>
                    <a:pt x="603058" y="69460"/>
                  </a:cubicBezTo>
                  <a:lnTo>
                    <a:pt x="34730" y="69460"/>
                  </a:lnTo>
                  <a:cubicBezTo>
                    <a:pt x="25519" y="69460"/>
                    <a:pt x="16685" y="65801"/>
                    <a:pt x="10172" y="59287"/>
                  </a:cubicBezTo>
                  <a:cubicBezTo>
                    <a:pt x="3659" y="52774"/>
                    <a:pt x="0" y="43941"/>
                    <a:pt x="0" y="34730"/>
                  </a:cubicBezTo>
                  <a:lnTo>
                    <a:pt x="0" y="34730"/>
                  </a:lnTo>
                  <a:cubicBezTo>
                    <a:pt x="0" y="25519"/>
                    <a:pt x="3659" y="16685"/>
                    <a:pt x="10172" y="10172"/>
                  </a:cubicBezTo>
                  <a:cubicBezTo>
                    <a:pt x="16685" y="3659"/>
                    <a:pt x="25519" y="0"/>
                    <a:pt x="34730" y="0"/>
                  </a:cubicBezTo>
                  <a:close/>
                </a:path>
              </a:pathLst>
            </a:custGeom>
            <a:ln w="28575" cap="sq">
              <a:solidFill>
                <a:srgbClr val="FF000A"/>
              </a:solidFill>
              <a:prstDash val="sysDot"/>
              <a:miter/>
            </a:ln>
          </p:spPr>
        </p:sp>
        <p:sp>
          <p:nvSpPr>
            <p:cNvPr name="TextBox 5" id="5"/>
            <p:cNvSpPr txBox="true"/>
            <p:nvPr/>
          </p:nvSpPr>
          <p:spPr>
            <a:xfrm>
              <a:off x="0" y="-47625"/>
              <a:ext cx="637788" cy="11708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805696" y="3270777"/>
            <a:ext cx="206456" cy="240066"/>
          </a:xfrm>
          <a:custGeom>
            <a:avLst/>
            <a:gdLst/>
            <a:ahLst/>
            <a:cxnLst/>
            <a:rect r="r" b="b" t="t" l="l"/>
            <a:pathLst>
              <a:path h="240066" w="206456">
                <a:moveTo>
                  <a:pt x="0" y="0"/>
                </a:moveTo>
                <a:lnTo>
                  <a:pt x="206457" y="0"/>
                </a:lnTo>
                <a:lnTo>
                  <a:pt x="206457" y="240066"/>
                </a:lnTo>
                <a:lnTo>
                  <a:pt x="0" y="2400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8263285" y="3270777"/>
            <a:ext cx="10819002" cy="0"/>
          </a:xfrm>
          <a:prstGeom prst="line">
            <a:avLst/>
          </a:prstGeom>
          <a:ln cap="flat" w="38100">
            <a:solidFill>
              <a:srgbClr val="FF000A"/>
            </a:solidFill>
            <a:prstDash val="solid"/>
            <a:headEnd type="none" len="sm" w="sm"/>
            <a:tailEnd type="triangle" len="med" w="lg"/>
          </a:ln>
        </p:spPr>
      </p:sp>
      <p:sp>
        <p:nvSpPr>
          <p:cNvPr name="AutoShape 8" id="8"/>
          <p:cNvSpPr/>
          <p:nvPr/>
        </p:nvSpPr>
        <p:spPr>
          <a:xfrm flipV="true">
            <a:off x="-9700706" y="5143500"/>
            <a:ext cx="10723784" cy="3312432"/>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90285"/>
            <a:ext cx="16394702" cy="8689192"/>
          </a:xfrm>
          <a:custGeom>
            <a:avLst/>
            <a:gdLst/>
            <a:ahLst/>
            <a:cxnLst/>
            <a:rect r="r" b="b" t="t" l="l"/>
            <a:pathLst>
              <a:path h="8689192" w="16394702">
                <a:moveTo>
                  <a:pt x="0" y="0"/>
                </a:moveTo>
                <a:lnTo>
                  <a:pt x="16394702" y="0"/>
                </a:lnTo>
                <a:lnTo>
                  <a:pt x="16394702" y="8689192"/>
                </a:lnTo>
                <a:lnTo>
                  <a:pt x="0" y="8689192"/>
                </a:lnTo>
                <a:lnTo>
                  <a:pt x="0" y="0"/>
                </a:lnTo>
                <a:close/>
              </a:path>
            </a:pathLst>
          </a:custGeom>
          <a:blipFill>
            <a:blip r:embed="rId2"/>
            <a:stretch>
              <a:fillRect l="0" t="0" r="0" b="0"/>
            </a:stretch>
          </a:blipFill>
        </p:spPr>
      </p:sp>
      <p:sp>
        <p:nvSpPr>
          <p:cNvPr name="AutoShape 3" id="3"/>
          <p:cNvSpPr/>
          <p:nvPr/>
        </p:nvSpPr>
        <p:spPr>
          <a:xfrm>
            <a:off x="-9790302" y="3270777"/>
            <a:ext cx="10819002" cy="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907595" y="2126470"/>
            <a:ext cx="14732484" cy="34988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 telefon numarasını aklınızda tutmaya çalışıyorsunuz ancak biri size başka bir şey söylediğinde veya dikkatiniz dağıldığında o numarayı hemen unutabiliyorsunuz.</a:t>
            </a:r>
            <a:r>
              <a:rPr lang="en-US" sz="2499" spc="-117">
                <a:solidFill>
                  <a:srgbClr val="424242"/>
                </a:solidFill>
                <a:latin typeface="Raleway"/>
                <a:ea typeface="Raleway"/>
                <a:cs typeface="Raleway"/>
                <a:sym typeface="Raleway"/>
              </a:rPr>
              <a:t> </a:t>
            </a:r>
          </a:p>
          <a:p>
            <a:pPr algn="l">
              <a:lnSpc>
                <a:spcPts val="3499"/>
              </a:lnSpc>
            </a:pPr>
          </a:p>
          <a:p>
            <a:pPr algn="l">
              <a:lnSpc>
                <a:spcPts val="3499"/>
              </a:lnSpc>
            </a:pPr>
            <a:r>
              <a:rPr lang="en-US" sz="2499" spc="-117">
                <a:solidFill>
                  <a:srgbClr val="424242"/>
                </a:solidFill>
                <a:latin typeface="Raleway"/>
                <a:ea typeface="Raleway"/>
                <a:cs typeface="Raleway"/>
                <a:sym typeface="Raleway"/>
              </a:rPr>
              <a:t>Bilgisayarların geçici belleği olan </a:t>
            </a:r>
            <a:r>
              <a:rPr lang="en-US" sz="2499" spc="-117" b="true">
                <a:solidFill>
                  <a:srgbClr val="424242"/>
                </a:solidFill>
                <a:latin typeface="Raleway Bold"/>
                <a:ea typeface="Raleway Bold"/>
                <a:cs typeface="Raleway Bold"/>
                <a:sym typeface="Raleway Bold"/>
              </a:rPr>
              <a:t>RAM (</a:t>
            </a:r>
            <a:r>
              <a:rPr lang="en-US" sz="2499" spc="-117">
                <a:solidFill>
                  <a:srgbClr val="424242"/>
                </a:solidFill>
                <a:latin typeface="Raleway"/>
                <a:ea typeface="Raleway"/>
                <a:cs typeface="Raleway"/>
                <a:sym typeface="Raleway"/>
              </a:rPr>
              <a:t>Rastgele Erişimli Bellek</a:t>
            </a:r>
            <a:r>
              <a:rPr lang="en-US" sz="2499" spc="-117" b="true">
                <a:solidFill>
                  <a:srgbClr val="424242"/>
                </a:solidFill>
                <a:latin typeface="Raleway Bold"/>
                <a:ea typeface="Raleway Bold"/>
                <a:cs typeface="Raleway Bold"/>
                <a:sym typeface="Raleway Bold"/>
              </a:rPr>
              <a:t>)</a:t>
            </a:r>
            <a:r>
              <a:rPr lang="en-US" sz="2499" spc="-117">
                <a:solidFill>
                  <a:srgbClr val="424242"/>
                </a:solidFill>
                <a:latin typeface="Raleway"/>
                <a:ea typeface="Raleway"/>
                <a:cs typeface="Raleway"/>
                <a:sym typeface="Raleway"/>
              </a:rPr>
              <a:t> de tıpkı insan zihninin bu kısa süreli hafızası gibi çalışır. Sistemin enerjisi kesildiğinde veya program kapatıldığında içindeki tüm geçici veriler (değişkenler) silinir. </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Sizce bilgisayarlar, işlem yaparken değişkenleri neden doğrudan kalıcı diske değil de RAM'e alırlar? </a:t>
            </a:r>
          </a:p>
          <a:p>
            <a:pPr algn="l">
              <a:lnSpc>
                <a:spcPts val="3499"/>
              </a:lnSpc>
            </a:pPr>
            <a:r>
              <a:rPr lang="en-US" sz="2499" spc="-117" b="true">
                <a:solidFill>
                  <a:srgbClr val="424242"/>
                </a:solidFill>
                <a:latin typeface="Raleway Bold"/>
                <a:ea typeface="Raleway Bold"/>
                <a:cs typeface="Raleway Bold"/>
                <a:sym typeface="Raleway Bold"/>
              </a:rPr>
              <a:t>Bu geçici varlığın çalışma hızına olan etkisi nedir? </a:t>
            </a:r>
            <a:r>
              <a:rPr lang="en-US" sz="2499" spc="-117">
                <a:solidFill>
                  <a:srgbClr val="424242"/>
                </a:solidFill>
                <a:latin typeface="Raleway"/>
                <a:ea typeface="Raleway"/>
                <a:cs typeface="Raleway"/>
                <a:sym typeface="Raleway"/>
              </a:rPr>
              <a:t>Düşüncelerinizi arkadaşlarınızla tartışınız.</a:t>
            </a:r>
          </a:p>
        </p:txBody>
      </p:sp>
      <p:sp>
        <p:nvSpPr>
          <p:cNvPr name="Freeform 3" id="3"/>
          <p:cNvSpPr/>
          <p:nvPr/>
        </p:nvSpPr>
        <p:spPr>
          <a:xfrm flipH="false" flipV="false" rot="0">
            <a:off x="6922933" y="5858404"/>
            <a:ext cx="4581959" cy="3596838"/>
          </a:xfrm>
          <a:custGeom>
            <a:avLst/>
            <a:gdLst/>
            <a:ahLst/>
            <a:cxnLst/>
            <a:rect r="r" b="b" t="t" l="l"/>
            <a:pathLst>
              <a:path h="3596838" w="4581959">
                <a:moveTo>
                  <a:pt x="0" y="0"/>
                </a:moveTo>
                <a:lnTo>
                  <a:pt x="4581959" y="0"/>
                </a:lnTo>
                <a:lnTo>
                  <a:pt x="4581959" y="3596838"/>
                </a:lnTo>
                <a:lnTo>
                  <a:pt x="0" y="3596838"/>
                </a:lnTo>
                <a:lnTo>
                  <a:pt x="0" y="0"/>
                </a:lnTo>
                <a:close/>
              </a:path>
            </a:pathLst>
          </a:custGeom>
          <a:blipFill>
            <a:blip r:embed="rId2"/>
            <a:stretch>
              <a:fillRect l="0" t="0" r="0" b="0"/>
            </a:stretch>
          </a:blipFill>
        </p:spPr>
      </p:sp>
      <p:sp>
        <p:nvSpPr>
          <p:cNvPr name="Freeform 4" id="4"/>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olid"/>
            <a:headEnd type="none" len="sm" w="sm"/>
            <a:tailEnd type="none" len="sm" w="sm"/>
          </a:ln>
        </p:spPr>
      </p:sp>
      <p:sp>
        <p:nvSpPr>
          <p:cNvPr name="TextBox 5" id="5"/>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Düşünelim-Tartışalım</a:t>
            </a:r>
          </a:p>
        </p:txBody>
      </p:sp>
    </p:spTree>
  </p:cSld>
  <p:clrMapOvr>
    <a:masterClrMapping/>
  </p:clrMapOvr>
</p:sld>
</file>

<file path=ppt/slides/slide6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2.1.7. Temel Veri Türleri</a:t>
            </a:r>
          </a:p>
        </p:txBody>
      </p:sp>
      <p:sp>
        <p:nvSpPr>
          <p:cNvPr name="TextBox 3" id="3"/>
          <p:cNvSpPr txBox="true"/>
          <p:nvPr/>
        </p:nvSpPr>
        <p:spPr>
          <a:xfrm rot="0">
            <a:off x="1028700" y="1756117"/>
            <a:ext cx="16230600"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Bilgisayar belleğine kaydedilecek verilerin nitelikleri, boyutları ve üzerlerinde hangi matematiksel veya mantıksal işlemlerin yapılabileceği </a:t>
            </a:r>
            <a:r>
              <a:rPr lang="en-US" sz="2499" spc="-117" b="true">
                <a:solidFill>
                  <a:srgbClr val="424242"/>
                </a:solidFill>
                <a:latin typeface="Raleway Bold"/>
                <a:ea typeface="Raleway Bold"/>
                <a:cs typeface="Raleway Bold"/>
                <a:sym typeface="Raleway Bold"/>
              </a:rPr>
              <a:t>veri türü (</a:t>
            </a:r>
            <a:r>
              <a:rPr lang="en-US" sz="2499" spc="-117">
                <a:solidFill>
                  <a:srgbClr val="424242"/>
                </a:solidFill>
                <a:latin typeface="Raleway"/>
                <a:ea typeface="Raleway"/>
                <a:cs typeface="Raleway"/>
                <a:sym typeface="Raleway"/>
              </a:rPr>
              <a:t>data type</a:t>
            </a:r>
            <a:r>
              <a:rPr lang="en-US" sz="2499" spc="-117" b="true">
                <a:solidFill>
                  <a:srgbClr val="424242"/>
                </a:solidFill>
                <a:latin typeface="Raleway Bold"/>
                <a:ea typeface="Raleway Bold"/>
                <a:cs typeface="Raleway Bold"/>
                <a:sym typeface="Raleway Bold"/>
              </a:rPr>
              <a:t>)</a:t>
            </a:r>
            <a:r>
              <a:rPr lang="en-US" sz="2499" spc="-117">
                <a:solidFill>
                  <a:srgbClr val="424242"/>
                </a:solidFill>
                <a:latin typeface="Raleway"/>
                <a:ea typeface="Raleway"/>
                <a:cs typeface="Raleway"/>
                <a:sym typeface="Raleway"/>
              </a:rPr>
              <a:t> kavramı ile belirlenir. </a:t>
            </a:r>
          </a:p>
          <a:p>
            <a:pPr algn="l">
              <a:lnSpc>
                <a:spcPts val="3499"/>
              </a:lnSpc>
            </a:pPr>
          </a:p>
          <a:p>
            <a:pPr algn="l">
              <a:lnSpc>
                <a:spcPts val="3499"/>
              </a:lnSpc>
            </a:pPr>
            <a:r>
              <a:rPr lang="en-US" sz="2499" spc="-117">
                <a:solidFill>
                  <a:srgbClr val="424242"/>
                </a:solidFill>
                <a:latin typeface="Raleway"/>
                <a:ea typeface="Raleway"/>
                <a:cs typeface="Raleway"/>
                <a:sym typeface="Raleway"/>
              </a:rPr>
              <a:t>Python dilinde değişkenlerin veri türleri, türetildikleri anda dinamik olarak yorumlayıcı tarafından</a:t>
            </a:r>
            <a:r>
              <a:rPr lang="en-US" sz="2499" spc="-117">
                <a:solidFill>
                  <a:srgbClr val="424242"/>
                </a:solidFill>
                <a:latin typeface="Raleway"/>
                <a:ea typeface="Raleway"/>
                <a:cs typeface="Raleway"/>
                <a:sym typeface="Raleway"/>
              </a:rPr>
              <a:t> at</a:t>
            </a:r>
            <a:r>
              <a:rPr lang="en-US" sz="2499" spc="-117">
                <a:solidFill>
                  <a:srgbClr val="424242"/>
                </a:solidFill>
                <a:latin typeface="Raleway"/>
                <a:ea typeface="Raleway"/>
                <a:cs typeface="Raleway"/>
                <a:sym typeface="Raleway"/>
              </a:rPr>
              <a:t>anı</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a:t>
            </a:r>
          </a:p>
        </p:txBody>
      </p:sp>
    </p:spTree>
  </p:cSld>
  <p:clrMapOvr>
    <a:masterClrMapping/>
  </p:clrMapOvr>
</p:sld>
</file>

<file path=ppt/slides/slide6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26225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Python Dinamik Tipli Bir Dildir:</a:t>
            </a:r>
          </a:p>
          <a:p>
            <a:pPr algn="l">
              <a:lnSpc>
                <a:spcPts val="3499"/>
              </a:lnSpc>
            </a:pPr>
          </a:p>
          <a:p>
            <a:pPr algn="l">
              <a:lnSpc>
                <a:spcPts val="3499"/>
              </a:lnSpc>
            </a:pPr>
            <a:r>
              <a:rPr lang="en-US" sz="2499" spc="-117">
                <a:solidFill>
                  <a:srgbClr val="424242"/>
                </a:solidFill>
                <a:latin typeface="Raleway"/>
                <a:ea typeface="Raleway"/>
                <a:cs typeface="Raleway"/>
                <a:sym typeface="Raleway"/>
              </a:rPr>
              <a:t>Python, </a:t>
            </a:r>
            <a:r>
              <a:rPr lang="en-US" sz="2499" spc="-117" b="true">
                <a:solidFill>
                  <a:srgbClr val="424242"/>
                </a:solidFill>
                <a:latin typeface="Raleway Bold"/>
                <a:ea typeface="Raleway Bold"/>
                <a:cs typeface="Raleway Bold"/>
                <a:sym typeface="Raleway Bold"/>
              </a:rPr>
              <a:t>dinamik tipli (</a:t>
            </a:r>
            <a:r>
              <a:rPr lang="en-US" sz="2499" spc="-117">
                <a:solidFill>
                  <a:srgbClr val="424242"/>
                </a:solidFill>
                <a:latin typeface="Raleway"/>
                <a:ea typeface="Raleway"/>
                <a:cs typeface="Raleway"/>
                <a:sym typeface="Raleway"/>
              </a:rPr>
              <a:t>dynamically typed</a:t>
            </a:r>
            <a:r>
              <a:rPr lang="en-US" sz="2499" spc="-117" b="true">
                <a:solidFill>
                  <a:srgbClr val="424242"/>
                </a:solidFill>
                <a:latin typeface="Raleway Bold"/>
                <a:ea typeface="Raleway Bold"/>
                <a:cs typeface="Raleway Bold"/>
                <a:sym typeface="Raleway Bold"/>
              </a:rPr>
              <a:t>)</a:t>
            </a:r>
            <a:r>
              <a:rPr lang="en-US" sz="2499" spc="-117">
                <a:solidFill>
                  <a:srgbClr val="424242"/>
                </a:solidFill>
                <a:latin typeface="Raleway"/>
                <a:ea typeface="Raleway"/>
                <a:cs typeface="Raleway"/>
                <a:sym typeface="Raleway"/>
              </a:rPr>
              <a:t> bir programlama dilidir. Bu mimari gereği bir değişken tanımlanırken onun hangi veri türünde olacağını önceden belirtmek zorunlu değildir. Değişkenin veri türü, içine aktarılan değere göre otomatik olarak belirlenir. Daha da önemlisi, aynı değişken akış içerisinde farklı bir değer aldığında son atanan yeni değere göre veri türü de anlık ve dinamik şekilde değişir.</a:t>
            </a:r>
          </a:p>
        </p:txBody>
      </p:sp>
    </p:spTree>
  </p:cSld>
  <p:clrMapOvr>
    <a:masterClrMapping/>
  </p:clrMapOvr>
</p:sld>
</file>

<file path=ppt/slides/slide6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b="true" sz="2499" spc="-117">
                <a:solidFill>
                  <a:srgbClr val="9DC3C1"/>
                </a:solidFill>
                <a:latin typeface="Raleway Bold"/>
                <a:ea typeface="Raleway Bold"/>
                <a:cs typeface="Raleway Bold"/>
                <a:sym typeface="Raleway Bold"/>
              </a:rPr>
              <a:t>Dört Temel Veri Türü:</a:t>
            </a:r>
          </a:p>
        </p:txBody>
      </p:sp>
      <p:graphicFrame>
        <p:nvGraphicFramePr>
          <p:cNvPr name="Table 3" id="3"/>
          <p:cNvGraphicFramePr>
            <a:graphicFrameLocks noGrp="true"/>
          </p:cNvGraphicFramePr>
          <p:nvPr/>
        </p:nvGraphicFramePr>
        <p:xfrm>
          <a:off x="1028700" y="1673958"/>
          <a:ext cx="16230600" cy="7584342"/>
        </p:xfrm>
        <a:graphic>
          <a:graphicData uri="http://schemas.openxmlformats.org/drawingml/2006/table">
            <a:tbl>
              <a:tblPr/>
              <a:tblGrid>
                <a:gridCol w="1689589"/>
                <a:gridCol w="2068337"/>
                <a:gridCol w="1590804"/>
                <a:gridCol w="7390990"/>
                <a:gridCol w="3490880"/>
              </a:tblGrid>
              <a:tr h="825667">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Veri Türü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İngilizce Adı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Kısaltma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Tanım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114413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Tam Sayı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Integer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Kesirli kısmı bulunmayan; pozitif, negatif veya sıfır değerini alabilen sayısal veri türüdür.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ogrenci_sayisi = 34, hava_sicakligi =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2016987">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Ondalıklı Sayı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Floating Point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float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Kesirli veya ondalıklı kısımları bulunan, bilimsel hesaplamalarda ve hassas ölçümlerde kullanılan sayısal veri türüdür. Python dilinde ondalık kısımlar virgül (,) değil uluslararası standart gereği nokta (.) karakteriyle ayrılır.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urun_fiyati = 89.90, </a:t>
                      </a:r>
                      <a:endParaRPr lang="en-US" sz="1100"/>
                    </a:p>
                    <a:p>
                      <a:pPr algn="l">
                        <a:lnSpc>
                          <a:spcPts val="2800"/>
                        </a:lnSpc>
                      </a:pPr>
                      <a:r>
                        <a:rPr lang="en-US" sz="2000">
                          <a:solidFill>
                            <a:srgbClr val="000000"/>
                          </a:solidFill>
                          <a:latin typeface="Raleway"/>
                          <a:ea typeface="Raleway"/>
                          <a:cs typeface="Raleway"/>
                          <a:sym typeface="Raleway"/>
                        </a:rPr>
                        <a:t>pi_sayisi = 3.14159</a:t>
                      </a:r>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2016987">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Metinsel Veri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String</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str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Tek tırnak '...' veya çift tırnak "..." işaretleri arasında tanımlanan; alfabetik karakterler, rakamlar ve özel sembollerden oluşan karakter dizileridir. Rakamlardan oluşsalar dahi string türündeki verilerle doğrudan aritmetik işlem yapılamaz.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kullanici_adi = "gokturk_9", okul_numarasi = "1071"</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58056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Mantıksal Veri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Boolean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Sadece iki farklı durumun kontrolünde kullanılan, mantıksal karar süreçlerinin temelini oluşturan veri türüdür. Alabileceği değerler yalnızca Doğru veya Yanlış ifadeleridir.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sistem_acik_mi = True, bakiye_yeterli_mi = 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6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b="true" sz="2499" spc="-117">
                <a:solidFill>
                  <a:srgbClr val="9DC3C1"/>
                </a:solidFill>
                <a:latin typeface="Raleway Bold"/>
                <a:ea typeface="Raleway Bold"/>
                <a:cs typeface="Raleway Bold"/>
                <a:sym typeface="Raleway Bold"/>
              </a:rPr>
              <a:t>Günlük Hayat Benzetmesi:</a:t>
            </a:r>
          </a:p>
        </p:txBody>
      </p:sp>
      <p:graphicFrame>
        <p:nvGraphicFramePr>
          <p:cNvPr name="Table 3" id="3"/>
          <p:cNvGraphicFramePr>
            <a:graphicFrameLocks noGrp="true"/>
          </p:cNvGraphicFramePr>
          <p:nvPr/>
        </p:nvGraphicFramePr>
        <p:xfrm>
          <a:off x="1028700" y="1673958"/>
          <a:ext cx="16230600" cy="2962275"/>
        </p:xfrm>
        <a:graphic>
          <a:graphicData uri="http://schemas.openxmlformats.org/drawingml/2006/table">
            <a:tbl>
              <a:tblPr/>
              <a:tblGrid>
                <a:gridCol w="2261222"/>
                <a:gridCol w="13969378"/>
              </a:tblGrid>
              <a:tr h="668901">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Veri Türü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Benzetme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sınıftaki öğrenci sayısı (tam sayı)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float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ürünün fiyatı (89.90 TL)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str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kişinin adı ("Ayşe")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34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Bir sorunun cevabı (Evet/Hayır)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66.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2.1.8. type() Fonksiyonuyla Veri Türü Analizi</a:t>
            </a:r>
          </a:p>
        </p:txBody>
      </p:sp>
      <p:sp>
        <p:nvSpPr>
          <p:cNvPr name="TextBox 3" id="3"/>
          <p:cNvSpPr txBox="true"/>
          <p:nvPr/>
        </p:nvSpPr>
        <p:spPr>
          <a:xfrm rot="0">
            <a:off x="1028700" y="1756117"/>
            <a:ext cx="16230600"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Yazılım geliştirme sürecinde bir değişkenin veya değerin veri türünü belirlemek için Python'un yerleşik type() fonksiyonu kullanılır. Bu fonksiyon, param</a:t>
            </a:r>
            <a:r>
              <a:rPr lang="en-US" sz="2499" spc="-117">
                <a:solidFill>
                  <a:srgbClr val="424242"/>
                </a:solidFill>
                <a:latin typeface="Raleway"/>
                <a:ea typeface="Raleway"/>
                <a:cs typeface="Raleway"/>
                <a:sym typeface="Raleway"/>
              </a:rPr>
              <a:t>etr</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olarak verilen değişkenin ya da değerin hangi veri türüne (sınıfa) ait olduğunu döndürerek programcının veri tipini doğrulamasını</a:t>
            </a:r>
            <a:r>
              <a:rPr lang="en-US" sz="2499" spc="-117">
                <a:solidFill>
                  <a:srgbClr val="424242"/>
                </a:solidFill>
                <a:latin typeface="Raleway"/>
                <a:ea typeface="Raleway"/>
                <a:cs typeface="Raleway"/>
                <a:sym typeface="Raleway"/>
              </a:rPr>
              <a:t> sağl</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a:t>
            </a:r>
          </a:p>
          <a:p>
            <a:pPr algn="l">
              <a:lnSpc>
                <a:spcPts val="3499"/>
              </a:lnSpc>
            </a:pPr>
          </a:p>
          <a:p>
            <a:pPr algn="l">
              <a:lnSpc>
                <a:spcPts val="3499"/>
              </a:lnSpc>
            </a:pPr>
            <a:r>
              <a:rPr lang="en-US" sz="2499" spc="-117" b="true">
                <a:solidFill>
                  <a:srgbClr val="9DC3C1"/>
                </a:solidFill>
                <a:latin typeface="Raleway Bold"/>
                <a:ea typeface="Raleway Bold"/>
                <a:cs typeface="Raleway Bold"/>
                <a:sym typeface="Raleway Bold"/>
              </a:rPr>
              <a:t>Kullanım Şekli:</a:t>
            </a:r>
          </a:p>
        </p:txBody>
      </p:sp>
      <p:grpSp>
        <p:nvGrpSpPr>
          <p:cNvPr name="Group 4" id="4"/>
          <p:cNvGrpSpPr/>
          <p:nvPr/>
        </p:nvGrpSpPr>
        <p:grpSpPr>
          <a:xfrm rot="0">
            <a:off x="1028700" y="4053477"/>
            <a:ext cx="16230600" cy="1090023"/>
            <a:chOff x="0" y="0"/>
            <a:chExt cx="4274726" cy="287084"/>
          </a:xfrm>
        </p:grpSpPr>
        <p:sp>
          <p:nvSpPr>
            <p:cNvPr name="Freeform 5" id="5"/>
            <p:cNvSpPr/>
            <p:nvPr/>
          </p:nvSpPr>
          <p:spPr>
            <a:xfrm flipH="false" flipV="false" rot="0">
              <a:off x="0" y="0"/>
              <a:ext cx="4274726" cy="287084"/>
            </a:xfrm>
            <a:custGeom>
              <a:avLst/>
              <a:gdLst/>
              <a:ahLst/>
              <a:cxnLst/>
              <a:rect r="r" b="b" t="t" l="l"/>
              <a:pathLst>
                <a:path h="287084" w="4274726">
                  <a:moveTo>
                    <a:pt x="8109" y="0"/>
                  </a:moveTo>
                  <a:lnTo>
                    <a:pt x="4266617" y="0"/>
                  </a:lnTo>
                  <a:cubicBezTo>
                    <a:pt x="4268768" y="0"/>
                    <a:pt x="4270830" y="854"/>
                    <a:pt x="4272351" y="2375"/>
                  </a:cubicBezTo>
                  <a:cubicBezTo>
                    <a:pt x="4273872" y="3896"/>
                    <a:pt x="4274726" y="5958"/>
                    <a:pt x="4274726" y="8109"/>
                  </a:cubicBezTo>
                  <a:lnTo>
                    <a:pt x="4274726" y="278975"/>
                  </a:lnTo>
                  <a:cubicBezTo>
                    <a:pt x="4274726" y="281126"/>
                    <a:pt x="4273872" y="283188"/>
                    <a:pt x="4272351" y="284709"/>
                  </a:cubicBezTo>
                  <a:cubicBezTo>
                    <a:pt x="4270830" y="286230"/>
                    <a:pt x="4268768" y="287084"/>
                    <a:pt x="4266617" y="287084"/>
                  </a:cubicBezTo>
                  <a:lnTo>
                    <a:pt x="8109" y="287084"/>
                  </a:lnTo>
                  <a:cubicBezTo>
                    <a:pt x="5958" y="287084"/>
                    <a:pt x="3896" y="286230"/>
                    <a:pt x="2375" y="284709"/>
                  </a:cubicBezTo>
                  <a:cubicBezTo>
                    <a:pt x="854" y="283188"/>
                    <a:pt x="0" y="281126"/>
                    <a:pt x="0" y="278975"/>
                  </a:cubicBezTo>
                  <a:lnTo>
                    <a:pt x="0" y="8109"/>
                  </a:lnTo>
                  <a:cubicBezTo>
                    <a:pt x="0" y="5958"/>
                    <a:pt x="854" y="3896"/>
                    <a:pt x="2375" y="2375"/>
                  </a:cubicBezTo>
                  <a:cubicBezTo>
                    <a:pt x="3896" y="854"/>
                    <a:pt x="5958" y="0"/>
                    <a:pt x="8109" y="0"/>
                  </a:cubicBezTo>
                  <a:close/>
                </a:path>
              </a:pathLst>
            </a:custGeom>
            <a:solidFill>
              <a:srgbClr val="D8E6E7"/>
            </a:solidFill>
          </p:spPr>
        </p:sp>
        <p:sp>
          <p:nvSpPr>
            <p:cNvPr name="TextBox 6" id="6"/>
            <p:cNvSpPr txBox="true"/>
            <p:nvPr/>
          </p:nvSpPr>
          <p:spPr>
            <a:xfrm>
              <a:off x="0" y="-57150"/>
              <a:ext cx="4274726" cy="344234"/>
            </a:xfrm>
            <a:prstGeom prst="rect">
              <a:avLst/>
            </a:prstGeom>
          </p:spPr>
          <p:txBody>
            <a:bodyPr anchor="ctr" rtlCol="false" tIns="50800" lIns="50800" bIns="50800" rIns="50800"/>
            <a:lstStyle/>
            <a:p>
              <a:pPr algn="l">
                <a:lnSpc>
                  <a:spcPts val="3499"/>
                </a:lnSpc>
              </a:pPr>
              <a:r>
                <a:rPr lang="en-US" sz="2499" spc="-117">
                  <a:solidFill>
                    <a:srgbClr val="000000"/>
                  </a:solidFill>
                  <a:latin typeface="Raleway"/>
                  <a:ea typeface="Raleway"/>
                  <a:cs typeface="Raleway"/>
                  <a:sym typeface="Raleway"/>
                </a:rPr>
                <a:t>       </a:t>
              </a:r>
              <a:r>
                <a:rPr lang="en-US" sz="2499" spc="-117" b="true">
                  <a:solidFill>
                    <a:srgbClr val="000000"/>
                  </a:solidFill>
                  <a:latin typeface="Raleway Bold"/>
                  <a:ea typeface="Raleway Bold"/>
                  <a:cs typeface="Raleway Bold"/>
                  <a:sym typeface="Raleway Bold"/>
                </a:rPr>
                <a:t>type( </a:t>
              </a:r>
              <a:r>
                <a:rPr lang="en-US" sz="2499" spc="-117">
                  <a:solidFill>
                    <a:srgbClr val="000000"/>
                  </a:solidFill>
                  <a:latin typeface="Raleway"/>
                  <a:ea typeface="Raleway"/>
                  <a:cs typeface="Raleway"/>
                  <a:sym typeface="Raleway"/>
                </a:rPr>
                <a:t>değişken_veya_değer </a:t>
              </a:r>
              <a:r>
                <a:rPr lang="en-US" sz="2499" spc="-117" b="true">
                  <a:solidFill>
                    <a:srgbClr val="000000"/>
                  </a:solidFill>
                  <a:latin typeface="Raleway Bold"/>
                  <a:ea typeface="Raleway Bold"/>
                  <a:cs typeface="Raleway Bold"/>
                  <a:sym typeface="Raleway Bold"/>
                </a:rPr>
                <a:t>)</a:t>
              </a:r>
            </a:p>
          </p:txBody>
        </p:sp>
      </p:gr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053477"/>
            <a:ext cx="12010009" cy="4913705"/>
          </a:xfrm>
          <a:custGeom>
            <a:avLst/>
            <a:gdLst/>
            <a:ahLst/>
            <a:cxnLst/>
            <a:rect r="r" b="b" t="t" l="l"/>
            <a:pathLst>
              <a:path h="4913705" w="12010009">
                <a:moveTo>
                  <a:pt x="0" y="0"/>
                </a:moveTo>
                <a:lnTo>
                  <a:pt x="12010009" y="0"/>
                </a:lnTo>
                <a:lnTo>
                  <a:pt x="12010009" y="4913705"/>
                </a:lnTo>
                <a:lnTo>
                  <a:pt x="0" y="4913705"/>
                </a:lnTo>
                <a:lnTo>
                  <a:pt x="0" y="0"/>
                </a:lnTo>
                <a:close/>
              </a:path>
            </a:pathLst>
          </a:custGeom>
          <a:blipFill>
            <a:blip r:embed="rId2"/>
            <a:stretch>
              <a:fillRect l="0" t="0" r="0" b="0"/>
            </a:stretch>
          </a:blipFill>
        </p:spPr>
      </p:sp>
      <p:sp>
        <p:nvSpPr>
          <p:cNvPr name="Freeform 3" id="3"/>
          <p:cNvSpPr/>
          <p:nvPr/>
        </p:nvSpPr>
        <p:spPr>
          <a:xfrm flipH="false" flipV="false" rot="0">
            <a:off x="13907360" y="4053477"/>
            <a:ext cx="2072899" cy="1206263"/>
          </a:xfrm>
          <a:custGeom>
            <a:avLst/>
            <a:gdLst/>
            <a:ahLst/>
            <a:cxnLst/>
            <a:rect r="r" b="b" t="t" l="l"/>
            <a:pathLst>
              <a:path h="1206263" w="2072899">
                <a:moveTo>
                  <a:pt x="0" y="0"/>
                </a:moveTo>
                <a:lnTo>
                  <a:pt x="2072899" y="0"/>
                </a:lnTo>
                <a:lnTo>
                  <a:pt x="2072899" y="1206264"/>
                </a:lnTo>
                <a:lnTo>
                  <a:pt x="0" y="1206264"/>
                </a:lnTo>
                <a:lnTo>
                  <a:pt x="0" y="0"/>
                </a:lnTo>
                <a:close/>
              </a:path>
            </a:pathLst>
          </a:custGeom>
          <a:blipFill>
            <a:blip r:embed="rId3"/>
            <a:stretch>
              <a:fillRect l="0" t="0" r="0" b="0"/>
            </a:stretch>
          </a:blipFill>
        </p:spPr>
      </p:sp>
      <p:sp>
        <p:nvSpPr>
          <p:cNvPr name="TextBox 4" id="4"/>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 ÖRNEK 1: </a:t>
            </a:r>
            <a:r>
              <a:rPr lang="en-US" sz="3000" spc="-141">
                <a:solidFill>
                  <a:srgbClr val="424242"/>
                </a:solidFill>
                <a:latin typeface="Raleway"/>
                <a:ea typeface="Raleway"/>
                <a:cs typeface="Raleway"/>
                <a:sym typeface="Raleway"/>
              </a:rPr>
              <a:t>DİNAMİK VERİ TÜRÜ DEĞİŞİMİ VE DENETİMİ</a:t>
            </a:r>
          </a:p>
        </p:txBody>
      </p:sp>
      <p:sp>
        <p:nvSpPr>
          <p:cNvPr name="TextBox 5" id="5"/>
          <p:cNvSpPr txBox="true"/>
          <p:nvPr/>
        </p:nvSpPr>
        <p:spPr>
          <a:xfrm rot="0">
            <a:off x="1028700" y="1756117"/>
            <a:ext cx="16230600" cy="21844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Problem Senaryosu: </a:t>
            </a:r>
            <a:r>
              <a:rPr lang="en-US" sz="2499" spc="-117">
                <a:solidFill>
                  <a:srgbClr val="424242"/>
                </a:solidFill>
                <a:latin typeface="Raleway"/>
                <a:ea typeface="Raleway"/>
                <a:cs typeface="Raleway"/>
                <a:sym typeface="Raleway"/>
              </a:rPr>
              <a:t>Kod-Asistan projesinin merkezi veri yönetim katmanında </a:t>
            </a:r>
            <a:r>
              <a:rPr lang="en-US" sz="2499" spc="-117" b="true">
                <a:solidFill>
                  <a:srgbClr val="424242"/>
                </a:solidFill>
                <a:latin typeface="Raleway Bold"/>
                <a:ea typeface="Raleway Bold"/>
                <a:cs typeface="Raleway Bold"/>
                <a:sym typeface="Raleway Bold"/>
              </a:rPr>
              <a:t>asistan_verisi</a:t>
            </a:r>
            <a:r>
              <a:rPr lang="en-US" sz="2499" spc="-117">
                <a:solidFill>
                  <a:srgbClr val="424242"/>
                </a:solidFill>
                <a:latin typeface="Raleway"/>
                <a:ea typeface="Raleway"/>
                <a:cs typeface="Raleway"/>
                <a:sym typeface="Raleway"/>
              </a:rPr>
              <a:t> adında tek bir değişken tanımlanmıştır. Bu değişkenin program akışı boyunca aldığı yeni değerlere bağlı olarak bilgisayarın geçici belleğindeki yapısının nasıl dönüştüğü test edilecektir.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Örnek Kod Bloku:</a:t>
            </a:r>
          </a:p>
        </p:txBody>
      </p:sp>
      <p:sp>
        <p:nvSpPr>
          <p:cNvPr name="TextBox 6" id="6"/>
          <p:cNvSpPr txBox="true"/>
          <p:nvPr/>
        </p:nvSpPr>
        <p:spPr>
          <a:xfrm rot="0">
            <a:off x="13907360" y="3508717"/>
            <a:ext cx="335194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Terminal Çıktı Analizi:</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85610" y="971550"/>
            <a:ext cx="13773690" cy="21844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Kod Gözden Geçirme (</a:t>
            </a:r>
            <a:r>
              <a:rPr lang="en-US" sz="2499" spc="-117">
                <a:solidFill>
                  <a:srgbClr val="424242"/>
                </a:solidFill>
                <a:latin typeface="Raleway"/>
                <a:ea typeface="Raleway"/>
                <a:cs typeface="Raleway"/>
                <a:sym typeface="Raleway"/>
              </a:rPr>
              <a:t>Code Review</a:t>
            </a:r>
            <a:r>
              <a:rPr lang="en-US" sz="2499" spc="-117" b="true">
                <a:solidFill>
                  <a:srgbClr val="424242"/>
                </a:solidFill>
                <a:latin typeface="Raleway Bold"/>
                <a:ea typeface="Raleway Bold"/>
                <a:cs typeface="Raleway Bold"/>
                <a:sym typeface="Raleway Bold"/>
              </a:rPr>
              <a:t>) Çıkarımı: </a:t>
            </a:r>
          </a:p>
          <a:p>
            <a:pPr algn="l">
              <a:lnSpc>
                <a:spcPts val="3499"/>
              </a:lnSpc>
            </a:pPr>
          </a:p>
          <a:p>
            <a:pPr algn="l">
              <a:lnSpc>
                <a:spcPts val="3499"/>
              </a:lnSpc>
            </a:pPr>
            <a:r>
              <a:rPr lang="en-US" sz="2499" spc="-117">
                <a:solidFill>
                  <a:srgbClr val="424242"/>
                </a:solidFill>
                <a:latin typeface="Raleway"/>
                <a:ea typeface="Raleway"/>
                <a:cs typeface="Raleway"/>
                <a:sym typeface="Raleway"/>
              </a:rPr>
              <a:t>Python'un veri türünü anlık olarak değiştirmesi, büyük bir esneklik sağlasa da aynı değişkeni (örneğin asistan_verisi) akış boyunca farklı amaçlarla kullanmak veri tutarsızlığına yol açabilir. Bunun yerine her veri için amacına uygun yeni isimler (asistan_adi, asistan_puani vb.) kullanılmalıdır.</a:t>
            </a:r>
          </a:p>
        </p:txBody>
      </p:sp>
    </p:spTree>
  </p:cSld>
  <p:clrMapOvr>
    <a:masterClrMapping/>
  </p:clrMapOvr>
</p:sld>
</file>

<file path=ppt/slides/slide69.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2.1.9. Değişken Tanımlama Kuralları</a:t>
            </a:r>
          </a:p>
        </p:txBody>
      </p:sp>
      <p:sp>
        <p:nvSpPr>
          <p:cNvPr name="TextBox 3" id="3"/>
          <p:cNvSpPr txBox="true"/>
          <p:nvPr/>
        </p:nvSpPr>
        <p:spPr>
          <a:xfrm rot="0">
            <a:off x="1028700" y="1756117"/>
            <a:ext cx="16230600" cy="26225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Programlama dillerinde değişkenler, bellekte tutulan verilere program içerisinden erişmek için kullanılan mantıksal isimlerdir. Python gibi yüksek seviyeli programlama dillerinde programcılar bellek adresleriyle doğrudan ilgilenmek yerine verilere anlamlı değişken adları ver</a:t>
            </a:r>
            <a:r>
              <a:rPr lang="en-US" sz="2499" spc="-117">
                <a:solidFill>
                  <a:srgbClr val="424242"/>
                </a:solidFill>
                <a:latin typeface="Raleway"/>
                <a:ea typeface="Raleway"/>
                <a:cs typeface="Raleway"/>
                <a:sym typeface="Raleway"/>
              </a:rPr>
              <a:t>er</a:t>
            </a:r>
            <a:r>
              <a:rPr lang="en-US" sz="2499" spc="-117">
                <a:solidFill>
                  <a:srgbClr val="424242"/>
                </a:solidFill>
                <a:latin typeface="Raleway"/>
                <a:ea typeface="Raleway"/>
                <a:cs typeface="Raleway"/>
                <a:sym typeface="Raleway"/>
              </a:rPr>
              <a:t>ek</a:t>
            </a:r>
            <a:r>
              <a:rPr lang="en-US" sz="2499" spc="-117">
                <a:solidFill>
                  <a:srgbClr val="424242"/>
                </a:solidFill>
                <a:latin typeface="Raleway"/>
                <a:ea typeface="Raleway"/>
                <a:cs typeface="Raleway"/>
                <a:sym typeface="Raleway"/>
              </a:rPr>
              <a:t> k</a:t>
            </a:r>
            <a:r>
              <a:rPr lang="en-US" sz="2499" spc="-117">
                <a:solidFill>
                  <a:srgbClr val="424242"/>
                </a:solidFill>
                <a:latin typeface="Raleway"/>
                <a:ea typeface="Raleway"/>
                <a:cs typeface="Raleway"/>
                <a:sym typeface="Raleway"/>
              </a:rPr>
              <a:t>odlarını daha okunabilir ve yönetilebilir hâle getirir. Yazılan kaynak kodların Python yorumlayıcısı tarafından doğru şekilde işlenebilmesi için değişken adları belirlenirken Python'un söz dizimi (syntax) kurallarına uyulması zorunludur. Ayrıca, okunabilir ve sürdürülebilir kod geliştirmek amacıyla Python'un resmî stil kılavuzu olan PEP 8'de yer alan isimlendirme önerilerine uyulması</a:t>
            </a:r>
            <a:r>
              <a:rPr lang="en-US" sz="2499" spc="-117">
                <a:solidFill>
                  <a:srgbClr val="424242"/>
                </a:solidFill>
                <a:latin typeface="Raleway"/>
                <a:ea typeface="Raleway"/>
                <a:cs typeface="Raleway"/>
                <a:sym typeface="Raleway"/>
              </a:rPr>
              <a:t> sektörde yaygın ol</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ra</a:t>
            </a:r>
            <a:r>
              <a:rPr lang="en-US" sz="2499" spc="-117">
                <a:solidFill>
                  <a:srgbClr val="424242"/>
                </a:solidFill>
                <a:latin typeface="Raleway"/>
                <a:ea typeface="Raleway"/>
                <a:cs typeface="Raleway"/>
                <a:sym typeface="Raleway"/>
              </a:rPr>
              <a:t>k</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tavsiy</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 edi</a:t>
            </a:r>
            <a:r>
              <a:rPr lang="en-US" sz="2499" spc="-117">
                <a:solidFill>
                  <a:srgbClr val="424242"/>
                </a:solidFill>
                <a:latin typeface="Raleway"/>
                <a:ea typeface="Raleway"/>
                <a:cs typeface="Raleway"/>
                <a:sym typeface="Raleway"/>
              </a:rPr>
              <a:t>li</a:t>
            </a:r>
            <a:r>
              <a:rPr lang="en-US" sz="2499" spc="-117">
                <a:solidFill>
                  <a:srgbClr val="424242"/>
                </a:solidFill>
                <a:latin typeface="Raleway"/>
                <a:ea typeface="Raleway"/>
                <a:cs typeface="Raleway"/>
                <a:sym typeface="Raleway"/>
              </a:rPr>
              <a:t>r.</a:t>
            </a:r>
          </a:p>
        </p:txBody>
      </p:sp>
    </p:spTree>
  </p:cSld>
  <p:clrMapOvr>
    <a:masterClrMapping/>
  </p:clrMapOvr>
</p:sld>
</file>

<file path=ppt/slides/slide70.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Temel Değişken Tanımlama Kuralları:</a:t>
            </a:r>
          </a:p>
        </p:txBody>
      </p:sp>
      <p:sp>
        <p:nvSpPr>
          <p:cNvPr name="TextBox 3" id="3"/>
          <p:cNvSpPr txBox="true"/>
          <p:nvPr/>
        </p:nvSpPr>
        <p:spPr>
          <a:xfrm rot="0">
            <a:off x="1028700" y="1756117"/>
            <a:ext cx="16230600" cy="218440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Kural 1: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Karakter Kısıtlaması: </a:t>
            </a:r>
            <a:r>
              <a:rPr lang="en-US" sz="2499" spc="-117">
                <a:solidFill>
                  <a:srgbClr val="424242"/>
                </a:solidFill>
                <a:latin typeface="Raleway"/>
                <a:ea typeface="Raleway"/>
                <a:cs typeface="Raleway"/>
                <a:sym typeface="Raleway"/>
              </a:rPr>
              <a:t>Değişken isimleri sadece alfabetik karakterler (A-Z, a-z), rakamlar (0-9) ve alt çizgi (_) karakterini barındırabilir. Bunların dışındaki hiçbir özel sembol (nokta, virgül, soru işareti, tire, boşluk vb.) değişken isminde yer alamaz.</a:t>
            </a:r>
          </a:p>
          <a:p>
            <a:pPr algn="l" marL="1079499" indent="-359833" lvl="2">
              <a:lnSpc>
                <a:spcPts val="3499"/>
              </a:lnSpc>
              <a:buFont typeface="Arial"/>
              <a:buChar char="⚬"/>
            </a:pPr>
            <a:r>
              <a:rPr lang="en-US" b="true" sz="2499" spc="-117">
                <a:solidFill>
                  <a:srgbClr val="5EC596"/>
                </a:solidFill>
                <a:latin typeface="Raleway Bold"/>
                <a:ea typeface="Raleway Bold"/>
                <a:cs typeface="Raleway Bold"/>
                <a:sym typeface="Raleway Bold"/>
              </a:rPr>
              <a:t>Doğru Örnek: </a:t>
            </a:r>
            <a:r>
              <a:rPr lang="en-US" sz="2499" spc="-117">
                <a:solidFill>
                  <a:srgbClr val="424242"/>
                </a:solidFill>
                <a:latin typeface="Raleway"/>
                <a:ea typeface="Raleway"/>
                <a:cs typeface="Raleway"/>
                <a:sym typeface="Raleway"/>
              </a:rPr>
              <a:t>asistan_adi</a:t>
            </a:r>
          </a:p>
          <a:p>
            <a:pPr algn="l" marL="1079499" indent="-359833" lvl="2">
              <a:lnSpc>
                <a:spcPts val="3499"/>
              </a:lnSpc>
              <a:buFont typeface="Arial"/>
              <a:buChar char="⚬"/>
            </a:pPr>
            <a:r>
              <a:rPr lang="en-US" b="true" sz="2499" spc="-117">
                <a:solidFill>
                  <a:srgbClr val="FF0000"/>
                </a:solidFill>
                <a:latin typeface="Raleway Bold"/>
                <a:ea typeface="Raleway Bold"/>
                <a:cs typeface="Raleway Bold"/>
                <a:sym typeface="Raleway Bold"/>
              </a:rPr>
              <a:t>Yanlış Örnek: </a:t>
            </a:r>
            <a:r>
              <a:rPr lang="en-US" sz="2499" spc="-117">
                <a:solidFill>
                  <a:srgbClr val="424242"/>
                </a:solidFill>
                <a:latin typeface="Raleway"/>
                <a:ea typeface="Raleway"/>
                <a:cs typeface="Raleway"/>
                <a:sym typeface="Raleway"/>
              </a:rPr>
              <a:t>asistan-adı</a:t>
            </a:r>
          </a:p>
        </p:txBody>
      </p:sp>
      <p:sp>
        <p:nvSpPr>
          <p:cNvPr name="TextBox 4" id="4"/>
          <p:cNvSpPr txBox="true"/>
          <p:nvPr/>
        </p:nvSpPr>
        <p:spPr>
          <a:xfrm rot="0">
            <a:off x="1028700" y="4158567"/>
            <a:ext cx="16230600" cy="218440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Kural 2: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Başlangıç Kriteri: </a:t>
            </a:r>
            <a:r>
              <a:rPr lang="en-US" sz="2499" spc="-117">
                <a:solidFill>
                  <a:srgbClr val="424242"/>
                </a:solidFill>
                <a:latin typeface="Raleway"/>
                <a:ea typeface="Raleway"/>
                <a:cs typeface="Raleway"/>
                <a:sym typeface="Raleway"/>
              </a:rPr>
              <a:t>Bir değişken ismi kesinlikle bir rakam ile başlayamaz. İsimler ya alfabetik bir karakterle ya da alt çizgi (_) işaretiyle başlamak zorundadır.</a:t>
            </a:r>
          </a:p>
          <a:p>
            <a:pPr algn="l" marL="1079499" indent="-359833" lvl="2">
              <a:lnSpc>
                <a:spcPts val="3499"/>
              </a:lnSpc>
              <a:buFont typeface="Arial"/>
              <a:buChar char="⚬"/>
            </a:pPr>
            <a:r>
              <a:rPr lang="en-US" b="true" sz="2499" spc="-117">
                <a:solidFill>
                  <a:srgbClr val="5EC596"/>
                </a:solidFill>
                <a:latin typeface="Raleway Bold"/>
                <a:ea typeface="Raleway Bold"/>
                <a:cs typeface="Raleway Bold"/>
                <a:sym typeface="Raleway Bold"/>
              </a:rPr>
              <a:t>Doğru Örnek: </a:t>
            </a:r>
            <a:r>
              <a:rPr lang="en-US" sz="2499" spc="-117">
                <a:solidFill>
                  <a:srgbClr val="424242"/>
                </a:solidFill>
                <a:latin typeface="Raleway"/>
                <a:ea typeface="Raleway"/>
                <a:cs typeface="Raleway"/>
                <a:sym typeface="Raleway"/>
              </a:rPr>
              <a:t>etap_skor_3, _etap3</a:t>
            </a:r>
          </a:p>
          <a:p>
            <a:pPr algn="l" marL="1079499" indent="-359833" lvl="2">
              <a:lnSpc>
                <a:spcPts val="3499"/>
              </a:lnSpc>
              <a:buFont typeface="Arial"/>
              <a:buChar char="⚬"/>
            </a:pPr>
            <a:r>
              <a:rPr lang="en-US" b="true" sz="2499" spc="-117">
                <a:solidFill>
                  <a:srgbClr val="FF0000"/>
                </a:solidFill>
                <a:latin typeface="Raleway Bold"/>
                <a:ea typeface="Raleway Bold"/>
                <a:cs typeface="Raleway Bold"/>
                <a:sym typeface="Raleway Bold"/>
              </a:rPr>
              <a:t>Yanlış Örnek: </a:t>
            </a:r>
            <a:r>
              <a:rPr lang="en-US" sz="2499" spc="-117">
                <a:solidFill>
                  <a:srgbClr val="424242"/>
                </a:solidFill>
                <a:latin typeface="Raleway"/>
                <a:ea typeface="Raleway"/>
                <a:cs typeface="Raleway"/>
                <a:sym typeface="Raleway"/>
              </a:rPr>
              <a:t>3etap_skor</a:t>
            </a:r>
          </a:p>
        </p:txBody>
      </p:sp>
      <p:sp>
        <p:nvSpPr>
          <p:cNvPr name="TextBox 5" id="5"/>
          <p:cNvSpPr txBox="true"/>
          <p:nvPr/>
        </p:nvSpPr>
        <p:spPr>
          <a:xfrm rot="0">
            <a:off x="1028700" y="6562042"/>
            <a:ext cx="16230600" cy="218440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Kural 3: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Büyük-Küçük Harf Duyarlılığı: </a:t>
            </a:r>
            <a:r>
              <a:rPr lang="en-US" sz="2499" spc="-117">
                <a:solidFill>
                  <a:srgbClr val="424242"/>
                </a:solidFill>
                <a:latin typeface="Raleway"/>
                <a:ea typeface="Raleway"/>
                <a:cs typeface="Raleway"/>
                <a:sym typeface="Raleway"/>
              </a:rPr>
              <a:t>Python dili, büyük ve küçük harfleri farklı karakterler olarak değerlendirir. Bu nedenle aynı harflerden oluşsa bile yazımında büyük-küçük harf farkı bulunan kelimeler, bellekte tutulan verilere erişmek için kullanılan farklı değişken adları olarak kabul edilir.</a:t>
            </a:r>
          </a:p>
          <a:p>
            <a:pPr algn="l" marL="1079499" indent="-359833" lvl="2">
              <a:lnSpc>
                <a:spcPts val="3499"/>
              </a:lnSpc>
              <a:buFont typeface="Arial"/>
              <a:buChar char="⚬"/>
            </a:pPr>
            <a:r>
              <a:rPr lang="en-US" b="true" sz="2499" spc="-117">
                <a:solidFill>
                  <a:srgbClr val="5EC596"/>
                </a:solidFill>
                <a:latin typeface="Raleway Bold"/>
                <a:ea typeface="Raleway Bold"/>
                <a:cs typeface="Raleway Bold"/>
                <a:sym typeface="Raleway Bold"/>
              </a:rPr>
              <a:t>Örnek: </a:t>
            </a:r>
            <a:r>
              <a:rPr lang="en-US" sz="2499" spc="-117">
                <a:solidFill>
                  <a:srgbClr val="424242"/>
                </a:solidFill>
                <a:latin typeface="Raleway"/>
                <a:ea typeface="Raleway"/>
                <a:cs typeface="Raleway"/>
                <a:sym typeface="Raleway"/>
              </a:rPr>
              <a:t>asistan_adi, Asistan_Adi ve ASISTAN_ADI üç fark</a:t>
            </a:r>
            <a:r>
              <a:rPr lang="en-US" sz="2499" spc="-117">
                <a:solidFill>
                  <a:srgbClr val="424242"/>
                </a:solidFill>
                <a:latin typeface="Raleway"/>
                <a:ea typeface="Raleway"/>
                <a:cs typeface="Raleway"/>
                <a:sym typeface="Raleway"/>
              </a:rPr>
              <a:t>lı </a:t>
            </a:r>
            <a:r>
              <a:rPr lang="en-US" sz="2499" spc="-117">
                <a:solidFill>
                  <a:srgbClr val="424242"/>
                </a:solidFill>
                <a:latin typeface="Raleway"/>
                <a:ea typeface="Raleway"/>
                <a:cs typeface="Raleway"/>
                <a:sym typeface="Raleway"/>
              </a:rPr>
              <a:t>d</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ğiş</a:t>
            </a:r>
            <a:r>
              <a:rPr lang="en-US" sz="2499" spc="-117">
                <a:solidFill>
                  <a:srgbClr val="424242"/>
                </a:solidFill>
                <a:latin typeface="Raleway"/>
                <a:ea typeface="Raleway"/>
                <a:cs typeface="Raleway"/>
                <a:sym typeface="Raleway"/>
              </a:rPr>
              <a:t>k</a:t>
            </a:r>
            <a:r>
              <a:rPr lang="en-US" sz="2499" spc="-117">
                <a:solidFill>
                  <a:srgbClr val="424242"/>
                </a:solidFill>
                <a:latin typeface="Raleway"/>
                <a:ea typeface="Raleway"/>
                <a:cs typeface="Raleway"/>
                <a:sym typeface="Raleway"/>
              </a:rPr>
              <a:t>endir.</a:t>
            </a:r>
          </a:p>
        </p:txBody>
      </p:sp>
    </p:spTree>
  </p:cSld>
  <p:clrMapOvr>
    <a:masterClrMapping/>
  </p:clrMapOvr>
</p:sld>
</file>

<file path=ppt/slides/slide71.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74625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Kural 4: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Resmî Dil Anahtarları: </a:t>
            </a:r>
            <a:r>
              <a:rPr lang="en-US" sz="2499" spc="-117">
                <a:solidFill>
                  <a:srgbClr val="424242"/>
                </a:solidFill>
                <a:latin typeface="Raleway"/>
                <a:ea typeface="Raleway"/>
                <a:cs typeface="Raleway"/>
                <a:sym typeface="Raleway"/>
              </a:rPr>
              <a:t>Python dilinin kendi iç mekanizmasını yönetmek ve komutları işletmek adına kendine ayırdığı bazı özel kelimeler (keywords) değişken adı olarak kullanılamaz.</a:t>
            </a:r>
          </a:p>
          <a:p>
            <a:pPr algn="l" marL="1079499" indent="-359833" lvl="2">
              <a:lnSpc>
                <a:spcPts val="3499"/>
              </a:lnSpc>
              <a:buFont typeface="Arial"/>
              <a:buChar char="⚬"/>
            </a:pPr>
            <a:r>
              <a:rPr lang="en-US" b="true" sz="2499" spc="-117">
                <a:solidFill>
                  <a:srgbClr val="FF0000"/>
                </a:solidFill>
                <a:latin typeface="Raleway Bold"/>
                <a:ea typeface="Raleway Bold"/>
                <a:cs typeface="Raleway Bold"/>
                <a:sym typeface="Raleway Bold"/>
              </a:rPr>
              <a:t>Yanlış Örnek: </a:t>
            </a:r>
            <a:r>
              <a:rPr lang="en-US" sz="2499" spc="-117">
                <a:solidFill>
                  <a:srgbClr val="424242"/>
                </a:solidFill>
                <a:latin typeface="Raleway"/>
                <a:ea typeface="Raleway"/>
                <a:cs typeface="Raleway"/>
                <a:sym typeface="Raleway"/>
              </a:rPr>
              <a:t>if, else, True, Fa</a:t>
            </a:r>
            <a:r>
              <a:rPr lang="en-US" sz="2499" spc="-117">
                <a:solidFill>
                  <a:srgbClr val="424242"/>
                </a:solidFill>
                <a:latin typeface="Raleway"/>
                <a:ea typeface="Raleway"/>
                <a:cs typeface="Raleway"/>
                <a:sym typeface="Raleway"/>
              </a:rPr>
              <a:t>lse, wh</a:t>
            </a:r>
            <a:r>
              <a:rPr lang="en-US" sz="2499" spc="-117">
                <a:solidFill>
                  <a:srgbClr val="424242"/>
                </a:solidFill>
                <a:latin typeface="Raleway"/>
                <a:ea typeface="Raleway"/>
                <a:cs typeface="Raleway"/>
                <a:sym typeface="Raleway"/>
              </a:rPr>
              <a:t>ile, for</a:t>
            </a:r>
          </a:p>
        </p:txBody>
      </p:sp>
      <p:sp>
        <p:nvSpPr>
          <p:cNvPr name="TextBox 3" id="3"/>
          <p:cNvSpPr txBox="true"/>
          <p:nvPr/>
        </p:nvSpPr>
        <p:spPr>
          <a:xfrm rot="0">
            <a:off x="1028700" y="2961639"/>
            <a:ext cx="16230600" cy="262255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Kural 5: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Türkçe Karakter Standardı: </a:t>
            </a:r>
            <a:r>
              <a:rPr lang="en-US" sz="2499" spc="-117">
                <a:solidFill>
                  <a:srgbClr val="424242"/>
                </a:solidFill>
                <a:latin typeface="Raleway"/>
                <a:ea typeface="Raleway"/>
                <a:cs typeface="Raleway"/>
                <a:sym typeface="Raleway"/>
              </a:rPr>
              <a:t>Python yorumlayıcısı Unicode karakter setini desteklediği için Türkçe karakterleri (ç, ğ, ı, ö, ş, ü) teknik olarak kabul etse de küresel yazılım standartları ve kodun farklı işletim sistemlerinde kararlı çalışabilmesi adına değişken isimlerinde sadece İngiliz alfabesindeki karakterlerin kullanılması önerilir.</a:t>
            </a:r>
          </a:p>
          <a:p>
            <a:pPr algn="l" marL="1079499" indent="-359833" lvl="2">
              <a:lnSpc>
                <a:spcPts val="3499"/>
              </a:lnSpc>
              <a:buFont typeface="Arial"/>
              <a:buChar char="⚬"/>
            </a:pPr>
            <a:r>
              <a:rPr lang="en-US" b="true" sz="2499" spc="-117">
                <a:solidFill>
                  <a:srgbClr val="5EC596"/>
                </a:solidFill>
                <a:latin typeface="Raleway Bold"/>
                <a:ea typeface="Raleway Bold"/>
                <a:cs typeface="Raleway Bold"/>
                <a:sym typeface="Raleway Bold"/>
              </a:rPr>
              <a:t>Doğru Örnek: </a:t>
            </a:r>
            <a:r>
              <a:rPr lang="en-US" sz="2499" spc="-117">
                <a:solidFill>
                  <a:srgbClr val="424242"/>
                </a:solidFill>
                <a:latin typeface="Raleway"/>
                <a:ea typeface="Raleway"/>
                <a:cs typeface="Raleway"/>
                <a:sym typeface="Raleway"/>
              </a:rPr>
              <a:t>asistan_surumu</a:t>
            </a:r>
          </a:p>
          <a:p>
            <a:pPr algn="l" marL="1079499" indent="-359833" lvl="2">
              <a:lnSpc>
                <a:spcPts val="3499"/>
              </a:lnSpc>
              <a:buFont typeface="Arial"/>
              <a:buChar char="⚬"/>
            </a:pPr>
            <a:r>
              <a:rPr lang="en-US" b="true" sz="2499" spc="-117">
                <a:solidFill>
                  <a:srgbClr val="FF0000"/>
                </a:solidFill>
                <a:latin typeface="Raleway Bold"/>
                <a:ea typeface="Raleway Bold"/>
                <a:cs typeface="Raleway Bold"/>
                <a:sym typeface="Raleway Bold"/>
              </a:rPr>
              <a:t>Yanlış Örnek: </a:t>
            </a:r>
            <a:r>
              <a:rPr lang="en-US" sz="2499" spc="-117">
                <a:solidFill>
                  <a:srgbClr val="424242"/>
                </a:solidFill>
                <a:latin typeface="Raleway"/>
                <a:ea typeface="Raleway"/>
                <a:cs typeface="Raleway"/>
                <a:sym typeface="Raleway"/>
              </a:rPr>
              <a:t>asistan_sürümü</a:t>
            </a:r>
          </a:p>
        </p:txBody>
      </p:sp>
    </p:spTree>
  </p:cSld>
  <p:clrMapOvr>
    <a:masterClrMapping/>
  </p:clrMapOvr>
</p:sld>
</file>

<file path=ppt/slides/slide7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1756117"/>
            <a:ext cx="16230600" cy="8699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Yazılım projelerinde birden fazla kelimeden oluşan değişken isimlerinin okunabilirliğini artırmak amacıyla tüm dünyada kabul görmüş iki temel adlandırma standa</a:t>
            </a:r>
            <a:r>
              <a:rPr lang="en-US" sz="2499" spc="-117">
                <a:solidFill>
                  <a:srgbClr val="424242"/>
                </a:solidFill>
                <a:latin typeface="Raleway"/>
                <a:ea typeface="Raleway"/>
                <a:cs typeface="Raleway"/>
                <a:sym typeface="Raleway"/>
              </a:rPr>
              <a:t>rdı kull</a:t>
            </a:r>
            <a:r>
              <a:rPr lang="en-US" sz="2499" spc="-117">
                <a:solidFill>
                  <a:srgbClr val="424242"/>
                </a:solidFill>
                <a:latin typeface="Raleway"/>
                <a:ea typeface="Raleway"/>
                <a:cs typeface="Raleway"/>
                <a:sym typeface="Raleway"/>
              </a:rPr>
              <a:t>anı</a:t>
            </a:r>
            <a:r>
              <a:rPr lang="en-US" sz="2499" spc="-117">
                <a:solidFill>
                  <a:srgbClr val="424242"/>
                </a:solidFill>
                <a:latin typeface="Raleway"/>
                <a:ea typeface="Raleway"/>
                <a:cs typeface="Raleway"/>
                <a:sym typeface="Raleway"/>
              </a:rPr>
              <a:t>lı</a:t>
            </a:r>
            <a:r>
              <a:rPr lang="en-US" sz="2499" spc="-117">
                <a:solidFill>
                  <a:srgbClr val="424242"/>
                </a:solidFill>
                <a:latin typeface="Raleway"/>
                <a:ea typeface="Raleway"/>
                <a:cs typeface="Raleway"/>
                <a:sym typeface="Raleway"/>
              </a:rPr>
              <a:t>r.</a:t>
            </a:r>
          </a:p>
        </p:txBody>
      </p:sp>
      <p:sp>
        <p:nvSpPr>
          <p:cNvPr name="TextBox 3" id="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2.1.10. Değişken Adlandırma Standartları (Notasyonlar)</a:t>
            </a:r>
          </a:p>
        </p:txBody>
      </p:sp>
      <p:grpSp>
        <p:nvGrpSpPr>
          <p:cNvPr name="Group 4" id="4"/>
          <p:cNvGrpSpPr/>
          <p:nvPr/>
        </p:nvGrpSpPr>
        <p:grpSpPr>
          <a:xfrm rot="0">
            <a:off x="889391" y="3148934"/>
            <a:ext cx="7939996" cy="4823914"/>
            <a:chOff x="0" y="0"/>
            <a:chExt cx="2091192" cy="1270496"/>
          </a:xfrm>
        </p:grpSpPr>
        <p:sp>
          <p:nvSpPr>
            <p:cNvPr name="Freeform 5" id="5"/>
            <p:cNvSpPr/>
            <p:nvPr/>
          </p:nvSpPr>
          <p:spPr>
            <a:xfrm flipH="false" flipV="false" rot="0">
              <a:off x="0" y="0"/>
              <a:ext cx="2091192" cy="1270496"/>
            </a:xfrm>
            <a:custGeom>
              <a:avLst/>
              <a:gdLst/>
              <a:ahLst/>
              <a:cxnLst/>
              <a:rect r="r" b="b" t="t" l="l"/>
              <a:pathLst>
                <a:path h="1270496" w="2091192">
                  <a:moveTo>
                    <a:pt x="9751" y="0"/>
                  </a:moveTo>
                  <a:lnTo>
                    <a:pt x="2081442" y="0"/>
                  </a:lnTo>
                  <a:cubicBezTo>
                    <a:pt x="2086827" y="0"/>
                    <a:pt x="2091192" y="4365"/>
                    <a:pt x="2091192" y="9751"/>
                  </a:cubicBezTo>
                  <a:lnTo>
                    <a:pt x="2091192" y="1260745"/>
                  </a:lnTo>
                  <a:cubicBezTo>
                    <a:pt x="2091192" y="1266131"/>
                    <a:pt x="2086827" y="1270496"/>
                    <a:pt x="2081442" y="1270496"/>
                  </a:cubicBezTo>
                  <a:lnTo>
                    <a:pt x="9751" y="1270496"/>
                  </a:lnTo>
                  <a:cubicBezTo>
                    <a:pt x="4365" y="1270496"/>
                    <a:pt x="0" y="1266131"/>
                    <a:pt x="0" y="1260745"/>
                  </a:cubicBezTo>
                  <a:lnTo>
                    <a:pt x="0" y="9751"/>
                  </a:lnTo>
                  <a:cubicBezTo>
                    <a:pt x="0" y="4365"/>
                    <a:pt x="4365" y="0"/>
                    <a:pt x="9751" y="0"/>
                  </a:cubicBezTo>
                  <a:close/>
                </a:path>
              </a:pathLst>
            </a:custGeom>
            <a:ln w="38100" cap="sq">
              <a:solidFill>
                <a:srgbClr val="6AA7DB"/>
              </a:solidFill>
              <a:prstDash val="sysDot"/>
              <a:miter/>
            </a:ln>
          </p:spPr>
        </p:sp>
        <p:sp>
          <p:nvSpPr>
            <p:cNvPr name="TextBox 6" id="6"/>
            <p:cNvSpPr txBox="true"/>
            <p:nvPr/>
          </p:nvSpPr>
          <p:spPr>
            <a:xfrm>
              <a:off x="0" y="-57150"/>
              <a:ext cx="2091192" cy="1327646"/>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1088625" y="3284816"/>
            <a:ext cx="7541528" cy="4375150"/>
          </a:xfrm>
          <a:prstGeom prst="rect">
            <a:avLst/>
          </a:prstGeom>
        </p:spPr>
        <p:txBody>
          <a:bodyPr anchor="t" rtlCol="false" tIns="0" lIns="0" bIns="0" rIns="0">
            <a:spAutoFit/>
          </a:bodyPr>
          <a:lstStyle/>
          <a:p>
            <a:pPr algn="l">
              <a:lnSpc>
                <a:spcPts val="3499"/>
              </a:lnSpc>
            </a:pPr>
            <a:r>
              <a:rPr lang="en-US" sz="2499" spc="-117" b="true">
                <a:solidFill>
                  <a:srgbClr val="6AA7DB"/>
                </a:solidFill>
                <a:latin typeface="Raleway Bold"/>
                <a:ea typeface="Raleway Bold"/>
                <a:cs typeface="Raleway Bold"/>
                <a:sym typeface="Raleway Bold"/>
              </a:rPr>
              <a:t>Yılan Gösterimi (</a:t>
            </a:r>
            <a:r>
              <a:rPr lang="en-US" sz="2499" spc="-117">
                <a:solidFill>
                  <a:srgbClr val="6AA7DB"/>
                </a:solidFill>
                <a:latin typeface="Raleway"/>
                <a:ea typeface="Raleway"/>
                <a:cs typeface="Raleway"/>
                <a:sym typeface="Raleway"/>
              </a:rPr>
              <a:t>snake_case</a:t>
            </a:r>
            <a:r>
              <a:rPr lang="en-US" sz="2499" spc="-117" b="true">
                <a:solidFill>
                  <a:srgbClr val="6AA7DB"/>
                </a:solidFill>
                <a:latin typeface="Raleway Bold"/>
                <a:ea typeface="Raleway Bold"/>
                <a:cs typeface="Raleway Bold"/>
                <a:sym typeface="Raleway Bold"/>
              </a:rPr>
              <a:t>): </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Tüm harflerin küçük yazıldığı ve kelimelerin birbirine alt çizgi (_) karakteriyle bağlandığı yöntemdir.</a:t>
            </a:r>
          </a:p>
          <a:p>
            <a:pPr algn="l">
              <a:lnSpc>
                <a:spcPts val="3499"/>
              </a:lnSpc>
            </a:pPr>
          </a:p>
          <a:p>
            <a:pPr algn="l" marL="1079499" indent="-359833" lvl="2">
              <a:lnSpc>
                <a:spcPts val="3499"/>
              </a:lnSpc>
              <a:buFont typeface="Arial"/>
              <a:buChar char="⚬"/>
            </a:pPr>
            <a:r>
              <a:rPr lang="en-US" b="true" sz="2499" spc="-117">
                <a:solidFill>
                  <a:srgbClr val="000000"/>
                </a:solidFill>
                <a:latin typeface="Raleway Bold"/>
                <a:ea typeface="Raleway Bold"/>
                <a:cs typeface="Raleway Bold"/>
                <a:sym typeface="Raleway Bold"/>
              </a:rPr>
              <a:t>Örnek: </a:t>
            </a:r>
            <a:r>
              <a:rPr lang="en-US" sz="2499" spc="-117">
                <a:solidFill>
                  <a:srgbClr val="424242"/>
                </a:solidFill>
                <a:latin typeface="Raleway"/>
                <a:ea typeface="Raleway"/>
                <a:cs typeface="Raleway"/>
                <a:sym typeface="Raleway"/>
              </a:rPr>
              <a:t>kullanici_giris_tarihi, asistan_bellek_kapasitesi</a:t>
            </a:r>
          </a:p>
          <a:p>
            <a:pPr algn="l">
              <a:lnSpc>
                <a:spcPts val="3499"/>
              </a:lnSpc>
            </a:pPr>
          </a:p>
          <a:p>
            <a:pPr algn="l" marL="1079499" indent="-359833" lvl="2">
              <a:lnSpc>
                <a:spcPts val="3499"/>
              </a:lnSpc>
              <a:buFont typeface="Arial"/>
              <a:buChar char="⚬"/>
            </a:pPr>
            <a:r>
              <a:rPr lang="en-US" b="true" sz="2499" spc="-117">
                <a:solidFill>
                  <a:srgbClr val="000000"/>
                </a:solidFill>
                <a:latin typeface="Raleway Bold"/>
                <a:ea typeface="Raleway Bold"/>
                <a:cs typeface="Raleway Bold"/>
                <a:sym typeface="Raleway Bold"/>
              </a:rPr>
              <a:t>Python'da Kullanımı:</a:t>
            </a:r>
            <a:r>
              <a:rPr lang="en-US" b="true" sz="2499" spc="-117">
                <a:solidFill>
                  <a:srgbClr val="FF0000"/>
                </a:solidFill>
                <a:latin typeface="Raleway Bold"/>
                <a:ea typeface="Raleway Bold"/>
                <a:cs typeface="Raleway Bold"/>
                <a:sym typeface="Raleway Bold"/>
              </a:rPr>
              <a:t> </a:t>
            </a:r>
            <a:r>
              <a:rPr lang="en-US" sz="2499" spc="-117">
                <a:solidFill>
                  <a:srgbClr val="424242"/>
                </a:solidFill>
                <a:latin typeface="Raleway"/>
                <a:ea typeface="Raleway"/>
                <a:cs typeface="Raleway"/>
                <a:sym typeface="Raleway"/>
              </a:rPr>
              <a:t>Python literatüründe değişken ve fonksiyon isimleri için bu standardın kullanılması kurumsal olarak tavsiye edilir.</a:t>
            </a:r>
          </a:p>
        </p:txBody>
      </p:sp>
      <p:grpSp>
        <p:nvGrpSpPr>
          <p:cNvPr name="Group 8" id="8"/>
          <p:cNvGrpSpPr/>
          <p:nvPr/>
        </p:nvGrpSpPr>
        <p:grpSpPr>
          <a:xfrm rot="0">
            <a:off x="9144000" y="3119648"/>
            <a:ext cx="8115300" cy="4853200"/>
            <a:chOff x="0" y="0"/>
            <a:chExt cx="2137363" cy="1278209"/>
          </a:xfrm>
        </p:grpSpPr>
        <p:sp>
          <p:nvSpPr>
            <p:cNvPr name="Freeform 9" id="9"/>
            <p:cNvSpPr/>
            <p:nvPr/>
          </p:nvSpPr>
          <p:spPr>
            <a:xfrm flipH="false" flipV="false" rot="0">
              <a:off x="0" y="0"/>
              <a:ext cx="2137363" cy="1278209"/>
            </a:xfrm>
            <a:custGeom>
              <a:avLst/>
              <a:gdLst/>
              <a:ahLst/>
              <a:cxnLst/>
              <a:rect r="r" b="b" t="t" l="l"/>
              <a:pathLst>
                <a:path h="1278209" w="2137363">
                  <a:moveTo>
                    <a:pt x="9540" y="0"/>
                  </a:moveTo>
                  <a:lnTo>
                    <a:pt x="2127823" y="0"/>
                  </a:lnTo>
                  <a:cubicBezTo>
                    <a:pt x="2130353" y="0"/>
                    <a:pt x="2132780" y="1005"/>
                    <a:pt x="2134569" y="2794"/>
                  </a:cubicBezTo>
                  <a:cubicBezTo>
                    <a:pt x="2136358" y="4583"/>
                    <a:pt x="2137363" y="7010"/>
                    <a:pt x="2137363" y="9540"/>
                  </a:cubicBezTo>
                  <a:lnTo>
                    <a:pt x="2137363" y="1268669"/>
                  </a:lnTo>
                  <a:cubicBezTo>
                    <a:pt x="2137363" y="1273938"/>
                    <a:pt x="2133092" y="1278209"/>
                    <a:pt x="2127823" y="1278209"/>
                  </a:cubicBezTo>
                  <a:lnTo>
                    <a:pt x="9540" y="1278209"/>
                  </a:lnTo>
                  <a:cubicBezTo>
                    <a:pt x="7010" y="1278209"/>
                    <a:pt x="4583" y="1277204"/>
                    <a:pt x="2794" y="1275415"/>
                  </a:cubicBezTo>
                  <a:cubicBezTo>
                    <a:pt x="1005" y="1273626"/>
                    <a:pt x="0" y="1271199"/>
                    <a:pt x="0" y="1268669"/>
                  </a:cubicBezTo>
                  <a:lnTo>
                    <a:pt x="0" y="9540"/>
                  </a:lnTo>
                  <a:cubicBezTo>
                    <a:pt x="0" y="4271"/>
                    <a:pt x="4271" y="0"/>
                    <a:pt x="9540" y="0"/>
                  </a:cubicBezTo>
                  <a:close/>
                </a:path>
              </a:pathLst>
            </a:custGeom>
            <a:ln w="38100" cap="sq">
              <a:solidFill>
                <a:srgbClr val="FF5757"/>
              </a:solidFill>
              <a:prstDash val="sysDot"/>
              <a:miter/>
            </a:ln>
          </p:spPr>
        </p:sp>
        <p:sp>
          <p:nvSpPr>
            <p:cNvPr name="TextBox 10" id="10"/>
            <p:cNvSpPr txBox="true"/>
            <p:nvPr/>
          </p:nvSpPr>
          <p:spPr>
            <a:xfrm>
              <a:off x="0" y="-57150"/>
              <a:ext cx="2137363" cy="1335359"/>
            </a:xfrm>
            <a:prstGeom prst="rect">
              <a:avLst/>
            </a:prstGeom>
          </p:spPr>
          <p:txBody>
            <a:bodyPr anchor="ctr" rtlCol="false" tIns="50800" lIns="50800" bIns="50800" rIns="50800"/>
            <a:lstStyle/>
            <a:p>
              <a:pPr algn="ctr">
                <a:lnSpc>
                  <a:spcPts val="3499"/>
                </a:lnSpc>
              </a:pPr>
            </a:p>
          </p:txBody>
        </p:sp>
      </p:grpSp>
      <p:sp>
        <p:nvSpPr>
          <p:cNvPr name="TextBox 11" id="11"/>
          <p:cNvSpPr txBox="true"/>
          <p:nvPr/>
        </p:nvSpPr>
        <p:spPr>
          <a:xfrm rot="0">
            <a:off x="9417280" y="3284816"/>
            <a:ext cx="7628665" cy="3937000"/>
          </a:xfrm>
          <a:prstGeom prst="rect">
            <a:avLst/>
          </a:prstGeom>
        </p:spPr>
        <p:txBody>
          <a:bodyPr anchor="t" rtlCol="false" tIns="0" lIns="0" bIns="0" rIns="0">
            <a:spAutoFit/>
          </a:bodyPr>
          <a:lstStyle/>
          <a:p>
            <a:pPr algn="l">
              <a:lnSpc>
                <a:spcPts val="3499"/>
              </a:lnSpc>
            </a:pPr>
            <a:r>
              <a:rPr lang="en-US" sz="2499" spc="-117" b="true">
                <a:solidFill>
                  <a:srgbClr val="FF000A"/>
                </a:solidFill>
                <a:latin typeface="Raleway Bold"/>
                <a:ea typeface="Raleway Bold"/>
                <a:cs typeface="Raleway Bold"/>
                <a:sym typeface="Raleway Bold"/>
              </a:rPr>
              <a:t>Deve Gösterimi (</a:t>
            </a:r>
            <a:r>
              <a:rPr lang="en-US" sz="2499" spc="-117">
                <a:solidFill>
                  <a:srgbClr val="FF000A"/>
                </a:solidFill>
                <a:latin typeface="Raleway"/>
                <a:ea typeface="Raleway"/>
                <a:cs typeface="Raleway"/>
                <a:sym typeface="Raleway"/>
              </a:rPr>
              <a:t>camelCase</a:t>
            </a:r>
            <a:r>
              <a:rPr lang="en-US" sz="2499" spc="-117" b="true">
                <a:solidFill>
                  <a:srgbClr val="FF000A"/>
                </a:solidFill>
                <a:latin typeface="Raleway Bold"/>
                <a:ea typeface="Raleway Bold"/>
                <a:cs typeface="Raleway Bold"/>
                <a:sym typeface="Raleway Bold"/>
              </a:rPr>
              <a:t>):</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İlk kelimenin tüm harflerinin küçük, sonraki her kelimenin ise ilk harfinin büyük yazıldığı ve kelimelerin bitişik kurgulandığı yöntemdir.</a:t>
            </a:r>
          </a:p>
          <a:p>
            <a:pPr algn="l">
              <a:lnSpc>
                <a:spcPts val="3499"/>
              </a:lnSpc>
            </a:pPr>
          </a:p>
          <a:p>
            <a:pPr algn="l" marL="1079499" indent="-359833" lvl="2">
              <a:lnSpc>
                <a:spcPts val="3499"/>
              </a:lnSpc>
              <a:buFont typeface="Arial"/>
              <a:buChar char="⚬"/>
            </a:pPr>
            <a:r>
              <a:rPr lang="en-US" b="true" sz="2499" spc="-117">
                <a:solidFill>
                  <a:srgbClr val="000000"/>
                </a:solidFill>
                <a:latin typeface="Raleway Bold"/>
                <a:ea typeface="Raleway Bold"/>
                <a:cs typeface="Raleway Bold"/>
                <a:sym typeface="Raleway Bold"/>
              </a:rPr>
              <a:t>Örnek: </a:t>
            </a:r>
            <a:r>
              <a:rPr lang="en-US" sz="2499" spc="-117">
                <a:solidFill>
                  <a:srgbClr val="424242"/>
                </a:solidFill>
                <a:latin typeface="Raleway"/>
                <a:ea typeface="Raleway"/>
                <a:cs typeface="Raleway"/>
                <a:sym typeface="Raleway"/>
              </a:rPr>
              <a:t>kullaniciGirisTarihi, asistanBellekKapasitesi</a:t>
            </a:r>
          </a:p>
          <a:p>
            <a:pPr algn="l">
              <a:lnSpc>
                <a:spcPts val="3499"/>
              </a:lnSpc>
            </a:pPr>
          </a:p>
          <a:p>
            <a:pPr algn="l" marL="1079499" indent="-359833" lvl="2">
              <a:lnSpc>
                <a:spcPts val="3499"/>
              </a:lnSpc>
              <a:buFont typeface="Arial"/>
              <a:buChar char="⚬"/>
            </a:pPr>
            <a:r>
              <a:rPr lang="en-US" b="true" sz="2499" spc="-117">
                <a:solidFill>
                  <a:srgbClr val="000000"/>
                </a:solidFill>
                <a:latin typeface="Raleway Bold"/>
                <a:ea typeface="Raleway Bold"/>
                <a:cs typeface="Raleway Bold"/>
                <a:sym typeface="Raleway Bold"/>
              </a:rPr>
              <a:t>Python'da Kullanımı:</a:t>
            </a:r>
            <a:r>
              <a:rPr lang="en-US" b="true" sz="2499" spc="-117">
                <a:solidFill>
                  <a:srgbClr val="FF0000"/>
                </a:solidFill>
                <a:latin typeface="Raleway Bold"/>
                <a:ea typeface="Raleway Bold"/>
                <a:cs typeface="Raleway Bold"/>
                <a:sym typeface="Raleway Bold"/>
              </a:rPr>
              <a:t> </a:t>
            </a:r>
            <a:r>
              <a:rPr lang="en-US" sz="2499" spc="-117">
                <a:solidFill>
                  <a:srgbClr val="424242"/>
                </a:solidFill>
                <a:latin typeface="Raleway"/>
                <a:ea typeface="Raleway"/>
                <a:cs typeface="Raleway"/>
                <a:sym typeface="Raleway"/>
              </a:rPr>
              <a:t>Diğer programlama dillerinde (Java, C#) yaygın olarak kullanılır.</a:t>
            </a:r>
          </a:p>
        </p:txBody>
      </p:sp>
    </p:spTree>
  </p:cSld>
  <p:clrMapOvr>
    <a:masterClrMapping/>
  </p:clrMapOvr>
</p:sld>
</file>

<file path=ppt/slides/slide7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Değişken Adlandırma Standartlarına İlişkin Doğru ve Hatalı Kullanım Senaryoları</a:t>
            </a:r>
          </a:p>
        </p:txBody>
      </p:sp>
      <p:graphicFrame>
        <p:nvGraphicFramePr>
          <p:cNvPr name="Table 3" id="3"/>
          <p:cNvGraphicFramePr>
            <a:graphicFrameLocks noGrp="true"/>
          </p:cNvGraphicFramePr>
          <p:nvPr/>
        </p:nvGraphicFramePr>
        <p:xfrm>
          <a:off x="1028700" y="1673958"/>
          <a:ext cx="16230600" cy="7573699"/>
        </p:xfrm>
        <a:graphic>
          <a:graphicData uri="http://schemas.openxmlformats.org/drawingml/2006/table">
            <a:tbl>
              <a:tblPr/>
              <a:tblGrid>
                <a:gridCol w="3931216"/>
                <a:gridCol w="2370955"/>
                <a:gridCol w="9928430"/>
              </a:tblGrid>
              <a:tr h="1735368">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Değişken Tanımlaması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Durum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Karşılaşılan Söz Dizimi Hatası / Gerekçe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15142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asistan_sürümü = 0.2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3663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1.kullanici_adi = "Ali"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3663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kullanıcı adı = "Veli"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3663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if = "Kod-Asistan"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5142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kod_asistan_v02 = 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7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Değişken Adlandırma Standartlarına İlişkin Doğru ve Hatalı Kullanım Senaryoları</a:t>
            </a:r>
          </a:p>
        </p:txBody>
      </p:sp>
      <p:graphicFrame>
        <p:nvGraphicFramePr>
          <p:cNvPr name="Table 3" id="3"/>
          <p:cNvGraphicFramePr>
            <a:graphicFrameLocks noGrp="true"/>
          </p:cNvGraphicFramePr>
          <p:nvPr/>
        </p:nvGraphicFramePr>
        <p:xfrm>
          <a:off x="1028700" y="1673958"/>
          <a:ext cx="16230600" cy="7573699"/>
        </p:xfrm>
        <a:graphic>
          <a:graphicData uri="http://schemas.openxmlformats.org/drawingml/2006/table">
            <a:tbl>
              <a:tblPr/>
              <a:tblGrid>
                <a:gridCol w="3931216"/>
                <a:gridCol w="2370955"/>
                <a:gridCol w="9928430"/>
              </a:tblGrid>
              <a:tr h="1735368">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Değişken Tanımlaması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Durum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Karşılaşılan Söz Dizimi Hatası / Gerekçe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15142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asistan_sürümü = 0.2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6AA7DB"/>
                          </a:solidFill>
                          <a:latin typeface="Raleway Bold"/>
                          <a:ea typeface="Raleway Bold"/>
                          <a:cs typeface="Raleway Bold"/>
                          <a:sym typeface="Raleway Bold"/>
                        </a:rPr>
                        <a:t>Geçerli ancak önerilmez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Teknik olarak çalışsa da küresel standartlar gereği 'ü' harfi yerine 'u' kullanılmalıdır (asistan_surumu).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3663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1.kullanici_adi = "Ali"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FF0000"/>
                          </a:solidFill>
                          <a:latin typeface="Raleway Bold"/>
                          <a:ea typeface="Raleway Bold"/>
                          <a:cs typeface="Raleway Bold"/>
                          <a:sym typeface="Raleway Bold"/>
                        </a:rPr>
                        <a:t>Hatalı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SyntaxError: Değişken isimleri rakamla başlayamaz.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3663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kullanıcı adı = "Veli"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FF0000"/>
                          </a:solidFill>
                          <a:latin typeface="Raleway Bold"/>
                          <a:ea typeface="Raleway Bold"/>
                          <a:cs typeface="Raleway Bold"/>
                          <a:sym typeface="Raleway Bold"/>
                        </a:rPr>
                        <a:t>Hatalı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SyntaxError: Kelimeler arasında boşluk karakteri kullanılamaz.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36631">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if = "Kod-Asistan"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FF0000"/>
                          </a:solidFill>
                          <a:latin typeface="Raleway Bold"/>
                          <a:ea typeface="Raleway Bold"/>
                          <a:cs typeface="Raleway Bold"/>
                          <a:sym typeface="Raleway Bold"/>
                        </a:rPr>
                        <a:t>Hatalı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if ayrılmış anahtar kelime (reserved word) olduğundan veri atanamaz.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51422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kod_asistan_v02 = 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5EC596"/>
                          </a:solidFill>
                          <a:latin typeface="Raleway Bold"/>
                          <a:ea typeface="Raleway Bold"/>
                          <a:cs typeface="Raleway Bold"/>
                          <a:sym typeface="Raleway Bold"/>
                        </a:rPr>
                        <a:t>Doğru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Karakter kısıtlamalarına, başlangıç kriterine ve standart notasyona tamamen uygundur.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7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2.1.11. Sabitler</a:t>
            </a:r>
          </a:p>
        </p:txBody>
      </p:sp>
      <p:sp>
        <p:nvSpPr>
          <p:cNvPr name="TextBox 3" id="3"/>
          <p:cNvSpPr txBox="true"/>
          <p:nvPr/>
        </p:nvSpPr>
        <p:spPr>
          <a:xfrm rot="0">
            <a:off x="1028700" y="1756117"/>
            <a:ext cx="16230600"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Yazılım geliştirme sürecinde bazı verilerin değerleri programın başlangıcından son adımına kadar sürekli olarak değişebilir, bu tür veriler için </a:t>
            </a:r>
            <a:r>
              <a:rPr lang="en-US" sz="2499" spc="-117" b="true">
                <a:solidFill>
                  <a:srgbClr val="424242"/>
                </a:solidFill>
                <a:latin typeface="Raleway Bold"/>
                <a:ea typeface="Raleway Bold"/>
                <a:cs typeface="Raleway Bold"/>
                <a:sym typeface="Raleway Bold"/>
              </a:rPr>
              <a:t>değişkenler </a:t>
            </a:r>
            <a:r>
              <a:rPr lang="en-US" sz="2499" spc="-117">
                <a:solidFill>
                  <a:srgbClr val="424242"/>
                </a:solidFill>
                <a:latin typeface="Raleway"/>
                <a:ea typeface="Raleway"/>
                <a:cs typeface="Raleway"/>
                <a:sym typeface="Raleway"/>
              </a:rPr>
              <a:t>kullanılır. </a:t>
            </a:r>
          </a:p>
          <a:p>
            <a:pPr algn="l">
              <a:lnSpc>
                <a:spcPts val="3499"/>
              </a:lnSpc>
            </a:pPr>
          </a:p>
          <a:p>
            <a:pPr algn="l">
              <a:lnSpc>
                <a:spcPts val="3499"/>
              </a:lnSpc>
            </a:pPr>
            <a:r>
              <a:rPr lang="en-US" sz="2499" spc="-117">
                <a:solidFill>
                  <a:srgbClr val="424242"/>
                </a:solidFill>
                <a:latin typeface="Raleway"/>
                <a:ea typeface="Raleway"/>
                <a:cs typeface="Raleway"/>
                <a:sym typeface="Raleway"/>
              </a:rPr>
              <a:t>Bir yazılım mimarisinde programın çalışma süresince değiştirilmemesi amaçlanan ve aynı değeri koruması beklenen verilere </a:t>
            </a:r>
            <a:r>
              <a:rPr lang="en-US" sz="2499" spc="-117" b="true">
                <a:solidFill>
                  <a:srgbClr val="424242"/>
                </a:solidFill>
                <a:latin typeface="Raleway Bold"/>
                <a:ea typeface="Raleway Bold"/>
                <a:cs typeface="Raleway Bold"/>
                <a:sym typeface="Raleway Bold"/>
              </a:rPr>
              <a:t>sabit (</a:t>
            </a:r>
            <a:r>
              <a:rPr lang="en-US" sz="2499" spc="-117">
                <a:solidFill>
                  <a:srgbClr val="424242"/>
                </a:solidFill>
                <a:latin typeface="Raleway"/>
                <a:ea typeface="Raleway"/>
                <a:cs typeface="Raleway"/>
                <a:sym typeface="Raleway"/>
              </a:rPr>
              <a:t>constant</a:t>
            </a:r>
            <a:r>
              <a:rPr lang="en-US" sz="2499" spc="-117" b="true">
                <a:solidFill>
                  <a:srgbClr val="424242"/>
                </a:solidFill>
                <a:latin typeface="Raleway Bold"/>
                <a:ea typeface="Raleway Bold"/>
                <a:cs typeface="Raleway Bold"/>
                <a:sym typeface="Raleway Bold"/>
              </a:rPr>
              <a:t>)</a:t>
            </a:r>
            <a:r>
              <a:rPr lang="en-US" sz="2499" spc="-117">
                <a:solidFill>
                  <a:srgbClr val="424242"/>
                </a:solidFill>
                <a:latin typeface="Raleway"/>
                <a:ea typeface="Raleway"/>
                <a:cs typeface="Raleway"/>
                <a:sym typeface="Raleway"/>
              </a:rPr>
              <a:t> adı verilir.</a:t>
            </a:r>
          </a:p>
        </p:txBody>
      </p:sp>
    </p:spTree>
  </p:cSld>
  <p:clrMapOvr>
    <a:masterClrMapping/>
  </p:clrMapOvr>
</p:sld>
</file>

<file path=ppt/slides/slide76.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7462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Python'da Sabitler:</a:t>
            </a:r>
          </a:p>
          <a:p>
            <a:pPr algn="l">
              <a:lnSpc>
                <a:spcPts val="3499"/>
              </a:lnSpc>
            </a:pPr>
          </a:p>
          <a:p>
            <a:pPr algn="l">
              <a:lnSpc>
                <a:spcPts val="3499"/>
              </a:lnSpc>
            </a:pPr>
            <a:r>
              <a:rPr lang="en-US" sz="2499" spc="-117">
                <a:solidFill>
                  <a:srgbClr val="424242"/>
                </a:solidFill>
                <a:latin typeface="Raleway"/>
                <a:ea typeface="Raleway"/>
                <a:cs typeface="Raleway"/>
                <a:sym typeface="Raleway"/>
              </a:rPr>
              <a:t>Python'da sabitler teknik olarak değiştirilebilir ancak adlandırma kuralları ve geliştirici uzlaşısı gereği değiştirilmemeleri beklenir. Sabitler, yazılımın kararlılığını ve yönetilebilirliğini şu iki temel mekanizma ile güçlendirir:</a:t>
            </a:r>
          </a:p>
        </p:txBody>
      </p:sp>
      <p:graphicFrame>
        <p:nvGraphicFramePr>
          <p:cNvPr name="Table 3" id="3"/>
          <p:cNvGraphicFramePr>
            <a:graphicFrameLocks noGrp="true"/>
          </p:cNvGraphicFramePr>
          <p:nvPr/>
        </p:nvGraphicFramePr>
        <p:xfrm>
          <a:off x="1028700" y="3015667"/>
          <a:ext cx="16230600" cy="2876550"/>
        </p:xfrm>
        <a:graphic>
          <a:graphicData uri="http://schemas.openxmlformats.org/drawingml/2006/table">
            <a:tbl>
              <a:tblPr/>
              <a:tblGrid>
                <a:gridCol w="4747721"/>
                <a:gridCol w="11482879"/>
              </a:tblGrid>
              <a:tr h="668965">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Mekanizma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995">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Mantıksal Hataların Önlenmesi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Büyük harfle yazılan sabit adları, bu değerlerin program akışı içinde değiştirilmemesi gerektiğini geliştiricilere bildirir ve kritik parametrelerin yanlışlıkla değiştirilmesi riskini azaltır.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80590">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Kod Okunabilirliği ve Kolay Bakım (</a:t>
                      </a:r>
                      <a:r>
                        <a:rPr lang="en-US" sz="2000">
                          <a:solidFill>
                            <a:srgbClr val="000000"/>
                          </a:solidFill>
                          <a:latin typeface="Raleway"/>
                          <a:ea typeface="Raleway"/>
                          <a:cs typeface="Raleway"/>
                          <a:sym typeface="Raleway"/>
                        </a:rPr>
                        <a:t>Maintainability</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 bloku içerisinde birden fazla yerde kullanılan bir verinin (örneğin yerel bir sunucu adresinin) tek bir merkezden yönetilmesini sağlar. İlgili veri değiştiğinde binlerce satırı düzenlemek yerine sadece en baştaki sabiti güncellemek yeterlidir.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2078821" y="6038584"/>
            <a:ext cx="9448308" cy="3419940"/>
          </a:xfrm>
          <a:custGeom>
            <a:avLst/>
            <a:gdLst/>
            <a:ahLst/>
            <a:cxnLst/>
            <a:rect r="r" b="b" t="t" l="l"/>
            <a:pathLst>
              <a:path h="3419940" w="9448308">
                <a:moveTo>
                  <a:pt x="0" y="0"/>
                </a:moveTo>
                <a:lnTo>
                  <a:pt x="9448308" y="0"/>
                </a:lnTo>
                <a:lnTo>
                  <a:pt x="9448308" y="3419940"/>
                </a:lnTo>
                <a:lnTo>
                  <a:pt x="0" y="3419940"/>
                </a:lnTo>
                <a:lnTo>
                  <a:pt x="0" y="0"/>
                </a:lnTo>
                <a:close/>
              </a:path>
            </a:pathLst>
          </a:custGeom>
          <a:blipFill>
            <a:blip r:embed="rId2"/>
            <a:stretch>
              <a:fillRect l="0" t="0" r="0" b="0"/>
            </a:stretch>
          </a:blipFill>
        </p:spPr>
      </p:sp>
      <p:sp>
        <p:nvSpPr>
          <p:cNvPr name="TextBox 3" id="3"/>
          <p:cNvSpPr txBox="true"/>
          <p:nvPr/>
        </p:nvSpPr>
        <p:spPr>
          <a:xfrm rot="0">
            <a:off x="1028700" y="971550"/>
            <a:ext cx="16230600" cy="48133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Önemli Not: </a:t>
            </a:r>
          </a:p>
          <a:p>
            <a:pPr algn="l">
              <a:lnSpc>
                <a:spcPts val="3499"/>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Birçok geleneksel programlama dilinde (C++, Java, C# vb.) bir veriyi sabit yapmak için </a:t>
            </a:r>
            <a:r>
              <a:rPr lang="en-US" b="true" sz="2499" spc="-117">
                <a:solidFill>
                  <a:srgbClr val="424242"/>
                </a:solidFill>
                <a:latin typeface="Raleway Bold"/>
                <a:ea typeface="Raleway Bold"/>
                <a:cs typeface="Raleway Bold"/>
                <a:sym typeface="Raleway Bold"/>
              </a:rPr>
              <a:t>const </a:t>
            </a:r>
            <a:r>
              <a:rPr lang="en-US" sz="2499" spc="-117">
                <a:solidFill>
                  <a:srgbClr val="424242"/>
                </a:solidFill>
                <a:latin typeface="Raleway"/>
                <a:ea typeface="Raleway"/>
                <a:cs typeface="Raleway"/>
                <a:sym typeface="Raleway"/>
              </a:rPr>
              <a:t>veya </a:t>
            </a:r>
            <a:r>
              <a:rPr lang="en-US" b="true" sz="2499" spc="-117">
                <a:solidFill>
                  <a:srgbClr val="424242"/>
                </a:solidFill>
                <a:latin typeface="Raleway Bold"/>
                <a:ea typeface="Raleway Bold"/>
                <a:cs typeface="Raleway Bold"/>
                <a:sym typeface="Raleway Bold"/>
              </a:rPr>
              <a:t>final </a:t>
            </a:r>
            <a:r>
              <a:rPr lang="en-US" sz="2499" spc="-117">
                <a:solidFill>
                  <a:srgbClr val="424242"/>
                </a:solidFill>
                <a:latin typeface="Raleway"/>
                <a:ea typeface="Raleway"/>
                <a:cs typeface="Raleway"/>
                <a:sym typeface="Raleway"/>
              </a:rPr>
              <a:t>gibi katı söz dizimi anahtarları kullanılır ve bu verinin değeri sonradan değiştirilmek istendiğinde derleyici doğrudan hata verir. </a:t>
            </a:r>
          </a:p>
          <a:p>
            <a:pPr algn="l">
              <a:lnSpc>
                <a:spcPts val="3499"/>
              </a:lnSpc>
            </a:pP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Python, yapısı gereği katı bir const mekanizmasına sahip değildir. </a:t>
            </a:r>
            <a:r>
              <a:rPr lang="en-US" sz="2499" spc="-117">
                <a:solidFill>
                  <a:srgbClr val="424242"/>
                </a:solidFill>
                <a:latin typeface="Raleway"/>
                <a:ea typeface="Raleway"/>
                <a:cs typeface="Raleway"/>
                <a:sym typeface="Raleway"/>
              </a:rPr>
              <a:t>Python yorumlayıcısı, teknik olarak tüm isimlendirmeleri birer değişken gibi işler. </a:t>
            </a:r>
          </a:p>
          <a:p>
            <a:pPr algn="l" marL="1079499" indent="-359833" lvl="2">
              <a:lnSpc>
                <a:spcPts val="3499"/>
              </a:lnSpc>
              <a:buFont typeface="Arial"/>
              <a:buChar char="⚬"/>
            </a:pPr>
            <a:r>
              <a:rPr lang="en-US" sz="2499" spc="-117">
                <a:solidFill>
                  <a:srgbClr val="424242"/>
                </a:solidFill>
                <a:latin typeface="Raleway"/>
                <a:ea typeface="Raleway"/>
                <a:cs typeface="Raleway"/>
                <a:sym typeface="Raleway"/>
              </a:rPr>
              <a:t>Bu durum, Python dünyasında okunabilirliği artırmak ve tutarlılığı sağlamak amacıyla Python topluluğunda benimsenen adlandırma geleneğinin (PEP 8 isimlendirme kuralının) doğmasını zorunlu kılmıştır. Python'da sabit olarak kullanılması amaçlanan isimler, PEP 8 adlandırma önerisine göre genellikle tüm harfleri büyük olacak ve kelimeler alt çizgiyle (_) ayrılacak biçimde yazılır.</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929640" y="1428198"/>
            <a:ext cx="3926085" cy="3297912"/>
          </a:xfrm>
          <a:custGeom>
            <a:avLst/>
            <a:gdLst/>
            <a:ahLst/>
            <a:cxnLst/>
            <a:rect r="r" b="b" t="t" l="l"/>
            <a:pathLst>
              <a:path h="3297912" w="3926085">
                <a:moveTo>
                  <a:pt x="0" y="0"/>
                </a:moveTo>
                <a:lnTo>
                  <a:pt x="3926085" y="0"/>
                </a:lnTo>
                <a:lnTo>
                  <a:pt x="3926085" y="3297911"/>
                </a:lnTo>
                <a:lnTo>
                  <a:pt x="0" y="3297911"/>
                </a:lnTo>
                <a:lnTo>
                  <a:pt x="0" y="0"/>
                </a:lnTo>
                <a:close/>
              </a:path>
            </a:pathLst>
          </a:custGeom>
          <a:blipFill>
            <a:blip r:embed="rId2"/>
            <a:stretch>
              <a:fillRect l="0" t="0" r="0" b="0"/>
            </a:stretch>
          </a:blipFill>
        </p:spPr>
      </p:sp>
      <p:sp>
        <p:nvSpPr>
          <p:cNvPr name="TextBox 3" id="3"/>
          <p:cNvSpPr txBox="true"/>
          <p:nvPr/>
        </p:nvSpPr>
        <p:spPr>
          <a:xfrm rot="0">
            <a:off x="5318609" y="2837948"/>
            <a:ext cx="11130687" cy="30607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Bilgi Kutusu: </a:t>
            </a:r>
            <a:r>
              <a:rPr lang="en-US" sz="2499" spc="-117" b="true">
                <a:solidFill>
                  <a:srgbClr val="5EC596"/>
                </a:solidFill>
                <a:latin typeface="Raleway Bold"/>
                <a:ea typeface="Raleway Bold"/>
                <a:cs typeface="Raleway Bold"/>
                <a:sym typeface="Raleway Bold"/>
              </a:rPr>
              <a:t>YORUM SATIRI</a:t>
            </a:r>
          </a:p>
          <a:p>
            <a:pPr algn="l">
              <a:lnSpc>
                <a:spcPts val="3499"/>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Python'da # (diyez) işareti ile başlayan bu satırlar, maki</a:t>
            </a:r>
            <a:r>
              <a:rPr lang="en-US" sz="2499" spc="-117">
                <a:solidFill>
                  <a:srgbClr val="424242"/>
                </a:solidFill>
                <a:latin typeface="Raleway"/>
                <a:ea typeface="Raleway"/>
                <a:cs typeface="Raleway"/>
                <a:sym typeface="Raleway"/>
              </a:rPr>
              <a:t>n</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d</a:t>
            </a:r>
            <a:r>
              <a:rPr lang="en-US" sz="2499" spc="-117">
                <a:solidFill>
                  <a:srgbClr val="424242"/>
                </a:solidFill>
                <a:latin typeface="Raleway"/>
                <a:ea typeface="Raleway"/>
                <a:cs typeface="Raleway"/>
                <a:sym typeface="Raleway"/>
              </a:rPr>
              <a:t>eği</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doğrud</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n</a:t>
            </a:r>
            <a:r>
              <a:rPr lang="en-US" sz="2499" spc="-117">
                <a:solidFill>
                  <a:srgbClr val="424242"/>
                </a:solidFill>
                <a:latin typeface="Raleway"/>
                <a:ea typeface="Raleway"/>
                <a:cs typeface="Raleway"/>
                <a:sym typeface="Raleway"/>
              </a:rPr>
              <a:t> insana hi</a:t>
            </a:r>
            <a:r>
              <a:rPr lang="en-US" sz="2499" spc="-117">
                <a:solidFill>
                  <a:srgbClr val="424242"/>
                </a:solidFill>
                <a:latin typeface="Raleway"/>
                <a:ea typeface="Raleway"/>
                <a:cs typeface="Raleway"/>
                <a:sym typeface="Raleway"/>
              </a:rPr>
              <a:t>ta</a:t>
            </a:r>
            <a:r>
              <a:rPr lang="en-US" sz="2499" spc="-117">
                <a:solidFill>
                  <a:srgbClr val="424242"/>
                </a:solidFill>
                <a:latin typeface="Raleway"/>
                <a:ea typeface="Raleway"/>
                <a:cs typeface="Raleway"/>
                <a:sym typeface="Raleway"/>
              </a:rPr>
              <a:t>p ed</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r. </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Profesyonel yazılımcılar; kodun ne işe yaradığını takım arkadaşlarına anlatmak veya daha sonra hatırlamak için bu yöntemi kullanır. </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Siz de kodlarınıza </a:t>
            </a:r>
            <a:r>
              <a:rPr lang="en-US" b="true" sz="2499" spc="-117">
                <a:solidFill>
                  <a:srgbClr val="424242"/>
                </a:solidFill>
                <a:latin typeface="Raleway Bold"/>
                <a:ea typeface="Raleway Bold"/>
                <a:cs typeface="Raleway Bold"/>
                <a:sym typeface="Raleway Bold"/>
              </a:rPr>
              <a:t>#</a:t>
            </a:r>
            <a:r>
              <a:rPr lang="en-US" sz="2499" spc="-117">
                <a:solidFill>
                  <a:srgbClr val="424242"/>
                </a:solidFill>
                <a:latin typeface="Raleway"/>
                <a:ea typeface="Raleway"/>
                <a:cs typeface="Raleway"/>
                <a:sym typeface="Raleway"/>
              </a:rPr>
              <a:t> ile açıklamalar ekleyerek bu alışkanlığı edinebilirsiniz.</a:t>
            </a:r>
          </a:p>
        </p:txBody>
      </p:sp>
      <p:sp>
        <p:nvSpPr>
          <p:cNvPr name="Freeform 4" id="4"/>
          <p:cNvSpPr/>
          <p:nvPr/>
        </p:nvSpPr>
        <p:spPr>
          <a:xfrm>
            <a:off x="1623660" y="2392350"/>
            <a:ext cx="15210669" cy="6412017"/>
          </a:xfrm>
          <a:custGeom>
            <a:avLst/>
            <a:gdLst/>
            <a:ahLst/>
            <a:cxnLst/>
            <a:rect r="r" b="b" t="t" l="l"/>
            <a:pathLst>
              <a:path h="6412017" w="15210669">
                <a:moveTo>
                  <a:pt x="3475225" y="0"/>
                </a:moveTo>
                <a:lnTo>
                  <a:pt x="14982069" y="0"/>
                </a:lnTo>
                <a:cubicBezTo>
                  <a:pt x="15042698" y="0"/>
                  <a:pt x="15100843" y="24084"/>
                  <a:pt x="15143713" y="66955"/>
                </a:cubicBezTo>
                <a:cubicBezTo>
                  <a:pt x="15186585" y="109826"/>
                  <a:pt x="15210669" y="167971"/>
                  <a:pt x="15210669" y="228600"/>
                </a:cubicBezTo>
                <a:lnTo>
                  <a:pt x="15210669" y="6183416"/>
                </a:lnTo>
                <a:cubicBezTo>
                  <a:pt x="15210669" y="6309668"/>
                  <a:pt x="15108322" y="6412016"/>
                  <a:pt x="14982069" y="6412016"/>
                </a:cubicBezTo>
                <a:lnTo>
                  <a:pt x="228600" y="6412016"/>
                </a:lnTo>
                <a:cubicBezTo>
                  <a:pt x="102348" y="6412016"/>
                  <a:pt x="0" y="6309668"/>
                  <a:pt x="0" y="6183416"/>
                </a:cubicBezTo>
                <a:lnTo>
                  <a:pt x="0" y="4674202"/>
                </a:lnTo>
              </a:path>
            </a:pathLst>
          </a:custGeom>
          <a:ln cap="flat" w="38100">
            <a:solidFill>
              <a:srgbClr val="5EC596"/>
            </a:solidFill>
            <a:prstDash val="solid"/>
            <a:headEnd type="none" len="sm" w="sm"/>
            <a:tailEnd type="none" len="sm" w="sm"/>
          </a:ln>
        </p:spPr>
      </p:sp>
      <p:sp>
        <p:nvSpPr>
          <p:cNvPr name="Freeform 5" id="5"/>
          <p:cNvSpPr/>
          <p:nvPr/>
        </p:nvSpPr>
        <p:spPr>
          <a:xfrm flipH="false" flipV="false" rot="0">
            <a:off x="3862209" y="7119590"/>
            <a:ext cx="12361322" cy="1042657"/>
          </a:xfrm>
          <a:custGeom>
            <a:avLst/>
            <a:gdLst/>
            <a:ahLst/>
            <a:cxnLst/>
            <a:rect r="r" b="b" t="t" l="l"/>
            <a:pathLst>
              <a:path h="1042657" w="12361322">
                <a:moveTo>
                  <a:pt x="0" y="0"/>
                </a:moveTo>
                <a:lnTo>
                  <a:pt x="12361321" y="0"/>
                </a:lnTo>
                <a:lnTo>
                  <a:pt x="12361321" y="1042656"/>
                </a:lnTo>
                <a:lnTo>
                  <a:pt x="0" y="1042656"/>
                </a:lnTo>
                <a:lnTo>
                  <a:pt x="0" y="0"/>
                </a:lnTo>
                <a:close/>
              </a:path>
            </a:pathLst>
          </a:custGeom>
          <a:blipFill>
            <a:blip r:embed="rId3"/>
            <a:stretch>
              <a:fillRect l="0" t="0" r="0" b="-38315"/>
            </a:stretch>
          </a:blipFill>
        </p:spPr>
      </p:sp>
      <p:sp>
        <p:nvSpPr>
          <p:cNvPr name="TextBox 6" id="6"/>
          <p:cNvSpPr txBox="true"/>
          <p:nvPr/>
        </p:nvSpPr>
        <p:spPr>
          <a:xfrm rot="-5400000">
            <a:off x="2492949" y="6949713"/>
            <a:ext cx="1555116" cy="869950"/>
          </a:xfrm>
          <a:prstGeom prst="rect">
            <a:avLst/>
          </a:prstGeom>
        </p:spPr>
        <p:txBody>
          <a:bodyPr anchor="t" rtlCol="false" tIns="0" lIns="0" bIns="0" rIns="0">
            <a:spAutoFit/>
          </a:bodyPr>
          <a:lstStyle/>
          <a:p>
            <a:pPr algn="l">
              <a:lnSpc>
                <a:spcPts val="3499"/>
              </a:lnSpc>
            </a:pPr>
            <a:r>
              <a:rPr lang="en-US" b="true" sz="2499" spc="-117">
                <a:solidFill>
                  <a:srgbClr val="5EC596"/>
                </a:solidFill>
                <a:latin typeface="Raleway Bold"/>
                <a:ea typeface="Raleway Bold"/>
                <a:cs typeface="Raleway Bold"/>
                <a:sym typeface="Raleway Bold"/>
              </a:rPr>
              <a:t>Ö</a:t>
            </a:r>
            <a:r>
              <a:rPr lang="en-US" b="true" sz="2499" spc="-117">
                <a:solidFill>
                  <a:srgbClr val="5EC596"/>
                </a:solidFill>
                <a:latin typeface="Raleway Bold"/>
                <a:ea typeface="Raleway Bold"/>
                <a:cs typeface="Raleway Bold"/>
                <a:sym typeface="Raleway Bold"/>
              </a:rPr>
              <a:t>rnek Kullanım:</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615280"/>
            <a:ext cx="12147720" cy="1931345"/>
          </a:xfrm>
          <a:custGeom>
            <a:avLst/>
            <a:gdLst/>
            <a:ahLst/>
            <a:cxnLst/>
            <a:rect r="r" b="b" t="t" l="l"/>
            <a:pathLst>
              <a:path h="1931345" w="12147720">
                <a:moveTo>
                  <a:pt x="0" y="0"/>
                </a:moveTo>
                <a:lnTo>
                  <a:pt x="12147720" y="0"/>
                </a:lnTo>
                <a:lnTo>
                  <a:pt x="12147720" y="1931345"/>
                </a:lnTo>
                <a:lnTo>
                  <a:pt x="0" y="1931345"/>
                </a:lnTo>
                <a:lnTo>
                  <a:pt x="0" y="0"/>
                </a:lnTo>
                <a:close/>
              </a:path>
            </a:pathLst>
          </a:custGeom>
          <a:blipFill>
            <a:blip r:embed="rId2"/>
            <a:stretch>
              <a:fillRect l="0" t="0" r="0" b="0"/>
            </a:stretch>
          </a:blipFill>
        </p:spPr>
      </p:sp>
      <p:sp>
        <p:nvSpPr>
          <p:cNvPr name="TextBox 3" id="3"/>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 ÖRNEK 2: </a:t>
            </a:r>
            <a:r>
              <a:rPr lang="en-US" sz="3000" spc="-141">
                <a:solidFill>
                  <a:srgbClr val="424242"/>
                </a:solidFill>
                <a:latin typeface="Raleway"/>
                <a:ea typeface="Raleway"/>
                <a:cs typeface="Raleway"/>
                <a:sym typeface="Raleway"/>
              </a:rPr>
              <a:t>SEKTÖREL SABİT STANDARDI VE MANTIKSAL DENETİM</a:t>
            </a:r>
          </a:p>
        </p:txBody>
      </p:sp>
      <p:sp>
        <p:nvSpPr>
          <p:cNvPr name="TextBox 4" id="4"/>
          <p:cNvSpPr txBox="true"/>
          <p:nvPr/>
        </p:nvSpPr>
        <p:spPr>
          <a:xfrm rot="0">
            <a:off x="1028700" y="1756117"/>
            <a:ext cx="16230600"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Kod-Asistan projesinin kullanıcı giriş panelinde, siber güvenlik önlemi olarak bir kullanıcının en fazla 3 kez hatalı şifre girme hakkı bulunmaktadır. Projenin kararlılığını korumak adına bu üst sınır değeri bir sabit olarak kurgulanmıştır.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Örnek Kod Bloku:</a:t>
            </a:r>
          </a:p>
        </p:txBody>
      </p:sp>
      <p:sp>
        <p:nvSpPr>
          <p:cNvPr name="TextBox 5" id="5"/>
          <p:cNvSpPr txBox="true"/>
          <p:nvPr/>
        </p:nvSpPr>
        <p:spPr>
          <a:xfrm rot="0">
            <a:off x="1028700" y="5813325"/>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Kod Analizi:</a:t>
            </a:r>
          </a:p>
        </p:txBody>
      </p:sp>
      <p:graphicFrame>
        <p:nvGraphicFramePr>
          <p:cNvPr name="Table 6" id="6"/>
          <p:cNvGraphicFramePr>
            <a:graphicFrameLocks noGrp="true"/>
          </p:cNvGraphicFramePr>
          <p:nvPr/>
        </p:nvGraphicFramePr>
        <p:xfrm>
          <a:off x="1028700" y="6359425"/>
          <a:ext cx="16230600" cy="3448050"/>
        </p:xfrm>
        <a:graphic>
          <a:graphicData uri="http://schemas.openxmlformats.org/drawingml/2006/table">
            <a:tbl>
              <a:tblPr/>
              <a:tblGrid>
                <a:gridCol w="3308685"/>
                <a:gridCol w="12921915"/>
              </a:tblGrid>
              <a:tr h="668597">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Durum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48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Söz Dizimi Durumu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Başarılı. Python yorumlayıcısı, </a:t>
                      </a:r>
                      <a:r>
                        <a:rPr lang="en-US" sz="2000" b="true">
                          <a:solidFill>
                            <a:srgbClr val="000000"/>
                          </a:solidFill>
                          <a:latin typeface="Raleway Bold"/>
                          <a:ea typeface="Raleway Bold"/>
                          <a:cs typeface="Raleway Bold"/>
                          <a:sym typeface="Raleway Bold"/>
                        </a:rPr>
                        <a:t>MAKSIMUM_DENEME = 99</a:t>
                      </a:r>
                      <a:r>
                        <a:rPr lang="en-US" sz="2000">
                          <a:solidFill>
                            <a:srgbClr val="000000"/>
                          </a:solidFill>
                          <a:latin typeface="Raleway"/>
                          <a:ea typeface="Raleway"/>
                          <a:cs typeface="Raleway"/>
                          <a:sym typeface="Raleway"/>
                        </a:rPr>
                        <a:t> satırında teknik olarak bir çökme veya </a:t>
                      </a:r>
                      <a:r>
                        <a:rPr lang="en-US" sz="2000" b="true">
                          <a:solidFill>
                            <a:srgbClr val="000000"/>
                          </a:solidFill>
                          <a:latin typeface="Raleway Bold"/>
                          <a:ea typeface="Raleway Bold"/>
                          <a:cs typeface="Raleway Bold"/>
                          <a:sym typeface="Raleway Bold"/>
                        </a:rPr>
                        <a:t>SyntaxError </a:t>
                      </a:r>
                      <a:r>
                        <a:rPr lang="en-US" sz="2000">
                          <a:solidFill>
                            <a:srgbClr val="000000"/>
                          </a:solidFill>
                          <a:latin typeface="Raleway"/>
                          <a:ea typeface="Raleway"/>
                          <a:cs typeface="Raleway"/>
                          <a:sym typeface="Raleway"/>
                        </a:rPr>
                        <a:t>üretmez, kodu okumaya devam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988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Mantıksal Durum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Hatalı. </a:t>
                      </a:r>
                      <a:r>
                        <a:rPr lang="en-US" sz="2000">
                          <a:solidFill>
                            <a:srgbClr val="000000"/>
                          </a:solidFill>
                          <a:latin typeface="Raleway"/>
                          <a:ea typeface="Raleway"/>
                          <a:cs typeface="Raleway"/>
                          <a:sym typeface="Raleway"/>
                        </a:rPr>
                        <a:t>Python yorumlayıcısı büyük harfle yazılan bu adı teknik olarak normal bir değişken gibi işler. Ancak PEP 8'e göre bu isim sabit olarak kullanılmak üzere tanımlandığından, değerinin program akışı içinde değiştirilmesi kod incelemesinde mantıksal ve stil açısından sorun olarak değerlendirilir.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08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İnsan Denetimi Kararı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Kod incelemesinde bu yeniden atama düzeltilmeden </a:t>
                      </a:r>
                      <a:r>
                        <a:rPr lang="en-US" sz="2000" b="true">
                          <a:solidFill>
                            <a:srgbClr val="000000"/>
                          </a:solidFill>
                          <a:latin typeface="Raleway Bold"/>
                          <a:ea typeface="Raleway Bold"/>
                          <a:cs typeface="Raleway Bold"/>
                          <a:sym typeface="Raleway Bold"/>
                        </a:rPr>
                        <a:t>kodun ana sürüme alınmaması önerilir.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80.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 SIRA SİZDE 1</a:t>
            </a:r>
          </a:p>
        </p:txBody>
      </p:sp>
      <p:sp>
        <p:nvSpPr>
          <p:cNvPr name="TextBox 3" id="3"/>
          <p:cNvSpPr txBox="true"/>
          <p:nvPr/>
        </p:nvSpPr>
        <p:spPr>
          <a:xfrm rot="0">
            <a:off x="1028700" y="1756117"/>
            <a:ext cx="16230600" cy="70040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Aşağıdaki kutucuklarda verilen kavramları anlamlarına uygun olacak şekilde ilgili boşluklara yerleştiriniz.</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                              int              snake_case              bool             float              BÜYÜK_HARF              PEP 8               str</a:t>
            </a:r>
          </a:p>
          <a:p>
            <a:pPr algn="l">
              <a:lnSpc>
                <a:spcPts val="3499"/>
              </a:lnSpc>
            </a:pPr>
          </a:p>
          <a:p>
            <a:pPr algn="l">
              <a:lnSpc>
                <a:spcPts val="3499"/>
              </a:lnSpc>
            </a:pPr>
          </a:p>
          <a:p>
            <a:pPr algn="l">
              <a:lnSpc>
                <a:spcPts val="3499"/>
              </a:lnSpc>
            </a:pPr>
            <a:r>
              <a:rPr lang="en-US" sz="2499" spc="-117">
                <a:solidFill>
                  <a:srgbClr val="424242"/>
                </a:solidFill>
                <a:latin typeface="Raleway"/>
                <a:ea typeface="Raleway"/>
                <a:cs typeface="Raleway"/>
                <a:sym typeface="Raleway"/>
              </a:rPr>
              <a:t>Programlamada veriler değişkenler ve sabitler olarak ikiye ayrılır.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Değişkenler isimlendirilirken </a:t>
            </a:r>
            <a:r>
              <a:rPr lang="en-US" b="true" sz="2499" spc="-117">
                <a:solidFill>
                  <a:srgbClr val="424242"/>
                </a:solidFill>
                <a:latin typeface="Raleway Semi-Bold"/>
                <a:ea typeface="Raleway Semi-Bold"/>
                <a:cs typeface="Raleway Semi-Bold"/>
                <a:sym typeface="Raleway Semi-Bold"/>
              </a:rPr>
              <a:t>............................</a:t>
            </a:r>
            <a:r>
              <a:rPr lang="en-US" sz="2499" spc="-117">
                <a:solidFill>
                  <a:srgbClr val="424242"/>
                </a:solidFill>
                <a:latin typeface="Raleway"/>
                <a:ea typeface="Raleway"/>
                <a:cs typeface="Raleway"/>
                <a:sym typeface="Raleway"/>
              </a:rPr>
              <a:t> notasyonu kullanılır.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Sabitler isimlendirilirken </a:t>
            </a:r>
            <a:r>
              <a:rPr lang="en-US" b="true" sz="2499" spc="-117">
                <a:solidFill>
                  <a:srgbClr val="424242"/>
                </a:solidFill>
                <a:latin typeface="Raleway Semi-Bold"/>
                <a:ea typeface="Raleway Semi-Bold"/>
                <a:cs typeface="Raleway Semi-Bold"/>
                <a:sym typeface="Raleway Semi-Bold"/>
              </a:rPr>
              <a:t>............................</a:t>
            </a:r>
            <a:r>
              <a:rPr lang="en-US" sz="2499" spc="-117">
                <a:solidFill>
                  <a:srgbClr val="424242"/>
                </a:solidFill>
                <a:latin typeface="Raleway"/>
                <a:ea typeface="Raleway"/>
                <a:cs typeface="Raleway"/>
                <a:sym typeface="Raleway"/>
              </a:rPr>
              <a:t> notasyonu kullanılır.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Her ikisinin isimlendirme kurallarının evrensel standardına </a:t>
            </a:r>
            <a:r>
              <a:rPr lang="en-US" b="true" sz="2499" spc="-117">
                <a:solidFill>
                  <a:srgbClr val="424242"/>
                </a:solidFill>
                <a:latin typeface="Raleway Semi-Bold"/>
                <a:ea typeface="Raleway Semi-Bold"/>
                <a:cs typeface="Raleway Semi-Bold"/>
                <a:sym typeface="Raleway Semi-Bold"/>
              </a:rPr>
              <a:t>............................</a:t>
            </a:r>
            <a:r>
              <a:rPr lang="en-US" sz="2499" spc="-117">
                <a:solidFill>
                  <a:srgbClr val="424242"/>
                </a:solidFill>
                <a:latin typeface="Raleway"/>
                <a:ea typeface="Raleway"/>
                <a:cs typeface="Raleway"/>
                <a:sym typeface="Raleway"/>
              </a:rPr>
              <a:t> denir.</a:t>
            </a:r>
          </a:p>
          <a:p>
            <a:pPr algn="l">
              <a:lnSpc>
                <a:spcPts val="3499"/>
              </a:lnSpc>
            </a:pPr>
          </a:p>
          <a:p>
            <a:pPr algn="l">
              <a:lnSpc>
                <a:spcPts val="3499"/>
              </a:lnSpc>
            </a:pPr>
            <a:r>
              <a:rPr lang="en-US" sz="2499" spc="-117">
                <a:solidFill>
                  <a:srgbClr val="424242"/>
                </a:solidFill>
                <a:latin typeface="Raleway"/>
                <a:ea typeface="Raleway"/>
                <a:cs typeface="Raleway"/>
                <a:sym typeface="Raleway"/>
              </a:rPr>
              <a:t>Değişkenlerin ve sabitlerin temsil ettiği Temel Veri Türleri dörde ayrılır: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Tam sayılar -&gt; </a:t>
            </a:r>
            <a:r>
              <a:rPr lang="en-US" b="true" sz="2499" spc="-117">
                <a:solidFill>
                  <a:srgbClr val="424242"/>
                </a:solidFill>
                <a:latin typeface="Raleway Semi-Bold"/>
                <a:ea typeface="Raleway Semi-Bold"/>
                <a:cs typeface="Raleway Semi-Bold"/>
                <a:sym typeface="Raleway Semi-Bold"/>
              </a:rPr>
              <a:t>............................</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Ondalıklı sayılar -&gt; </a:t>
            </a:r>
            <a:r>
              <a:rPr lang="en-US" b="true" sz="2499" spc="-117">
                <a:solidFill>
                  <a:srgbClr val="424242"/>
                </a:solidFill>
                <a:latin typeface="Raleway Semi-Bold"/>
                <a:ea typeface="Raleway Semi-Bold"/>
                <a:cs typeface="Raleway Semi-Bold"/>
                <a:sym typeface="Raleway Semi-Bold"/>
              </a:rPr>
              <a:t>............................</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Metinsel ifadeler -&gt; </a:t>
            </a:r>
            <a:r>
              <a:rPr lang="en-US" b="true" sz="2499" spc="-117">
                <a:solidFill>
                  <a:srgbClr val="424242"/>
                </a:solidFill>
                <a:latin typeface="Raleway Semi-Bold"/>
                <a:ea typeface="Raleway Semi-Bold"/>
                <a:cs typeface="Raleway Semi-Bold"/>
                <a:sym typeface="Raleway Semi-Bold"/>
              </a:rPr>
              <a:t>............................</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Mantıksal değerler -&gt; </a:t>
            </a:r>
            <a:r>
              <a:rPr lang="en-US" b="true" sz="2499" spc="-117">
                <a:solidFill>
                  <a:srgbClr val="424242"/>
                </a:solidFill>
                <a:latin typeface="Raleway Semi-Bold"/>
                <a:ea typeface="Raleway Semi-Bold"/>
                <a:cs typeface="Raleway Semi-Bold"/>
                <a:sym typeface="Raleway Semi-Bold"/>
              </a:rPr>
              <a:t>............................</a:t>
            </a:r>
          </a:p>
          <a:p>
            <a:pPr algn="l">
              <a:lnSpc>
                <a:spcPts val="3499"/>
              </a:lnSpc>
            </a:pPr>
          </a:p>
        </p:txBody>
      </p:sp>
      <p:sp>
        <p:nvSpPr>
          <p:cNvPr name="AutoShape 4" id="4"/>
          <p:cNvSpPr/>
          <p:nvPr/>
        </p:nvSpPr>
        <p:spPr>
          <a:xfrm>
            <a:off x="1028700" y="3297805"/>
            <a:ext cx="16230600" cy="0"/>
          </a:xfrm>
          <a:prstGeom prst="line">
            <a:avLst/>
          </a:prstGeom>
          <a:ln cap="flat" w="19050">
            <a:solidFill>
              <a:srgbClr val="A7A7A7"/>
            </a:solidFill>
            <a:prstDash val="solid"/>
            <a:headEnd type="none" len="sm" w="sm"/>
            <a:tailEnd type="none" len="sm" w="sm"/>
          </a:ln>
        </p:spPr>
      </p:sp>
      <p:grpSp>
        <p:nvGrpSpPr>
          <p:cNvPr name="Group 5" id="5"/>
          <p:cNvGrpSpPr/>
          <p:nvPr/>
        </p:nvGrpSpPr>
        <p:grpSpPr>
          <a:xfrm rot="0">
            <a:off x="2705100" y="2560104"/>
            <a:ext cx="680986" cy="630807"/>
            <a:chOff x="0" y="0"/>
            <a:chExt cx="179354" cy="166139"/>
          </a:xfrm>
        </p:grpSpPr>
        <p:sp>
          <p:nvSpPr>
            <p:cNvPr name="Freeform 6" id="6"/>
            <p:cNvSpPr/>
            <p:nvPr/>
          </p:nvSpPr>
          <p:spPr>
            <a:xfrm flipH="false" flipV="false" rot="0">
              <a:off x="0" y="0"/>
              <a:ext cx="179354" cy="166139"/>
            </a:xfrm>
            <a:custGeom>
              <a:avLst/>
              <a:gdLst/>
              <a:ahLst/>
              <a:cxnLst/>
              <a:rect r="r" b="b" t="t" l="l"/>
              <a:pathLst>
                <a:path h="166139" w="179354">
                  <a:moveTo>
                    <a:pt x="83069" y="0"/>
                  </a:moveTo>
                  <a:lnTo>
                    <a:pt x="96285" y="0"/>
                  </a:lnTo>
                  <a:cubicBezTo>
                    <a:pt x="142163" y="0"/>
                    <a:pt x="179354" y="37191"/>
                    <a:pt x="179354" y="83069"/>
                  </a:cubicBezTo>
                  <a:lnTo>
                    <a:pt x="179354" y="83069"/>
                  </a:lnTo>
                  <a:cubicBezTo>
                    <a:pt x="179354" y="128947"/>
                    <a:pt x="142163" y="166139"/>
                    <a:pt x="96285" y="166139"/>
                  </a:cubicBezTo>
                  <a:lnTo>
                    <a:pt x="83069" y="166139"/>
                  </a:lnTo>
                  <a:cubicBezTo>
                    <a:pt x="37191" y="166139"/>
                    <a:pt x="0" y="128947"/>
                    <a:pt x="0" y="83069"/>
                  </a:cubicBezTo>
                  <a:lnTo>
                    <a:pt x="0" y="83069"/>
                  </a:lnTo>
                  <a:cubicBezTo>
                    <a:pt x="0" y="37191"/>
                    <a:pt x="37191" y="0"/>
                    <a:pt x="83069" y="0"/>
                  </a:cubicBezTo>
                  <a:close/>
                </a:path>
              </a:pathLst>
            </a:custGeom>
            <a:ln w="19050" cap="sq">
              <a:solidFill>
                <a:srgbClr val="64D0EA"/>
              </a:solidFill>
              <a:prstDash val="sysDot"/>
              <a:miter/>
            </a:ln>
          </p:spPr>
        </p:sp>
        <p:sp>
          <p:nvSpPr>
            <p:cNvPr name="TextBox 7" id="7"/>
            <p:cNvSpPr txBox="true"/>
            <p:nvPr/>
          </p:nvSpPr>
          <p:spPr>
            <a:xfrm>
              <a:off x="0" y="-57150"/>
              <a:ext cx="179354" cy="223289"/>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3920501" y="2560104"/>
            <a:ext cx="1922143" cy="630807"/>
            <a:chOff x="0" y="0"/>
            <a:chExt cx="506244" cy="166139"/>
          </a:xfrm>
        </p:grpSpPr>
        <p:sp>
          <p:nvSpPr>
            <p:cNvPr name="Freeform 9" id="9"/>
            <p:cNvSpPr/>
            <p:nvPr/>
          </p:nvSpPr>
          <p:spPr>
            <a:xfrm flipH="false" flipV="false" rot="0">
              <a:off x="0" y="0"/>
              <a:ext cx="506244" cy="166139"/>
            </a:xfrm>
            <a:custGeom>
              <a:avLst/>
              <a:gdLst/>
              <a:ahLst/>
              <a:cxnLst/>
              <a:rect r="r" b="b" t="t" l="l"/>
              <a:pathLst>
                <a:path h="166139" w="506244">
                  <a:moveTo>
                    <a:pt x="68472" y="0"/>
                  </a:moveTo>
                  <a:lnTo>
                    <a:pt x="437772" y="0"/>
                  </a:lnTo>
                  <a:cubicBezTo>
                    <a:pt x="475588" y="0"/>
                    <a:pt x="506244" y="30656"/>
                    <a:pt x="506244" y="68472"/>
                  </a:cubicBezTo>
                  <a:lnTo>
                    <a:pt x="506244" y="97667"/>
                  </a:lnTo>
                  <a:cubicBezTo>
                    <a:pt x="506244" y="135483"/>
                    <a:pt x="475588" y="166139"/>
                    <a:pt x="437772" y="166139"/>
                  </a:cubicBezTo>
                  <a:lnTo>
                    <a:pt x="68472" y="166139"/>
                  </a:lnTo>
                  <a:cubicBezTo>
                    <a:pt x="30656" y="166139"/>
                    <a:pt x="0" y="135483"/>
                    <a:pt x="0" y="97667"/>
                  </a:cubicBezTo>
                  <a:lnTo>
                    <a:pt x="0" y="68472"/>
                  </a:lnTo>
                  <a:cubicBezTo>
                    <a:pt x="0" y="30656"/>
                    <a:pt x="30656" y="0"/>
                    <a:pt x="68472" y="0"/>
                  </a:cubicBezTo>
                  <a:close/>
                </a:path>
              </a:pathLst>
            </a:custGeom>
            <a:ln w="19050" cap="sq">
              <a:solidFill>
                <a:srgbClr val="E2A9F1"/>
              </a:solidFill>
              <a:prstDash val="sysDot"/>
              <a:miter/>
            </a:ln>
          </p:spPr>
        </p:sp>
        <p:sp>
          <p:nvSpPr>
            <p:cNvPr name="TextBox 10" id="10"/>
            <p:cNvSpPr txBox="true"/>
            <p:nvPr/>
          </p:nvSpPr>
          <p:spPr>
            <a:xfrm>
              <a:off x="0" y="-57150"/>
              <a:ext cx="506244" cy="223289"/>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6258289" y="2560104"/>
            <a:ext cx="1162009" cy="630807"/>
            <a:chOff x="0" y="0"/>
            <a:chExt cx="306043" cy="166139"/>
          </a:xfrm>
        </p:grpSpPr>
        <p:sp>
          <p:nvSpPr>
            <p:cNvPr name="Freeform 12" id="12"/>
            <p:cNvSpPr/>
            <p:nvPr/>
          </p:nvSpPr>
          <p:spPr>
            <a:xfrm flipH="false" flipV="false" rot="0">
              <a:off x="0" y="0"/>
              <a:ext cx="306043" cy="166139"/>
            </a:xfrm>
            <a:custGeom>
              <a:avLst/>
              <a:gdLst/>
              <a:ahLst/>
              <a:cxnLst/>
              <a:rect r="r" b="b" t="t" l="l"/>
              <a:pathLst>
                <a:path h="166139" w="306043">
                  <a:moveTo>
                    <a:pt x="83069" y="0"/>
                  </a:moveTo>
                  <a:lnTo>
                    <a:pt x="222974" y="0"/>
                  </a:lnTo>
                  <a:cubicBezTo>
                    <a:pt x="268852" y="0"/>
                    <a:pt x="306043" y="37191"/>
                    <a:pt x="306043" y="83069"/>
                  </a:cubicBezTo>
                  <a:lnTo>
                    <a:pt x="306043" y="83069"/>
                  </a:lnTo>
                  <a:cubicBezTo>
                    <a:pt x="306043" y="105101"/>
                    <a:pt x="297291" y="126230"/>
                    <a:pt x="281713" y="141808"/>
                  </a:cubicBezTo>
                  <a:cubicBezTo>
                    <a:pt x="266134" y="157387"/>
                    <a:pt x="245005" y="166139"/>
                    <a:pt x="222974" y="166139"/>
                  </a:cubicBezTo>
                  <a:lnTo>
                    <a:pt x="83069" y="166139"/>
                  </a:lnTo>
                  <a:cubicBezTo>
                    <a:pt x="37191" y="166139"/>
                    <a:pt x="0" y="128947"/>
                    <a:pt x="0" y="83069"/>
                  </a:cubicBezTo>
                  <a:lnTo>
                    <a:pt x="0" y="83069"/>
                  </a:lnTo>
                  <a:cubicBezTo>
                    <a:pt x="0" y="37191"/>
                    <a:pt x="37191" y="0"/>
                    <a:pt x="83069" y="0"/>
                  </a:cubicBezTo>
                  <a:close/>
                </a:path>
              </a:pathLst>
            </a:custGeom>
            <a:ln w="19050" cap="sq">
              <a:solidFill>
                <a:srgbClr val="FF0000"/>
              </a:solidFill>
              <a:prstDash val="sysDot"/>
              <a:miter/>
            </a:ln>
          </p:spPr>
        </p:sp>
        <p:sp>
          <p:nvSpPr>
            <p:cNvPr name="TextBox 13" id="13"/>
            <p:cNvSpPr txBox="true"/>
            <p:nvPr/>
          </p:nvSpPr>
          <p:spPr>
            <a:xfrm>
              <a:off x="0" y="-57150"/>
              <a:ext cx="306043" cy="223289"/>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7719044" y="2560104"/>
            <a:ext cx="1162009" cy="630807"/>
            <a:chOff x="0" y="0"/>
            <a:chExt cx="306043" cy="166139"/>
          </a:xfrm>
        </p:grpSpPr>
        <p:sp>
          <p:nvSpPr>
            <p:cNvPr name="Freeform 15" id="15"/>
            <p:cNvSpPr/>
            <p:nvPr/>
          </p:nvSpPr>
          <p:spPr>
            <a:xfrm flipH="false" flipV="false" rot="0">
              <a:off x="0" y="0"/>
              <a:ext cx="306043" cy="166139"/>
            </a:xfrm>
            <a:custGeom>
              <a:avLst/>
              <a:gdLst/>
              <a:ahLst/>
              <a:cxnLst/>
              <a:rect r="r" b="b" t="t" l="l"/>
              <a:pathLst>
                <a:path h="166139" w="306043">
                  <a:moveTo>
                    <a:pt x="83069" y="0"/>
                  </a:moveTo>
                  <a:lnTo>
                    <a:pt x="222974" y="0"/>
                  </a:lnTo>
                  <a:cubicBezTo>
                    <a:pt x="268852" y="0"/>
                    <a:pt x="306043" y="37191"/>
                    <a:pt x="306043" y="83069"/>
                  </a:cubicBezTo>
                  <a:lnTo>
                    <a:pt x="306043" y="83069"/>
                  </a:lnTo>
                  <a:cubicBezTo>
                    <a:pt x="306043" y="105101"/>
                    <a:pt x="297291" y="126230"/>
                    <a:pt x="281713" y="141808"/>
                  </a:cubicBezTo>
                  <a:cubicBezTo>
                    <a:pt x="266134" y="157387"/>
                    <a:pt x="245005" y="166139"/>
                    <a:pt x="222974" y="166139"/>
                  </a:cubicBezTo>
                  <a:lnTo>
                    <a:pt x="83069" y="166139"/>
                  </a:lnTo>
                  <a:cubicBezTo>
                    <a:pt x="37191" y="166139"/>
                    <a:pt x="0" y="128947"/>
                    <a:pt x="0" y="83069"/>
                  </a:cubicBezTo>
                  <a:lnTo>
                    <a:pt x="0" y="83069"/>
                  </a:lnTo>
                  <a:cubicBezTo>
                    <a:pt x="0" y="37191"/>
                    <a:pt x="37191" y="0"/>
                    <a:pt x="83069" y="0"/>
                  </a:cubicBezTo>
                  <a:close/>
                </a:path>
              </a:pathLst>
            </a:custGeom>
            <a:ln w="19050" cap="sq">
              <a:solidFill>
                <a:srgbClr val="E3EF26"/>
              </a:solidFill>
              <a:prstDash val="sysDot"/>
              <a:miter/>
            </a:ln>
          </p:spPr>
        </p:sp>
        <p:sp>
          <p:nvSpPr>
            <p:cNvPr name="TextBox 16" id="16"/>
            <p:cNvSpPr txBox="true"/>
            <p:nvPr/>
          </p:nvSpPr>
          <p:spPr>
            <a:xfrm>
              <a:off x="0" y="-57150"/>
              <a:ext cx="306043" cy="223289"/>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9300152" y="2560104"/>
            <a:ext cx="2310564" cy="630807"/>
            <a:chOff x="0" y="0"/>
            <a:chExt cx="608544" cy="166139"/>
          </a:xfrm>
        </p:grpSpPr>
        <p:sp>
          <p:nvSpPr>
            <p:cNvPr name="Freeform 18" id="18"/>
            <p:cNvSpPr/>
            <p:nvPr/>
          </p:nvSpPr>
          <p:spPr>
            <a:xfrm flipH="false" flipV="false" rot="0">
              <a:off x="0" y="0"/>
              <a:ext cx="608544" cy="166139"/>
            </a:xfrm>
            <a:custGeom>
              <a:avLst/>
              <a:gdLst/>
              <a:ahLst/>
              <a:cxnLst/>
              <a:rect r="r" b="b" t="t" l="l"/>
              <a:pathLst>
                <a:path h="166139" w="608544">
                  <a:moveTo>
                    <a:pt x="56961" y="0"/>
                  </a:moveTo>
                  <a:lnTo>
                    <a:pt x="551582" y="0"/>
                  </a:lnTo>
                  <a:cubicBezTo>
                    <a:pt x="583041" y="0"/>
                    <a:pt x="608544" y="25502"/>
                    <a:pt x="608544" y="56961"/>
                  </a:cubicBezTo>
                  <a:lnTo>
                    <a:pt x="608544" y="109177"/>
                  </a:lnTo>
                  <a:cubicBezTo>
                    <a:pt x="608544" y="140636"/>
                    <a:pt x="583041" y="166139"/>
                    <a:pt x="551582" y="166139"/>
                  </a:cubicBezTo>
                  <a:lnTo>
                    <a:pt x="56961" y="166139"/>
                  </a:lnTo>
                  <a:cubicBezTo>
                    <a:pt x="25502" y="166139"/>
                    <a:pt x="0" y="140636"/>
                    <a:pt x="0" y="109177"/>
                  </a:cubicBezTo>
                  <a:lnTo>
                    <a:pt x="0" y="56961"/>
                  </a:lnTo>
                  <a:cubicBezTo>
                    <a:pt x="0" y="25502"/>
                    <a:pt x="25502" y="0"/>
                    <a:pt x="56961" y="0"/>
                  </a:cubicBezTo>
                  <a:close/>
                </a:path>
              </a:pathLst>
            </a:custGeom>
            <a:ln w="19050" cap="sq">
              <a:solidFill>
                <a:srgbClr val="203251"/>
              </a:solidFill>
              <a:prstDash val="sysDot"/>
              <a:miter/>
            </a:ln>
          </p:spPr>
        </p:sp>
        <p:sp>
          <p:nvSpPr>
            <p:cNvPr name="TextBox 19" id="19"/>
            <p:cNvSpPr txBox="true"/>
            <p:nvPr/>
          </p:nvSpPr>
          <p:spPr>
            <a:xfrm>
              <a:off x="0" y="-57150"/>
              <a:ext cx="608544" cy="223289"/>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12029816" y="2560104"/>
            <a:ext cx="1201958" cy="630807"/>
            <a:chOff x="0" y="0"/>
            <a:chExt cx="316565" cy="166139"/>
          </a:xfrm>
        </p:grpSpPr>
        <p:sp>
          <p:nvSpPr>
            <p:cNvPr name="Freeform 21" id="21"/>
            <p:cNvSpPr/>
            <p:nvPr/>
          </p:nvSpPr>
          <p:spPr>
            <a:xfrm flipH="false" flipV="false" rot="0">
              <a:off x="0" y="0"/>
              <a:ext cx="316565" cy="166139"/>
            </a:xfrm>
            <a:custGeom>
              <a:avLst/>
              <a:gdLst/>
              <a:ahLst/>
              <a:cxnLst/>
              <a:rect r="r" b="b" t="t" l="l"/>
              <a:pathLst>
                <a:path h="166139" w="316565">
                  <a:moveTo>
                    <a:pt x="83069" y="0"/>
                  </a:moveTo>
                  <a:lnTo>
                    <a:pt x="233496" y="0"/>
                  </a:lnTo>
                  <a:cubicBezTo>
                    <a:pt x="279374" y="0"/>
                    <a:pt x="316565" y="37191"/>
                    <a:pt x="316565" y="83069"/>
                  </a:cubicBezTo>
                  <a:lnTo>
                    <a:pt x="316565" y="83069"/>
                  </a:lnTo>
                  <a:cubicBezTo>
                    <a:pt x="316565" y="128947"/>
                    <a:pt x="279374" y="166139"/>
                    <a:pt x="233496" y="166139"/>
                  </a:cubicBezTo>
                  <a:lnTo>
                    <a:pt x="83069" y="166139"/>
                  </a:lnTo>
                  <a:cubicBezTo>
                    <a:pt x="37191" y="166139"/>
                    <a:pt x="0" y="128947"/>
                    <a:pt x="0" y="83069"/>
                  </a:cubicBezTo>
                  <a:lnTo>
                    <a:pt x="0" y="83069"/>
                  </a:lnTo>
                  <a:cubicBezTo>
                    <a:pt x="0" y="37191"/>
                    <a:pt x="37191" y="0"/>
                    <a:pt x="83069" y="0"/>
                  </a:cubicBezTo>
                  <a:close/>
                </a:path>
              </a:pathLst>
            </a:custGeom>
            <a:ln w="19050" cap="sq">
              <a:solidFill>
                <a:srgbClr val="519D9E"/>
              </a:solidFill>
              <a:prstDash val="sysDot"/>
              <a:miter/>
            </a:ln>
          </p:spPr>
        </p:sp>
        <p:sp>
          <p:nvSpPr>
            <p:cNvPr name="TextBox 22" id="22"/>
            <p:cNvSpPr txBox="true"/>
            <p:nvPr/>
          </p:nvSpPr>
          <p:spPr>
            <a:xfrm>
              <a:off x="0" y="-57150"/>
              <a:ext cx="316565" cy="223289"/>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3527049" y="2560104"/>
            <a:ext cx="1201958" cy="630807"/>
            <a:chOff x="0" y="0"/>
            <a:chExt cx="316565" cy="166139"/>
          </a:xfrm>
        </p:grpSpPr>
        <p:sp>
          <p:nvSpPr>
            <p:cNvPr name="Freeform 24" id="24"/>
            <p:cNvSpPr/>
            <p:nvPr/>
          </p:nvSpPr>
          <p:spPr>
            <a:xfrm flipH="false" flipV="false" rot="0">
              <a:off x="0" y="0"/>
              <a:ext cx="316565" cy="166139"/>
            </a:xfrm>
            <a:custGeom>
              <a:avLst/>
              <a:gdLst/>
              <a:ahLst/>
              <a:cxnLst/>
              <a:rect r="r" b="b" t="t" l="l"/>
              <a:pathLst>
                <a:path h="166139" w="316565">
                  <a:moveTo>
                    <a:pt x="83069" y="0"/>
                  </a:moveTo>
                  <a:lnTo>
                    <a:pt x="233496" y="0"/>
                  </a:lnTo>
                  <a:cubicBezTo>
                    <a:pt x="279374" y="0"/>
                    <a:pt x="316565" y="37191"/>
                    <a:pt x="316565" y="83069"/>
                  </a:cubicBezTo>
                  <a:lnTo>
                    <a:pt x="316565" y="83069"/>
                  </a:lnTo>
                  <a:cubicBezTo>
                    <a:pt x="316565" y="128947"/>
                    <a:pt x="279374" y="166139"/>
                    <a:pt x="233496" y="166139"/>
                  </a:cubicBezTo>
                  <a:lnTo>
                    <a:pt x="83069" y="166139"/>
                  </a:lnTo>
                  <a:cubicBezTo>
                    <a:pt x="37191" y="166139"/>
                    <a:pt x="0" y="128947"/>
                    <a:pt x="0" y="83069"/>
                  </a:cubicBezTo>
                  <a:lnTo>
                    <a:pt x="0" y="83069"/>
                  </a:lnTo>
                  <a:cubicBezTo>
                    <a:pt x="0" y="37191"/>
                    <a:pt x="37191" y="0"/>
                    <a:pt x="83069" y="0"/>
                  </a:cubicBezTo>
                  <a:close/>
                </a:path>
              </a:pathLst>
            </a:custGeom>
            <a:ln w="19050" cap="sq">
              <a:solidFill>
                <a:srgbClr val="F0BB35"/>
              </a:solidFill>
              <a:prstDash val="sysDot"/>
              <a:miter/>
            </a:ln>
          </p:spPr>
        </p:sp>
        <p:sp>
          <p:nvSpPr>
            <p:cNvPr name="TextBox 25" id="25"/>
            <p:cNvSpPr txBox="true"/>
            <p:nvPr/>
          </p:nvSpPr>
          <p:spPr>
            <a:xfrm>
              <a:off x="0" y="-57150"/>
              <a:ext cx="316565" cy="223289"/>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sz="3999" spc="-187" b="true">
                <a:solidFill>
                  <a:srgbClr val="424242"/>
                </a:solidFill>
                <a:latin typeface="Raleway Heavy"/>
                <a:ea typeface="Raleway Heavy"/>
                <a:cs typeface="Raleway Heavy"/>
                <a:sym typeface="Raleway Heavy"/>
              </a:rPr>
              <a:t>2.2. KULLANICI ETKİLEŞİMİ VE TÜR DÖNÜŞÜMÜ</a:t>
            </a:r>
          </a:p>
        </p:txBody>
      </p:sp>
      <p:sp>
        <p:nvSpPr>
          <p:cNvPr name="TextBox 4" id="4"/>
          <p:cNvSpPr txBox="true"/>
          <p:nvPr/>
        </p:nvSpPr>
        <p:spPr>
          <a:xfrm rot="0">
            <a:off x="1028700" y="1901213"/>
            <a:ext cx="16230600" cy="26225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Algoritma tasarımlarında ve başlangıç seviyesindeki kaynak kod yapılandırmalarında değişkenlerin veya sabitlerin değerleri genellikle doğrudan kaynak kod içinde atanır. </a:t>
            </a:r>
          </a:p>
          <a:p>
            <a:pPr algn="l">
              <a:lnSpc>
                <a:spcPts val="3499"/>
              </a:lnSpc>
            </a:pPr>
          </a:p>
          <a:p>
            <a:pPr algn="l">
              <a:lnSpc>
                <a:spcPts val="3499"/>
              </a:lnSpc>
            </a:pPr>
            <a:r>
              <a:rPr lang="en-US" sz="2499" spc="-117">
                <a:solidFill>
                  <a:srgbClr val="424242"/>
                </a:solidFill>
                <a:latin typeface="Raleway"/>
                <a:ea typeface="Raleway"/>
                <a:cs typeface="Raleway"/>
                <a:sym typeface="Raleway"/>
              </a:rPr>
              <a:t>Profesyonel yazılım projelerinde ve son kullanıcıya hitap eden sistemlerde veriler programın her çalıştırılma döngüsünde dış dünyadan (kullanıcı klavyesinden, sensörlerden, veri tabanlarından, günlük dosyasından vb.) dinamik olarak sisteme dâhil edilir.</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2.2.1. input() ve print() Fonksiyonları</a:t>
            </a:r>
          </a:p>
        </p:txBody>
      </p:sp>
      <p:sp>
        <p:nvSpPr>
          <p:cNvPr name="TextBox 3" id="3"/>
          <p:cNvSpPr txBox="true"/>
          <p:nvPr/>
        </p:nvSpPr>
        <p:spPr>
          <a:xfrm rot="0">
            <a:off x="1028700" y="1752600"/>
            <a:ext cx="16230600"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Python dilinde program akışı esnasında kullanıcıdan veri almak ve bu veriyi geçici belleğe aktarmak amacıyla</a:t>
            </a:r>
            <a:r>
              <a:rPr lang="en-US" sz="2499" spc="-117" b="true">
                <a:solidFill>
                  <a:srgbClr val="424242"/>
                </a:solidFill>
                <a:latin typeface="Raleway Bold"/>
                <a:ea typeface="Raleway Bold"/>
                <a:cs typeface="Raleway Bold"/>
                <a:sym typeface="Raleway Bold"/>
              </a:rPr>
              <a:t> input() </a:t>
            </a:r>
            <a:r>
              <a:rPr lang="en-US" sz="2499" spc="-117">
                <a:solidFill>
                  <a:srgbClr val="424242"/>
                </a:solidFill>
                <a:latin typeface="Raleway"/>
                <a:ea typeface="Raleway"/>
                <a:cs typeface="Raleway"/>
                <a:sym typeface="Raleway"/>
              </a:rPr>
              <a:t>fonksiyonu kullanılır.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input() Fonksiyonunun Çalışma Mantığı:</a:t>
            </a:r>
          </a:p>
        </p:txBody>
      </p:sp>
      <p:graphicFrame>
        <p:nvGraphicFramePr>
          <p:cNvPr name="Table 4" id="4"/>
          <p:cNvGraphicFramePr>
            <a:graphicFrameLocks noGrp="true"/>
          </p:cNvGraphicFramePr>
          <p:nvPr/>
        </p:nvGraphicFramePr>
        <p:xfrm>
          <a:off x="1028700" y="3671888"/>
          <a:ext cx="16230600" cy="3448050"/>
        </p:xfrm>
        <a:graphic>
          <a:graphicData uri="http://schemas.openxmlformats.org/drawingml/2006/table">
            <a:tbl>
              <a:tblPr/>
              <a:tblGrid>
                <a:gridCol w="3408618"/>
                <a:gridCol w="12821982"/>
              </a:tblGrid>
              <a:tr h="668597">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Aşama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48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1. Akışın Durdurulması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Python yorumlayıcısı </a:t>
                      </a:r>
                      <a:r>
                        <a:rPr lang="en-US" sz="2000" b="true">
                          <a:solidFill>
                            <a:srgbClr val="000000"/>
                          </a:solidFill>
                          <a:latin typeface="Raleway Bold"/>
                          <a:ea typeface="Raleway Bold"/>
                          <a:cs typeface="Raleway Bold"/>
                          <a:sym typeface="Raleway Bold"/>
                        </a:rPr>
                        <a:t>input()</a:t>
                      </a:r>
                      <a:r>
                        <a:rPr lang="en-US" sz="2000">
                          <a:solidFill>
                            <a:srgbClr val="000000"/>
                          </a:solidFill>
                          <a:latin typeface="Raleway"/>
                          <a:ea typeface="Raleway"/>
                          <a:cs typeface="Raleway"/>
                          <a:sym typeface="Raleway"/>
                        </a:rPr>
                        <a:t> komutunun bulunduğu satıra geldiğinde, programın yukarıdan aşağıya doğru işleyen akışını geçici olarak beklemeye alır.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308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2. Girdi Beklentisi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Kullanıcı klavyeden bir veri yazıp </a:t>
                      </a:r>
                      <a:r>
                        <a:rPr lang="en-US" sz="2000" b="true">
                          <a:solidFill>
                            <a:srgbClr val="000000"/>
                          </a:solidFill>
                          <a:latin typeface="Raleway Bold"/>
                          <a:ea typeface="Raleway Bold"/>
                          <a:cs typeface="Raleway Bold"/>
                          <a:sym typeface="Raleway Bold"/>
                        </a:rPr>
                        <a:t>Enter </a:t>
                      </a:r>
                      <a:r>
                        <a:rPr lang="en-US" sz="2000">
                          <a:solidFill>
                            <a:srgbClr val="000000"/>
                          </a:solidFill>
                          <a:latin typeface="Raleway"/>
                          <a:ea typeface="Raleway"/>
                          <a:cs typeface="Raleway"/>
                          <a:sym typeface="Raleway"/>
                        </a:rPr>
                        <a:t>tuşuna basana kadar sistem beklemeye devam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988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3. Atama Süreci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Enter tuşuna basıldığı anda klavyeden girilen tüm karakterler standart girdiden bir </a:t>
                      </a:r>
                      <a:r>
                        <a:rPr lang="en-US" sz="2000" b="true">
                          <a:solidFill>
                            <a:srgbClr val="000000"/>
                          </a:solidFill>
                          <a:latin typeface="Raleway Bold"/>
                          <a:ea typeface="Raleway Bold"/>
                          <a:cs typeface="Raleway Bold"/>
                          <a:sym typeface="Raleway Bold"/>
                        </a:rPr>
                        <a:t>metin dizisi olarak</a:t>
                      </a:r>
                      <a:r>
                        <a:rPr lang="en-US" sz="2000">
                          <a:solidFill>
                            <a:srgbClr val="000000"/>
                          </a:solidFill>
                          <a:latin typeface="Raleway"/>
                          <a:ea typeface="Raleway"/>
                          <a:cs typeface="Raleway"/>
                          <a:sym typeface="Raleway"/>
                        </a:rPr>
                        <a:t> döndürülür ve eşitliğin sol tarafındaki değişkene bir veri olarak atanır ve program alt satırdan akmaya devam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Freeform 5" id="5"/>
          <p:cNvSpPr/>
          <p:nvPr/>
        </p:nvSpPr>
        <p:spPr>
          <a:xfrm flipH="false" flipV="false" rot="0">
            <a:off x="1567517" y="7989888"/>
            <a:ext cx="12197946" cy="552338"/>
          </a:xfrm>
          <a:custGeom>
            <a:avLst/>
            <a:gdLst/>
            <a:ahLst/>
            <a:cxnLst/>
            <a:rect r="r" b="b" t="t" l="l"/>
            <a:pathLst>
              <a:path h="552338" w="12197946">
                <a:moveTo>
                  <a:pt x="0" y="0"/>
                </a:moveTo>
                <a:lnTo>
                  <a:pt x="12197946" y="0"/>
                </a:lnTo>
                <a:lnTo>
                  <a:pt x="12197946" y="552337"/>
                </a:lnTo>
                <a:lnTo>
                  <a:pt x="0" y="552337"/>
                </a:lnTo>
                <a:lnTo>
                  <a:pt x="0" y="0"/>
                </a:lnTo>
                <a:close/>
              </a:path>
            </a:pathLst>
          </a:custGeom>
          <a:blipFill>
            <a:blip r:embed="rId2"/>
            <a:stretch>
              <a:fillRect l="0" t="-86187" r="0" b="-5957"/>
            </a:stretch>
          </a:blipFill>
        </p:spPr>
      </p:sp>
      <p:sp>
        <p:nvSpPr>
          <p:cNvPr name="TextBox 6" id="6"/>
          <p:cNvSpPr txBox="true"/>
          <p:nvPr/>
        </p:nvSpPr>
        <p:spPr>
          <a:xfrm rot="0">
            <a:off x="1028700" y="7386638"/>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Örnek Kod Bloku:</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642952" y="4365281"/>
            <a:ext cx="7784278" cy="554260"/>
          </a:xfrm>
          <a:custGeom>
            <a:avLst/>
            <a:gdLst/>
            <a:ahLst/>
            <a:cxnLst/>
            <a:rect r="r" b="b" t="t" l="l"/>
            <a:pathLst>
              <a:path h="554260" w="7784278">
                <a:moveTo>
                  <a:pt x="0" y="0"/>
                </a:moveTo>
                <a:lnTo>
                  <a:pt x="7784278" y="0"/>
                </a:lnTo>
                <a:lnTo>
                  <a:pt x="7784278" y="554260"/>
                </a:lnTo>
                <a:lnTo>
                  <a:pt x="0" y="554260"/>
                </a:lnTo>
                <a:lnTo>
                  <a:pt x="0" y="0"/>
                </a:lnTo>
                <a:close/>
              </a:path>
            </a:pathLst>
          </a:custGeom>
          <a:blipFill>
            <a:blip r:embed="rId2"/>
            <a:stretch>
              <a:fillRect l="0" t="0" r="0" b="0"/>
            </a:stretch>
          </a:blipFill>
        </p:spPr>
      </p:sp>
      <p:sp>
        <p:nvSpPr>
          <p:cNvPr name="TextBox 3" id="3"/>
          <p:cNvSpPr txBox="true"/>
          <p:nvPr/>
        </p:nvSpPr>
        <p:spPr>
          <a:xfrm rot="0">
            <a:off x="1028700" y="971550"/>
            <a:ext cx="16230600" cy="26225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print() Fonksiyonu:</a:t>
            </a:r>
          </a:p>
          <a:p>
            <a:pPr algn="l">
              <a:lnSpc>
                <a:spcPts val="3499"/>
              </a:lnSpc>
            </a:pPr>
          </a:p>
          <a:p>
            <a:pPr algn="l">
              <a:lnSpc>
                <a:spcPts val="3499"/>
              </a:lnSpc>
            </a:pPr>
            <a:r>
              <a:rPr lang="en-US" sz="2499" spc="-117">
                <a:solidFill>
                  <a:srgbClr val="424242"/>
                </a:solidFill>
                <a:latin typeface="Raleway"/>
                <a:ea typeface="Raleway"/>
                <a:cs typeface="Raleway"/>
                <a:sym typeface="Raleway"/>
              </a:rPr>
              <a:t>Bir programın girdileri alıp işlemesi kadar oluşan sonuçları kullanıcıya anlaşılır, düzenli ve standartlara uygun bir biçimde sunması da etkileşim döngüsünün temel bir parçasıdır. Python programlama dilinde bilgisayar belleğindeki verileri, değişkenleri veya doğrudan metinsel ifadeleri terminal ekranına birer çıktı olarak yazdırmak amacıyla yerleşik </a:t>
            </a:r>
            <a:r>
              <a:rPr lang="en-US" sz="2499" spc="-117" b="true">
                <a:solidFill>
                  <a:srgbClr val="424242"/>
                </a:solidFill>
                <a:latin typeface="Raleway Bold"/>
                <a:ea typeface="Raleway Bold"/>
                <a:cs typeface="Raleway Bold"/>
                <a:sym typeface="Raleway Bold"/>
              </a:rPr>
              <a:t>print()</a:t>
            </a:r>
            <a:r>
              <a:rPr lang="en-US" sz="2499" spc="-117">
                <a:solidFill>
                  <a:srgbClr val="424242"/>
                </a:solidFill>
                <a:latin typeface="Raleway"/>
                <a:ea typeface="Raleway"/>
                <a:cs typeface="Raleway"/>
                <a:sym typeface="Raleway"/>
              </a:rPr>
              <a:t> fonksiyonu kullanılır.</a:t>
            </a:r>
          </a:p>
        </p:txBody>
      </p:sp>
      <p:sp>
        <p:nvSpPr>
          <p:cNvPr name="TextBox 4" id="4"/>
          <p:cNvSpPr txBox="true"/>
          <p:nvPr/>
        </p:nvSpPr>
        <p:spPr>
          <a:xfrm rot="0">
            <a:off x="1028700" y="3782818"/>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Örnek Kod Bloku:</a:t>
            </a:r>
          </a:p>
        </p:txBody>
      </p:sp>
    </p:spTree>
  </p:cSld>
  <p:clrMapOvr>
    <a:masterClrMapping/>
  </p:clrMapOvr>
</p:sld>
</file>

<file path=ppt/slides/slide8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8133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Çıktı Biçimlendirme Yöntemleri:</a:t>
            </a:r>
          </a:p>
          <a:p>
            <a:pPr algn="l">
              <a:lnSpc>
                <a:spcPts val="3499"/>
              </a:lnSpc>
            </a:pPr>
          </a:p>
          <a:p>
            <a:pPr algn="l">
              <a:lnSpc>
                <a:spcPts val="3499"/>
              </a:lnSpc>
            </a:pPr>
            <a:r>
              <a:rPr lang="en-US" sz="2499" spc="-117">
                <a:solidFill>
                  <a:srgbClr val="424242"/>
                </a:solidFill>
                <a:latin typeface="Raleway"/>
                <a:ea typeface="Raleway"/>
                <a:cs typeface="Raleway"/>
                <a:sym typeface="Raleway"/>
              </a:rPr>
              <a:t>Yazılım geliştirme süreçlerinde çoğunlukla sadece sabit metinler verilmemelidir, değişken veriler ile metinlerin bir arada sunulması gerekir. </a:t>
            </a:r>
          </a:p>
          <a:p>
            <a:pPr algn="l">
              <a:lnSpc>
                <a:spcPts val="3499"/>
              </a:lnSpc>
            </a:pPr>
          </a:p>
          <a:p>
            <a:pPr algn="l">
              <a:lnSpc>
                <a:spcPts val="3499"/>
              </a:lnSpc>
            </a:pPr>
            <a:r>
              <a:rPr lang="en-US" sz="2499" spc="-117">
                <a:solidFill>
                  <a:srgbClr val="424242"/>
                </a:solidFill>
                <a:latin typeface="Raleway"/>
                <a:ea typeface="Raleway"/>
                <a:cs typeface="Raleway"/>
                <a:sym typeface="Raleway"/>
              </a:rPr>
              <a:t>Python, bu birleştirme ve ekran çıktısını biçimlendirme işlemi için yazılımcılara kurumsal standartlarda farklı esneklikler sunar.</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Yöntemler: </a:t>
            </a:r>
          </a:p>
          <a:p>
            <a:pPr algn="l" marL="539749" indent="-269875" lvl="1">
              <a:lnSpc>
                <a:spcPts val="3499"/>
              </a:lnSpc>
              <a:buAutoNum type="arabicPeriod" startAt="1"/>
            </a:pPr>
            <a:r>
              <a:rPr lang="en-US" sz="2499" spc="-117">
                <a:solidFill>
                  <a:srgbClr val="424242"/>
                </a:solidFill>
                <a:latin typeface="Raleway"/>
                <a:ea typeface="Raleway"/>
                <a:cs typeface="Raleway"/>
                <a:sym typeface="Raleway"/>
              </a:rPr>
              <a:t>Virgül (,) </a:t>
            </a:r>
          </a:p>
          <a:p>
            <a:pPr algn="l" marL="539749" indent="-269875" lvl="1">
              <a:lnSpc>
                <a:spcPts val="3499"/>
              </a:lnSpc>
              <a:buAutoNum type="arabicPeriod" startAt="1"/>
            </a:pPr>
            <a:r>
              <a:rPr lang="en-US" sz="2499" spc="-117">
                <a:solidFill>
                  <a:srgbClr val="424242"/>
                </a:solidFill>
                <a:latin typeface="Raleway"/>
                <a:ea typeface="Raleway"/>
                <a:cs typeface="Raleway"/>
                <a:sym typeface="Raleway"/>
              </a:rPr>
              <a:t>Artı(+)</a:t>
            </a:r>
          </a:p>
          <a:p>
            <a:pPr algn="l" marL="539749" indent="-269875" lvl="1">
              <a:lnSpc>
                <a:spcPts val="3499"/>
              </a:lnSpc>
              <a:buAutoNum type="arabicPeriod" startAt="1"/>
            </a:pPr>
            <a:r>
              <a:rPr lang="en-US" sz="2499" spc="-117">
                <a:solidFill>
                  <a:srgbClr val="424242"/>
                </a:solidFill>
                <a:latin typeface="Raleway"/>
                <a:ea typeface="Raleway"/>
                <a:cs typeface="Raleway"/>
                <a:sym typeface="Raleway"/>
              </a:rPr>
              <a:t>f-String</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2416948" y="1401472"/>
            <a:ext cx="14842352" cy="5006975"/>
          </a:xfrm>
          <a:prstGeom prst="rect">
            <a:avLst/>
          </a:prstGeom>
        </p:spPr>
        <p:txBody>
          <a:bodyPr anchor="t" rtlCol="false" tIns="0" lIns="0" bIns="0" rIns="0">
            <a:spAutoFit/>
          </a:bodyPr>
          <a:lstStyle/>
          <a:p>
            <a:pPr algn="l">
              <a:lnSpc>
                <a:spcPts val="4200"/>
              </a:lnSpc>
            </a:pPr>
            <a:r>
              <a:rPr lang="en-US" sz="3000" spc="-141" b="true">
                <a:solidFill>
                  <a:srgbClr val="C64518"/>
                </a:solidFill>
                <a:latin typeface="Raleway Bold"/>
                <a:ea typeface="Raleway Bold"/>
                <a:cs typeface="Raleway Bold"/>
                <a:sym typeface="Raleway Bold"/>
              </a:rPr>
              <a:t>Virgül (,) : </a:t>
            </a:r>
          </a:p>
          <a:p>
            <a:pPr algn="l">
              <a:lnSpc>
                <a:spcPts val="4200"/>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Farklı veri türündeki değişkenleri ve metinleri yan yana yazdırmak için en güvenli yöntemdir. Virgül, verilerin arasına varsayılan olarak bir adet boşluk karakteri yerleştirir ve değişkenin türünü değiştirmeden değerin metinsel gösterimini ekrana yazdığı için güvenlidir.</a:t>
            </a:r>
          </a:p>
          <a:p>
            <a:pPr algn="l">
              <a:lnSpc>
                <a:spcPts val="3499"/>
              </a:lnSpc>
            </a:pPr>
          </a:p>
          <a:p>
            <a:pPr algn="l" marL="539749" indent="-269875" lvl="1">
              <a:lnSpc>
                <a:spcPts val="3499"/>
              </a:lnSpc>
              <a:buFont typeface="Arial"/>
              <a:buChar char="•"/>
            </a:pPr>
            <a:r>
              <a:rPr lang="en-US" b="true" sz="2499" spc="-117">
                <a:solidFill>
                  <a:srgbClr val="CEAF69"/>
                </a:solidFill>
                <a:latin typeface="Raleway Bold"/>
                <a:ea typeface="Raleway Bold"/>
                <a:cs typeface="Raleway Bold"/>
                <a:sym typeface="Raleway Bold"/>
              </a:rPr>
              <a:t>Örnek: </a:t>
            </a:r>
          </a:p>
          <a:p>
            <a:pPr algn="l" marL="1079499" indent="-359833" lvl="2">
              <a:lnSpc>
                <a:spcPts val="3499"/>
              </a:lnSpc>
              <a:buFont typeface="Arial"/>
              <a:buChar char="⚬"/>
            </a:pPr>
            <a:r>
              <a:rPr lang="en-US" sz="2499" spc="-117">
                <a:solidFill>
                  <a:srgbClr val="424242"/>
                </a:solidFill>
                <a:latin typeface="Raleway"/>
                <a:ea typeface="Raleway"/>
                <a:cs typeface="Raleway"/>
                <a:sym typeface="Raleway"/>
              </a:rPr>
              <a:t>print("Benim adım", asistan_adi, "Sistem versiyonum:", versiyon)</a:t>
            </a:r>
          </a:p>
          <a:p>
            <a:pPr algn="l">
              <a:lnSpc>
                <a:spcPts val="3499"/>
              </a:lnSpc>
            </a:pP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Avantaj: </a:t>
            </a:r>
            <a:r>
              <a:rPr lang="en-US" sz="2499" spc="-117">
                <a:solidFill>
                  <a:srgbClr val="424242"/>
                </a:solidFill>
                <a:latin typeface="Raleway"/>
                <a:ea typeface="Raleway"/>
                <a:cs typeface="Raleway"/>
                <a:sym typeface="Raleway"/>
              </a:rPr>
              <a:t>Güvenli, otomatik boşluk bırakır.</a:t>
            </a:r>
          </a:p>
          <a:p>
            <a:pPr algn="l">
              <a:lnSpc>
                <a:spcPts val="3499"/>
              </a:lnSpc>
            </a:pPr>
          </a:p>
        </p:txBody>
      </p:sp>
      <p:sp>
        <p:nvSpPr>
          <p:cNvPr name="Freeform 3" id="3"/>
          <p:cNvSpPr/>
          <p:nvPr/>
        </p:nvSpPr>
        <p:spPr>
          <a:xfrm flipH="false" flipV="false" rot="0">
            <a:off x="1028700" y="1028700"/>
            <a:ext cx="1236752" cy="1268464"/>
          </a:xfrm>
          <a:custGeom>
            <a:avLst/>
            <a:gdLst/>
            <a:ahLst/>
            <a:cxnLst/>
            <a:rect r="r" b="b" t="t" l="l"/>
            <a:pathLst>
              <a:path h="1268464" w="1236752">
                <a:moveTo>
                  <a:pt x="0" y="0"/>
                </a:moveTo>
                <a:lnTo>
                  <a:pt x="1236752" y="0"/>
                </a:lnTo>
                <a:lnTo>
                  <a:pt x="1236752" y="1268464"/>
                </a:lnTo>
                <a:lnTo>
                  <a:pt x="0" y="126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2416948" y="1401472"/>
            <a:ext cx="14842352" cy="5006975"/>
          </a:xfrm>
          <a:prstGeom prst="rect">
            <a:avLst/>
          </a:prstGeom>
        </p:spPr>
        <p:txBody>
          <a:bodyPr anchor="t" rtlCol="false" tIns="0" lIns="0" bIns="0" rIns="0">
            <a:spAutoFit/>
          </a:bodyPr>
          <a:lstStyle/>
          <a:p>
            <a:pPr algn="l">
              <a:lnSpc>
                <a:spcPts val="4200"/>
              </a:lnSpc>
            </a:pPr>
            <a:r>
              <a:rPr lang="en-US" sz="3000" spc="-141" b="true">
                <a:solidFill>
                  <a:srgbClr val="6AA7DB"/>
                </a:solidFill>
                <a:latin typeface="Raleway Bold"/>
                <a:ea typeface="Raleway Bold"/>
                <a:cs typeface="Raleway Bold"/>
                <a:sym typeface="Raleway Bold"/>
              </a:rPr>
              <a:t>Artı (+):</a:t>
            </a:r>
          </a:p>
          <a:p>
            <a:pPr algn="l">
              <a:lnSpc>
                <a:spcPts val="4200"/>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S</a:t>
            </a:r>
            <a:r>
              <a:rPr lang="en-US" sz="2499" spc="-117">
                <a:solidFill>
                  <a:srgbClr val="424242"/>
                </a:solidFill>
                <a:latin typeface="Raleway"/>
                <a:ea typeface="Raleway"/>
                <a:cs typeface="Raleway"/>
                <a:sym typeface="Raleway"/>
              </a:rPr>
              <a:t>adece metinsel ifadeleri birbirine yapışık şekilde bağlamak için kullanılır. Bu operatör, virgülün aksine araya otomatik boşluk bırakmaz. En kritik kararsızlık tuzağı, bir string ile sayısal bir verinin + operatörü ile birleştirilmeye çalışılmasıdır. Bu durum, programın TypeError istisnası üretmesine ve hata yakalanmamışsa yürütmenin durmasına yol açar.</a:t>
            </a:r>
          </a:p>
          <a:p>
            <a:pPr algn="l">
              <a:lnSpc>
                <a:spcPts val="3499"/>
              </a:lnSpc>
            </a:pPr>
          </a:p>
          <a:p>
            <a:pPr algn="l" marL="539749" indent="-269875" lvl="1">
              <a:lnSpc>
                <a:spcPts val="3499"/>
              </a:lnSpc>
              <a:buFont typeface="Arial"/>
              <a:buChar char="•"/>
            </a:pPr>
            <a:r>
              <a:rPr lang="en-US" b="true" sz="2499" spc="-117">
                <a:solidFill>
                  <a:srgbClr val="CEAF69"/>
                </a:solidFill>
                <a:latin typeface="Raleway Bold"/>
                <a:ea typeface="Raleway Bold"/>
                <a:cs typeface="Raleway Bold"/>
                <a:sym typeface="Raleway Bold"/>
              </a:rPr>
              <a:t>Örnek: </a:t>
            </a:r>
          </a:p>
          <a:p>
            <a:pPr algn="l" marL="1079499" indent="-359833" lvl="2">
              <a:lnSpc>
                <a:spcPts val="3499"/>
              </a:lnSpc>
              <a:buFont typeface="Arial"/>
              <a:buChar char="⚬"/>
            </a:pPr>
            <a:r>
              <a:rPr lang="en-US" sz="2499" spc="-117">
                <a:solidFill>
                  <a:srgbClr val="424242"/>
                </a:solidFill>
                <a:latin typeface="Raleway"/>
                <a:ea typeface="Raleway"/>
                <a:cs typeface="Raleway"/>
                <a:sym typeface="Raleway"/>
              </a:rPr>
              <a:t>karsilama = "Merhaba " + "Yazılımcı"</a:t>
            </a:r>
          </a:p>
          <a:p>
            <a:pPr algn="l">
              <a:lnSpc>
                <a:spcPts val="3499"/>
              </a:lnSpc>
            </a:pP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Dezavantaj: </a:t>
            </a:r>
            <a:r>
              <a:rPr lang="en-US" sz="2499" spc="-117">
                <a:solidFill>
                  <a:srgbClr val="424242"/>
                </a:solidFill>
                <a:latin typeface="Raleway"/>
                <a:ea typeface="Raleway"/>
                <a:cs typeface="Raleway"/>
                <a:sym typeface="Raleway"/>
              </a:rPr>
              <a:t>Tür uyuşmazlığı riski taşır.</a:t>
            </a:r>
          </a:p>
        </p:txBody>
      </p:sp>
      <p:sp>
        <p:nvSpPr>
          <p:cNvPr name="Freeform 3" id="3"/>
          <p:cNvSpPr/>
          <p:nvPr/>
        </p:nvSpPr>
        <p:spPr>
          <a:xfrm flipH="false" flipV="false" rot="0">
            <a:off x="1028700" y="1028700"/>
            <a:ext cx="1236752" cy="1268464"/>
          </a:xfrm>
          <a:custGeom>
            <a:avLst/>
            <a:gdLst/>
            <a:ahLst/>
            <a:cxnLst/>
            <a:rect r="r" b="b" t="t" l="l"/>
            <a:pathLst>
              <a:path h="1268464" w="1236752">
                <a:moveTo>
                  <a:pt x="0" y="0"/>
                </a:moveTo>
                <a:lnTo>
                  <a:pt x="1236752" y="0"/>
                </a:lnTo>
                <a:lnTo>
                  <a:pt x="1236752" y="1268464"/>
                </a:lnTo>
                <a:lnTo>
                  <a:pt x="0" y="126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19175" y="1028700"/>
            <a:ext cx="1246277" cy="1278233"/>
          </a:xfrm>
          <a:custGeom>
            <a:avLst/>
            <a:gdLst/>
            <a:ahLst/>
            <a:cxnLst/>
            <a:rect r="r" b="b" t="t" l="l"/>
            <a:pathLst>
              <a:path h="1278233" w="1246277">
                <a:moveTo>
                  <a:pt x="0" y="0"/>
                </a:moveTo>
                <a:lnTo>
                  <a:pt x="1246277" y="0"/>
                </a:lnTo>
                <a:lnTo>
                  <a:pt x="1246277" y="1278233"/>
                </a:lnTo>
                <a:lnTo>
                  <a:pt x="0" y="12782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416948" y="1401472"/>
            <a:ext cx="14842352" cy="4568825"/>
          </a:xfrm>
          <a:prstGeom prst="rect">
            <a:avLst/>
          </a:prstGeom>
        </p:spPr>
        <p:txBody>
          <a:bodyPr anchor="t" rtlCol="false" tIns="0" lIns="0" bIns="0" rIns="0">
            <a:spAutoFit/>
          </a:bodyPr>
          <a:lstStyle/>
          <a:p>
            <a:pPr algn="l">
              <a:lnSpc>
                <a:spcPts val="4200"/>
              </a:lnSpc>
            </a:pPr>
            <a:r>
              <a:rPr lang="en-US" sz="3000" spc="-141" b="true">
                <a:solidFill>
                  <a:srgbClr val="5EC596"/>
                </a:solidFill>
                <a:latin typeface="Raleway Bold"/>
                <a:ea typeface="Raleway Bold"/>
                <a:cs typeface="Raleway Bold"/>
                <a:sym typeface="Raleway Bold"/>
              </a:rPr>
              <a:t>f-String: </a:t>
            </a:r>
          </a:p>
          <a:p>
            <a:pPr algn="l">
              <a:lnSpc>
                <a:spcPts val="4200"/>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Modern Python mimarisinde metinlerin içerisine değişkenleri biçimlendirme kolaylığı ve en yüksek okunabilirlikle yerleştirme yöntemidir. String ifadesinin hemen başına f veya F harfi konulur, metin içerisindeki değişkenler ise süslü parantez ({ }) içinde doğrudan çağrılır.</a:t>
            </a:r>
          </a:p>
          <a:p>
            <a:pPr algn="l">
              <a:lnSpc>
                <a:spcPts val="3499"/>
              </a:lnSpc>
            </a:pPr>
          </a:p>
          <a:p>
            <a:pPr algn="l" marL="539749" indent="-269875" lvl="1">
              <a:lnSpc>
                <a:spcPts val="3499"/>
              </a:lnSpc>
              <a:buFont typeface="Arial"/>
              <a:buChar char="•"/>
            </a:pPr>
            <a:r>
              <a:rPr lang="en-US" b="true" sz="2499" spc="-117">
                <a:solidFill>
                  <a:srgbClr val="CEAF69"/>
                </a:solidFill>
                <a:latin typeface="Raleway Bold"/>
                <a:ea typeface="Raleway Bold"/>
                <a:cs typeface="Raleway Bold"/>
                <a:sym typeface="Raleway Bold"/>
              </a:rPr>
              <a:t>Örnek: </a:t>
            </a:r>
          </a:p>
          <a:p>
            <a:pPr algn="l" marL="1079499" indent="-359833" lvl="2">
              <a:lnSpc>
                <a:spcPts val="3499"/>
              </a:lnSpc>
              <a:buFont typeface="Arial"/>
              <a:buChar char="⚬"/>
            </a:pPr>
            <a:r>
              <a:rPr lang="en-US" sz="2499" spc="-117">
                <a:solidFill>
                  <a:srgbClr val="424242"/>
                </a:solidFill>
                <a:latin typeface="Raleway"/>
                <a:ea typeface="Raleway"/>
                <a:cs typeface="Raleway"/>
                <a:sym typeface="Raleway"/>
              </a:rPr>
              <a:t>print(f"Hoş geldiniz {kullanici}. Bugün {islem_adedi} kod denetlediniz.")</a:t>
            </a:r>
          </a:p>
          <a:p>
            <a:pPr algn="l">
              <a:lnSpc>
                <a:spcPts val="3499"/>
              </a:lnSpc>
            </a:pP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Avantaj: </a:t>
            </a:r>
            <a:r>
              <a:rPr lang="en-US" sz="2499" spc="-117">
                <a:solidFill>
                  <a:srgbClr val="424242"/>
                </a:solidFill>
                <a:latin typeface="Raleway"/>
                <a:ea typeface="Raleway"/>
                <a:cs typeface="Raleway"/>
                <a:sym typeface="Raleway"/>
              </a:rPr>
              <a:t>En okunabilir ve esnek yöntem.</a:t>
            </a:r>
          </a:p>
        </p:txBody>
      </p:sp>
    </p:spTree>
  </p:cSld>
  <p:clrMapOvr>
    <a:masterClrMapping/>
  </p:clrMapOvr>
</p:sld>
</file>

<file path=ppt/slides/slide88.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7462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print() Fonksiyonunun Gizli Parametreleri:</a:t>
            </a:r>
          </a:p>
          <a:p>
            <a:pPr algn="l">
              <a:lnSpc>
                <a:spcPts val="3499"/>
              </a:lnSpc>
            </a:pPr>
          </a:p>
          <a:p>
            <a:pPr algn="l">
              <a:lnSpc>
                <a:spcPts val="3499"/>
              </a:lnSpc>
            </a:pPr>
            <a:r>
              <a:rPr lang="en-US" sz="2499" spc="-117">
                <a:solidFill>
                  <a:srgbClr val="424242"/>
                </a:solidFill>
                <a:latin typeface="Raleway"/>
                <a:ea typeface="Raleway"/>
                <a:cs typeface="Raleway"/>
                <a:sym typeface="Raleway"/>
              </a:rPr>
              <a:t>print() fonksiyonu, kaynak koda açıkça yazılmasa bile arka planda varsayılan değerlerle çalışan, isteğe bağlı iki kritik parametreye sahiptir. Kod yapısının çıktı standartlarını özelleştirmek için bu parametreler manuel olarak manipüle edilebilir.</a:t>
            </a:r>
          </a:p>
        </p:txBody>
      </p:sp>
      <p:graphicFrame>
        <p:nvGraphicFramePr>
          <p:cNvPr name="Table 3" id="3"/>
          <p:cNvGraphicFramePr>
            <a:graphicFrameLocks noGrp="true"/>
          </p:cNvGraphicFramePr>
          <p:nvPr/>
        </p:nvGraphicFramePr>
        <p:xfrm>
          <a:off x="1028700" y="3030516"/>
          <a:ext cx="16230600" cy="2524125"/>
        </p:xfrm>
        <a:graphic>
          <a:graphicData uri="http://schemas.openxmlformats.org/drawingml/2006/table">
            <a:tbl>
              <a:tblPr/>
              <a:tblGrid>
                <a:gridCol w="2102165"/>
                <a:gridCol w="4393313"/>
                <a:gridCol w="2899770"/>
                <a:gridCol w="6835352"/>
              </a:tblGrid>
              <a:tr h="669276">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Parametre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Görevi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Varsayılan Değeri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 Kullanım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7425">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sep (</a:t>
                      </a:r>
                      <a:r>
                        <a:rPr lang="en-US" sz="2000">
                          <a:solidFill>
                            <a:srgbClr val="000000"/>
                          </a:solidFill>
                          <a:latin typeface="Raleway"/>
                          <a:ea typeface="Raleway"/>
                          <a:cs typeface="Raleway"/>
                          <a:sym typeface="Raleway"/>
                        </a:rPr>
                        <a:t>Separator</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Virgülle ayrılmış ifadelerin arasına hangi karakterin geleceğini belirler.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 " (boşluk)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print("Siber", "Güvenlik", sep="-") → Çıktı:</a:t>
                      </a:r>
                      <a:r>
                        <a:rPr lang="en-US" sz="2000" b="true">
                          <a:solidFill>
                            <a:srgbClr val="000000"/>
                          </a:solidFill>
                          <a:latin typeface="Raleway Bold"/>
                          <a:ea typeface="Raleway Bold"/>
                          <a:cs typeface="Raleway Bold"/>
                          <a:sym typeface="Raleway Bold"/>
                        </a:rPr>
                        <a:t> Siber-Güvenlik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7425">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end</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Çıktı ekrana basıldıktan sonra satırın nasıl sonlanacağını belirler.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"\n" (yeni satır)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print("Kod denetimi başladı...", end=" [BAŞARILI] ") → Aynı satırda devam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89.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 ÖRNEK 3: </a:t>
            </a:r>
            <a:r>
              <a:rPr lang="en-US" sz="3000" spc="-141">
                <a:solidFill>
                  <a:srgbClr val="424242"/>
                </a:solidFill>
                <a:latin typeface="Raleway"/>
                <a:ea typeface="Raleway"/>
                <a:cs typeface="Raleway"/>
                <a:sym typeface="Raleway"/>
              </a:rPr>
              <a:t>DİNAMİK ÇIKTI ÜRETME VE FORMATLAMA (print FONKSİYONU)</a:t>
            </a:r>
          </a:p>
        </p:txBody>
      </p:sp>
      <p:sp>
        <p:nvSpPr>
          <p:cNvPr name="TextBox 3" id="3"/>
          <p:cNvSpPr txBox="true"/>
          <p:nvPr/>
        </p:nvSpPr>
        <p:spPr>
          <a:xfrm rot="0">
            <a:off x="1028700" y="1756117"/>
            <a:ext cx="16230600" cy="13081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Kod-Asistan projesinde asistanın adı, versiyon numarası, sistemin durumu ve kullanıcı logları (kayıtları) terminal ekranına yazdırılmak istenmektedir. Bu süreçte farklı veri tiplerinin birleştirilmesi, metinlerin arasına özel karakterler konulması, bazı çıktıların alt satıra geçmeden aynı satırda devam etmesi gibi çeşitli formatlama ihtiyaçları test edilecektir.</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3705415" y="654050"/>
            <a:ext cx="11453250" cy="7572082"/>
          </a:xfrm>
          <a:custGeom>
            <a:avLst/>
            <a:gdLst/>
            <a:ahLst/>
            <a:cxnLst/>
            <a:rect r="r" b="b" t="t" l="l"/>
            <a:pathLst>
              <a:path h="7572082" w="11453250">
                <a:moveTo>
                  <a:pt x="0" y="0"/>
                </a:moveTo>
                <a:lnTo>
                  <a:pt x="11453250" y="0"/>
                </a:lnTo>
                <a:lnTo>
                  <a:pt x="11453250" y="7572082"/>
                </a:lnTo>
                <a:lnTo>
                  <a:pt x="0" y="7572082"/>
                </a:lnTo>
                <a:lnTo>
                  <a:pt x="0" y="0"/>
                </a:lnTo>
                <a:close/>
              </a:path>
            </a:pathLst>
          </a:custGeom>
          <a:blipFill>
            <a:blip r:embed="rId2"/>
            <a:stretch>
              <a:fillRect l="0" t="0" r="0" b="0"/>
            </a:stretch>
          </a:blipFill>
        </p:spPr>
      </p:sp>
      <p:sp>
        <p:nvSpPr>
          <p:cNvPr name="Freeform 3" id="3"/>
          <p:cNvSpPr/>
          <p:nvPr/>
        </p:nvSpPr>
        <p:spPr>
          <a:xfrm flipH="false" flipV="false" rot="0">
            <a:off x="3705415" y="8512659"/>
            <a:ext cx="7665531" cy="1491282"/>
          </a:xfrm>
          <a:custGeom>
            <a:avLst/>
            <a:gdLst/>
            <a:ahLst/>
            <a:cxnLst/>
            <a:rect r="r" b="b" t="t" l="l"/>
            <a:pathLst>
              <a:path h="1491282" w="7665531">
                <a:moveTo>
                  <a:pt x="0" y="0"/>
                </a:moveTo>
                <a:lnTo>
                  <a:pt x="7665531" y="0"/>
                </a:lnTo>
                <a:lnTo>
                  <a:pt x="7665531" y="1491282"/>
                </a:lnTo>
                <a:lnTo>
                  <a:pt x="0" y="1491282"/>
                </a:lnTo>
                <a:lnTo>
                  <a:pt x="0" y="0"/>
                </a:lnTo>
                <a:close/>
              </a:path>
            </a:pathLst>
          </a:custGeom>
          <a:blipFill>
            <a:blip r:embed="rId3"/>
            <a:stretch>
              <a:fillRect l="-251" t="0" r="0" b="0"/>
            </a:stretch>
          </a:blipFill>
        </p:spPr>
      </p:sp>
      <p:sp>
        <p:nvSpPr>
          <p:cNvPr name="TextBox 4" id="4"/>
          <p:cNvSpPr txBox="true"/>
          <p:nvPr/>
        </p:nvSpPr>
        <p:spPr>
          <a:xfrm rot="0">
            <a:off x="964540" y="596900"/>
            <a:ext cx="2676715" cy="431800"/>
          </a:xfrm>
          <a:prstGeom prst="rect">
            <a:avLst/>
          </a:prstGeom>
        </p:spPr>
        <p:txBody>
          <a:bodyPr anchor="t" rtlCol="false" tIns="0" lIns="0" bIns="0" rIns="0">
            <a:spAutoFit/>
          </a:bodyPr>
          <a:lstStyle/>
          <a:p>
            <a:pPr algn="r">
              <a:lnSpc>
                <a:spcPts val="3499"/>
              </a:lnSpc>
            </a:pPr>
            <a:r>
              <a:rPr lang="en-US" b="true" sz="2499" spc="-117">
                <a:solidFill>
                  <a:srgbClr val="424242"/>
                </a:solidFill>
                <a:latin typeface="Raleway Bold"/>
                <a:ea typeface="Raleway Bold"/>
                <a:cs typeface="Raleway Bold"/>
                <a:sym typeface="Raleway Bold"/>
              </a:rPr>
              <a:t>Örnek Kod Bloku:</a:t>
            </a:r>
          </a:p>
        </p:txBody>
      </p:sp>
      <p:sp>
        <p:nvSpPr>
          <p:cNvPr name="TextBox 5" id="5"/>
          <p:cNvSpPr txBox="true"/>
          <p:nvPr/>
        </p:nvSpPr>
        <p:spPr>
          <a:xfrm rot="0">
            <a:off x="2732312" y="8455509"/>
            <a:ext cx="908944" cy="431800"/>
          </a:xfrm>
          <a:prstGeom prst="rect">
            <a:avLst/>
          </a:prstGeom>
        </p:spPr>
        <p:txBody>
          <a:bodyPr anchor="t" rtlCol="false" tIns="0" lIns="0" bIns="0" rIns="0">
            <a:spAutoFit/>
          </a:bodyPr>
          <a:lstStyle/>
          <a:p>
            <a:pPr algn="r">
              <a:lnSpc>
                <a:spcPts val="3499"/>
              </a:lnSpc>
            </a:pPr>
            <a:r>
              <a:rPr lang="en-US" b="true" sz="2499" spc="-117">
                <a:solidFill>
                  <a:srgbClr val="424242"/>
                </a:solidFill>
                <a:latin typeface="Raleway Bold"/>
                <a:ea typeface="Raleway Bold"/>
                <a:cs typeface="Raleway Bold"/>
                <a:sym typeface="Raleway Bold"/>
              </a:rPr>
              <a:t>Çıktı:</a:t>
            </a:r>
          </a:p>
        </p:txBody>
      </p:sp>
    </p:spTree>
  </p:cSld>
  <p:clrMapOvr>
    <a:masterClrMapping/>
  </p:clrMapOvr>
</p:sld>
</file>

<file path=ppt/slides/slide91.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Kod Analizi:</a:t>
            </a:r>
          </a:p>
        </p:txBody>
      </p:sp>
      <p:graphicFrame>
        <p:nvGraphicFramePr>
          <p:cNvPr name="Table 3" id="3"/>
          <p:cNvGraphicFramePr>
            <a:graphicFrameLocks noGrp="true"/>
          </p:cNvGraphicFramePr>
          <p:nvPr/>
        </p:nvGraphicFramePr>
        <p:xfrm>
          <a:off x="1028700" y="1517650"/>
          <a:ext cx="16230600" cy="3719195"/>
        </p:xfrm>
        <a:graphic>
          <a:graphicData uri="http://schemas.openxmlformats.org/drawingml/2006/table">
            <a:tbl>
              <a:tblPr/>
              <a:tblGrid>
                <a:gridCol w="3308685"/>
                <a:gridCol w="12921915"/>
              </a:tblGrid>
              <a:tr h="668462">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Çıkarım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88555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Tür Güvenliği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Python'da çıktı üretirken + operatörü tür uyuşmazlığı riski taşıdığı için tehlikelidir.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3888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En İyi Yöntem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Çok sayıda değişken metin içine yerleştirirken en az bellek maliyeti ve en yüksek okunabilirlik sağlayan f-String mimarisi endüstri standardı olarak benimsenmelidir.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297">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Formatlama Kontrolü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Özel sistem kayıtları üretirken print() fonksiyonunun sep ve end parametrelerine müdahale etmek, geliştiriciye sistem üzerinde tam bir formatlama kontrolü sağlar.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929640" y="1428198"/>
            <a:ext cx="3926085" cy="3297912"/>
          </a:xfrm>
          <a:custGeom>
            <a:avLst/>
            <a:gdLst/>
            <a:ahLst/>
            <a:cxnLst/>
            <a:rect r="r" b="b" t="t" l="l"/>
            <a:pathLst>
              <a:path h="3297912" w="3926085">
                <a:moveTo>
                  <a:pt x="0" y="0"/>
                </a:moveTo>
                <a:lnTo>
                  <a:pt x="3926085" y="0"/>
                </a:lnTo>
                <a:lnTo>
                  <a:pt x="3926085" y="3297911"/>
                </a:lnTo>
                <a:lnTo>
                  <a:pt x="0" y="3297911"/>
                </a:lnTo>
                <a:lnTo>
                  <a:pt x="0" y="0"/>
                </a:lnTo>
                <a:close/>
              </a:path>
            </a:pathLst>
          </a:custGeom>
          <a:blipFill>
            <a:blip r:embed="rId2"/>
            <a:stretch>
              <a:fillRect l="0" t="0" r="0" b="0"/>
            </a:stretch>
          </a:blipFill>
        </p:spPr>
      </p:sp>
      <p:sp>
        <p:nvSpPr>
          <p:cNvPr name="TextBox 3" id="3"/>
          <p:cNvSpPr txBox="true"/>
          <p:nvPr/>
        </p:nvSpPr>
        <p:spPr>
          <a:xfrm rot="0">
            <a:off x="5318609" y="2837948"/>
            <a:ext cx="11130687" cy="39370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Bilgi Kutusu: </a:t>
            </a:r>
            <a:r>
              <a:rPr lang="en-US" sz="2499" spc="-117" b="true">
                <a:solidFill>
                  <a:srgbClr val="6AA7DB"/>
                </a:solidFill>
                <a:latin typeface="Raleway Bold"/>
                <a:ea typeface="Raleway Bold"/>
                <a:cs typeface="Raleway Bold"/>
                <a:sym typeface="Raleway Bold"/>
              </a:rPr>
              <a:t>Geliştirici Sözleşmesi ve Düzenin Gücü</a:t>
            </a:r>
          </a:p>
          <a:p>
            <a:pPr algn="l">
              <a:lnSpc>
                <a:spcPts val="3499"/>
              </a:lnSpc>
            </a:pP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Python dili, değişken isimlerinin arasına tire (-) koymanıza izi</a:t>
            </a:r>
            <a:r>
              <a:rPr lang="en-US" sz="2499" spc="-117">
                <a:solidFill>
                  <a:srgbClr val="424242"/>
                </a:solidFill>
                <a:latin typeface="Raleway"/>
                <a:ea typeface="Raleway"/>
                <a:cs typeface="Raleway"/>
                <a:sym typeface="Raleway"/>
              </a:rPr>
              <a:t>n v</a:t>
            </a:r>
            <a:r>
              <a:rPr lang="en-US" sz="2499" spc="-117">
                <a:solidFill>
                  <a:srgbClr val="424242"/>
                </a:solidFill>
                <a:latin typeface="Raleway"/>
                <a:ea typeface="Raleway"/>
                <a:cs typeface="Raleway"/>
                <a:sym typeface="Raleway"/>
              </a:rPr>
              <a:t>ermez</a:t>
            </a:r>
            <a:r>
              <a:rPr lang="en-US" sz="2499" spc="-117">
                <a:solidFill>
                  <a:srgbClr val="424242"/>
                </a:solidFill>
                <a:latin typeface="Raleway"/>
                <a:ea typeface="Raleway"/>
                <a:cs typeface="Raleway"/>
                <a:sym typeface="Raleway"/>
              </a:rPr>
              <a:t> veya sabit</a:t>
            </a:r>
            <a:r>
              <a:rPr lang="en-US" sz="2499" spc="-117">
                <a:solidFill>
                  <a:srgbClr val="424242"/>
                </a:solidFill>
                <a:latin typeface="Raleway"/>
                <a:ea typeface="Raleway"/>
                <a:cs typeface="Raleway"/>
                <a:sym typeface="Raleway"/>
              </a:rPr>
              <a:t>lerin</a:t>
            </a:r>
            <a:r>
              <a:rPr lang="en-US" sz="2499" spc="-117">
                <a:solidFill>
                  <a:srgbClr val="424242"/>
                </a:solidFill>
                <a:latin typeface="Raleway"/>
                <a:ea typeface="Raleway"/>
                <a:cs typeface="Raleway"/>
                <a:sym typeface="Raleway"/>
              </a:rPr>
              <a:t> küçük ha</a:t>
            </a:r>
            <a:r>
              <a:rPr lang="en-US" sz="2499" spc="-117">
                <a:solidFill>
                  <a:srgbClr val="424242"/>
                </a:solidFill>
                <a:latin typeface="Raleway"/>
                <a:ea typeface="Raleway"/>
                <a:cs typeface="Raleway"/>
                <a:sym typeface="Raleway"/>
              </a:rPr>
              <a:t>rfle</a:t>
            </a:r>
            <a:r>
              <a:rPr lang="en-US" sz="2499" spc="-117">
                <a:solidFill>
                  <a:srgbClr val="424242"/>
                </a:solidFill>
                <a:latin typeface="Raleway"/>
                <a:ea typeface="Raleway"/>
                <a:cs typeface="Raleway"/>
                <a:sym typeface="Raleway"/>
              </a:rPr>
              <a:t> yazılmasını </a:t>
            </a:r>
            <a:r>
              <a:rPr lang="en-US" sz="2499" spc="-117">
                <a:solidFill>
                  <a:srgbClr val="424242"/>
                </a:solidFill>
                <a:latin typeface="Raleway"/>
                <a:ea typeface="Raleway"/>
                <a:cs typeface="Raleway"/>
                <a:sym typeface="Raleway"/>
              </a:rPr>
              <a:t>teknik olarak</a:t>
            </a:r>
            <a:r>
              <a:rPr lang="en-US" sz="2499" spc="-117">
                <a:solidFill>
                  <a:srgbClr val="424242"/>
                </a:solidFill>
                <a:latin typeface="Raleway"/>
                <a:ea typeface="Raleway"/>
                <a:cs typeface="Raleway"/>
                <a:sym typeface="Raleway"/>
              </a:rPr>
              <a:t> engell</a:t>
            </a:r>
            <a:r>
              <a:rPr lang="en-US" sz="2499" spc="-117">
                <a:solidFill>
                  <a:srgbClr val="424242"/>
                </a:solidFill>
                <a:latin typeface="Raleway"/>
                <a:ea typeface="Raleway"/>
                <a:cs typeface="Raleway"/>
                <a:sym typeface="Raleway"/>
              </a:rPr>
              <a:t>emez</a:t>
            </a:r>
            <a:r>
              <a:rPr lang="en-US" sz="2499" spc="-117">
                <a:solidFill>
                  <a:srgbClr val="424242"/>
                </a:solidFill>
                <a:latin typeface="Raleway"/>
                <a:ea typeface="Raleway"/>
                <a:cs typeface="Raleway"/>
                <a:sym typeface="Raleway"/>
              </a:rPr>
              <a:t>. Kü</a:t>
            </a:r>
            <a:r>
              <a:rPr lang="en-US" sz="2499" spc="-117">
                <a:solidFill>
                  <a:srgbClr val="424242"/>
                </a:solidFill>
                <a:latin typeface="Raleway"/>
                <a:ea typeface="Raleway"/>
                <a:cs typeface="Raleway"/>
                <a:sym typeface="Raleway"/>
              </a:rPr>
              <a:t>resel yazılım dünyasında milyonlarca yazılımcı, kurallara uymak zorunda olmadıkları hâlde PEP 8 standartlarına ve yılan gösterimi kurallarına harfiyen uyar. Kodları dijital depolara yüklerken her sürüme dürüst ve anlaşılır notlar eklerler. Sizce yazılımcıların kendi aralarında kurdukları bu "Yazılı Olmayan Geliştirici Sözleşmesi" ve iş süreçlerindeki titizlik, dijital dünyadaki karmaşayı nasıl engelliyor olabilir?</a:t>
            </a:r>
          </a:p>
        </p:txBody>
      </p:sp>
      <p:sp>
        <p:nvSpPr>
          <p:cNvPr name="Freeform 4" id="4"/>
          <p:cNvSpPr/>
          <p:nvPr/>
        </p:nvSpPr>
        <p:spPr>
          <a:xfrm>
            <a:off x="1623660" y="2392350"/>
            <a:ext cx="15210669" cy="6412017"/>
          </a:xfrm>
          <a:custGeom>
            <a:avLst/>
            <a:gdLst/>
            <a:ahLst/>
            <a:cxnLst/>
            <a:rect r="r" b="b" t="t" l="l"/>
            <a:pathLst>
              <a:path h="6412017" w="15210669">
                <a:moveTo>
                  <a:pt x="3475225" y="0"/>
                </a:moveTo>
                <a:lnTo>
                  <a:pt x="14982069" y="0"/>
                </a:lnTo>
                <a:cubicBezTo>
                  <a:pt x="15042698" y="0"/>
                  <a:pt x="15100843" y="24084"/>
                  <a:pt x="15143713" y="66955"/>
                </a:cubicBezTo>
                <a:cubicBezTo>
                  <a:pt x="15186585" y="109826"/>
                  <a:pt x="15210669" y="167971"/>
                  <a:pt x="15210669" y="228600"/>
                </a:cubicBezTo>
                <a:lnTo>
                  <a:pt x="15210669" y="6183416"/>
                </a:lnTo>
                <a:cubicBezTo>
                  <a:pt x="15210669" y="6309668"/>
                  <a:pt x="15108322" y="6412016"/>
                  <a:pt x="14982069" y="6412016"/>
                </a:cubicBezTo>
                <a:lnTo>
                  <a:pt x="228600" y="6412016"/>
                </a:lnTo>
                <a:cubicBezTo>
                  <a:pt x="102348" y="6412016"/>
                  <a:pt x="0" y="6309668"/>
                  <a:pt x="0" y="6183416"/>
                </a:cubicBezTo>
                <a:lnTo>
                  <a:pt x="0" y="4674202"/>
                </a:lnTo>
              </a:path>
            </a:pathLst>
          </a:custGeom>
          <a:ln cap="flat" w="38100">
            <a:solidFill>
              <a:srgbClr val="6AA7DB"/>
            </a:solidFill>
            <a:prstDash val="solid"/>
            <a:headEnd type="none" len="sm" w="sm"/>
            <a:tailEnd type="none" len="sm" w="sm"/>
          </a:ln>
        </p:spPr>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4248571"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Bold"/>
                <a:ea typeface="Raleway Bold"/>
                <a:cs typeface="Raleway Bold"/>
                <a:sym typeface="Raleway Bold"/>
              </a:rPr>
              <a:t>UYGULAMA 4: </a:t>
            </a:r>
            <a:r>
              <a:rPr lang="en-US" sz="3000" spc="-51" b="true">
                <a:solidFill>
                  <a:srgbClr val="203251"/>
                </a:solidFill>
                <a:latin typeface="Raleway Bold"/>
                <a:ea typeface="Raleway Bold"/>
                <a:cs typeface="Raleway Bold"/>
                <a:sym typeface="Raleway Bold"/>
              </a:rPr>
              <a:t>KOD GÖZDEN GEÇİRME VE SÖZ DİZİMİ DENETİMİ</a:t>
            </a:r>
          </a:p>
        </p:txBody>
      </p:sp>
      <p:sp>
        <p:nvSpPr>
          <p:cNvPr name="TextBox 4" id="4"/>
          <p:cNvSpPr txBox="true"/>
          <p:nvPr/>
        </p:nvSpPr>
        <p:spPr>
          <a:xfrm rot="0">
            <a:off x="1028700" y="1845633"/>
            <a:ext cx="13314268" cy="447865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Amacı:</a:t>
            </a:r>
            <a:r>
              <a:rPr lang="en-US" sz="2550" spc="-43">
                <a:solidFill>
                  <a:srgbClr val="203251"/>
                </a:solidFill>
                <a:latin typeface="Raleway"/>
                <a:ea typeface="Raleway"/>
                <a:cs typeface="Raleway"/>
                <a:sym typeface="Raleway"/>
              </a:rPr>
              <a:t> </a:t>
            </a:r>
            <a:r>
              <a:rPr lang="en-US" sz="2550" spc="-43">
                <a:solidFill>
                  <a:srgbClr val="203251"/>
                </a:solidFill>
                <a:latin typeface="Raleway"/>
                <a:ea typeface="Raleway"/>
                <a:cs typeface="Raleway"/>
                <a:sym typeface="Raleway"/>
              </a:rPr>
              <a:t>Tasarlanan veya aceleyle yazılan kod bloklarındaki değişken adlandırma hatalarını, söz dizimi kurallarına aykırı kullanımları ve isimlendirme problemlerini satır satır incelemek; oluşan hataların nedenlerini belirleyerek uygun çözümler geliştirmek</a:t>
            </a:r>
          </a:p>
          <a:p>
            <a:pPr algn="l">
              <a:lnSpc>
                <a:spcPts val="3569"/>
              </a:lnSpc>
            </a:pPr>
          </a:p>
          <a:p>
            <a:pPr algn="l">
              <a:lnSpc>
                <a:spcPts val="3569"/>
              </a:lnSpc>
            </a:pPr>
            <a:r>
              <a:rPr lang="en-US" sz="2550" spc="-43" b="true">
                <a:solidFill>
                  <a:srgbClr val="203251"/>
                </a:solidFill>
                <a:latin typeface="Raleway Semi-Bold"/>
                <a:ea typeface="Raleway Semi-Bold"/>
                <a:cs typeface="Raleway Semi-Bold"/>
                <a:sym typeface="Raleway Semi-Bold"/>
              </a:rPr>
              <a:t>Problem Senaryosu:</a:t>
            </a:r>
            <a:r>
              <a:rPr lang="en-US" sz="2550" spc="-43">
                <a:solidFill>
                  <a:srgbClr val="203251"/>
                </a:solidFill>
                <a:latin typeface="Raleway"/>
                <a:ea typeface="Raleway"/>
                <a:cs typeface="Raleway"/>
                <a:sym typeface="Raleway"/>
              </a:rPr>
              <a:t> Kod-Asistan projesinin kullanıcı profil arayüzünü ve sistem parametrelerini yapılandırmak üzere başka bir yazılım ekibinden ham bir kod taslağı alınmıştır. Kod bloku Python yorumlayıcısına gönderildiğinde ilk satırlardan itibaren SyntaxError (Söz Dizim</a:t>
            </a:r>
            <a:r>
              <a:rPr lang="en-US" sz="2550" spc="-43">
                <a:solidFill>
                  <a:srgbClr val="203251"/>
                </a:solidFill>
                <a:latin typeface="Raleway"/>
                <a:ea typeface="Raleway"/>
                <a:cs typeface="Raleway"/>
                <a:sym typeface="Raleway"/>
              </a:rPr>
              <a:t>i</a:t>
            </a:r>
            <a:r>
              <a:rPr lang="en-US" sz="2550" spc="-43">
                <a:solidFill>
                  <a:srgbClr val="203251"/>
                </a:solidFill>
                <a:latin typeface="Raleway"/>
                <a:ea typeface="Raleway"/>
                <a:cs typeface="Raleway"/>
                <a:sym typeface="Raleway"/>
              </a:rPr>
              <a:t> H</a:t>
            </a:r>
            <a:r>
              <a:rPr lang="en-US" sz="2550" spc="-43">
                <a:solidFill>
                  <a:srgbClr val="203251"/>
                </a:solidFill>
                <a:latin typeface="Raleway"/>
                <a:ea typeface="Raleway"/>
                <a:cs typeface="Raleway"/>
                <a:sym typeface="Raleway"/>
              </a:rPr>
              <a:t>at</a:t>
            </a:r>
            <a:r>
              <a:rPr lang="en-US" sz="2550" spc="-43">
                <a:solidFill>
                  <a:srgbClr val="203251"/>
                </a:solidFill>
                <a:latin typeface="Raleway"/>
                <a:ea typeface="Raleway"/>
                <a:cs typeface="Raleway"/>
                <a:sym typeface="Raleway"/>
              </a:rPr>
              <a:t>ası)</a:t>
            </a:r>
            <a:r>
              <a:rPr lang="en-US" sz="2550" spc="-43">
                <a:solidFill>
                  <a:srgbClr val="203251"/>
                </a:solidFill>
                <a:latin typeface="Raleway"/>
                <a:ea typeface="Raleway"/>
                <a:cs typeface="Raleway"/>
                <a:sym typeface="Raleway"/>
              </a:rPr>
              <a:t> o</a:t>
            </a:r>
            <a:r>
              <a:rPr lang="en-US" sz="2550" spc="-43">
                <a:solidFill>
                  <a:srgbClr val="203251"/>
                </a:solidFill>
                <a:latin typeface="Raleway"/>
                <a:ea typeface="Raleway"/>
                <a:cs typeface="Raleway"/>
                <a:sym typeface="Raleway"/>
              </a:rPr>
              <a:t>luştuğu</a:t>
            </a:r>
            <a:r>
              <a:rPr lang="en-US" sz="2550" spc="-43">
                <a:solidFill>
                  <a:srgbClr val="203251"/>
                </a:solidFill>
                <a:latin typeface="Raleway"/>
                <a:ea typeface="Raleway"/>
                <a:cs typeface="Raleway"/>
                <a:sym typeface="Raleway"/>
              </a:rPr>
              <a:t> </a:t>
            </a:r>
            <a:r>
              <a:rPr lang="en-US" sz="2550" spc="-43">
                <a:solidFill>
                  <a:srgbClr val="203251"/>
                </a:solidFill>
                <a:latin typeface="Raleway"/>
                <a:ea typeface="Raleway"/>
                <a:cs typeface="Raleway"/>
                <a:sym typeface="Raleway"/>
              </a:rPr>
              <a:t>ve programın çalıştırı</a:t>
            </a:r>
            <a:r>
              <a:rPr lang="en-US" sz="2550" spc="-43">
                <a:solidFill>
                  <a:srgbClr val="203251"/>
                </a:solidFill>
                <a:latin typeface="Raleway"/>
                <a:ea typeface="Raleway"/>
                <a:cs typeface="Raleway"/>
                <a:sym typeface="Raleway"/>
              </a:rPr>
              <a:t>lamadığı g</a:t>
            </a:r>
            <a:r>
              <a:rPr lang="en-US" sz="2550" spc="-43">
                <a:solidFill>
                  <a:srgbClr val="203251"/>
                </a:solidFill>
                <a:latin typeface="Raleway"/>
                <a:ea typeface="Raleway"/>
                <a:cs typeface="Raleway"/>
                <a:sym typeface="Raleway"/>
              </a:rPr>
              <a:t>örülmüştür. Proje</a:t>
            </a:r>
            <a:r>
              <a:rPr lang="en-US" sz="2550" spc="-43">
                <a:solidFill>
                  <a:srgbClr val="203251"/>
                </a:solidFill>
                <a:latin typeface="Raleway"/>
                <a:ea typeface="Raleway"/>
                <a:cs typeface="Raleway"/>
                <a:sym typeface="Raleway"/>
              </a:rPr>
              <a:t>n</a:t>
            </a:r>
            <a:r>
              <a:rPr lang="en-US" sz="2550" spc="-43">
                <a:solidFill>
                  <a:srgbClr val="203251"/>
                </a:solidFill>
                <a:latin typeface="Raleway"/>
                <a:ea typeface="Raleway"/>
                <a:cs typeface="Raleway"/>
                <a:sym typeface="Raleway"/>
              </a:rPr>
              <a:t>in</a:t>
            </a:r>
            <a:r>
              <a:rPr lang="en-US" sz="2550" spc="-43">
                <a:solidFill>
                  <a:srgbClr val="203251"/>
                </a:solidFill>
                <a:latin typeface="Raleway"/>
                <a:ea typeface="Raleway"/>
                <a:cs typeface="Raleway"/>
                <a:sym typeface="Raleway"/>
              </a:rPr>
              <a:t> karar</a:t>
            </a:r>
            <a:r>
              <a:rPr lang="en-US" sz="2550" spc="-43">
                <a:solidFill>
                  <a:srgbClr val="203251"/>
                </a:solidFill>
                <a:latin typeface="Raleway"/>
                <a:ea typeface="Raleway"/>
                <a:cs typeface="Raleway"/>
                <a:sym typeface="Raleway"/>
              </a:rPr>
              <a:t>lı</a:t>
            </a:r>
            <a:r>
              <a:rPr lang="en-US" sz="2550" spc="-43">
                <a:solidFill>
                  <a:srgbClr val="203251"/>
                </a:solidFill>
                <a:latin typeface="Raleway"/>
                <a:ea typeface="Raleway"/>
                <a:cs typeface="Raleway"/>
                <a:sym typeface="Raleway"/>
              </a:rPr>
              <a:t> ve okuna</a:t>
            </a:r>
            <a:r>
              <a:rPr lang="en-US" sz="2550" spc="-43">
                <a:solidFill>
                  <a:srgbClr val="203251"/>
                </a:solidFill>
                <a:latin typeface="Raleway"/>
                <a:ea typeface="Raleway"/>
                <a:cs typeface="Raleway"/>
                <a:sym typeface="Raleway"/>
              </a:rPr>
              <a:t>bilir bir </a:t>
            </a:r>
            <a:r>
              <a:rPr lang="en-US" sz="2550" spc="-43">
                <a:solidFill>
                  <a:srgbClr val="203251"/>
                </a:solidFill>
                <a:latin typeface="Raleway"/>
                <a:ea typeface="Raleway"/>
                <a:cs typeface="Raleway"/>
                <a:sym typeface="Raleway"/>
              </a:rPr>
              <a:t>yapıya</a:t>
            </a:r>
            <a:r>
              <a:rPr lang="en-US" sz="2550" spc="-43">
                <a:solidFill>
                  <a:srgbClr val="203251"/>
                </a:solidFill>
                <a:latin typeface="Raleway"/>
                <a:ea typeface="Raleway"/>
                <a:cs typeface="Raleway"/>
                <a:sym typeface="Raleway"/>
              </a:rPr>
              <a:t> kavuşması içi</a:t>
            </a:r>
            <a:r>
              <a:rPr lang="en-US" sz="2550" spc="-43">
                <a:solidFill>
                  <a:srgbClr val="203251"/>
                </a:solidFill>
                <a:latin typeface="Raleway"/>
                <a:ea typeface="Raleway"/>
                <a:cs typeface="Raleway"/>
                <a:sym typeface="Raleway"/>
              </a:rPr>
              <a:t>n</a:t>
            </a:r>
            <a:r>
              <a:rPr lang="en-US" sz="2550" spc="-43">
                <a:solidFill>
                  <a:srgbClr val="203251"/>
                </a:solidFill>
                <a:latin typeface="Raleway"/>
                <a:ea typeface="Raleway"/>
                <a:cs typeface="Raleway"/>
                <a:sym typeface="Raleway"/>
              </a:rPr>
              <a:t> aşağıdaki kaynak kodda bulun</a:t>
            </a:r>
            <a:r>
              <a:rPr lang="en-US" sz="2550" spc="-43">
                <a:solidFill>
                  <a:srgbClr val="203251"/>
                </a:solidFill>
                <a:latin typeface="Raleway"/>
                <a:ea typeface="Raleway"/>
                <a:cs typeface="Raleway"/>
                <a:sym typeface="Raleway"/>
              </a:rPr>
              <a:t>an</a:t>
            </a:r>
            <a:r>
              <a:rPr lang="en-US" sz="2550" spc="-43">
                <a:solidFill>
                  <a:srgbClr val="203251"/>
                </a:solidFill>
                <a:latin typeface="Raleway"/>
                <a:ea typeface="Raleway"/>
                <a:cs typeface="Raleway"/>
                <a:sym typeface="Raleway"/>
              </a:rPr>
              <a:t> değişken adlandırma ve söz dizimi hatalarının tespit edilerek düzeltilmesi gerekmektedir.</a:t>
            </a:r>
          </a:p>
        </p:txBody>
      </p:sp>
    </p:spTree>
  </p:cSld>
  <p:clrMapOvr>
    <a:masterClrMapping/>
  </p:clrMapOvr>
</p:sld>
</file>

<file path=ppt/slides/slide9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Bold"/>
                <a:ea typeface="Raleway Bold"/>
                <a:cs typeface="Raleway Bold"/>
                <a:sym typeface="Raleway Bold"/>
              </a:rPr>
              <a:t>İncelenecek Hatalı Kod Bloku:</a:t>
            </a:r>
          </a:p>
        </p:txBody>
      </p:sp>
      <p:grpSp>
        <p:nvGrpSpPr>
          <p:cNvPr name="Group 3" id="3"/>
          <p:cNvGrpSpPr/>
          <p:nvPr/>
        </p:nvGrpSpPr>
        <p:grpSpPr>
          <a:xfrm rot="0">
            <a:off x="1028700" y="1613575"/>
            <a:ext cx="16230600" cy="2841254"/>
            <a:chOff x="0" y="0"/>
            <a:chExt cx="4274726" cy="748314"/>
          </a:xfrm>
        </p:grpSpPr>
        <p:sp>
          <p:nvSpPr>
            <p:cNvPr name="Freeform 4" id="4"/>
            <p:cNvSpPr/>
            <p:nvPr/>
          </p:nvSpPr>
          <p:spPr>
            <a:xfrm flipH="false" flipV="false" rot="0">
              <a:off x="0" y="0"/>
              <a:ext cx="4274726" cy="748314"/>
            </a:xfrm>
            <a:custGeom>
              <a:avLst/>
              <a:gdLst/>
              <a:ahLst/>
              <a:cxnLst/>
              <a:rect r="r" b="b" t="t" l="l"/>
              <a:pathLst>
                <a:path h="748314" w="4274726">
                  <a:moveTo>
                    <a:pt x="8109" y="0"/>
                  </a:moveTo>
                  <a:lnTo>
                    <a:pt x="4266617" y="0"/>
                  </a:lnTo>
                  <a:cubicBezTo>
                    <a:pt x="4268768" y="0"/>
                    <a:pt x="4270830" y="854"/>
                    <a:pt x="4272351" y="2375"/>
                  </a:cubicBezTo>
                  <a:cubicBezTo>
                    <a:pt x="4273872" y="3896"/>
                    <a:pt x="4274726" y="5958"/>
                    <a:pt x="4274726" y="8109"/>
                  </a:cubicBezTo>
                  <a:lnTo>
                    <a:pt x="4274726" y="740205"/>
                  </a:lnTo>
                  <a:cubicBezTo>
                    <a:pt x="4274726" y="742356"/>
                    <a:pt x="4273872" y="744418"/>
                    <a:pt x="4272351" y="745939"/>
                  </a:cubicBezTo>
                  <a:cubicBezTo>
                    <a:pt x="4270830" y="747460"/>
                    <a:pt x="4268768" y="748314"/>
                    <a:pt x="4266617" y="748314"/>
                  </a:cubicBezTo>
                  <a:lnTo>
                    <a:pt x="8109" y="748314"/>
                  </a:lnTo>
                  <a:cubicBezTo>
                    <a:pt x="5958" y="748314"/>
                    <a:pt x="3896" y="747460"/>
                    <a:pt x="2375" y="745939"/>
                  </a:cubicBezTo>
                  <a:cubicBezTo>
                    <a:pt x="854" y="744418"/>
                    <a:pt x="0" y="742356"/>
                    <a:pt x="0" y="740205"/>
                  </a:cubicBezTo>
                  <a:lnTo>
                    <a:pt x="0" y="8109"/>
                  </a:lnTo>
                  <a:cubicBezTo>
                    <a:pt x="0" y="5958"/>
                    <a:pt x="854" y="3896"/>
                    <a:pt x="2375" y="2375"/>
                  </a:cubicBezTo>
                  <a:cubicBezTo>
                    <a:pt x="3896" y="854"/>
                    <a:pt x="5958" y="0"/>
                    <a:pt x="8109" y="0"/>
                  </a:cubicBezTo>
                  <a:close/>
                </a:path>
              </a:pathLst>
            </a:custGeom>
            <a:solidFill>
              <a:srgbClr val="F2F2F2"/>
            </a:solidFill>
          </p:spPr>
        </p:sp>
        <p:sp>
          <p:nvSpPr>
            <p:cNvPr name="TextBox 5" id="5"/>
            <p:cNvSpPr txBox="true"/>
            <p:nvPr/>
          </p:nvSpPr>
          <p:spPr>
            <a:xfrm>
              <a:off x="0" y="-57150"/>
              <a:ext cx="4274726" cy="805464"/>
            </a:xfrm>
            <a:prstGeom prst="rect">
              <a:avLst/>
            </a:prstGeom>
          </p:spPr>
          <p:txBody>
            <a:bodyPr anchor="ctr" rtlCol="false" tIns="50800" lIns="50800" bIns="50800" rIns="50800"/>
            <a:lstStyle/>
            <a:p>
              <a:pPr algn="l">
                <a:lnSpc>
                  <a:spcPts val="2800"/>
                </a:lnSpc>
              </a:pPr>
              <a:r>
                <a:rPr lang="en-US" sz="2000" spc="-94">
                  <a:solidFill>
                    <a:srgbClr val="000000"/>
                  </a:solidFill>
                  <a:latin typeface="Raleway"/>
                  <a:ea typeface="Raleway"/>
                  <a:cs typeface="Raleway"/>
                  <a:sym typeface="Raleway"/>
                </a:rPr>
                <a:t>        </a:t>
              </a:r>
              <a:r>
                <a:rPr lang="en-US" sz="2000" spc="-94">
                  <a:solidFill>
                    <a:srgbClr val="BEBEBE"/>
                  </a:solidFill>
                  <a:latin typeface="Raleway"/>
                  <a:ea typeface="Raleway"/>
                  <a:cs typeface="Raleway"/>
                  <a:sym typeface="Raleway"/>
                </a:rPr>
                <a:t># Sistem Yapılandırma Taslağı</a:t>
              </a:r>
            </a:p>
            <a:p>
              <a:pPr algn="l">
                <a:lnSpc>
                  <a:spcPts val="2800"/>
                </a:lnSpc>
              </a:pPr>
              <a:r>
                <a:rPr lang="en-US" sz="2000" spc="-94">
                  <a:solidFill>
                    <a:srgbClr val="000000"/>
                  </a:solidFill>
                  <a:latin typeface="Raleway"/>
                  <a:ea typeface="Raleway"/>
                  <a:cs typeface="Raleway"/>
                  <a:sym typeface="Raleway"/>
                </a:rPr>
                <a:t>        1_asistan_ismi = "KODİ"</a:t>
              </a:r>
            </a:p>
            <a:p>
              <a:pPr algn="l">
                <a:lnSpc>
                  <a:spcPts val="2800"/>
                </a:lnSpc>
              </a:pPr>
              <a:r>
                <a:rPr lang="en-US" sz="2000" spc="-94">
                  <a:solidFill>
                    <a:srgbClr val="000000"/>
                  </a:solidFill>
                  <a:latin typeface="Raleway"/>
                  <a:ea typeface="Raleway"/>
                  <a:cs typeface="Raleway"/>
                  <a:sym typeface="Raleway"/>
                </a:rPr>
                <a:t>        asistan_bellek-kapasitesi = "16 GB"</a:t>
              </a:r>
            </a:p>
            <a:p>
              <a:pPr algn="l">
                <a:lnSpc>
                  <a:spcPts val="2800"/>
                </a:lnSpc>
              </a:pPr>
              <a:r>
                <a:rPr lang="en-US" sz="2000" spc="-94">
                  <a:solidFill>
                    <a:srgbClr val="000000"/>
                  </a:solidFill>
                  <a:latin typeface="Raleway"/>
                  <a:ea typeface="Raleway"/>
                  <a:cs typeface="Raleway"/>
                  <a:sym typeface="Raleway"/>
                </a:rPr>
                <a:t>        while = 2026</a:t>
              </a:r>
            </a:p>
            <a:p>
              <a:pPr algn="l">
                <a:lnSpc>
                  <a:spcPts val="2800"/>
                </a:lnSpc>
              </a:pPr>
              <a:r>
                <a:rPr lang="en-US" sz="2000" spc="-94">
                  <a:solidFill>
                    <a:srgbClr val="000000"/>
                  </a:solidFill>
                  <a:latin typeface="Raleway"/>
                  <a:ea typeface="Raleway"/>
                  <a:cs typeface="Raleway"/>
                  <a:sym typeface="Raleway"/>
                </a:rPr>
                <a:t>        Kullanıcı Adı = "Ebru"</a:t>
              </a:r>
            </a:p>
            <a:p>
              <a:pPr algn="l">
                <a:lnSpc>
                  <a:spcPts val="2800"/>
                </a:lnSpc>
              </a:pPr>
              <a:r>
                <a:rPr lang="en-US" sz="2000" spc="-94">
                  <a:solidFill>
                    <a:srgbClr val="000000"/>
                  </a:solidFill>
                  <a:latin typeface="Raleway"/>
                  <a:ea typeface="Raleway"/>
                  <a:cs typeface="Raleway"/>
                  <a:sym typeface="Raleway"/>
                </a:rPr>
                <a:t>        sistem_durumu$ = True</a:t>
              </a:r>
            </a:p>
          </p:txBody>
        </p:sp>
      </p:grpSp>
    </p:spTree>
  </p:cSld>
  <p:clrMapOvr>
    <a:masterClrMapping/>
  </p:clrMapOvr>
</p:sld>
</file>

<file path=ppt/slides/slide9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3314268"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a:t>
            </a:r>
            <a:r>
              <a:rPr lang="en-US" sz="2550" spc="-43" b="true">
                <a:solidFill>
                  <a:srgbClr val="203251"/>
                </a:solidFill>
                <a:latin typeface="Raleway Semi-Bold"/>
                <a:ea typeface="Raleway Semi-Bold"/>
                <a:cs typeface="Raleway Semi-Bold"/>
                <a:sym typeface="Raleway Semi-Bold"/>
              </a:rPr>
              <a:t>şamaları:</a:t>
            </a:r>
          </a:p>
        </p:txBody>
      </p:sp>
      <p:sp>
        <p:nvSpPr>
          <p:cNvPr name="TextBox 3" id="3"/>
          <p:cNvSpPr txBox="true"/>
          <p:nvPr/>
        </p:nvSpPr>
        <p:spPr>
          <a:xfrm rot="0">
            <a:off x="1028700" y="1653747"/>
            <a:ext cx="16230600" cy="52000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1. Aşama:</a:t>
            </a:r>
            <a:r>
              <a:rPr lang="en-US" sz="2550" spc="-43">
                <a:solidFill>
                  <a:srgbClr val="203251"/>
                </a:solidFill>
                <a:latin typeface="Raleway"/>
                <a:ea typeface="Raleway"/>
                <a:cs typeface="Raleway"/>
                <a:sym typeface="Raleway"/>
              </a:rPr>
              <a:t> Kodun Kurallara Göre Denetlenmesi</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V</a:t>
            </a:r>
            <a:r>
              <a:rPr lang="en-US" sz="2000" spc="-34">
                <a:solidFill>
                  <a:srgbClr val="203251"/>
                </a:solidFill>
                <a:latin typeface="Raleway"/>
                <a:ea typeface="Raleway"/>
                <a:cs typeface="Raleway"/>
                <a:sym typeface="Raleway"/>
              </a:rPr>
              <a:t>erilen hatalı kod taslağını, değiş</a:t>
            </a:r>
            <a:r>
              <a:rPr lang="en-US" sz="2000" spc="-34">
                <a:solidFill>
                  <a:srgbClr val="203251"/>
                </a:solidFill>
                <a:latin typeface="Raleway"/>
                <a:ea typeface="Raleway"/>
                <a:cs typeface="Raleway"/>
                <a:sym typeface="Raleway"/>
              </a:rPr>
              <a:t>ken tanımlam</a:t>
            </a:r>
            <a:r>
              <a:rPr lang="en-US" sz="2000" spc="-34" u="none">
                <a:solidFill>
                  <a:srgbClr val="203251"/>
                </a:solidFill>
                <a:latin typeface="Raleway"/>
                <a:ea typeface="Raleway"/>
                <a:cs typeface="Raleway"/>
                <a:sym typeface="Raleway"/>
              </a:rPr>
              <a:t>a</a:t>
            </a:r>
            <a:r>
              <a:rPr lang="en-US" sz="2000" spc="-34">
                <a:solidFill>
                  <a:srgbClr val="203251"/>
                </a:solidFill>
                <a:latin typeface="Raleway"/>
                <a:ea typeface="Raleway"/>
                <a:cs typeface="Raleway"/>
                <a:sym typeface="Raleway"/>
              </a:rPr>
              <a:t> kriterlerini (karakter kısıtlaması, başlangıç kriteri, resmî dil anahtarları) baz alarak satır satır inceleyiniz.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Tespit ettiğiniz söz dizimi ve değişken adlandırma hatalarını aşağıdaki Hata Analiz Raporu alanına gerekçeleriyle birlikte kaydediniz.</a:t>
            </a:r>
          </a:p>
          <a:p>
            <a:pPr algn="l">
              <a:lnSpc>
                <a:spcPts val="2800"/>
              </a:lnSpc>
            </a:pPr>
          </a:p>
          <a:p>
            <a:pPr algn="l">
              <a:lnSpc>
                <a:spcPts val="2800"/>
              </a:lnSpc>
            </a:pPr>
          </a:p>
          <a:p>
            <a:pPr algn="l">
              <a:lnSpc>
                <a:spcPts val="3499"/>
              </a:lnSpc>
            </a:pPr>
            <a:r>
              <a:rPr lang="en-US" sz="2499" spc="-42" b="true">
                <a:solidFill>
                  <a:srgbClr val="203251"/>
                </a:solidFill>
                <a:latin typeface="Raleway Bold"/>
                <a:ea typeface="Raleway Bold"/>
                <a:cs typeface="Raleway Bold"/>
                <a:sym typeface="Raleway Bold"/>
              </a:rPr>
              <a:t>Hata Analiz Raporu:</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Satırdaki Akış Hatası ve Gerekçesi: ....................................................................................</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Satırdaki Akış Hatası ve Gerekçesi: ....................................................................................</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Satırdaki Akış Hatası ve Gerekçesi: ....................................................................................</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Satırdaki Akış Hatası ve Gerekçesi: ....................................................................................</a:t>
            </a:r>
          </a:p>
          <a:p>
            <a:pPr algn="l" marL="539749" indent="-269875" lvl="1">
              <a:lnSpc>
                <a:spcPts val="3499"/>
              </a:lnSpc>
              <a:buAutoNum type="arabicPeriod" startAt="1"/>
            </a:pPr>
            <a:r>
              <a:rPr lang="en-US" sz="2499" spc="-42">
                <a:solidFill>
                  <a:srgbClr val="203251"/>
                </a:solidFill>
                <a:latin typeface="Raleway"/>
                <a:ea typeface="Raleway"/>
                <a:cs typeface="Raleway"/>
                <a:sym typeface="Raleway"/>
              </a:rPr>
              <a:t>Satırdaki Akış Hatası ve Gerekçesi: ....................................................................................</a:t>
            </a:r>
          </a:p>
          <a:p>
            <a:pPr algn="l">
              <a:lnSpc>
                <a:spcPts val="2800"/>
              </a:lnSpc>
            </a:pPr>
          </a:p>
        </p:txBody>
      </p:sp>
      <p:grpSp>
        <p:nvGrpSpPr>
          <p:cNvPr name="Group 4" id="4"/>
          <p:cNvGrpSpPr/>
          <p:nvPr/>
        </p:nvGrpSpPr>
        <p:grpSpPr>
          <a:xfrm rot="0">
            <a:off x="12383376" y="4105778"/>
            <a:ext cx="4875924" cy="2841254"/>
            <a:chOff x="0" y="0"/>
            <a:chExt cx="1284194" cy="748314"/>
          </a:xfrm>
        </p:grpSpPr>
        <p:sp>
          <p:nvSpPr>
            <p:cNvPr name="Freeform 5" id="5"/>
            <p:cNvSpPr/>
            <p:nvPr/>
          </p:nvSpPr>
          <p:spPr>
            <a:xfrm flipH="false" flipV="false" rot="0">
              <a:off x="0" y="0"/>
              <a:ext cx="1284194" cy="748314"/>
            </a:xfrm>
            <a:custGeom>
              <a:avLst/>
              <a:gdLst/>
              <a:ahLst/>
              <a:cxnLst/>
              <a:rect r="r" b="b" t="t" l="l"/>
              <a:pathLst>
                <a:path h="748314" w="1284194">
                  <a:moveTo>
                    <a:pt x="26992" y="0"/>
                  </a:moveTo>
                  <a:lnTo>
                    <a:pt x="1257202" y="0"/>
                  </a:lnTo>
                  <a:cubicBezTo>
                    <a:pt x="1272109" y="0"/>
                    <a:pt x="1284194" y="12085"/>
                    <a:pt x="1284194" y="26992"/>
                  </a:cubicBezTo>
                  <a:lnTo>
                    <a:pt x="1284194" y="721321"/>
                  </a:lnTo>
                  <a:cubicBezTo>
                    <a:pt x="1284194" y="736229"/>
                    <a:pt x="1272109" y="748314"/>
                    <a:pt x="1257202" y="748314"/>
                  </a:cubicBezTo>
                  <a:lnTo>
                    <a:pt x="26992" y="748314"/>
                  </a:lnTo>
                  <a:cubicBezTo>
                    <a:pt x="19834" y="748314"/>
                    <a:pt x="12968" y="745470"/>
                    <a:pt x="7906" y="740408"/>
                  </a:cubicBezTo>
                  <a:cubicBezTo>
                    <a:pt x="2844" y="735346"/>
                    <a:pt x="0" y="728480"/>
                    <a:pt x="0" y="721321"/>
                  </a:cubicBezTo>
                  <a:lnTo>
                    <a:pt x="0" y="26992"/>
                  </a:lnTo>
                  <a:cubicBezTo>
                    <a:pt x="0" y="12085"/>
                    <a:pt x="12085" y="0"/>
                    <a:pt x="26992" y="0"/>
                  </a:cubicBezTo>
                  <a:close/>
                </a:path>
              </a:pathLst>
            </a:custGeom>
            <a:solidFill>
              <a:srgbClr val="F2F2F2"/>
            </a:solidFill>
          </p:spPr>
        </p:sp>
        <p:sp>
          <p:nvSpPr>
            <p:cNvPr name="TextBox 6" id="6"/>
            <p:cNvSpPr txBox="true"/>
            <p:nvPr/>
          </p:nvSpPr>
          <p:spPr>
            <a:xfrm>
              <a:off x="0" y="-57150"/>
              <a:ext cx="1284194" cy="805464"/>
            </a:xfrm>
            <a:prstGeom prst="rect">
              <a:avLst/>
            </a:prstGeom>
          </p:spPr>
          <p:txBody>
            <a:bodyPr anchor="ctr" rtlCol="false" tIns="50800" lIns="50800" bIns="50800" rIns="50800"/>
            <a:lstStyle/>
            <a:p>
              <a:pPr algn="l">
                <a:lnSpc>
                  <a:spcPts val="2800"/>
                </a:lnSpc>
              </a:pPr>
              <a:r>
                <a:rPr lang="en-US" sz="2000" spc="-94">
                  <a:solidFill>
                    <a:srgbClr val="000000"/>
                  </a:solidFill>
                  <a:latin typeface="Raleway"/>
                  <a:ea typeface="Raleway"/>
                  <a:cs typeface="Raleway"/>
                  <a:sym typeface="Raleway"/>
                </a:rPr>
                <a:t>        </a:t>
              </a:r>
              <a:r>
                <a:rPr lang="en-US" sz="2000" spc="-94">
                  <a:solidFill>
                    <a:srgbClr val="BEBEBE"/>
                  </a:solidFill>
                  <a:latin typeface="Raleway"/>
                  <a:ea typeface="Raleway"/>
                  <a:cs typeface="Raleway"/>
                  <a:sym typeface="Raleway"/>
                </a:rPr>
                <a:t># Sistem Yapılandırma Taslağı</a:t>
              </a:r>
            </a:p>
            <a:p>
              <a:pPr algn="l">
                <a:lnSpc>
                  <a:spcPts val="2800"/>
                </a:lnSpc>
              </a:pPr>
              <a:r>
                <a:rPr lang="en-US" sz="2000" spc="-94">
                  <a:solidFill>
                    <a:srgbClr val="000000"/>
                  </a:solidFill>
                  <a:latin typeface="Raleway"/>
                  <a:ea typeface="Raleway"/>
                  <a:cs typeface="Raleway"/>
                  <a:sym typeface="Raleway"/>
                </a:rPr>
                <a:t>        1_asistan_ismi = "KODİ"</a:t>
              </a:r>
            </a:p>
            <a:p>
              <a:pPr algn="l">
                <a:lnSpc>
                  <a:spcPts val="2800"/>
                </a:lnSpc>
              </a:pPr>
              <a:r>
                <a:rPr lang="en-US" sz="2000" spc="-94">
                  <a:solidFill>
                    <a:srgbClr val="000000"/>
                  </a:solidFill>
                  <a:latin typeface="Raleway"/>
                  <a:ea typeface="Raleway"/>
                  <a:cs typeface="Raleway"/>
                  <a:sym typeface="Raleway"/>
                </a:rPr>
                <a:t>        asistan_bellek-kapasitesi = "16 GB"</a:t>
              </a:r>
            </a:p>
            <a:p>
              <a:pPr algn="l">
                <a:lnSpc>
                  <a:spcPts val="2800"/>
                </a:lnSpc>
              </a:pPr>
              <a:r>
                <a:rPr lang="en-US" sz="2000" spc="-94">
                  <a:solidFill>
                    <a:srgbClr val="000000"/>
                  </a:solidFill>
                  <a:latin typeface="Raleway"/>
                  <a:ea typeface="Raleway"/>
                  <a:cs typeface="Raleway"/>
                  <a:sym typeface="Raleway"/>
                </a:rPr>
                <a:t>        while = 2026</a:t>
              </a:r>
            </a:p>
            <a:p>
              <a:pPr algn="l">
                <a:lnSpc>
                  <a:spcPts val="2800"/>
                </a:lnSpc>
              </a:pPr>
              <a:r>
                <a:rPr lang="en-US" sz="2000" spc="-94">
                  <a:solidFill>
                    <a:srgbClr val="000000"/>
                  </a:solidFill>
                  <a:latin typeface="Raleway"/>
                  <a:ea typeface="Raleway"/>
                  <a:cs typeface="Raleway"/>
                  <a:sym typeface="Raleway"/>
                </a:rPr>
                <a:t>        Kullanıcı Adı = "Ebru"</a:t>
              </a:r>
            </a:p>
            <a:p>
              <a:pPr algn="l">
                <a:lnSpc>
                  <a:spcPts val="2800"/>
                </a:lnSpc>
              </a:pPr>
              <a:r>
                <a:rPr lang="en-US" sz="2000" spc="-94">
                  <a:solidFill>
                    <a:srgbClr val="000000"/>
                  </a:solidFill>
                  <a:latin typeface="Raleway"/>
                  <a:ea typeface="Raleway"/>
                  <a:cs typeface="Raleway"/>
                  <a:sym typeface="Raleway"/>
                </a:rPr>
                <a:t>        sistem_durumu$ = True</a:t>
              </a:r>
            </a:p>
          </p:txBody>
        </p:sp>
      </p:grpSp>
      <p:sp>
        <p:nvSpPr>
          <p:cNvPr name="TextBox 7" id="7"/>
          <p:cNvSpPr txBox="true"/>
          <p:nvPr/>
        </p:nvSpPr>
        <p:spPr>
          <a:xfrm rot="0">
            <a:off x="12383376" y="3656198"/>
            <a:ext cx="4791939"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Bold"/>
                <a:ea typeface="Raleway Bold"/>
                <a:cs typeface="Raleway Bold"/>
                <a:sym typeface="Raleway Bold"/>
              </a:rPr>
              <a:t>İncelenecek Hatalı Kod Bloku:</a:t>
            </a:r>
          </a:p>
        </p:txBody>
      </p:sp>
    </p:spTree>
  </p:cSld>
  <p:clrMapOvr>
    <a:masterClrMapping/>
  </p:clrMapOvr>
</p:sld>
</file>

<file path=ppt/slides/slide96.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27362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2. Aşama:</a:t>
            </a:r>
            <a:r>
              <a:rPr lang="en-US" sz="2550" spc="-43">
                <a:solidFill>
                  <a:srgbClr val="203251"/>
                </a:solidFill>
                <a:latin typeface="Raleway"/>
                <a:ea typeface="Raleway"/>
                <a:cs typeface="Raleway"/>
                <a:sym typeface="Raleway"/>
              </a:rPr>
              <a:t> Düzeltme Önerisi ve Güvenli Çözüm Üretme</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Y</a:t>
            </a:r>
            <a:r>
              <a:rPr lang="en-US" sz="2000" spc="-34">
                <a:solidFill>
                  <a:srgbClr val="203251"/>
                </a:solidFill>
                <a:latin typeface="Raleway"/>
                <a:ea typeface="Raleway"/>
                <a:cs typeface="Raleway"/>
                <a:sym typeface="Raleway"/>
              </a:rPr>
              <a:t>aptığınız den</a:t>
            </a:r>
            <a:r>
              <a:rPr lang="en-US" sz="2000" spc="-34">
                <a:solidFill>
                  <a:srgbClr val="203251"/>
                </a:solidFill>
                <a:latin typeface="Raleway"/>
                <a:ea typeface="Raleway"/>
                <a:cs typeface="Raleway"/>
                <a:sym typeface="Raleway"/>
              </a:rPr>
              <a:t>etim sürecinden hareketle hatalı kod bloklarının Python yorumlayıcısı tarafından kararlı bir şekilde işlenebilmesi için gerekli düzenlemeleri yapınız.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Standart adlandırma notasyonlarından snake_case referans alarak düzeltilmiş güvenli kodu yazınız.</a:t>
            </a:r>
          </a:p>
          <a:p>
            <a:pPr algn="l">
              <a:lnSpc>
                <a:spcPts val="2800"/>
              </a:lnSpc>
            </a:pPr>
          </a:p>
          <a:p>
            <a:pPr algn="l">
              <a:lnSpc>
                <a:spcPts val="3499"/>
              </a:lnSpc>
            </a:pPr>
          </a:p>
          <a:p>
            <a:pPr algn="l">
              <a:lnSpc>
                <a:spcPts val="3499"/>
              </a:lnSpc>
            </a:pPr>
            <a:r>
              <a:rPr lang="en-US" sz="2499" spc="-42" b="true">
                <a:solidFill>
                  <a:srgbClr val="203251"/>
                </a:solidFill>
                <a:latin typeface="Raleway Bold"/>
                <a:ea typeface="Raleway Bold"/>
                <a:cs typeface="Raleway Bold"/>
                <a:sym typeface="Raleway Bold"/>
              </a:rPr>
              <a:t>Düzeltilmiş Güvenli Kod:</a:t>
            </a:r>
          </a:p>
        </p:txBody>
      </p:sp>
      <p:grpSp>
        <p:nvGrpSpPr>
          <p:cNvPr name="Group 3" id="3"/>
          <p:cNvGrpSpPr/>
          <p:nvPr/>
        </p:nvGrpSpPr>
        <p:grpSpPr>
          <a:xfrm rot="0">
            <a:off x="1028700" y="3967764"/>
            <a:ext cx="16230600" cy="2841254"/>
            <a:chOff x="0" y="0"/>
            <a:chExt cx="4274726" cy="748314"/>
          </a:xfrm>
        </p:grpSpPr>
        <p:sp>
          <p:nvSpPr>
            <p:cNvPr name="Freeform 4" id="4"/>
            <p:cNvSpPr/>
            <p:nvPr/>
          </p:nvSpPr>
          <p:spPr>
            <a:xfrm flipH="false" flipV="false" rot="0">
              <a:off x="0" y="0"/>
              <a:ext cx="4274726" cy="748314"/>
            </a:xfrm>
            <a:custGeom>
              <a:avLst/>
              <a:gdLst/>
              <a:ahLst/>
              <a:cxnLst/>
              <a:rect r="r" b="b" t="t" l="l"/>
              <a:pathLst>
                <a:path h="748314" w="4274726">
                  <a:moveTo>
                    <a:pt x="8109" y="0"/>
                  </a:moveTo>
                  <a:lnTo>
                    <a:pt x="4266617" y="0"/>
                  </a:lnTo>
                  <a:cubicBezTo>
                    <a:pt x="4268768" y="0"/>
                    <a:pt x="4270830" y="854"/>
                    <a:pt x="4272351" y="2375"/>
                  </a:cubicBezTo>
                  <a:cubicBezTo>
                    <a:pt x="4273872" y="3896"/>
                    <a:pt x="4274726" y="5958"/>
                    <a:pt x="4274726" y="8109"/>
                  </a:cubicBezTo>
                  <a:lnTo>
                    <a:pt x="4274726" y="740205"/>
                  </a:lnTo>
                  <a:cubicBezTo>
                    <a:pt x="4274726" y="742356"/>
                    <a:pt x="4273872" y="744418"/>
                    <a:pt x="4272351" y="745939"/>
                  </a:cubicBezTo>
                  <a:cubicBezTo>
                    <a:pt x="4270830" y="747460"/>
                    <a:pt x="4268768" y="748314"/>
                    <a:pt x="4266617" y="748314"/>
                  </a:cubicBezTo>
                  <a:lnTo>
                    <a:pt x="8109" y="748314"/>
                  </a:lnTo>
                  <a:cubicBezTo>
                    <a:pt x="5958" y="748314"/>
                    <a:pt x="3896" y="747460"/>
                    <a:pt x="2375" y="745939"/>
                  </a:cubicBezTo>
                  <a:cubicBezTo>
                    <a:pt x="854" y="744418"/>
                    <a:pt x="0" y="742356"/>
                    <a:pt x="0" y="740205"/>
                  </a:cubicBezTo>
                  <a:lnTo>
                    <a:pt x="0" y="8109"/>
                  </a:lnTo>
                  <a:cubicBezTo>
                    <a:pt x="0" y="5958"/>
                    <a:pt x="854" y="3896"/>
                    <a:pt x="2375" y="2375"/>
                  </a:cubicBezTo>
                  <a:cubicBezTo>
                    <a:pt x="3896" y="854"/>
                    <a:pt x="5958" y="0"/>
                    <a:pt x="8109" y="0"/>
                  </a:cubicBezTo>
                  <a:close/>
                </a:path>
              </a:pathLst>
            </a:custGeom>
            <a:solidFill>
              <a:srgbClr val="F2F2F2"/>
            </a:solidFill>
          </p:spPr>
        </p:sp>
        <p:sp>
          <p:nvSpPr>
            <p:cNvPr name="TextBox 5" id="5"/>
            <p:cNvSpPr txBox="true"/>
            <p:nvPr/>
          </p:nvSpPr>
          <p:spPr>
            <a:xfrm>
              <a:off x="0" y="-57150"/>
              <a:ext cx="4274726" cy="805464"/>
            </a:xfrm>
            <a:prstGeom prst="rect">
              <a:avLst/>
            </a:prstGeom>
          </p:spPr>
          <p:txBody>
            <a:bodyPr anchor="ctr" rtlCol="false" tIns="50800" lIns="50800" bIns="50800" rIns="50800"/>
            <a:lstStyle/>
            <a:p>
              <a:pPr algn="l">
                <a:lnSpc>
                  <a:spcPts val="2800"/>
                </a:lnSpc>
              </a:pPr>
              <a:r>
                <a:rPr lang="en-US" sz="2000" spc="-94">
                  <a:solidFill>
                    <a:srgbClr val="000000"/>
                  </a:solidFill>
                  <a:latin typeface="Raleway"/>
                  <a:ea typeface="Raleway"/>
                  <a:cs typeface="Raleway"/>
                  <a:sym typeface="Raleway"/>
                </a:rPr>
                <a:t>        .................................................................................................................</a:t>
              </a:r>
            </a:p>
            <a:p>
              <a:pPr algn="l">
                <a:lnSpc>
                  <a:spcPts val="2800"/>
                </a:lnSpc>
              </a:pPr>
              <a:r>
                <a:rPr lang="en-US" sz="2000" spc="-94">
                  <a:solidFill>
                    <a:srgbClr val="000000"/>
                  </a:solidFill>
                  <a:latin typeface="Raleway"/>
                  <a:ea typeface="Raleway"/>
                  <a:cs typeface="Raleway"/>
                  <a:sym typeface="Raleway"/>
                </a:rPr>
                <a:t>        .................................................................................................................</a:t>
              </a:r>
            </a:p>
            <a:p>
              <a:pPr algn="l">
                <a:lnSpc>
                  <a:spcPts val="2800"/>
                </a:lnSpc>
              </a:pPr>
              <a:r>
                <a:rPr lang="en-US" sz="2000" spc="-94">
                  <a:solidFill>
                    <a:srgbClr val="000000"/>
                  </a:solidFill>
                  <a:latin typeface="Raleway"/>
                  <a:ea typeface="Raleway"/>
                  <a:cs typeface="Raleway"/>
                  <a:sym typeface="Raleway"/>
                </a:rPr>
                <a:t>        .................................................................................................................</a:t>
              </a:r>
            </a:p>
            <a:p>
              <a:pPr algn="l">
                <a:lnSpc>
                  <a:spcPts val="2800"/>
                </a:lnSpc>
              </a:pPr>
              <a:r>
                <a:rPr lang="en-US" sz="2000" spc="-94">
                  <a:solidFill>
                    <a:srgbClr val="000000"/>
                  </a:solidFill>
                  <a:latin typeface="Raleway"/>
                  <a:ea typeface="Raleway"/>
                  <a:cs typeface="Raleway"/>
                  <a:sym typeface="Raleway"/>
                </a:rPr>
                <a:t>        .................................................................................................................</a:t>
              </a:r>
            </a:p>
            <a:p>
              <a:pPr algn="l">
                <a:lnSpc>
                  <a:spcPts val="2800"/>
                </a:lnSpc>
              </a:pPr>
              <a:r>
                <a:rPr lang="en-US" sz="2000" spc="-94">
                  <a:solidFill>
                    <a:srgbClr val="000000"/>
                  </a:solidFill>
                  <a:latin typeface="Raleway"/>
                  <a:ea typeface="Raleway"/>
                  <a:cs typeface="Raleway"/>
                  <a:sym typeface="Raleway"/>
                </a:rPr>
                <a:t>        .................................................................................................................</a:t>
              </a:r>
            </a:p>
          </p:txBody>
        </p:sp>
      </p:grpSp>
      <p:sp>
        <p:nvSpPr>
          <p:cNvPr name="TextBox 6" id="6"/>
          <p:cNvSpPr txBox="true"/>
          <p:nvPr/>
        </p:nvSpPr>
        <p:spPr>
          <a:xfrm rot="0">
            <a:off x="16196183" y="3967764"/>
            <a:ext cx="957185" cy="358775"/>
          </a:xfrm>
          <a:prstGeom prst="rect">
            <a:avLst/>
          </a:prstGeom>
        </p:spPr>
        <p:txBody>
          <a:bodyPr anchor="t" rtlCol="false" tIns="0" lIns="0" bIns="0" rIns="0">
            <a:spAutoFit/>
          </a:bodyPr>
          <a:lstStyle/>
          <a:p>
            <a:pPr algn="r">
              <a:lnSpc>
                <a:spcPts val="2800"/>
              </a:lnSpc>
            </a:pPr>
            <a:r>
              <a:rPr lang="en-US" b="true" sz="2000" spc="-34">
                <a:solidFill>
                  <a:srgbClr val="203251"/>
                </a:solidFill>
                <a:latin typeface="Raleway Bold"/>
                <a:ea typeface="Raleway Bold"/>
                <a:cs typeface="Raleway Bold"/>
                <a:sym typeface="Raleway Bold"/>
              </a:rPr>
              <a:t>Python</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4248571"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Bold"/>
                <a:ea typeface="Raleway Bold"/>
                <a:cs typeface="Raleway Bold"/>
                <a:sym typeface="Raleway Bold"/>
              </a:rPr>
              <a:t>UYGULAMA 5: </a:t>
            </a:r>
            <a:r>
              <a:rPr lang="en-US" sz="3000" spc="-51" b="true">
                <a:solidFill>
                  <a:srgbClr val="203251"/>
                </a:solidFill>
                <a:latin typeface="Raleway Bold"/>
                <a:ea typeface="Raleway Bold"/>
                <a:cs typeface="Raleway Bold"/>
                <a:sym typeface="Raleway Bold"/>
              </a:rPr>
              <a:t>İNTERAKTİF VERİ GİRİŞİ VE TÜR DÖNÜŞÜMÜ</a:t>
            </a:r>
          </a:p>
        </p:txBody>
      </p:sp>
      <p:sp>
        <p:nvSpPr>
          <p:cNvPr name="TextBox 4" id="4"/>
          <p:cNvSpPr txBox="true"/>
          <p:nvPr/>
        </p:nvSpPr>
        <p:spPr>
          <a:xfrm rot="0">
            <a:off x="1028700" y="1845633"/>
            <a:ext cx="13314268" cy="492633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Amacı:</a:t>
            </a:r>
            <a:r>
              <a:rPr lang="en-US" sz="2550" spc="-43">
                <a:solidFill>
                  <a:srgbClr val="203251"/>
                </a:solidFill>
                <a:latin typeface="Raleway"/>
                <a:ea typeface="Raleway"/>
                <a:cs typeface="Raleway"/>
                <a:sym typeface="Raleway"/>
              </a:rPr>
              <a:t> </a:t>
            </a:r>
            <a:r>
              <a:rPr lang="en-US" sz="2550" spc="-43">
                <a:solidFill>
                  <a:srgbClr val="203251"/>
                </a:solidFill>
                <a:latin typeface="Raleway"/>
                <a:ea typeface="Raleway"/>
                <a:cs typeface="Raleway"/>
                <a:sym typeface="Raleway"/>
              </a:rPr>
              <a:t>Kod editöründe </a:t>
            </a:r>
            <a:r>
              <a:rPr lang="en-US" sz="2550" spc="-43" b="true">
                <a:solidFill>
                  <a:srgbClr val="203251"/>
                </a:solidFill>
                <a:latin typeface="Raleway Bold"/>
                <a:ea typeface="Raleway Bold"/>
                <a:cs typeface="Raleway Bold"/>
                <a:sym typeface="Raleway Bold"/>
              </a:rPr>
              <a:t>input()</a:t>
            </a:r>
            <a:r>
              <a:rPr lang="en-US" sz="2550" spc="-43">
                <a:solidFill>
                  <a:srgbClr val="203251"/>
                </a:solidFill>
                <a:latin typeface="Raleway"/>
                <a:ea typeface="Raleway"/>
                <a:cs typeface="Raleway"/>
                <a:sym typeface="Raleway"/>
              </a:rPr>
              <a:t> fonksiyonu ile kullanıcıdan veri almak, karşılaşılan veri türü hatalarını bulup çözmek ve </a:t>
            </a:r>
            <a:r>
              <a:rPr lang="en-US" sz="2550" spc="-43" b="true">
                <a:solidFill>
                  <a:srgbClr val="203251"/>
                </a:solidFill>
                <a:latin typeface="Raleway Bold"/>
                <a:ea typeface="Raleway Bold"/>
                <a:cs typeface="Raleway Bold"/>
                <a:sym typeface="Raleway Bold"/>
              </a:rPr>
              <a:t>int()</a:t>
            </a:r>
            <a:r>
              <a:rPr lang="en-US" sz="2550" spc="-43">
                <a:solidFill>
                  <a:srgbClr val="203251"/>
                </a:solidFill>
                <a:latin typeface="Raleway"/>
                <a:ea typeface="Raleway"/>
                <a:cs typeface="Raleway"/>
                <a:sym typeface="Raleway"/>
              </a:rPr>
              <a:t> fonksiyonu ile verileri sayılara dönüştürerek matematiksel hesaplamalar yapmak</a:t>
            </a:r>
          </a:p>
          <a:p>
            <a:pPr algn="l">
              <a:lnSpc>
                <a:spcPts val="3569"/>
              </a:lnSpc>
            </a:pPr>
          </a:p>
          <a:p>
            <a:pPr algn="l">
              <a:lnSpc>
                <a:spcPts val="3569"/>
              </a:lnSpc>
            </a:pPr>
            <a:r>
              <a:rPr lang="en-US" sz="2550" spc="-43" b="true">
                <a:solidFill>
                  <a:srgbClr val="203251"/>
                </a:solidFill>
                <a:latin typeface="Raleway Semi-Bold"/>
                <a:ea typeface="Raleway Semi-Bold"/>
                <a:cs typeface="Raleway Semi-Bold"/>
                <a:sym typeface="Raleway Semi-Bold"/>
              </a:rPr>
              <a:t>Problem Senaryosu:</a:t>
            </a:r>
            <a:r>
              <a:rPr lang="en-US" sz="2550" spc="-43">
                <a:solidFill>
                  <a:srgbClr val="203251"/>
                </a:solidFill>
                <a:latin typeface="Raleway"/>
                <a:ea typeface="Raleway"/>
                <a:cs typeface="Raleway"/>
                <a:sym typeface="Raleway"/>
              </a:rPr>
              <a:t> Kod-Asistan projesinin kullanıcı profil modülüne dinamik bir hesaplama fonksiyonu eklenmesi planlanmaktadır. Bu fonksiyon kapsamında, asistanın kullanıcıya doğum yılını sorması ve aldığı bu girdi verisini kullanarak kullanıcının yaşını hes</a:t>
            </a:r>
            <a:r>
              <a:rPr lang="en-US" sz="2550" spc="-43">
                <a:solidFill>
                  <a:srgbClr val="203251"/>
                </a:solidFill>
                <a:latin typeface="Raleway"/>
                <a:ea typeface="Raleway"/>
                <a:cs typeface="Raleway"/>
                <a:sym typeface="Raleway"/>
              </a:rPr>
              <a:t>apl</a:t>
            </a:r>
            <a:r>
              <a:rPr lang="en-US" sz="2550" spc="-43">
                <a:solidFill>
                  <a:srgbClr val="203251"/>
                </a:solidFill>
                <a:latin typeface="Raleway"/>
                <a:ea typeface="Raleway"/>
                <a:cs typeface="Raleway"/>
                <a:sym typeface="Raleway"/>
              </a:rPr>
              <a:t>ayıp</a:t>
            </a:r>
            <a:r>
              <a:rPr lang="en-US" sz="2550" spc="-43">
                <a:solidFill>
                  <a:srgbClr val="203251"/>
                </a:solidFill>
                <a:latin typeface="Raleway"/>
                <a:ea typeface="Raleway"/>
                <a:cs typeface="Raleway"/>
                <a:sym typeface="Raleway"/>
              </a:rPr>
              <a:t> </a:t>
            </a:r>
            <a:r>
              <a:rPr lang="en-US" sz="2550" spc="-43">
                <a:solidFill>
                  <a:srgbClr val="203251"/>
                </a:solidFill>
                <a:latin typeface="Raleway"/>
                <a:ea typeface="Raleway"/>
                <a:cs typeface="Raleway"/>
                <a:sym typeface="Raleway"/>
              </a:rPr>
              <a:t>ekrana yansıt</a:t>
            </a:r>
            <a:r>
              <a:rPr lang="en-US" sz="2550" spc="-43">
                <a:solidFill>
                  <a:srgbClr val="203251"/>
                </a:solidFill>
                <a:latin typeface="Raleway"/>
                <a:ea typeface="Raleway"/>
                <a:cs typeface="Raleway"/>
                <a:sym typeface="Raleway"/>
              </a:rPr>
              <a:t>ması isten</a:t>
            </a:r>
            <a:r>
              <a:rPr lang="en-US" sz="2550" spc="-43">
                <a:solidFill>
                  <a:srgbClr val="203251"/>
                </a:solidFill>
                <a:latin typeface="Raleway"/>
                <a:ea typeface="Raleway"/>
                <a:cs typeface="Raleway"/>
                <a:sym typeface="Raleway"/>
              </a:rPr>
              <a:t>mektedir. Kodl</a:t>
            </a:r>
            <a:r>
              <a:rPr lang="en-US" sz="2550" spc="-43">
                <a:solidFill>
                  <a:srgbClr val="203251"/>
                </a:solidFill>
                <a:latin typeface="Raleway"/>
                <a:ea typeface="Raleway"/>
                <a:cs typeface="Raleway"/>
                <a:sym typeface="Raleway"/>
              </a:rPr>
              <a:t>ar</a:t>
            </a:r>
            <a:r>
              <a:rPr lang="en-US" sz="2550" spc="-43">
                <a:solidFill>
                  <a:srgbClr val="203251"/>
                </a:solidFill>
                <a:latin typeface="Raleway"/>
                <a:ea typeface="Raleway"/>
                <a:cs typeface="Raleway"/>
                <a:sym typeface="Raleway"/>
              </a:rPr>
              <a:t>ın</a:t>
            </a:r>
            <a:r>
              <a:rPr lang="en-US" sz="2550" spc="-43">
                <a:solidFill>
                  <a:srgbClr val="203251"/>
                </a:solidFill>
                <a:latin typeface="Raleway"/>
                <a:ea typeface="Raleway"/>
                <a:cs typeface="Raleway"/>
                <a:sym typeface="Raleway"/>
              </a:rPr>
              <a:t> test aşamasında,</a:t>
            </a:r>
            <a:r>
              <a:rPr lang="en-US" sz="2550" spc="-43">
                <a:solidFill>
                  <a:srgbClr val="203251"/>
                </a:solidFill>
                <a:latin typeface="Raleway"/>
                <a:ea typeface="Raleway"/>
                <a:cs typeface="Raleway"/>
                <a:sym typeface="Raleway"/>
              </a:rPr>
              <a:t> kullanıcının girdiği sayısal değerlerin m</a:t>
            </a:r>
            <a:r>
              <a:rPr lang="en-US" sz="2550" spc="-43">
                <a:solidFill>
                  <a:srgbClr val="203251"/>
                </a:solidFill>
                <a:latin typeface="Raleway"/>
                <a:ea typeface="Raleway"/>
                <a:cs typeface="Raleway"/>
                <a:sym typeface="Raleway"/>
              </a:rPr>
              <a:t>atematiksel</a:t>
            </a:r>
            <a:r>
              <a:rPr lang="en-US" sz="2550" spc="-43">
                <a:solidFill>
                  <a:srgbClr val="203251"/>
                </a:solidFill>
                <a:latin typeface="Raleway"/>
                <a:ea typeface="Raleway"/>
                <a:cs typeface="Raleway"/>
                <a:sym typeface="Raleway"/>
              </a:rPr>
              <a:t> işlem sürecine dâhil edilemediği ve sistemin hata vererek durduğu gözlemlenmiştir. Yazılımın kararlı bir şekilde çalışabilmesi için bu veri türü pürüzünün çözülmesi gerekmektedir.</a:t>
            </a:r>
          </a:p>
        </p:txBody>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9106" y="3774493"/>
            <a:ext cx="15830194" cy="2206333"/>
          </a:xfrm>
          <a:custGeom>
            <a:avLst/>
            <a:gdLst/>
            <a:ahLst/>
            <a:cxnLst/>
            <a:rect r="r" b="b" t="t" l="l"/>
            <a:pathLst>
              <a:path h="2206333" w="15830194">
                <a:moveTo>
                  <a:pt x="0" y="0"/>
                </a:moveTo>
                <a:lnTo>
                  <a:pt x="15830194" y="0"/>
                </a:lnTo>
                <a:lnTo>
                  <a:pt x="15830194" y="2206333"/>
                </a:lnTo>
                <a:lnTo>
                  <a:pt x="0" y="2206333"/>
                </a:lnTo>
                <a:lnTo>
                  <a:pt x="0" y="0"/>
                </a:lnTo>
                <a:close/>
              </a:path>
            </a:pathLst>
          </a:custGeom>
          <a:blipFill>
            <a:blip r:embed="rId2"/>
            <a:stretch>
              <a:fillRect l="0" t="0" r="0" b="0"/>
            </a:stretch>
          </a:blipFill>
        </p:spPr>
      </p:sp>
      <p:sp>
        <p:nvSpPr>
          <p:cNvPr name="TextBox 3" id="3"/>
          <p:cNvSpPr txBox="true"/>
          <p:nvPr/>
        </p:nvSpPr>
        <p:spPr>
          <a:xfrm rot="0">
            <a:off x="1028700" y="962025"/>
            <a:ext cx="13314268"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a:t>
            </a:r>
            <a:r>
              <a:rPr lang="en-US" sz="2550" spc="-43" b="true">
                <a:solidFill>
                  <a:srgbClr val="203251"/>
                </a:solidFill>
                <a:latin typeface="Raleway Semi-Bold"/>
                <a:ea typeface="Raleway Semi-Bold"/>
                <a:cs typeface="Raleway Semi-Bold"/>
                <a:sym typeface="Raleway Semi-Bold"/>
              </a:rPr>
              <a:t>şamaları:</a:t>
            </a:r>
          </a:p>
        </p:txBody>
      </p:sp>
      <p:sp>
        <p:nvSpPr>
          <p:cNvPr name="TextBox 4" id="4"/>
          <p:cNvSpPr txBox="true"/>
          <p:nvPr/>
        </p:nvSpPr>
        <p:spPr>
          <a:xfrm rot="0">
            <a:off x="1028700" y="1653747"/>
            <a:ext cx="16230600" cy="221869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1. Aşama:</a:t>
            </a:r>
            <a:r>
              <a:rPr lang="en-US" sz="2550" spc="-43">
                <a:solidFill>
                  <a:srgbClr val="203251"/>
                </a:solidFill>
                <a:latin typeface="Raleway"/>
                <a:ea typeface="Raleway"/>
                <a:cs typeface="Raleway"/>
                <a:sym typeface="Raleway"/>
              </a:rPr>
              <a:t> Kod Dosyasının Hazırlanması ve Girdi Mekanizması</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K</a:t>
            </a:r>
            <a:r>
              <a:rPr lang="en-US" sz="2000" spc="-34">
                <a:solidFill>
                  <a:srgbClr val="203251"/>
                </a:solidFill>
                <a:latin typeface="Raleway"/>
                <a:ea typeface="Raleway"/>
                <a:cs typeface="Raleway"/>
                <a:sym typeface="Raleway"/>
              </a:rPr>
              <a:t>od editörü açınız ve sol</a:t>
            </a:r>
            <a:r>
              <a:rPr lang="en-US" sz="2000" spc="-34">
                <a:solidFill>
                  <a:srgbClr val="203251"/>
                </a:solidFill>
                <a:latin typeface="Raleway"/>
                <a:ea typeface="Raleway"/>
                <a:cs typeface="Raleway"/>
                <a:sym typeface="Raleway"/>
              </a:rPr>
              <a:t> paneldeki </a:t>
            </a:r>
            <a:r>
              <a:rPr lang="en-US" b="true" sz="2000" spc="-34">
                <a:solidFill>
                  <a:srgbClr val="203251"/>
                </a:solidFill>
                <a:latin typeface="Raleway Bold"/>
                <a:ea typeface="Raleway Bold"/>
                <a:cs typeface="Raleway Bold"/>
                <a:sym typeface="Raleway Bold"/>
              </a:rPr>
              <a:t>kod_asistanim </a:t>
            </a:r>
            <a:r>
              <a:rPr lang="en-US" sz="2000" spc="-34">
                <a:solidFill>
                  <a:srgbClr val="203251"/>
                </a:solidFill>
                <a:latin typeface="Raleway"/>
                <a:ea typeface="Raleway"/>
                <a:cs typeface="Raleway"/>
                <a:sym typeface="Raleway"/>
              </a:rPr>
              <a:t>çalışma klasörü içerisine </a:t>
            </a:r>
            <a:r>
              <a:rPr lang="en-US" b="true" sz="2000" spc="-34">
                <a:solidFill>
                  <a:srgbClr val="203251"/>
                </a:solidFill>
                <a:latin typeface="Raleway Bold"/>
                <a:ea typeface="Raleway Bold"/>
                <a:cs typeface="Raleway Bold"/>
                <a:sym typeface="Raleway Bold"/>
              </a:rPr>
              <a:t>yas_hesaplayici.py</a:t>
            </a:r>
            <a:r>
              <a:rPr lang="en-US" sz="2000" spc="-34">
                <a:solidFill>
                  <a:srgbClr val="203251"/>
                </a:solidFill>
                <a:latin typeface="Raleway"/>
                <a:ea typeface="Raleway"/>
                <a:cs typeface="Raleway"/>
                <a:sym typeface="Raleway"/>
              </a:rPr>
              <a:t> adında yeni bir Python kaynak kod dosyası ekleyiniz.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Kullanıcıdan doğum yılı bilgisini dinamik olarak talep etmek amacıyla editör ekranına aşağıdaki komut satırını kodlayınız: </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dogum_yili = input("Lütfen doğum yilinizi giriniz: ")</a:t>
            </a:r>
          </a:p>
          <a:p>
            <a:pPr algn="l">
              <a:lnSpc>
                <a:spcPts val="2800"/>
              </a:lnSpc>
            </a:pPr>
          </a:p>
        </p:txBody>
      </p:sp>
      <p:grpSp>
        <p:nvGrpSpPr>
          <p:cNvPr name="Group 5" id="5"/>
          <p:cNvGrpSpPr/>
          <p:nvPr/>
        </p:nvGrpSpPr>
        <p:grpSpPr>
          <a:xfrm rot="0">
            <a:off x="1962150" y="4956810"/>
            <a:ext cx="1851660" cy="304800"/>
            <a:chOff x="0" y="0"/>
            <a:chExt cx="487680" cy="80277"/>
          </a:xfrm>
        </p:grpSpPr>
        <p:sp>
          <p:nvSpPr>
            <p:cNvPr name="Freeform 6" id="6"/>
            <p:cNvSpPr/>
            <p:nvPr/>
          </p:nvSpPr>
          <p:spPr>
            <a:xfrm flipH="false" flipV="false" rot="0">
              <a:off x="0" y="0"/>
              <a:ext cx="487680" cy="80277"/>
            </a:xfrm>
            <a:custGeom>
              <a:avLst/>
              <a:gdLst/>
              <a:ahLst/>
              <a:cxnLst/>
              <a:rect r="r" b="b" t="t" l="l"/>
              <a:pathLst>
                <a:path h="80277" w="487680">
                  <a:moveTo>
                    <a:pt x="40138" y="0"/>
                  </a:moveTo>
                  <a:lnTo>
                    <a:pt x="447542" y="0"/>
                  </a:lnTo>
                  <a:cubicBezTo>
                    <a:pt x="458187" y="0"/>
                    <a:pt x="468396" y="4229"/>
                    <a:pt x="475924" y="11756"/>
                  </a:cubicBezTo>
                  <a:cubicBezTo>
                    <a:pt x="483451" y="19284"/>
                    <a:pt x="487680" y="29493"/>
                    <a:pt x="487680" y="40138"/>
                  </a:cubicBezTo>
                  <a:lnTo>
                    <a:pt x="487680" y="40138"/>
                  </a:lnTo>
                  <a:cubicBezTo>
                    <a:pt x="487680" y="62306"/>
                    <a:pt x="469710" y="80277"/>
                    <a:pt x="447542" y="80277"/>
                  </a:cubicBezTo>
                  <a:lnTo>
                    <a:pt x="40138" y="80277"/>
                  </a:lnTo>
                  <a:cubicBezTo>
                    <a:pt x="29493" y="80277"/>
                    <a:pt x="19284" y="76048"/>
                    <a:pt x="11756" y="68520"/>
                  </a:cubicBezTo>
                  <a:cubicBezTo>
                    <a:pt x="4229" y="60993"/>
                    <a:pt x="0" y="50784"/>
                    <a:pt x="0" y="40138"/>
                  </a:cubicBezTo>
                  <a:lnTo>
                    <a:pt x="0" y="40138"/>
                  </a:lnTo>
                  <a:cubicBezTo>
                    <a:pt x="0" y="29493"/>
                    <a:pt x="4229" y="19284"/>
                    <a:pt x="11756" y="11756"/>
                  </a:cubicBezTo>
                  <a:cubicBezTo>
                    <a:pt x="19284" y="4229"/>
                    <a:pt x="29493" y="0"/>
                    <a:pt x="40138" y="0"/>
                  </a:cubicBezTo>
                  <a:close/>
                </a:path>
              </a:pathLst>
            </a:custGeom>
            <a:ln w="38100" cap="sq">
              <a:solidFill>
                <a:srgbClr val="FF000A"/>
              </a:solidFill>
              <a:prstDash val="sysDot"/>
              <a:miter/>
            </a:ln>
          </p:spPr>
        </p:sp>
        <p:sp>
          <p:nvSpPr>
            <p:cNvPr name="TextBox 7" id="7"/>
            <p:cNvSpPr txBox="true"/>
            <p:nvPr/>
          </p:nvSpPr>
          <p:spPr>
            <a:xfrm>
              <a:off x="0" y="-66675"/>
              <a:ext cx="487680" cy="146952"/>
            </a:xfrm>
            <a:prstGeom prst="rect">
              <a:avLst/>
            </a:prstGeom>
          </p:spPr>
          <p:txBody>
            <a:bodyPr anchor="ctr" rtlCol="false" tIns="50800" lIns="50800" bIns="50800" rIns="50800"/>
            <a:lstStyle/>
            <a:p>
              <a:pPr algn="ctr">
                <a:lnSpc>
                  <a:spcPts val="3569"/>
                </a:lnSpc>
              </a:pPr>
            </a:p>
          </p:txBody>
        </p:sp>
      </p:gr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29106" y="4040333"/>
            <a:ext cx="15830194" cy="2164410"/>
          </a:xfrm>
          <a:custGeom>
            <a:avLst/>
            <a:gdLst/>
            <a:ahLst/>
            <a:cxnLst/>
            <a:rect r="r" b="b" t="t" l="l"/>
            <a:pathLst>
              <a:path h="2164410" w="15830194">
                <a:moveTo>
                  <a:pt x="0" y="0"/>
                </a:moveTo>
                <a:lnTo>
                  <a:pt x="15830194" y="0"/>
                </a:lnTo>
                <a:lnTo>
                  <a:pt x="15830194" y="2164411"/>
                </a:lnTo>
                <a:lnTo>
                  <a:pt x="0" y="2164411"/>
                </a:lnTo>
                <a:lnTo>
                  <a:pt x="0" y="0"/>
                </a:lnTo>
                <a:close/>
              </a:path>
            </a:pathLst>
          </a:custGeom>
          <a:blipFill>
            <a:blip r:embed="rId2"/>
            <a:stretch>
              <a:fillRect l="0" t="0" r="0" b="-273921"/>
            </a:stretch>
          </a:blipFill>
        </p:spPr>
      </p:sp>
      <p:grpSp>
        <p:nvGrpSpPr>
          <p:cNvPr name="Group 3" id="3"/>
          <p:cNvGrpSpPr/>
          <p:nvPr/>
        </p:nvGrpSpPr>
        <p:grpSpPr>
          <a:xfrm rot="0">
            <a:off x="16080379" y="4394981"/>
            <a:ext cx="687815" cy="358682"/>
            <a:chOff x="0" y="0"/>
            <a:chExt cx="181153" cy="94468"/>
          </a:xfrm>
        </p:grpSpPr>
        <p:sp>
          <p:nvSpPr>
            <p:cNvPr name="Freeform 4" id="4"/>
            <p:cNvSpPr/>
            <p:nvPr/>
          </p:nvSpPr>
          <p:spPr>
            <a:xfrm flipH="false" flipV="false" rot="0">
              <a:off x="0" y="0"/>
              <a:ext cx="181153" cy="94468"/>
            </a:xfrm>
            <a:custGeom>
              <a:avLst/>
              <a:gdLst/>
              <a:ahLst/>
              <a:cxnLst/>
              <a:rect r="r" b="b" t="t" l="l"/>
              <a:pathLst>
                <a:path h="94468" w="181153">
                  <a:moveTo>
                    <a:pt x="47234" y="0"/>
                  </a:moveTo>
                  <a:lnTo>
                    <a:pt x="133919" y="0"/>
                  </a:lnTo>
                  <a:cubicBezTo>
                    <a:pt x="146446" y="0"/>
                    <a:pt x="158460" y="4976"/>
                    <a:pt x="167318" y="13834"/>
                  </a:cubicBezTo>
                  <a:cubicBezTo>
                    <a:pt x="176176" y="22693"/>
                    <a:pt x="181153" y="34707"/>
                    <a:pt x="181153" y="47234"/>
                  </a:cubicBezTo>
                  <a:lnTo>
                    <a:pt x="181153" y="47234"/>
                  </a:lnTo>
                  <a:cubicBezTo>
                    <a:pt x="181153" y="73320"/>
                    <a:pt x="160006" y="94468"/>
                    <a:pt x="133919"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5" id="5"/>
            <p:cNvSpPr txBox="true"/>
            <p:nvPr/>
          </p:nvSpPr>
          <p:spPr>
            <a:xfrm>
              <a:off x="0" y="-66675"/>
              <a:ext cx="181153" cy="161143"/>
            </a:xfrm>
            <a:prstGeom prst="rect">
              <a:avLst/>
            </a:prstGeom>
          </p:spPr>
          <p:txBody>
            <a:bodyPr anchor="ctr" rtlCol="false" tIns="50800" lIns="50800" bIns="50800" rIns="50800"/>
            <a:lstStyle/>
            <a:p>
              <a:pPr algn="ctr">
                <a:lnSpc>
                  <a:spcPts val="3569"/>
                </a:lnSpc>
              </a:pPr>
            </a:p>
          </p:txBody>
        </p:sp>
      </p:grpSp>
      <p:sp>
        <p:nvSpPr>
          <p:cNvPr name="AutoShape 6" id="6"/>
          <p:cNvSpPr/>
          <p:nvPr/>
        </p:nvSpPr>
        <p:spPr>
          <a:xfrm flipV="true">
            <a:off x="16768193" y="4167091"/>
            <a:ext cx="1519807" cy="407231"/>
          </a:xfrm>
          <a:prstGeom prst="line">
            <a:avLst/>
          </a:prstGeom>
          <a:ln cap="flat" w="38100">
            <a:solidFill>
              <a:srgbClr val="FF000A"/>
            </a:solidFill>
            <a:prstDash val="solid"/>
            <a:headEnd type="none" len="sm" w="sm"/>
            <a:tailEnd type="triangle" len="med" w="lg"/>
          </a:ln>
        </p:spPr>
      </p:sp>
      <p:sp>
        <p:nvSpPr>
          <p:cNvPr name="TextBox 7" id="7"/>
          <p:cNvSpPr txBox="true"/>
          <p:nvPr/>
        </p:nvSpPr>
        <p:spPr>
          <a:xfrm rot="0">
            <a:off x="1028700" y="962025"/>
            <a:ext cx="16230600" cy="292354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2. Aşama:</a:t>
            </a:r>
            <a:r>
              <a:rPr lang="en-US" sz="2550" spc="-43">
                <a:solidFill>
                  <a:srgbClr val="203251"/>
                </a:solidFill>
                <a:latin typeface="Raleway"/>
                <a:ea typeface="Raleway"/>
                <a:cs typeface="Raleway"/>
                <a:sym typeface="Raleway"/>
              </a:rPr>
              <a:t> Çalışma Zamanı Hatasıyla Karşılaşma (Metinsel Veri Tuzağı)</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Alınan</a:t>
            </a:r>
            <a:r>
              <a:rPr lang="en-US" sz="2000" spc="-34">
                <a:solidFill>
                  <a:srgbClr val="203251"/>
                </a:solidFill>
                <a:latin typeface="Raleway"/>
                <a:ea typeface="Raleway"/>
                <a:cs typeface="Raleway"/>
                <a:sym typeface="Raleway"/>
              </a:rPr>
              <a:t> doğum yılı veri</a:t>
            </a:r>
            <a:r>
              <a:rPr lang="en-US" sz="2000" spc="-34">
                <a:solidFill>
                  <a:srgbClr val="203251"/>
                </a:solidFill>
                <a:latin typeface="Raleway"/>
                <a:ea typeface="Raleway"/>
                <a:cs typeface="Raleway"/>
                <a:sym typeface="Raleway"/>
              </a:rPr>
              <a:t>sini </a:t>
            </a:r>
            <a:r>
              <a:rPr lang="en-US" sz="2000" spc="-34">
                <a:solidFill>
                  <a:srgbClr val="203251"/>
                </a:solidFill>
                <a:latin typeface="Raleway"/>
                <a:ea typeface="Raleway"/>
                <a:cs typeface="Raleway"/>
                <a:sym typeface="Raleway"/>
              </a:rPr>
              <a:t>kullanarak </a:t>
            </a:r>
            <a:r>
              <a:rPr lang="en-US" sz="2000" spc="-34">
                <a:solidFill>
                  <a:srgbClr val="203251"/>
                </a:solidFill>
                <a:latin typeface="Raleway"/>
                <a:ea typeface="Raleway"/>
                <a:cs typeface="Raleway"/>
                <a:sym typeface="Raleway"/>
              </a:rPr>
              <a:t>ya</a:t>
            </a:r>
            <a:r>
              <a:rPr lang="en-US" sz="2000" spc="-34">
                <a:solidFill>
                  <a:srgbClr val="203251"/>
                </a:solidFill>
                <a:latin typeface="Raleway"/>
                <a:ea typeface="Raleway"/>
                <a:cs typeface="Raleway"/>
                <a:sym typeface="Raleway"/>
              </a:rPr>
              <a:t>ş </a:t>
            </a:r>
            <a:r>
              <a:rPr lang="en-US" sz="2000" spc="-34">
                <a:solidFill>
                  <a:srgbClr val="203251"/>
                </a:solidFill>
                <a:latin typeface="Raleway"/>
                <a:ea typeface="Raleway"/>
                <a:cs typeface="Raleway"/>
                <a:sym typeface="Raleway"/>
              </a:rPr>
              <a:t>hesapla</a:t>
            </a:r>
            <a:r>
              <a:rPr lang="en-US" sz="2000" spc="-34">
                <a:solidFill>
                  <a:srgbClr val="203251"/>
                </a:solidFill>
                <a:latin typeface="Raleway"/>
                <a:ea typeface="Raleway"/>
                <a:cs typeface="Raleway"/>
                <a:sym typeface="Raleway"/>
              </a:rPr>
              <a:t>ması </a:t>
            </a:r>
            <a:r>
              <a:rPr lang="en-US" sz="2000" spc="-34">
                <a:solidFill>
                  <a:srgbClr val="203251"/>
                </a:solidFill>
                <a:latin typeface="Raleway"/>
                <a:ea typeface="Raleway"/>
                <a:cs typeface="Raleway"/>
                <a:sym typeface="Raleway"/>
              </a:rPr>
              <a:t>y</a:t>
            </a:r>
            <a:r>
              <a:rPr lang="en-US" sz="2000" spc="-34">
                <a:solidFill>
                  <a:srgbClr val="203251"/>
                </a:solidFill>
                <a:latin typeface="Raleway"/>
                <a:ea typeface="Raleway"/>
                <a:cs typeface="Raleway"/>
                <a:sym typeface="Raleway"/>
              </a:rPr>
              <a:t>a</a:t>
            </a:r>
            <a:r>
              <a:rPr lang="en-US" sz="2000" spc="-34">
                <a:solidFill>
                  <a:srgbClr val="203251"/>
                </a:solidFill>
                <a:latin typeface="Raleway"/>
                <a:ea typeface="Raleway"/>
                <a:cs typeface="Raleway"/>
                <a:sym typeface="Raleway"/>
              </a:rPr>
              <a:t>p</a:t>
            </a:r>
            <a:r>
              <a:rPr lang="en-US" sz="2000" spc="-34">
                <a:solidFill>
                  <a:srgbClr val="203251"/>
                </a:solidFill>
                <a:latin typeface="Raleway"/>
                <a:ea typeface="Raleway"/>
                <a:cs typeface="Raleway"/>
                <a:sym typeface="Raleway"/>
              </a:rPr>
              <a:t>mak ve sonucu ekrana yazdırmak amacıyla mevcut koda aşağıdaki satırları sırasıyla ekleyiniz: </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mevcut_yil = 2026</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kullanici_yasi = mevcut_yil - dogum_yili</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print(f"Doğum Yiliniz: {dogum_yili} | Hesaplanan Yaşiniz: {kullanici_yasi}")</a:t>
            </a:r>
          </a:p>
          <a:p>
            <a:pPr algn="l">
              <a:lnSpc>
                <a:spcPts val="2800"/>
              </a:lnSpc>
            </a:pP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Yazılan kod dosyasını çalıştırmak amacıyla editörün sağ üst köşesinde bulunan (</a:t>
            </a:r>
            <a:r>
              <a:rPr lang="en-US" b="true" sz="2000" spc="-34">
                <a:solidFill>
                  <a:srgbClr val="203251"/>
                </a:solidFill>
                <a:latin typeface="Raleway Bold"/>
                <a:ea typeface="Raleway Bold"/>
                <a:cs typeface="Raleway Bold"/>
                <a:sym typeface="Raleway Bold"/>
              </a:rPr>
              <a:t>Python Dosyasını Çalıştır</a:t>
            </a:r>
            <a:r>
              <a:rPr lang="en-US" sz="2000" spc="-34">
                <a:solidFill>
                  <a:srgbClr val="203251"/>
                </a:solidFill>
                <a:latin typeface="Raleway"/>
                <a:ea typeface="Raleway"/>
                <a:cs typeface="Raleway"/>
                <a:sym typeface="Raleway"/>
              </a:rPr>
              <a:t>) butonuna tıklayınız.</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063625"/>
          </a:xfrm>
          <a:prstGeom prst="rect">
            <a:avLst/>
          </a:prstGeom>
        </p:spPr>
        <p:txBody>
          <a:bodyPr anchor="t" rtlCol="false" tIns="0" lIns="0" bIns="0" rIns="0">
            <a:spAutoFit/>
          </a:bodyPr>
          <a:lstStyle/>
          <a:p>
            <a:pPr algn="l" marL="431801" indent="-215900" lvl="1">
              <a:lnSpc>
                <a:spcPts val="2800"/>
              </a:lnSpc>
              <a:buFont typeface="Arial"/>
              <a:buChar char="•"/>
            </a:pPr>
            <a:r>
              <a:rPr lang="en-US" sz="2000" spc="-34">
                <a:solidFill>
                  <a:srgbClr val="203251"/>
                </a:solidFill>
                <a:latin typeface="Raleway"/>
                <a:ea typeface="Raleway"/>
                <a:cs typeface="Raleway"/>
                <a:sym typeface="Raleway"/>
              </a:rPr>
              <a:t>Terminal panelinde doğum yılı istendiğinde klavyeden herhangi bir sayısal değer (örneğin 2008) yazıp Enter tuşuna basınız.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Komut çalıştırıldıktan sonra programın yaş sonucunu üretmediğini ve terminal ekranında bir </a:t>
            </a:r>
            <a:r>
              <a:rPr lang="en-US" b="true" sz="2000" spc="-34">
                <a:solidFill>
                  <a:srgbClr val="203251"/>
                </a:solidFill>
                <a:latin typeface="Raleway Bold"/>
                <a:ea typeface="Raleway Bold"/>
                <a:cs typeface="Raleway Bold"/>
                <a:sym typeface="Raleway Bold"/>
              </a:rPr>
              <a:t>TypeError: unsupported operand type(s) for -: 'int' and 'str' </a:t>
            </a:r>
            <a:r>
              <a:rPr lang="en-US" sz="2000" spc="-34">
                <a:solidFill>
                  <a:srgbClr val="203251"/>
                </a:solidFill>
                <a:latin typeface="Raleway"/>
                <a:ea typeface="Raleway"/>
                <a:cs typeface="Raleway"/>
                <a:sym typeface="Raleway"/>
              </a:rPr>
              <a:t>hatası vererek durduğunu gözlemleyiniz.</a:t>
            </a:r>
          </a:p>
        </p:txBody>
      </p:sp>
      <p:sp>
        <p:nvSpPr>
          <p:cNvPr name="Freeform 3" id="3"/>
          <p:cNvSpPr/>
          <p:nvPr/>
        </p:nvSpPr>
        <p:spPr>
          <a:xfrm flipH="false" flipV="false" rot="0">
            <a:off x="1512051" y="2125377"/>
            <a:ext cx="15747249" cy="8031097"/>
          </a:xfrm>
          <a:custGeom>
            <a:avLst/>
            <a:gdLst/>
            <a:ahLst/>
            <a:cxnLst/>
            <a:rect r="r" b="b" t="t" l="l"/>
            <a:pathLst>
              <a:path h="8031097" w="15747249">
                <a:moveTo>
                  <a:pt x="0" y="0"/>
                </a:moveTo>
                <a:lnTo>
                  <a:pt x="15747249" y="0"/>
                </a:lnTo>
                <a:lnTo>
                  <a:pt x="15747249" y="8031097"/>
                </a:lnTo>
                <a:lnTo>
                  <a:pt x="0" y="8031097"/>
                </a:lnTo>
                <a:lnTo>
                  <a:pt x="0" y="0"/>
                </a:lnTo>
                <a:close/>
              </a:path>
            </a:pathLst>
          </a:custGeom>
          <a:blipFill>
            <a:blip r:embed="rId2"/>
            <a:stretch>
              <a:fillRect l="0" t="0" r="0" b="-245"/>
            </a:stretch>
          </a:blipFill>
        </p:spPr>
      </p:sp>
      <p:grpSp>
        <p:nvGrpSpPr>
          <p:cNvPr name="Group 4" id="4"/>
          <p:cNvGrpSpPr/>
          <p:nvPr/>
        </p:nvGrpSpPr>
        <p:grpSpPr>
          <a:xfrm rot="0">
            <a:off x="6710345" y="8297326"/>
            <a:ext cx="515394" cy="185878"/>
            <a:chOff x="0" y="0"/>
            <a:chExt cx="135742" cy="48955"/>
          </a:xfrm>
        </p:grpSpPr>
        <p:sp>
          <p:nvSpPr>
            <p:cNvPr name="Freeform 5" id="5"/>
            <p:cNvSpPr/>
            <p:nvPr/>
          </p:nvSpPr>
          <p:spPr>
            <a:xfrm flipH="false" flipV="false" rot="0">
              <a:off x="0" y="0"/>
              <a:ext cx="135742" cy="48955"/>
            </a:xfrm>
            <a:custGeom>
              <a:avLst/>
              <a:gdLst/>
              <a:ahLst/>
              <a:cxnLst/>
              <a:rect r="r" b="b" t="t" l="l"/>
              <a:pathLst>
                <a:path h="48955" w="135742">
                  <a:moveTo>
                    <a:pt x="24478" y="0"/>
                  </a:moveTo>
                  <a:lnTo>
                    <a:pt x="111264" y="0"/>
                  </a:lnTo>
                  <a:cubicBezTo>
                    <a:pt x="117756" y="0"/>
                    <a:pt x="123982" y="2579"/>
                    <a:pt x="128572" y="7169"/>
                  </a:cubicBezTo>
                  <a:cubicBezTo>
                    <a:pt x="133163" y="11760"/>
                    <a:pt x="135742" y="17986"/>
                    <a:pt x="135742" y="24478"/>
                  </a:cubicBezTo>
                  <a:lnTo>
                    <a:pt x="135742" y="24478"/>
                  </a:lnTo>
                  <a:cubicBezTo>
                    <a:pt x="135742" y="30970"/>
                    <a:pt x="133163" y="37196"/>
                    <a:pt x="128572" y="41786"/>
                  </a:cubicBezTo>
                  <a:cubicBezTo>
                    <a:pt x="123982" y="46377"/>
                    <a:pt x="117756" y="48955"/>
                    <a:pt x="111264" y="48955"/>
                  </a:cubicBezTo>
                  <a:lnTo>
                    <a:pt x="24478" y="48955"/>
                  </a:lnTo>
                  <a:cubicBezTo>
                    <a:pt x="17986" y="48955"/>
                    <a:pt x="11760" y="46377"/>
                    <a:pt x="7169" y="41786"/>
                  </a:cubicBezTo>
                  <a:cubicBezTo>
                    <a:pt x="2579" y="37196"/>
                    <a:pt x="0" y="30970"/>
                    <a:pt x="0" y="24478"/>
                  </a:cubicBezTo>
                  <a:lnTo>
                    <a:pt x="0" y="24478"/>
                  </a:lnTo>
                  <a:cubicBezTo>
                    <a:pt x="0" y="17986"/>
                    <a:pt x="2579" y="11760"/>
                    <a:pt x="7169" y="7169"/>
                  </a:cubicBezTo>
                  <a:cubicBezTo>
                    <a:pt x="11760" y="2579"/>
                    <a:pt x="17986" y="0"/>
                    <a:pt x="24478" y="0"/>
                  </a:cubicBezTo>
                  <a:close/>
                </a:path>
              </a:pathLst>
            </a:custGeom>
            <a:ln w="19050" cap="sq">
              <a:solidFill>
                <a:srgbClr val="FF000A"/>
              </a:solidFill>
              <a:prstDash val="sysDot"/>
              <a:miter/>
            </a:ln>
          </p:spPr>
        </p:sp>
        <p:sp>
          <p:nvSpPr>
            <p:cNvPr name="TextBox 6" id="6"/>
            <p:cNvSpPr txBox="true"/>
            <p:nvPr/>
          </p:nvSpPr>
          <p:spPr>
            <a:xfrm>
              <a:off x="0" y="-66675"/>
              <a:ext cx="135742" cy="115630"/>
            </a:xfrm>
            <a:prstGeom prst="rect">
              <a:avLst/>
            </a:prstGeom>
          </p:spPr>
          <p:txBody>
            <a:bodyPr anchor="ctr" rtlCol="false" tIns="50800" lIns="50800" bIns="50800" rIns="50800"/>
            <a:lstStyle/>
            <a:p>
              <a:pPr algn="ctr">
                <a:lnSpc>
                  <a:spcPts val="3569"/>
                </a:lnSpc>
              </a:pPr>
            </a:p>
          </p:txBody>
        </p:sp>
      </p:grpSp>
      <p:grpSp>
        <p:nvGrpSpPr>
          <p:cNvPr name="Group 7" id="7"/>
          <p:cNvGrpSpPr/>
          <p:nvPr/>
        </p:nvGrpSpPr>
        <p:grpSpPr>
          <a:xfrm rot="0">
            <a:off x="4415142" y="8492729"/>
            <a:ext cx="6260552" cy="926059"/>
            <a:chOff x="0" y="0"/>
            <a:chExt cx="1648870" cy="243900"/>
          </a:xfrm>
        </p:grpSpPr>
        <p:sp>
          <p:nvSpPr>
            <p:cNvPr name="Freeform 8" id="8"/>
            <p:cNvSpPr/>
            <p:nvPr/>
          </p:nvSpPr>
          <p:spPr>
            <a:xfrm flipH="false" flipV="false" rot="0">
              <a:off x="0" y="0"/>
              <a:ext cx="1648870" cy="243900"/>
            </a:xfrm>
            <a:custGeom>
              <a:avLst/>
              <a:gdLst/>
              <a:ahLst/>
              <a:cxnLst/>
              <a:rect r="r" b="b" t="t" l="l"/>
              <a:pathLst>
                <a:path h="243900" w="1648870">
                  <a:moveTo>
                    <a:pt x="21023" y="0"/>
                  </a:moveTo>
                  <a:lnTo>
                    <a:pt x="1627847" y="0"/>
                  </a:lnTo>
                  <a:cubicBezTo>
                    <a:pt x="1633423" y="0"/>
                    <a:pt x="1638770" y="2215"/>
                    <a:pt x="1642712" y="6157"/>
                  </a:cubicBezTo>
                  <a:cubicBezTo>
                    <a:pt x="1646655" y="10100"/>
                    <a:pt x="1648870" y="15447"/>
                    <a:pt x="1648870" y="21023"/>
                  </a:cubicBezTo>
                  <a:lnTo>
                    <a:pt x="1648870" y="222878"/>
                  </a:lnTo>
                  <a:cubicBezTo>
                    <a:pt x="1648870" y="228453"/>
                    <a:pt x="1646655" y="233800"/>
                    <a:pt x="1642712" y="237743"/>
                  </a:cubicBezTo>
                  <a:cubicBezTo>
                    <a:pt x="1638770" y="241685"/>
                    <a:pt x="1633423" y="243900"/>
                    <a:pt x="1627847" y="243900"/>
                  </a:cubicBezTo>
                  <a:lnTo>
                    <a:pt x="21023" y="243900"/>
                  </a:lnTo>
                  <a:cubicBezTo>
                    <a:pt x="15447" y="243900"/>
                    <a:pt x="10100" y="241685"/>
                    <a:pt x="6157" y="237743"/>
                  </a:cubicBezTo>
                  <a:cubicBezTo>
                    <a:pt x="2215" y="233800"/>
                    <a:pt x="0" y="228453"/>
                    <a:pt x="0" y="222878"/>
                  </a:cubicBezTo>
                  <a:lnTo>
                    <a:pt x="0" y="21023"/>
                  </a:lnTo>
                  <a:cubicBezTo>
                    <a:pt x="0" y="15447"/>
                    <a:pt x="2215" y="10100"/>
                    <a:pt x="6157" y="6157"/>
                  </a:cubicBezTo>
                  <a:cubicBezTo>
                    <a:pt x="10100" y="2215"/>
                    <a:pt x="15447" y="0"/>
                    <a:pt x="21023" y="0"/>
                  </a:cubicBezTo>
                  <a:close/>
                </a:path>
              </a:pathLst>
            </a:custGeom>
            <a:ln w="19050" cap="sq">
              <a:solidFill>
                <a:srgbClr val="FF000A"/>
              </a:solidFill>
              <a:prstDash val="sysDot"/>
              <a:miter/>
            </a:ln>
          </p:spPr>
        </p:sp>
        <p:sp>
          <p:nvSpPr>
            <p:cNvPr name="TextBox 9" id="9"/>
            <p:cNvSpPr txBox="true"/>
            <p:nvPr/>
          </p:nvSpPr>
          <p:spPr>
            <a:xfrm>
              <a:off x="0" y="-66675"/>
              <a:ext cx="1648870" cy="310575"/>
            </a:xfrm>
            <a:prstGeom prst="rect">
              <a:avLst/>
            </a:prstGeom>
          </p:spPr>
          <p:txBody>
            <a:bodyPr anchor="ctr" rtlCol="false" tIns="50800" lIns="50800" bIns="50800" rIns="50800"/>
            <a:lstStyle/>
            <a:p>
              <a:pPr algn="ctr">
                <a:lnSpc>
                  <a:spcPts val="3569"/>
                </a:lnSpc>
              </a:pPr>
            </a:p>
          </p:txBody>
        </p:sp>
      </p:grpSp>
      <p:grpSp>
        <p:nvGrpSpPr>
          <p:cNvPr name="Group 10" id="10"/>
          <p:cNvGrpSpPr/>
          <p:nvPr/>
        </p:nvGrpSpPr>
        <p:grpSpPr>
          <a:xfrm rot="0">
            <a:off x="16187059" y="2473887"/>
            <a:ext cx="520175" cy="358682"/>
            <a:chOff x="0" y="0"/>
            <a:chExt cx="137001" cy="94468"/>
          </a:xfrm>
        </p:grpSpPr>
        <p:sp>
          <p:nvSpPr>
            <p:cNvPr name="Freeform 11" id="11"/>
            <p:cNvSpPr/>
            <p:nvPr/>
          </p:nvSpPr>
          <p:spPr>
            <a:xfrm flipH="false" flipV="false" rot="0">
              <a:off x="0" y="0"/>
              <a:ext cx="137001" cy="94468"/>
            </a:xfrm>
            <a:custGeom>
              <a:avLst/>
              <a:gdLst/>
              <a:ahLst/>
              <a:cxnLst/>
              <a:rect r="r" b="b" t="t" l="l"/>
              <a:pathLst>
                <a:path h="94468" w="137001">
                  <a:moveTo>
                    <a:pt x="47234" y="0"/>
                  </a:moveTo>
                  <a:lnTo>
                    <a:pt x="89767" y="0"/>
                  </a:lnTo>
                  <a:cubicBezTo>
                    <a:pt x="115853" y="0"/>
                    <a:pt x="137001" y="21147"/>
                    <a:pt x="137001" y="47234"/>
                  </a:cubicBezTo>
                  <a:lnTo>
                    <a:pt x="137001" y="47234"/>
                  </a:lnTo>
                  <a:cubicBezTo>
                    <a:pt x="137001" y="59761"/>
                    <a:pt x="132024" y="71775"/>
                    <a:pt x="123166" y="80633"/>
                  </a:cubicBezTo>
                  <a:cubicBezTo>
                    <a:pt x="114308" y="89491"/>
                    <a:pt x="102294" y="94468"/>
                    <a:pt x="89767"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12" id="12"/>
            <p:cNvSpPr txBox="true"/>
            <p:nvPr/>
          </p:nvSpPr>
          <p:spPr>
            <a:xfrm>
              <a:off x="0" y="-66675"/>
              <a:ext cx="137001" cy="161143"/>
            </a:xfrm>
            <a:prstGeom prst="rect">
              <a:avLst/>
            </a:prstGeom>
          </p:spPr>
          <p:txBody>
            <a:bodyPr anchor="ctr" rtlCol="false" tIns="50800" lIns="50800" bIns="50800" rIns="50800"/>
            <a:lstStyle/>
            <a:p>
              <a:pPr algn="ctr">
                <a:lnSpc>
                  <a:spcPts val="3569"/>
                </a:lnSpc>
              </a:pPr>
            </a:p>
          </p:txBody>
        </p:sp>
      </p:grpSp>
      <p:sp>
        <p:nvSpPr>
          <p:cNvPr name="AutoShape 13" id="13"/>
          <p:cNvSpPr/>
          <p:nvPr/>
        </p:nvSpPr>
        <p:spPr>
          <a:xfrm flipH="true">
            <a:off x="9385675" y="2832568"/>
            <a:ext cx="7061471" cy="5086093"/>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01.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1416050"/>
          </a:xfrm>
          <a:prstGeom prst="rect">
            <a:avLst/>
          </a:prstGeom>
        </p:spPr>
        <p:txBody>
          <a:bodyPr anchor="t" rtlCol="false" tIns="0" lIns="0" bIns="0" rIns="0">
            <a:spAutoFit/>
          </a:bodyPr>
          <a:lstStyle/>
          <a:p>
            <a:pPr algn="l" marL="431801" indent="-215900" lvl="1">
              <a:lnSpc>
                <a:spcPts val="2800"/>
              </a:lnSpc>
              <a:buFont typeface="Arial"/>
              <a:buChar char="•"/>
            </a:pPr>
            <a:r>
              <a:rPr lang="en-US" b="true" sz="2000" spc="-34">
                <a:solidFill>
                  <a:srgbClr val="FF0000"/>
                </a:solidFill>
                <a:latin typeface="Raleway Bold"/>
                <a:ea typeface="Raleway Bold"/>
                <a:cs typeface="Raleway Bold"/>
                <a:sym typeface="Raleway Bold"/>
              </a:rPr>
              <a:t>Hata Analiz Raporu:</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Python yorumlayıcısı, klavyeden girilen 2008 değerini sayısal bir veri olarak değil metinsel bir karakter dizisi olarak belleğe kaydetmiştir. Matematiksel olarak tam sayı türündeki bir veriden (2026), metinsel türdeki bir verinin (2008) çıkarılması imkânsız olduğundan Python yorumlayıcısı, uyumsuz veri türleri nedeniyle TypeError üretmiş ve programın yürütülmesini durdurmuştur.</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32972" y="3798209"/>
            <a:ext cx="15826328" cy="2213364"/>
          </a:xfrm>
          <a:custGeom>
            <a:avLst/>
            <a:gdLst/>
            <a:ahLst/>
            <a:cxnLst/>
            <a:rect r="r" b="b" t="t" l="l"/>
            <a:pathLst>
              <a:path h="2213364" w="15826328">
                <a:moveTo>
                  <a:pt x="0" y="0"/>
                </a:moveTo>
                <a:lnTo>
                  <a:pt x="15826328" y="0"/>
                </a:lnTo>
                <a:lnTo>
                  <a:pt x="15826328" y="2213365"/>
                </a:lnTo>
                <a:lnTo>
                  <a:pt x="0" y="2213365"/>
                </a:lnTo>
                <a:lnTo>
                  <a:pt x="0" y="0"/>
                </a:lnTo>
                <a:close/>
              </a:path>
            </a:pathLst>
          </a:custGeom>
          <a:blipFill>
            <a:blip r:embed="rId2"/>
            <a:stretch>
              <a:fillRect l="0" t="0" r="0" b="-265561"/>
            </a:stretch>
          </a:blipFill>
        </p:spPr>
      </p:sp>
      <p:sp>
        <p:nvSpPr>
          <p:cNvPr name="TextBox 3" id="3"/>
          <p:cNvSpPr txBox="true"/>
          <p:nvPr/>
        </p:nvSpPr>
        <p:spPr>
          <a:xfrm rot="0">
            <a:off x="1028700" y="962025"/>
            <a:ext cx="16230600" cy="25711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3. Aşama:</a:t>
            </a:r>
            <a:r>
              <a:rPr lang="en-US" sz="2550" spc="-43">
                <a:solidFill>
                  <a:srgbClr val="203251"/>
                </a:solidFill>
                <a:latin typeface="Raleway"/>
                <a:ea typeface="Raleway"/>
                <a:cs typeface="Raleway"/>
                <a:sym typeface="Raleway"/>
              </a:rPr>
              <a:t> Tip Dönüşümü ile Sorunun Çözülmesi</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Hatay</a:t>
            </a:r>
            <a:r>
              <a:rPr lang="en-US" sz="2000" spc="-34">
                <a:solidFill>
                  <a:srgbClr val="203251"/>
                </a:solidFill>
                <a:latin typeface="Raleway"/>
                <a:ea typeface="Raleway"/>
                <a:cs typeface="Raleway"/>
                <a:sym typeface="Raleway"/>
              </a:rPr>
              <a:t>ı</a:t>
            </a:r>
            <a:r>
              <a:rPr lang="en-US" sz="2000" spc="-34">
                <a:solidFill>
                  <a:srgbClr val="203251"/>
                </a:solidFill>
                <a:latin typeface="Raleway"/>
                <a:ea typeface="Raleway"/>
                <a:cs typeface="Raleway"/>
                <a:sym typeface="Raleway"/>
              </a:rPr>
              <a:t> gidermek ve </a:t>
            </a:r>
            <a:r>
              <a:rPr lang="en-US" sz="2000" spc="-34">
                <a:solidFill>
                  <a:srgbClr val="203251"/>
                </a:solidFill>
                <a:latin typeface="Raleway"/>
                <a:ea typeface="Raleway"/>
                <a:cs typeface="Raleway"/>
                <a:sym typeface="Raleway"/>
              </a:rPr>
              <a:t>inp</a:t>
            </a:r>
            <a:r>
              <a:rPr lang="en-US" sz="2000" spc="-34">
                <a:solidFill>
                  <a:srgbClr val="203251"/>
                </a:solidFill>
                <a:latin typeface="Raleway"/>
                <a:ea typeface="Raleway"/>
                <a:cs typeface="Raleway"/>
                <a:sym typeface="Raleway"/>
              </a:rPr>
              <a:t>ut() fonksi</a:t>
            </a:r>
            <a:r>
              <a:rPr lang="en-US" sz="2000" spc="-34">
                <a:solidFill>
                  <a:srgbClr val="203251"/>
                </a:solidFill>
                <a:latin typeface="Raleway"/>
                <a:ea typeface="Raleway"/>
                <a:cs typeface="Raleway"/>
                <a:sym typeface="Raleway"/>
              </a:rPr>
              <a:t>yonundan</a:t>
            </a:r>
            <a:r>
              <a:rPr lang="en-US" sz="2000" spc="-34">
                <a:solidFill>
                  <a:srgbClr val="203251"/>
                </a:solidFill>
                <a:latin typeface="Raleway"/>
                <a:ea typeface="Raleway"/>
                <a:cs typeface="Raleway"/>
                <a:sym typeface="Raleway"/>
              </a:rPr>
              <a:t> g</a:t>
            </a:r>
            <a:r>
              <a:rPr lang="en-US" sz="2000" spc="-34">
                <a:solidFill>
                  <a:srgbClr val="203251"/>
                </a:solidFill>
                <a:latin typeface="Raleway"/>
                <a:ea typeface="Raleway"/>
                <a:cs typeface="Raleway"/>
                <a:sym typeface="Raleway"/>
              </a:rPr>
              <a:t>elen </a:t>
            </a:r>
            <a:r>
              <a:rPr lang="en-US" sz="2000" spc="-34">
                <a:solidFill>
                  <a:srgbClr val="203251"/>
                </a:solidFill>
                <a:latin typeface="Raleway"/>
                <a:ea typeface="Raleway"/>
                <a:cs typeface="Raleway"/>
                <a:sym typeface="Raleway"/>
              </a:rPr>
              <a:t>metinsel veri</a:t>
            </a:r>
            <a:r>
              <a:rPr lang="en-US" sz="2000" spc="-34">
                <a:solidFill>
                  <a:srgbClr val="203251"/>
                </a:solidFill>
                <a:latin typeface="Raleway"/>
                <a:ea typeface="Raleway"/>
                <a:cs typeface="Raleway"/>
                <a:sym typeface="Raleway"/>
              </a:rPr>
              <a:t>yi m</a:t>
            </a:r>
            <a:r>
              <a:rPr lang="en-US" sz="2000" spc="-34">
                <a:solidFill>
                  <a:srgbClr val="203251"/>
                </a:solidFill>
                <a:latin typeface="Raleway"/>
                <a:ea typeface="Raleway"/>
                <a:cs typeface="Raleway"/>
                <a:sym typeface="Raleway"/>
              </a:rPr>
              <a:t>atematiksel işlemlere uygun bir tam sayıya dönüştürmek amacıyla kod blokunu aşağıdaki şekilde yeniden düzenleyiniz:</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dogum_yili = int(input("Lütfen doğum yılınızı giriniz: "))</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mevcut_yil = 2026</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kullanici_yasi = mevcut_yil - dogum_yili</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print(f"Doğum Yılınız: {dogum_yili} | Hesaplanan Yaşınız: {kullanici_yasi}")</a:t>
            </a:r>
          </a:p>
        </p:txBody>
      </p:sp>
      <p:grpSp>
        <p:nvGrpSpPr>
          <p:cNvPr name="Group 4" id="4"/>
          <p:cNvGrpSpPr/>
          <p:nvPr/>
        </p:nvGrpSpPr>
        <p:grpSpPr>
          <a:xfrm rot="0">
            <a:off x="16187059" y="4125728"/>
            <a:ext cx="520175" cy="358682"/>
            <a:chOff x="0" y="0"/>
            <a:chExt cx="137001" cy="94468"/>
          </a:xfrm>
        </p:grpSpPr>
        <p:sp>
          <p:nvSpPr>
            <p:cNvPr name="Freeform 5" id="5"/>
            <p:cNvSpPr/>
            <p:nvPr/>
          </p:nvSpPr>
          <p:spPr>
            <a:xfrm flipH="false" flipV="false" rot="0">
              <a:off x="0" y="0"/>
              <a:ext cx="137001" cy="94468"/>
            </a:xfrm>
            <a:custGeom>
              <a:avLst/>
              <a:gdLst/>
              <a:ahLst/>
              <a:cxnLst/>
              <a:rect r="r" b="b" t="t" l="l"/>
              <a:pathLst>
                <a:path h="94468" w="137001">
                  <a:moveTo>
                    <a:pt x="47234" y="0"/>
                  </a:moveTo>
                  <a:lnTo>
                    <a:pt x="89767" y="0"/>
                  </a:lnTo>
                  <a:cubicBezTo>
                    <a:pt x="115853" y="0"/>
                    <a:pt x="137001" y="21147"/>
                    <a:pt x="137001" y="47234"/>
                  </a:cubicBezTo>
                  <a:lnTo>
                    <a:pt x="137001" y="47234"/>
                  </a:lnTo>
                  <a:cubicBezTo>
                    <a:pt x="137001" y="59761"/>
                    <a:pt x="132024" y="71775"/>
                    <a:pt x="123166" y="80633"/>
                  </a:cubicBezTo>
                  <a:cubicBezTo>
                    <a:pt x="114308" y="89491"/>
                    <a:pt x="102294" y="94468"/>
                    <a:pt x="89767"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6" id="6"/>
            <p:cNvSpPr txBox="true"/>
            <p:nvPr/>
          </p:nvSpPr>
          <p:spPr>
            <a:xfrm>
              <a:off x="0" y="-66675"/>
              <a:ext cx="137001" cy="161143"/>
            </a:xfrm>
            <a:prstGeom prst="rect">
              <a:avLst/>
            </a:prstGeom>
          </p:spPr>
          <p:txBody>
            <a:bodyPr anchor="ctr" rtlCol="false" tIns="50800" lIns="50800" bIns="50800" rIns="50800"/>
            <a:lstStyle/>
            <a:p>
              <a:pPr algn="ctr">
                <a:lnSpc>
                  <a:spcPts val="3569"/>
                </a:lnSpc>
              </a:pPr>
            </a:p>
          </p:txBody>
        </p:sp>
      </p:grpSp>
      <p:sp>
        <p:nvSpPr>
          <p:cNvPr name="AutoShape 7" id="7"/>
          <p:cNvSpPr/>
          <p:nvPr/>
        </p:nvSpPr>
        <p:spPr>
          <a:xfrm>
            <a:off x="16707233" y="4305069"/>
            <a:ext cx="1580767" cy="179341"/>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32972" y="1790700"/>
            <a:ext cx="15826328" cy="8062069"/>
          </a:xfrm>
          <a:custGeom>
            <a:avLst/>
            <a:gdLst/>
            <a:ahLst/>
            <a:cxnLst/>
            <a:rect r="r" b="b" t="t" l="l"/>
            <a:pathLst>
              <a:path h="8062069" w="15826328">
                <a:moveTo>
                  <a:pt x="0" y="0"/>
                </a:moveTo>
                <a:lnTo>
                  <a:pt x="15826328" y="0"/>
                </a:lnTo>
                <a:lnTo>
                  <a:pt x="15826328" y="8062069"/>
                </a:lnTo>
                <a:lnTo>
                  <a:pt x="0" y="8062069"/>
                </a:lnTo>
                <a:lnTo>
                  <a:pt x="0" y="0"/>
                </a:lnTo>
                <a:close/>
              </a:path>
            </a:pathLst>
          </a:custGeom>
          <a:blipFill>
            <a:blip r:embed="rId2"/>
            <a:stretch>
              <a:fillRect l="0" t="0" r="0" b="-361"/>
            </a:stretch>
          </a:blipFill>
        </p:spPr>
      </p:sp>
      <p:grpSp>
        <p:nvGrpSpPr>
          <p:cNvPr name="Group 3" id="3"/>
          <p:cNvGrpSpPr/>
          <p:nvPr/>
        </p:nvGrpSpPr>
        <p:grpSpPr>
          <a:xfrm rot="0">
            <a:off x="6664625" y="7988570"/>
            <a:ext cx="515394" cy="191593"/>
            <a:chOff x="0" y="0"/>
            <a:chExt cx="135742" cy="50461"/>
          </a:xfrm>
        </p:grpSpPr>
        <p:sp>
          <p:nvSpPr>
            <p:cNvPr name="Freeform 4" id="4"/>
            <p:cNvSpPr/>
            <p:nvPr/>
          </p:nvSpPr>
          <p:spPr>
            <a:xfrm flipH="false" flipV="false" rot="0">
              <a:off x="0" y="0"/>
              <a:ext cx="135742" cy="50461"/>
            </a:xfrm>
            <a:custGeom>
              <a:avLst/>
              <a:gdLst/>
              <a:ahLst/>
              <a:cxnLst/>
              <a:rect r="r" b="b" t="t" l="l"/>
              <a:pathLst>
                <a:path h="50461" w="135742">
                  <a:moveTo>
                    <a:pt x="25230" y="0"/>
                  </a:moveTo>
                  <a:lnTo>
                    <a:pt x="110511" y="0"/>
                  </a:lnTo>
                  <a:cubicBezTo>
                    <a:pt x="117203" y="0"/>
                    <a:pt x="123620" y="2658"/>
                    <a:pt x="128352" y="7390"/>
                  </a:cubicBezTo>
                  <a:cubicBezTo>
                    <a:pt x="133083" y="12121"/>
                    <a:pt x="135742" y="18539"/>
                    <a:pt x="135742" y="25230"/>
                  </a:cubicBezTo>
                  <a:lnTo>
                    <a:pt x="135742" y="25230"/>
                  </a:lnTo>
                  <a:cubicBezTo>
                    <a:pt x="135742" y="39165"/>
                    <a:pt x="124446" y="50461"/>
                    <a:pt x="110511" y="50461"/>
                  </a:cubicBezTo>
                  <a:lnTo>
                    <a:pt x="25230" y="50461"/>
                  </a:lnTo>
                  <a:cubicBezTo>
                    <a:pt x="18539" y="50461"/>
                    <a:pt x="12121" y="47802"/>
                    <a:pt x="7390" y="43071"/>
                  </a:cubicBezTo>
                  <a:cubicBezTo>
                    <a:pt x="2658" y="38339"/>
                    <a:pt x="0" y="31922"/>
                    <a:pt x="0" y="25230"/>
                  </a:cubicBezTo>
                  <a:lnTo>
                    <a:pt x="0" y="25230"/>
                  </a:lnTo>
                  <a:cubicBezTo>
                    <a:pt x="0" y="18539"/>
                    <a:pt x="2658" y="12121"/>
                    <a:pt x="7390" y="7390"/>
                  </a:cubicBezTo>
                  <a:cubicBezTo>
                    <a:pt x="12121" y="2658"/>
                    <a:pt x="18539" y="0"/>
                    <a:pt x="25230" y="0"/>
                  </a:cubicBezTo>
                  <a:close/>
                </a:path>
              </a:pathLst>
            </a:custGeom>
            <a:ln w="19050" cap="sq">
              <a:solidFill>
                <a:srgbClr val="FF000A"/>
              </a:solidFill>
              <a:prstDash val="sysDot"/>
              <a:miter/>
            </a:ln>
          </p:spPr>
        </p:sp>
        <p:sp>
          <p:nvSpPr>
            <p:cNvPr name="TextBox 5" id="5"/>
            <p:cNvSpPr txBox="true"/>
            <p:nvPr/>
          </p:nvSpPr>
          <p:spPr>
            <a:xfrm>
              <a:off x="0" y="-66675"/>
              <a:ext cx="135742" cy="117136"/>
            </a:xfrm>
            <a:prstGeom prst="rect">
              <a:avLst/>
            </a:prstGeom>
          </p:spPr>
          <p:txBody>
            <a:bodyPr anchor="ctr" rtlCol="false" tIns="50800" lIns="50800" bIns="50800" rIns="50800"/>
            <a:lstStyle/>
            <a:p>
              <a:pPr algn="ctr">
                <a:lnSpc>
                  <a:spcPts val="3569"/>
                </a:lnSpc>
              </a:pPr>
            </a:p>
          </p:txBody>
        </p:sp>
      </p:grpSp>
      <p:grpSp>
        <p:nvGrpSpPr>
          <p:cNvPr name="Group 6" id="6"/>
          <p:cNvGrpSpPr/>
          <p:nvPr/>
        </p:nvGrpSpPr>
        <p:grpSpPr>
          <a:xfrm rot="0">
            <a:off x="4324524" y="8180162"/>
            <a:ext cx="3732320" cy="188761"/>
            <a:chOff x="0" y="0"/>
            <a:chExt cx="982998" cy="49715"/>
          </a:xfrm>
        </p:grpSpPr>
        <p:sp>
          <p:nvSpPr>
            <p:cNvPr name="Freeform 7" id="7"/>
            <p:cNvSpPr/>
            <p:nvPr/>
          </p:nvSpPr>
          <p:spPr>
            <a:xfrm flipH="false" flipV="false" rot="0">
              <a:off x="0" y="0"/>
              <a:ext cx="982998" cy="49715"/>
            </a:xfrm>
            <a:custGeom>
              <a:avLst/>
              <a:gdLst/>
              <a:ahLst/>
              <a:cxnLst/>
              <a:rect r="r" b="b" t="t" l="l"/>
              <a:pathLst>
                <a:path h="49715" w="982998">
                  <a:moveTo>
                    <a:pt x="24857" y="0"/>
                  </a:moveTo>
                  <a:lnTo>
                    <a:pt x="958140" y="0"/>
                  </a:lnTo>
                  <a:cubicBezTo>
                    <a:pt x="971869" y="0"/>
                    <a:pt x="982998" y="11129"/>
                    <a:pt x="982998" y="24857"/>
                  </a:cubicBezTo>
                  <a:lnTo>
                    <a:pt x="982998" y="24857"/>
                  </a:lnTo>
                  <a:cubicBezTo>
                    <a:pt x="982998" y="31450"/>
                    <a:pt x="980379" y="37773"/>
                    <a:pt x="975717" y="42434"/>
                  </a:cubicBezTo>
                  <a:cubicBezTo>
                    <a:pt x="971056" y="47096"/>
                    <a:pt x="964733" y="49715"/>
                    <a:pt x="958140" y="49715"/>
                  </a:cubicBezTo>
                  <a:lnTo>
                    <a:pt x="24857" y="49715"/>
                  </a:lnTo>
                  <a:cubicBezTo>
                    <a:pt x="18265" y="49715"/>
                    <a:pt x="11942" y="47096"/>
                    <a:pt x="7281" y="42434"/>
                  </a:cubicBezTo>
                  <a:cubicBezTo>
                    <a:pt x="2619" y="37773"/>
                    <a:pt x="0" y="31450"/>
                    <a:pt x="0" y="24857"/>
                  </a:cubicBezTo>
                  <a:lnTo>
                    <a:pt x="0" y="24857"/>
                  </a:lnTo>
                  <a:cubicBezTo>
                    <a:pt x="0" y="18265"/>
                    <a:pt x="2619" y="11942"/>
                    <a:pt x="7281" y="7281"/>
                  </a:cubicBezTo>
                  <a:cubicBezTo>
                    <a:pt x="11942" y="2619"/>
                    <a:pt x="18265" y="0"/>
                    <a:pt x="24857" y="0"/>
                  </a:cubicBezTo>
                  <a:close/>
                </a:path>
              </a:pathLst>
            </a:custGeom>
            <a:ln w="19050" cap="sq">
              <a:solidFill>
                <a:srgbClr val="FF000A"/>
              </a:solidFill>
              <a:prstDash val="sysDot"/>
              <a:miter/>
            </a:ln>
          </p:spPr>
        </p:sp>
        <p:sp>
          <p:nvSpPr>
            <p:cNvPr name="TextBox 8" id="8"/>
            <p:cNvSpPr txBox="true"/>
            <p:nvPr/>
          </p:nvSpPr>
          <p:spPr>
            <a:xfrm>
              <a:off x="0" y="-66675"/>
              <a:ext cx="982998" cy="116390"/>
            </a:xfrm>
            <a:prstGeom prst="rect">
              <a:avLst/>
            </a:prstGeom>
          </p:spPr>
          <p:txBody>
            <a:bodyPr anchor="ctr" rtlCol="false" tIns="50800" lIns="50800" bIns="50800" rIns="50800"/>
            <a:lstStyle/>
            <a:p>
              <a:pPr algn="ctr">
                <a:lnSpc>
                  <a:spcPts val="3569"/>
                </a:lnSpc>
              </a:pPr>
            </a:p>
          </p:txBody>
        </p:sp>
      </p:grpSp>
      <p:grpSp>
        <p:nvGrpSpPr>
          <p:cNvPr name="Group 9" id="9"/>
          <p:cNvGrpSpPr/>
          <p:nvPr/>
        </p:nvGrpSpPr>
        <p:grpSpPr>
          <a:xfrm rot="0">
            <a:off x="16187059" y="2130840"/>
            <a:ext cx="520175" cy="358682"/>
            <a:chOff x="0" y="0"/>
            <a:chExt cx="137001" cy="94468"/>
          </a:xfrm>
        </p:grpSpPr>
        <p:sp>
          <p:nvSpPr>
            <p:cNvPr name="Freeform 10" id="10"/>
            <p:cNvSpPr/>
            <p:nvPr/>
          </p:nvSpPr>
          <p:spPr>
            <a:xfrm flipH="false" flipV="false" rot="0">
              <a:off x="0" y="0"/>
              <a:ext cx="137001" cy="94468"/>
            </a:xfrm>
            <a:custGeom>
              <a:avLst/>
              <a:gdLst/>
              <a:ahLst/>
              <a:cxnLst/>
              <a:rect r="r" b="b" t="t" l="l"/>
              <a:pathLst>
                <a:path h="94468" w="137001">
                  <a:moveTo>
                    <a:pt x="47234" y="0"/>
                  </a:moveTo>
                  <a:lnTo>
                    <a:pt x="89767" y="0"/>
                  </a:lnTo>
                  <a:cubicBezTo>
                    <a:pt x="115853" y="0"/>
                    <a:pt x="137001" y="21147"/>
                    <a:pt x="137001" y="47234"/>
                  </a:cubicBezTo>
                  <a:lnTo>
                    <a:pt x="137001" y="47234"/>
                  </a:lnTo>
                  <a:cubicBezTo>
                    <a:pt x="137001" y="59761"/>
                    <a:pt x="132024" y="71775"/>
                    <a:pt x="123166" y="80633"/>
                  </a:cubicBezTo>
                  <a:cubicBezTo>
                    <a:pt x="114308" y="89491"/>
                    <a:pt x="102294" y="94468"/>
                    <a:pt x="89767"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11" id="11"/>
            <p:cNvSpPr txBox="true"/>
            <p:nvPr/>
          </p:nvSpPr>
          <p:spPr>
            <a:xfrm>
              <a:off x="0" y="-66675"/>
              <a:ext cx="137001" cy="161143"/>
            </a:xfrm>
            <a:prstGeom prst="rect">
              <a:avLst/>
            </a:prstGeom>
          </p:spPr>
          <p:txBody>
            <a:bodyPr anchor="ctr" rtlCol="false" tIns="50800" lIns="50800" bIns="50800" rIns="50800"/>
            <a:lstStyle/>
            <a:p>
              <a:pPr algn="ctr">
                <a:lnSpc>
                  <a:spcPts val="3569"/>
                </a:lnSpc>
              </a:pPr>
            </a:p>
          </p:txBody>
        </p:sp>
      </p:grpSp>
      <p:sp>
        <p:nvSpPr>
          <p:cNvPr name="AutoShape 12" id="12"/>
          <p:cNvSpPr/>
          <p:nvPr/>
        </p:nvSpPr>
        <p:spPr>
          <a:xfrm flipH="true">
            <a:off x="9385675" y="2489522"/>
            <a:ext cx="7061471" cy="5086093"/>
          </a:xfrm>
          <a:prstGeom prst="line">
            <a:avLst/>
          </a:prstGeom>
          <a:ln cap="flat" w="38100">
            <a:solidFill>
              <a:srgbClr val="FF000A"/>
            </a:solidFill>
            <a:prstDash val="solid"/>
            <a:headEnd type="none" len="sm" w="sm"/>
            <a:tailEnd type="triangle" len="med" w="lg"/>
          </a:ln>
        </p:spPr>
      </p:sp>
      <p:sp>
        <p:nvSpPr>
          <p:cNvPr name="TextBox 13" id="13"/>
          <p:cNvSpPr txBox="true"/>
          <p:nvPr/>
        </p:nvSpPr>
        <p:spPr>
          <a:xfrm rot="0">
            <a:off x="1028700" y="971550"/>
            <a:ext cx="16230600" cy="711200"/>
          </a:xfrm>
          <a:prstGeom prst="rect">
            <a:avLst/>
          </a:prstGeom>
        </p:spPr>
        <p:txBody>
          <a:bodyPr anchor="t" rtlCol="false" tIns="0" lIns="0" bIns="0" rIns="0">
            <a:spAutoFit/>
          </a:bodyPr>
          <a:lstStyle/>
          <a:p>
            <a:pPr algn="l" marL="431801" indent="-215900" lvl="1">
              <a:lnSpc>
                <a:spcPts val="2800"/>
              </a:lnSpc>
              <a:buFont typeface="Arial"/>
              <a:buChar char="•"/>
            </a:pPr>
            <a:r>
              <a:rPr lang="en-US" sz="2000" spc="-34">
                <a:solidFill>
                  <a:srgbClr val="203251"/>
                </a:solidFill>
                <a:latin typeface="Raleway"/>
                <a:ea typeface="Raleway"/>
                <a:cs typeface="Raleway"/>
                <a:sym typeface="Raleway"/>
              </a:rPr>
              <a:t>Düzenlenen kodu, sağ üstteki </a:t>
            </a:r>
            <a:r>
              <a:rPr lang="en-US" b="true" sz="2000" spc="-34">
                <a:solidFill>
                  <a:srgbClr val="203251"/>
                </a:solidFill>
                <a:latin typeface="Raleway Bold"/>
                <a:ea typeface="Raleway Bold"/>
                <a:cs typeface="Raleway Bold"/>
                <a:sym typeface="Raleway Bold"/>
              </a:rPr>
              <a:t>Run Python File</a:t>
            </a:r>
            <a:r>
              <a:rPr lang="en-US" sz="2000" spc="-34">
                <a:solidFill>
                  <a:srgbClr val="203251"/>
                </a:solidFill>
                <a:latin typeface="Raleway"/>
                <a:ea typeface="Raleway"/>
                <a:cs typeface="Raleway"/>
                <a:sym typeface="Raleway"/>
              </a:rPr>
              <a:t> butonuna tıklaya</a:t>
            </a:r>
            <a:r>
              <a:rPr lang="en-US" sz="2000" spc="-34">
                <a:solidFill>
                  <a:srgbClr val="203251"/>
                </a:solidFill>
                <a:latin typeface="Raleway"/>
                <a:ea typeface="Raleway"/>
                <a:cs typeface="Raleway"/>
                <a:sym typeface="Raleway"/>
              </a:rPr>
              <a:t>rak yeniden çalıştırınız. Bu kez sistemin sorunsuz çalıştığını ve ekr</a:t>
            </a:r>
            <a:r>
              <a:rPr lang="en-US" sz="2000" spc="-34">
                <a:solidFill>
                  <a:srgbClr val="203251"/>
                </a:solidFill>
                <a:latin typeface="Raleway"/>
                <a:ea typeface="Raleway"/>
                <a:cs typeface="Raleway"/>
                <a:sym typeface="Raleway"/>
              </a:rPr>
              <a:t>ana </a:t>
            </a:r>
            <a:r>
              <a:rPr lang="en-US" sz="2000" spc="-34">
                <a:solidFill>
                  <a:srgbClr val="203251"/>
                </a:solidFill>
                <a:latin typeface="Raleway"/>
                <a:ea typeface="Raleway"/>
                <a:cs typeface="Raleway"/>
                <a:sym typeface="Raleway"/>
              </a:rPr>
              <a:t>k</a:t>
            </a:r>
            <a:r>
              <a:rPr lang="en-US" sz="2000" spc="-34">
                <a:solidFill>
                  <a:srgbClr val="203251"/>
                </a:solidFill>
                <a:latin typeface="Raleway"/>
                <a:ea typeface="Raleway"/>
                <a:cs typeface="Raleway"/>
                <a:sym typeface="Raleway"/>
              </a:rPr>
              <a:t>ar</a:t>
            </a:r>
            <a:r>
              <a:rPr lang="en-US" sz="2000" spc="-34">
                <a:solidFill>
                  <a:srgbClr val="203251"/>
                </a:solidFill>
                <a:latin typeface="Raleway"/>
                <a:ea typeface="Raleway"/>
                <a:cs typeface="Raleway"/>
                <a:sym typeface="Raleway"/>
              </a:rPr>
              <a:t>arlı bir şekilde </a:t>
            </a:r>
            <a:r>
              <a:rPr lang="en-US" b="true" sz="2000" spc="-34">
                <a:solidFill>
                  <a:srgbClr val="203251"/>
                </a:solidFill>
                <a:latin typeface="Raleway Bold"/>
                <a:ea typeface="Raleway Bold"/>
                <a:cs typeface="Raleway Bold"/>
                <a:sym typeface="Raleway Bold"/>
              </a:rPr>
              <a:t>Hesaplanan Yaşınız: 18 çıktısını yansıttığını gözlemleyiniz.</a:t>
            </a:r>
          </a:p>
        </p:txBody>
      </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186626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4. Aşama:</a:t>
            </a:r>
            <a:r>
              <a:rPr lang="en-US" sz="2550" spc="-43">
                <a:solidFill>
                  <a:srgbClr val="203251"/>
                </a:solidFill>
                <a:latin typeface="Raleway"/>
                <a:ea typeface="Raleway"/>
                <a:cs typeface="Raleway"/>
                <a:sym typeface="Raleway"/>
              </a:rPr>
              <a:t> Geliştirilen Yeni Modülün Bulut Deposuna Eklenmesi</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Yazılımcılar, projeye kararl</a:t>
            </a:r>
            <a:r>
              <a:rPr lang="en-US" sz="2000" spc="-34">
                <a:solidFill>
                  <a:srgbClr val="203251"/>
                </a:solidFill>
                <a:latin typeface="Raleway"/>
                <a:ea typeface="Raleway"/>
                <a:cs typeface="Raleway"/>
                <a:sym typeface="Raleway"/>
              </a:rPr>
              <a:t>ı</a:t>
            </a:r>
            <a:r>
              <a:rPr lang="en-US" sz="2000" spc="-34">
                <a:solidFill>
                  <a:srgbClr val="203251"/>
                </a:solidFill>
                <a:latin typeface="Raleway"/>
                <a:ea typeface="Raleway"/>
                <a:cs typeface="Raleway"/>
                <a:sym typeface="Raleway"/>
              </a:rPr>
              <a:t> bir şekilde çalışan her yen</a:t>
            </a:r>
            <a:r>
              <a:rPr lang="en-US" sz="2000" spc="-34">
                <a:solidFill>
                  <a:srgbClr val="203251"/>
                </a:solidFill>
                <a:latin typeface="Raleway"/>
                <a:ea typeface="Raleway"/>
                <a:cs typeface="Raleway"/>
                <a:sym typeface="Raleway"/>
              </a:rPr>
              <a:t>i</a:t>
            </a:r>
            <a:r>
              <a:rPr lang="en-US" sz="2000" spc="-34">
                <a:solidFill>
                  <a:srgbClr val="203251"/>
                </a:solidFill>
                <a:latin typeface="Raleway"/>
                <a:ea typeface="Raleway"/>
                <a:cs typeface="Raleway"/>
                <a:sym typeface="Raleway"/>
              </a:rPr>
              <a:t> fonksi</a:t>
            </a:r>
            <a:r>
              <a:rPr lang="en-US" sz="2000" spc="-34">
                <a:solidFill>
                  <a:srgbClr val="203251"/>
                </a:solidFill>
                <a:latin typeface="Raleway"/>
                <a:ea typeface="Raleway"/>
                <a:cs typeface="Raleway"/>
                <a:sym typeface="Raleway"/>
              </a:rPr>
              <a:t>yon veya kaynak kod dosyası</a:t>
            </a:r>
            <a:r>
              <a:rPr lang="en-US" sz="2000" spc="-34">
                <a:solidFill>
                  <a:srgbClr val="203251"/>
                </a:solidFill>
                <a:latin typeface="Raleway"/>
                <a:ea typeface="Raleway"/>
                <a:cs typeface="Raleway"/>
                <a:sym typeface="Raleway"/>
              </a:rPr>
              <a:t> ekl</a:t>
            </a:r>
            <a:r>
              <a:rPr lang="en-US" sz="2000" spc="-34">
                <a:solidFill>
                  <a:srgbClr val="203251"/>
                </a:solidFill>
                <a:latin typeface="Raleway"/>
                <a:ea typeface="Raleway"/>
                <a:cs typeface="Raleway"/>
                <a:sym typeface="Raleway"/>
              </a:rPr>
              <a:t>ediklerinde bu gü</a:t>
            </a:r>
            <a:r>
              <a:rPr lang="en-US" sz="2000" spc="-34">
                <a:solidFill>
                  <a:srgbClr val="203251"/>
                </a:solidFill>
                <a:latin typeface="Raleway"/>
                <a:ea typeface="Raleway"/>
                <a:cs typeface="Raleway"/>
                <a:sym typeface="Raleway"/>
              </a:rPr>
              <a:t>ncel durumu dij</a:t>
            </a:r>
            <a:r>
              <a:rPr lang="en-US" sz="2000" spc="-34">
                <a:solidFill>
                  <a:srgbClr val="203251"/>
                </a:solidFill>
                <a:latin typeface="Raleway"/>
                <a:ea typeface="Raleway"/>
                <a:cs typeface="Raleway"/>
                <a:sym typeface="Raleway"/>
              </a:rPr>
              <a:t>ital depoy</a:t>
            </a:r>
            <a:r>
              <a:rPr lang="en-US" sz="2000" spc="-34">
                <a:solidFill>
                  <a:srgbClr val="203251"/>
                </a:solidFill>
                <a:latin typeface="Raleway"/>
                <a:ea typeface="Raleway"/>
                <a:cs typeface="Raleway"/>
                <a:sym typeface="Raleway"/>
              </a:rPr>
              <a:t>a yansıtmakla yükümlüdürler. VS Code terminalinde başarıyla test ettiğiniz </a:t>
            </a:r>
            <a:r>
              <a:rPr lang="en-US" b="true" sz="2000" spc="-34">
                <a:solidFill>
                  <a:srgbClr val="203251"/>
                </a:solidFill>
                <a:latin typeface="Raleway Bold"/>
                <a:ea typeface="Raleway Bold"/>
                <a:cs typeface="Raleway Bold"/>
                <a:sym typeface="Raleway Bold"/>
              </a:rPr>
              <a:t>yas_hesaplayici.py</a:t>
            </a:r>
            <a:r>
              <a:rPr lang="en-US" sz="2000" spc="-34">
                <a:solidFill>
                  <a:srgbClr val="203251"/>
                </a:solidFill>
                <a:latin typeface="Raleway"/>
                <a:ea typeface="Raleway"/>
                <a:cs typeface="Raleway"/>
                <a:sym typeface="Raleway"/>
              </a:rPr>
              <a:t> kod dosyasını GitHub deposuna yüklemek için aşağıdaki basamakları takip ediniz.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İnternet tarayıcınızdan GitHub hesabınızı açınız ve daha önce oluşturduğunuz </a:t>
            </a:r>
            <a:r>
              <a:rPr lang="en-US" b="true" sz="2000" spc="-34">
                <a:solidFill>
                  <a:srgbClr val="203251"/>
                </a:solidFill>
                <a:latin typeface="Raleway Bold"/>
                <a:ea typeface="Raleway Bold"/>
                <a:cs typeface="Raleway Bold"/>
                <a:sym typeface="Raleway Bold"/>
              </a:rPr>
              <a:t>kod-asistan</a:t>
            </a:r>
            <a:r>
              <a:rPr lang="en-US" sz="2000" spc="-34">
                <a:solidFill>
                  <a:srgbClr val="203251"/>
                </a:solidFill>
                <a:latin typeface="Raleway"/>
                <a:ea typeface="Raleway"/>
                <a:cs typeface="Raleway"/>
                <a:sym typeface="Raleway"/>
              </a:rPr>
              <a:t> isimli proje deponuza giriş yapınız.</a:t>
            </a:r>
          </a:p>
        </p:txBody>
      </p:sp>
      <p:sp>
        <p:nvSpPr>
          <p:cNvPr name="Freeform 3" id="3"/>
          <p:cNvSpPr/>
          <p:nvPr/>
        </p:nvSpPr>
        <p:spPr>
          <a:xfrm flipH="false" flipV="false" rot="0">
            <a:off x="1977398" y="3000822"/>
            <a:ext cx="14333203" cy="6781397"/>
          </a:xfrm>
          <a:custGeom>
            <a:avLst/>
            <a:gdLst/>
            <a:ahLst/>
            <a:cxnLst/>
            <a:rect r="r" b="b" t="t" l="l"/>
            <a:pathLst>
              <a:path h="6781397" w="14333203">
                <a:moveTo>
                  <a:pt x="0" y="0"/>
                </a:moveTo>
                <a:lnTo>
                  <a:pt x="14333204" y="0"/>
                </a:lnTo>
                <a:lnTo>
                  <a:pt x="14333204" y="6781396"/>
                </a:lnTo>
                <a:lnTo>
                  <a:pt x="0" y="6781396"/>
                </a:lnTo>
                <a:lnTo>
                  <a:pt x="0" y="0"/>
                </a:lnTo>
                <a:close/>
              </a:path>
            </a:pathLst>
          </a:custGeom>
          <a:blipFill>
            <a:blip r:embed="rId2"/>
            <a:stretch>
              <a:fillRect l="0" t="0" r="0" b="0"/>
            </a:stretch>
          </a:blipFill>
        </p:spPr>
      </p:sp>
      <p:grpSp>
        <p:nvGrpSpPr>
          <p:cNvPr name="Group 4" id="4"/>
          <p:cNvGrpSpPr/>
          <p:nvPr/>
        </p:nvGrpSpPr>
        <p:grpSpPr>
          <a:xfrm rot="0">
            <a:off x="4354630" y="3831706"/>
            <a:ext cx="2352771" cy="358682"/>
            <a:chOff x="0" y="0"/>
            <a:chExt cx="619660" cy="94468"/>
          </a:xfrm>
        </p:grpSpPr>
        <p:sp>
          <p:nvSpPr>
            <p:cNvPr name="Freeform 5" id="5"/>
            <p:cNvSpPr/>
            <p:nvPr/>
          </p:nvSpPr>
          <p:spPr>
            <a:xfrm flipH="false" flipV="false" rot="0">
              <a:off x="0" y="0"/>
              <a:ext cx="619660" cy="94468"/>
            </a:xfrm>
            <a:custGeom>
              <a:avLst/>
              <a:gdLst/>
              <a:ahLst/>
              <a:cxnLst/>
              <a:rect r="r" b="b" t="t" l="l"/>
              <a:pathLst>
                <a:path h="94468" w="619660">
                  <a:moveTo>
                    <a:pt x="47234" y="0"/>
                  </a:moveTo>
                  <a:lnTo>
                    <a:pt x="572426" y="0"/>
                  </a:lnTo>
                  <a:cubicBezTo>
                    <a:pt x="598513" y="0"/>
                    <a:pt x="619660" y="21147"/>
                    <a:pt x="619660" y="47234"/>
                  </a:cubicBezTo>
                  <a:lnTo>
                    <a:pt x="619660" y="47234"/>
                  </a:lnTo>
                  <a:cubicBezTo>
                    <a:pt x="619660" y="59761"/>
                    <a:pt x="614684" y="71775"/>
                    <a:pt x="605825" y="80633"/>
                  </a:cubicBezTo>
                  <a:cubicBezTo>
                    <a:pt x="596967" y="89491"/>
                    <a:pt x="584953" y="94468"/>
                    <a:pt x="572426"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6" id="6"/>
            <p:cNvSpPr txBox="true"/>
            <p:nvPr/>
          </p:nvSpPr>
          <p:spPr>
            <a:xfrm>
              <a:off x="0" y="-66675"/>
              <a:ext cx="619660" cy="161143"/>
            </a:xfrm>
            <a:prstGeom prst="rect">
              <a:avLst/>
            </a:prstGeom>
          </p:spPr>
          <p:txBody>
            <a:bodyPr anchor="ctr" rtlCol="false" tIns="50800" lIns="50800" bIns="50800" rIns="50800"/>
            <a:lstStyle/>
            <a:p>
              <a:pPr algn="ctr">
                <a:lnSpc>
                  <a:spcPts val="3569"/>
                </a:lnSpc>
              </a:pPr>
            </a:p>
          </p:txBody>
        </p:sp>
      </p:gr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3699356" y="2031664"/>
            <a:ext cx="10889287" cy="6223673"/>
          </a:xfrm>
          <a:custGeom>
            <a:avLst/>
            <a:gdLst/>
            <a:ahLst/>
            <a:cxnLst/>
            <a:rect r="r" b="b" t="t" l="l"/>
            <a:pathLst>
              <a:path h="6223673" w="10889287">
                <a:moveTo>
                  <a:pt x="0" y="0"/>
                </a:moveTo>
                <a:lnTo>
                  <a:pt x="10889288" y="0"/>
                </a:lnTo>
                <a:lnTo>
                  <a:pt x="10889288" y="6223672"/>
                </a:lnTo>
                <a:lnTo>
                  <a:pt x="0" y="6223672"/>
                </a:lnTo>
                <a:lnTo>
                  <a:pt x="0" y="0"/>
                </a:lnTo>
                <a:close/>
              </a:path>
            </a:pathLst>
          </a:custGeom>
          <a:blipFill>
            <a:blip r:embed="rId2"/>
            <a:stretch>
              <a:fillRect l="0" t="0" r="0" b="0"/>
            </a:stretch>
          </a:blipFill>
        </p:spPr>
      </p:sp>
      <p:grpSp>
        <p:nvGrpSpPr>
          <p:cNvPr name="Group 3" id="3"/>
          <p:cNvGrpSpPr/>
          <p:nvPr/>
        </p:nvGrpSpPr>
        <p:grpSpPr>
          <a:xfrm rot="0">
            <a:off x="9826789" y="3400062"/>
            <a:ext cx="1596665" cy="316158"/>
            <a:chOff x="0" y="0"/>
            <a:chExt cx="420521" cy="83268"/>
          </a:xfrm>
        </p:grpSpPr>
        <p:sp>
          <p:nvSpPr>
            <p:cNvPr name="Freeform 4" id="4"/>
            <p:cNvSpPr/>
            <p:nvPr/>
          </p:nvSpPr>
          <p:spPr>
            <a:xfrm flipH="false" flipV="false" rot="0">
              <a:off x="0" y="0"/>
              <a:ext cx="420521" cy="83268"/>
            </a:xfrm>
            <a:custGeom>
              <a:avLst/>
              <a:gdLst/>
              <a:ahLst/>
              <a:cxnLst/>
              <a:rect r="r" b="b" t="t" l="l"/>
              <a:pathLst>
                <a:path h="83268" w="420521">
                  <a:moveTo>
                    <a:pt x="41634" y="0"/>
                  </a:moveTo>
                  <a:lnTo>
                    <a:pt x="378887" y="0"/>
                  </a:lnTo>
                  <a:cubicBezTo>
                    <a:pt x="401881" y="0"/>
                    <a:pt x="420521" y="18640"/>
                    <a:pt x="420521" y="41634"/>
                  </a:cubicBezTo>
                  <a:lnTo>
                    <a:pt x="420521" y="41634"/>
                  </a:lnTo>
                  <a:cubicBezTo>
                    <a:pt x="420521" y="64628"/>
                    <a:pt x="401881" y="83268"/>
                    <a:pt x="378887" y="83268"/>
                  </a:cubicBezTo>
                  <a:lnTo>
                    <a:pt x="41634" y="83268"/>
                  </a:lnTo>
                  <a:cubicBezTo>
                    <a:pt x="18640" y="83268"/>
                    <a:pt x="0" y="64628"/>
                    <a:pt x="0" y="41634"/>
                  </a:cubicBezTo>
                  <a:lnTo>
                    <a:pt x="0" y="41634"/>
                  </a:lnTo>
                  <a:cubicBezTo>
                    <a:pt x="0" y="18640"/>
                    <a:pt x="18640" y="0"/>
                    <a:pt x="41634" y="0"/>
                  </a:cubicBezTo>
                  <a:close/>
                </a:path>
              </a:pathLst>
            </a:custGeom>
            <a:ln w="38100" cap="sq">
              <a:solidFill>
                <a:srgbClr val="FF000A"/>
              </a:solidFill>
              <a:prstDash val="sysDot"/>
              <a:miter/>
            </a:ln>
          </p:spPr>
        </p:sp>
        <p:sp>
          <p:nvSpPr>
            <p:cNvPr name="TextBox 5" id="5"/>
            <p:cNvSpPr txBox="true"/>
            <p:nvPr/>
          </p:nvSpPr>
          <p:spPr>
            <a:xfrm>
              <a:off x="0" y="-66675"/>
              <a:ext cx="420521" cy="149943"/>
            </a:xfrm>
            <a:prstGeom prst="rect">
              <a:avLst/>
            </a:prstGeom>
          </p:spPr>
          <p:txBody>
            <a:bodyPr anchor="ctr" rtlCol="false" tIns="50800" lIns="50800" bIns="50800" rIns="50800"/>
            <a:lstStyle/>
            <a:p>
              <a:pPr algn="ctr">
                <a:lnSpc>
                  <a:spcPts val="3569"/>
                </a:lnSpc>
              </a:pPr>
            </a:p>
          </p:txBody>
        </p:sp>
      </p:grpSp>
      <p:grpSp>
        <p:nvGrpSpPr>
          <p:cNvPr name="Group 6" id="6"/>
          <p:cNvGrpSpPr/>
          <p:nvPr/>
        </p:nvGrpSpPr>
        <p:grpSpPr>
          <a:xfrm rot="0">
            <a:off x="9761329" y="2741020"/>
            <a:ext cx="863793" cy="339458"/>
            <a:chOff x="0" y="0"/>
            <a:chExt cx="227501" cy="89405"/>
          </a:xfrm>
        </p:grpSpPr>
        <p:sp>
          <p:nvSpPr>
            <p:cNvPr name="Freeform 7" id="7"/>
            <p:cNvSpPr/>
            <p:nvPr/>
          </p:nvSpPr>
          <p:spPr>
            <a:xfrm flipH="false" flipV="false" rot="0">
              <a:off x="0" y="0"/>
              <a:ext cx="227501" cy="89405"/>
            </a:xfrm>
            <a:custGeom>
              <a:avLst/>
              <a:gdLst/>
              <a:ahLst/>
              <a:cxnLst/>
              <a:rect r="r" b="b" t="t" l="l"/>
              <a:pathLst>
                <a:path h="89405" w="227501">
                  <a:moveTo>
                    <a:pt x="44702" y="0"/>
                  </a:moveTo>
                  <a:lnTo>
                    <a:pt x="182799" y="0"/>
                  </a:lnTo>
                  <a:cubicBezTo>
                    <a:pt x="194654" y="0"/>
                    <a:pt x="206025" y="4710"/>
                    <a:pt x="214408" y="13093"/>
                  </a:cubicBezTo>
                  <a:cubicBezTo>
                    <a:pt x="222791" y="21476"/>
                    <a:pt x="227501" y="32847"/>
                    <a:pt x="227501" y="44702"/>
                  </a:cubicBezTo>
                  <a:lnTo>
                    <a:pt x="227501" y="44702"/>
                  </a:lnTo>
                  <a:cubicBezTo>
                    <a:pt x="227501" y="69391"/>
                    <a:pt x="207487" y="89405"/>
                    <a:pt x="182799" y="89405"/>
                  </a:cubicBezTo>
                  <a:lnTo>
                    <a:pt x="44702" y="89405"/>
                  </a:lnTo>
                  <a:cubicBezTo>
                    <a:pt x="32847" y="89405"/>
                    <a:pt x="21476" y="84695"/>
                    <a:pt x="13093" y="76312"/>
                  </a:cubicBezTo>
                  <a:cubicBezTo>
                    <a:pt x="4710" y="67928"/>
                    <a:pt x="0" y="56558"/>
                    <a:pt x="0" y="44702"/>
                  </a:cubicBezTo>
                  <a:lnTo>
                    <a:pt x="0" y="44702"/>
                  </a:lnTo>
                  <a:cubicBezTo>
                    <a:pt x="0" y="32847"/>
                    <a:pt x="4710" y="21476"/>
                    <a:pt x="13093" y="13093"/>
                  </a:cubicBezTo>
                  <a:cubicBezTo>
                    <a:pt x="21476" y="4710"/>
                    <a:pt x="32847" y="0"/>
                    <a:pt x="44702" y="0"/>
                  </a:cubicBezTo>
                  <a:close/>
                </a:path>
              </a:pathLst>
            </a:custGeom>
            <a:ln w="38100" cap="sq">
              <a:solidFill>
                <a:srgbClr val="FF000A"/>
              </a:solidFill>
              <a:prstDash val="sysDot"/>
              <a:miter/>
            </a:ln>
          </p:spPr>
        </p:sp>
        <p:sp>
          <p:nvSpPr>
            <p:cNvPr name="TextBox 8" id="8"/>
            <p:cNvSpPr txBox="true"/>
            <p:nvPr/>
          </p:nvSpPr>
          <p:spPr>
            <a:xfrm>
              <a:off x="0" y="-66675"/>
              <a:ext cx="227501" cy="156080"/>
            </a:xfrm>
            <a:prstGeom prst="rect">
              <a:avLst/>
            </a:prstGeom>
          </p:spPr>
          <p:txBody>
            <a:bodyPr anchor="ctr" rtlCol="false" tIns="50800" lIns="50800" bIns="50800" rIns="50800"/>
            <a:lstStyle/>
            <a:p>
              <a:pPr algn="ctr">
                <a:lnSpc>
                  <a:spcPts val="3569"/>
                </a:lnSpc>
              </a:pPr>
            </a:p>
          </p:txBody>
        </p:sp>
      </p:grpSp>
      <p:sp>
        <p:nvSpPr>
          <p:cNvPr name="Freeform 9" id="9"/>
          <p:cNvSpPr/>
          <p:nvPr/>
        </p:nvSpPr>
        <p:spPr>
          <a:xfrm flipH="false" flipV="false" rot="0">
            <a:off x="10939463" y="3464832"/>
            <a:ext cx="329426" cy="383054"/>
          </a:xfrm>
          <a:custGeom>
            <a:avLst/>
            <a:gdLst/>
            <a:ahLst/>
            <a:cxnLst/>
            <a:rect r="r" b="b" t="t" l="l"/>
            <a:pathLst>
              <a:path h="383054" w="329426">
                <a:moveTo>
                  <a:pt x="0" y="0"/>
                </a:moveTo>
                <a:lnTo>
                  <a:pt x="329426" y="0"/>
                </a:lnTo>
                <a:lnTo>
                  <a:pt x="329426" y="383054"/>
                </a:lnTo>
                <a:lnTo>
                  <a:pt x="0" y="383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971550"/>
            <a:ext cx="16230600" cy="711200"/>
          </a:xfrm>
          <a:prstGeom prst="rect">
            <a:avLst/>
          </a:prstGeom>
        </p:spPr>
        <p:txBody>
          <a:bodyPr anchor="t" rtlCol="false" tIns="0" lIns="0" bIns="0" rIns="0">
            <a:spAutoFit/>
          </a:bodyPr>
          <a:lstStyle/>
          <a:p>
            <a:pPr algn="l" marL="863601" indent="-287867" lvl="2">
              <a:lnSpc>
                <a:spcPts val="2800"/>
              </a:lnSpc>
              <a:buFont typeface="Arial"/>
              <a:buChar char="⚬"/>
            </a:pPr>
            <a:r>
              <a:rPr lang="en-US" sz="2000" spc="-34">
                <a:solidFill>
                  <a:srgbClr val="203251"/>
                </a:solidFill>
                <a:latin typeface="Raleway"/>
                <a:ea typeface="Raleway"/>
                <a:cs typeface="Raleway"/>
                <a:sym typeface="Raleway"/>
              </a:rPr>
              <a:t>Depo arayüzünün sağ üst tarafında bulunan </a:t>
            </a:r>
            <a:r>
              <a:rPr lang="en-US" b="true" sz="2000" spc="-34">
                <a:solidFill>
                  <a:srgbClr val="203251"/>
                </a:solidFill>
                <a:latin typeface="Raleway Bold"/>
                <a:ea typeface="Raleway Bold"/>
                <a:cs typeface="Raleway Bold"/>
                <a:sym typeface="Raleway Bold"/>
              </a:rPr>
              <a:t>Add file (Dosya ekle)</a:t>
            </a:r>
            <a:r>
              <a:rPr lang="en-US" sz="2000" spc="-34">
                <a:solidFill>
                  <a:srgbClr val="203251"/>
                </a:solidFill>
                <a:latin typeface="Raleway"/>
                <a:ea typeface="Raleway"/>
                <a:cs typeface="Raleway"/>
                <a:sym typeface="Raleway"/>
              </a:rPr>
              <a:t> butonuna tıklayarak </a:t>
            </a:r>
            <a:r>
              <a:rPr lang="en-US" b="true" sz="2000" spc="-34">
                <a:solidFill>
                  <a:srgbClr val="203251"/>
                </a:solidFill>
                <a:latin typeface="Raleway Bold"/>
                <a:ea typeface="Raleway Bold"/>
                <a:cs typeface="Raleway Bold"/>
                <a:sym typeface="Raleway Bold"/>
              </a:rPr>
              <a:t>Upload files (Dosyaları yükle) </a:t>
            </a:r>
            <a:r>
              <a:rPr lang="en-US" sz="2000" spc="-34">
                <a:solidFill>
                  <a:srgbClr val="203251"/>
                </a:solidFill>
                <a:latin typeface="Raleway"/>
                <a:ea typeface="Raleway"/>
                <a:cs typeface="Raleway"/>
                <a:sym typeface="Raleway"/>
              </a:rPr>
              <a:t>seçeneğini işaretleyiniz.</a:t>
            </a:r>
          </a:p>
        </p:txBody>
      </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3918092" y="2997269"/>
            <a:ext cx="10451815" cy="6261031"/>
          </a:xfrm>
          <a:custGeom>
            <a:avLst/>
            <a:gdLst/>
            <a:ahLst/>
            <a:cxnLst/>
            <a:rect r="r" b="b" t="t" l="l"/>
            <a:pathLst>
              <a:path h="6261031" w="10451815">
                <a:moveTo>
                  <a:pt x="0" y="0"/>
                </a:moveTo>
                <a:lnTo>
                  <a:pt x="10451816" y="0"/>
                </a:lnTo>
                <a:lnTo>
                  <a:pt x="10451816" y="6261031"/>
                </a:lnTo>
                <a:lnTo>
                  <a:pt x="0" y="6261031"/>
                </a:lnTo>
                <a:lnTo>
                  <a:pt x="0" y="0"/>
                </a:lnTo>
                <a:close/>
              </a:path>
            </a:pathLst>
          </a:custGeom>
          <a:blipFill>
            <a:blip r:embed="rId2"/>
            <a:stretch>
              <a:fillRect l="0" t="0" r="0" b="0"/>
            </a:stretch>
          </a:blipFill>
        </p:spPr>
      </p:sp>
      <p:grpSp>
        <p:nvGrpSpPr>
          <p:cNvPr name="Group 3" id="3"/>
          <p:cNvGrpSpPr/>
          <p:nvPr/>
        </p:nvGrpSpPr>
        <p:grpSpPr>
          <a:xfrm rot="0">
            <a:off x="3990586" y="5811627"/>
            <a:ext cx="1596665" cy="588010"/>
            <a:chOff x="0" y="0"/>
            <a:chExt cx="420521" cy="154867"/>
          </a:xfrm>
        </p:grpSpPr>
        <p:sp>
          <p:nvSpPr>
            <p:cNvPr name="Freeform 4" id="4"/>
            <p:cNvSpPr/>
            <p:nvPr/>
          </p:nvSpPr>
          <p:spPr>
            <a:xfrm flipH="false" flipV="false" rot="0">
              <a:off x="0" y="0"/>
              <a:ext cx="420521" cy="154867"/>
            </a:xfrm>
            <a:custGeom>
              <a:avLst/>
              <a:gdLst/>
              <a:ahLst/>
              <a:cxnLst/>
              <a:rect r="r" b="b" t="t" l="l"/>
              <a:pathLst>
                <a:path h="154867" w="420521">
                  <a:moveTo>
                    <a:pt x="77433" y="0"/>
                  </a:moveTo>
                  <a:lnTo>
                    <a:pt x="343087" y="0"/>
                  </a:lnTo>
                  <a:cubicBezTo>
                    <a:pt x="363624" y="0"/>
                    <a:pt x="383319" y="8158"/>
                    <a:pt x="397841" y="22680"/>
                  </a:cubicBezTo>
                  <a:cubicBezTo>
                    <a:pt x="412363" y="37201"/>
                    <a:pt x="420521" y="56897"/>
                    <a:pt x="420521" y="77433"/>
                  </a:cubicBezTo>
                  <a:lnTo>
                    <a:pt x="420521" y="77433"/>
                  </a:lnTo>
                  <a:cubicBezTo>
                    <a:pt x="420521" y="120199"/>
                    <a:pt x="385853" y="154867"/>
                    <a:pt x="343087" y="154867"/>
                  </a:cubicBezTo>
                  <a:lnTo>
                    <a:pt x="77433" y="154867"/>
                  </a:lnTo>
                  <a:cubicBezTo>
                    <a:pt x="34668" y="154867"/>
                    <a:pt x="0" y="120199"/>
                    <a:pt x="0" y="77433"/>
                  </a:cubicBezTo>
                  <a:lnTo>
                    <a:pt x="0" y="77433"/>
                  </a:lnTo>
                  <a:cubicBezTo>
                    <a:pt x="0" y="34668"/>
                    <a:pt x="34668" y="0"/>
                    <a:pt x="77433" y="0"/>
                  </a:cubicBezTo>
                  <a:close/>
                </a:path>
              </a:pathLst>
            </a:custGeom>
            <a:ln w="38100" cap="sq">
              <a:solidFill>
                <a:srgbClr val="FF000A"/>
              </a:solidFill>
              <a:prstDash val="sysDot"/>
              <a:miter/>
            </a:ln>
          </p:spPr>
        </p:sp>
        <p:sp>
          <p:nvSpPr>
            <p:cNvPr name="TextBox 5" id="5"/>
            <p:cNvSpPr txBox="true"/>
            <p:nvPr/>
          </p:nvSpPr>
          <p:spPr>
            <a:xfrm>
              <a:off x="0" y="-66675"/>
              <a:ext cx="420521" cy="221542"/>
            </a:xfrm>
            <a:prstGeom prst="rect">
              <a:avLst/>
            </a:prstGeom>
          </p:spPr>
          <p:txBody>
            <a:bodyPr anchor="ctr" rtlCol="false" tIns="50800" lIns="50800" bIns="50800" rIns="50800"/>
            <a:lstStyle/>
            <a:p>
              <a:pPr algn="ctr">
                <a:lnSpc>
                  <a:spcPts val="3569"/>
                </a:lnSpc>
              </a:pPr>
            </a:p>
          </p:txBody>
        </p:sp>
      </p:grpSp>
      <p:sp>
        <p:nvSpPr>
          <p:cNvPr name="Freeform 6" id="6"/>
          <p:cNvSpPr/>
          <p:nvPr/>
        </p:nvSpPr>
        <p:spPr>
          <a:xfrm flipH="false" flipV="false" rot="0">
            <a:off x="5552961" y="8929613"/>
            <a:ext cx="329426" cy="383054"/>
          </a:xfrm>
          <a:custGeom>
            <a:avLst/>
            <a:gdLst/>
            <a:ahLst/>
            <a:cxnLst/>
            <a:rect r="r" b="b" t="t" l="l"/>
            <a:pathLst>
              <a:path h="383054" w="329426">
                <a:moveTo>
                  <a:pt x="0" y="0"/>
                </a:moveTo>
                <a:lnTo>
                  <a:pt x="329427" y="0"/>
                </a:lnTo>
                <a:lnTo>
                  <a:pt x="329427" y="383054"/>
                </a:lnTo>
                <a:lnTo>
                  <a:pt x="0" y="383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560319" y="8826500"/>
            <a:ext cx="1246145" cy="340360"/>
            <a:chOff x="0" y="0"/>
            <a:chExt cx="328203" cy="89642"/>
          </a:xfrm>
        </p:grpSpPr>
        <p:sp>
          <p:nvSpPr>
            <p:cNvPr name="Freeform 8" id="8"/>
            <p:cNvSpPr/>
            <p:nvPr/>
          </p:nvSpPr>
          <p:spPr>
            <a:xfrm flipH="false" flipV="false" rot="0">
              <a:off x="0" y="0"/>
              <a:ext cx="328203" cy="89642"/>
            </a:xfrm>
            <a:custGeom>
              <a:avLst/>
              <a:gdLst/>
              <a:ahLst/>
              <a:cxnLst/>
              <a:rect r="r" b="b" t="t" l="l"/>
              <a:pathLst>
                <a:path h="89642" w="328203">
                  <a:moveTo>
                    <a:pt x="44821" y="0"/>
                  </a:moveTo>
                  <a:lnTo>
                    <a:pt x="283382" y="0"/>
                  </a:lnTo>
                  <a:cubicBezTo>
                    <a:pt x="308136" y="0"/>
                    <a:pt x="328203" y="20067"/>
                    <a:pt x="328203" y="44821"/>
                  </a:cubicBezTo>
                  <a:lnTo>
                    <a:pt x="328203" y="44821"/>
                  </a:lnTo>
                  <a:cubicBezTo>
                    <a:pt x="328203" y="69575"/>
                    <a:pt x="308136" y="89642"/>
                    <a:pt x="283382" y="89642"/>
                  </a:cubicBezTo>
                  <a:lnTo>
                    <a:pt x="44821" y="89642"/>
                  </a:lnTo>
                  <a:cubicBezTo>
                    <a:pt x="20067" y="89642"/>
                    <a:pt x="0" y="69575"/>
                    <a:pt x="0" y="44821"/>
                  </a:cubicBezTo>
                  <a:lnTo>
                    <a:pt x="0" y="44821"/>
                  </a:lnTo>
                  <a:cubicBezTo>
                    <a:pt x="0" y="20067"/>
                    <a:pt x="20067" y="0"/>
                    <a:pt x="44821" y="0"/>
                  </a:cubicBezTo>
                  <a:close/>
                </a:path>
              </a:pathLst>
            </a:custGeom>
            <a:ln w="38100" cap="sq">
              <a:solidFill>
                <a:srgbClr val="FF000A"/>
              </a:solidFill>
              <a:prstDash val="sysDot"/>
              <a:miter/>
            </a:ln>
          </p:spPr>
        </p:sp>
        <p:sp>
          <p:nvSpPr>
            <p:cNvPr name="TextBox 9" id="9"/>
            <p:cNvSpPr txBox="true"/>
            <p:nvPr/>
          </p:nvSpPr>
          <p:spPr>
            <a:xfrm>
              <a:off x="0" y="-66675"/>
              <a:ext cx="328203" cy="156317"/>
            </a:xfrm>
            <a:prstGeom prst="rect">
              <a:avLst/>
            </a:prstGeom>
          </p:spPr>
          <p:txBody>
            <a:bodyPr anchor="ctr" rtlCol="false" tIns="50800" lIns="50800" bIns="50800" rIns="50800"/>
            <a:lstStyle/>
            <a:p>
              <a:pPr algn="ctr">
                <a:lnSpc>
                  <a:spcPts val="3569"/>
                </a:lnSpc>
              </a:pPr>
            </a:p>
          </p:txBody>
        </p:sp>
      </p:grpSp>
      <p:sp>
        <p:nvSpPr>
          <p:cNvPr name="Freeform 10" id="10"/>
          <p:cNvSpPr/>
          <p:nvPr/>
        </p:nvSpPr>
        <p:spPr>
          <a:xfrm flipH="false" flipV="false" rot="0">
            <a:off x="2268336" y="4059925"/>
            <a:ext cx="876270" cy="881590"/>
          </a:xfrm>
          <a:custGeom>
            <a:avLst/>
            <a:gdLst/>
            <a:ahLst/>
            <a:cxnLst/>
            <a:rect r="r" b="b" t="t" l="l"/>
            <a:pathLst>
              <a:path h="881590" w="876270">
                <a:moveTo>
                  <a:pt x="0" y="0"/>
                </a:moveTo>
                <a:lnTo>
                  <a:pt x="876271" y="0"/>
                </a:lnTo>
                <a:lnTo>
                  <a:pt x="876271" y="881591"/>
                </a:lnTo>
                <a:lnTo>
                  <a:pt x="0" y="881591"/>
                </a:lnTo>
                <a:lnTo>
                  <a:pt x="0" y="0"/>
                </a:lnTo>
                <a:close/>
              </a:path>
            </a:pathLst>
          </a:custGeom>
          <a:blipFill>
            <a:blip r:embed="rId5"/>
            <a:stretch>
              <a:fillRect l="-9231" t="-3510" r="-11790" b="-5140"/>
            </a:stretch>
          </a:blipFill>
        </p:spPr>
      </p:sp>
      <p:sp>
        <p:nvSpPr>
          <p:cNvPr name="TextBox 11" id="11"/>
          <p:cNvSpPr txBox="true"/>
          <p:nvPr/>
        </p:nvSpPr>
        <p:spPr>
          <a:xfrm rot="0">
            <a:off x="1028700" y="971550"/>
            <a:ext cx="16230600" cy="1768475"/>
          </a:xfrm>
          <a:prstGeom prst="rect">
            <a:avLst/>
          </a:prstGeom>
        </p:spPr>
        <p:txBody>
          <a:bodyPr anchor="t" rtlCol="false" tIns="0" lIns="0" bIns="0" rIns="0">
            <a:spAutoFit/>
          </a:bodyPr>
          <a:lstStyle/>
          <a:p>
            <a:pPr algn="l" marL="863601" indent="-287867" lvl="2">
              <a:lnSpc>
                <a:spcPts val="2800"/>
              </a:lnSpc>
              <a:buFont typeface="Arial"/>
              <a:buChar char="⚬"/>
            </a:pPr>
            <a:r>
              <a:rPr lang="en-US" sz="2000" spc="-34">
                <a:solidFill>
                  <a:srgbClr val="203251"/>
                </a:solidFill>
                <a:latin typeface="Raleway"/>
                <a:ea typeface="Raleway"/>
                <a:cs typeface="Raleway"/>
                <a:sym typeface="Raleway"/>
              </a:rPr>
              <a:t>Bilgisayarınızın yerel proje klasöründeki kararlı çalışan güncel </a:t>
            </a:r>
            <a:r>
              <a:rPr lang="en-US" b="true" sz="2000" spc="-34">
                <a:solidFill>
                  <a:srgbClr val="203251"/>
                </a:solidFill>
                <a:latin typeface="Raleway Bold"/>
                <a:ea typeface="Raleway Bold"/>
                <a:cs typeface="Raleway Bold"/>
                <a:sym typeface="Raleway Bold"/>
              </a:rPr>
              <a:t>yas_hesaplayici.py</a:t>
            </a:r>
            <a:r>
              <a:rPr lang="en-US" sz="2000" spc="-34">
                <a:solidFill>
                  <a:srgbClr val="203251"/>
                </a:solidFill>
                <a:latin typeface="Raleway"/>
                <a:ea typeface="Raleway"/>
                <a:cs typeface="Raleway"/>
                <a:sym typeface="Raleway"/>
              </a:rPr>
              <a:t> kaynak kod dosyasını sürükleyip yükleme alanına bırakınız.</a:t>
            </a:r>
          </a:p>
          <a:p>
            <a:pPr algn="l" marL="863601" indent="-287867" lvl="2">
              <a:lnSpc>
                <a:spcPts val="2800"/>
              </a:lnSpc>
              <a:buFont typeface="Arial"/>
              <a:buChar char="⚬"/>
            </a:pPr>
            <a:r>
              <a:rPr lang="en-US" sz="2000" spc="-34">
                <a:solidFill>
                  <a:srgbClr val="203251"/>
                </a:solidFill>
                <a:latin typeface="Raleway"/>
                <a:ea typeface="Raleway"/>
                <a:cs typeface="Raleway"/>
                <a:sym typeface="Raleway"/>
              </a:rPr>
              <a:t>Sayfa altında yer alan sürüm notu (Commit text) alanına, yapılan işi net ve sistematik bir dille açıklayan şu kurumsal notu ekleyiniz: </a:t>
            </a:r>
            <a:r>
              <a:rPr lang="en-US" b="true" sz="2000" spc="-34">
                <a:solidFill>
                  <a:srgbClr val="203251"/>
                </a:solidFill>
                <a:latin typeface="Raleway Bold"/>
                <a:ea typeface="Raleway Bold"/>
                <a:cs typeface="Raleway Bold"/>
                <a:sym typeface="Raleway Bold"/>
              </a:rPr>
              <a:t>Profil modülüne yaş hesaplama fonksiyonu entegre edildi.</a:t>
            </a:r>
          </a:p>
          <a:p>
            <a:pPr algn="l" marL="863601" indent="-287867" lvl="2">
              <a:lnSpc>
                <a:spcPts val="2800"/>
              </a:lnSpc>
              <a:buFont typeface="Arial"/>
              <a:buChar char="⚬"/>
            </a:pPr>
            <a:r>
              <a:rPr lang="en-US" b="true" sz="2000" spc="-34">
                <a:solidFill>
                  <a:srgbClr val="203251"/>
                </a:solidFill>
                <a:latin typeface="Raleway Bold"/>
                <a:ea typeface="Raleway Bold"/>
                <a:cs typeface="Raleway Bold"/>
                <a:sym typeface="Raleway Bold"/>
              </a:rPr>
              <a:t>Commit changes</a:t>
            </a:r>
            <a:r>
              <a:rPr lang="en-US" sz="2000" spc="-34">
                <a:solidFill>
                  <a:srgbClr val="203251"/>
                </a:solidFill>
                <a:latin typeface="Raleway"/>
                <a:ea typeface="Raleway"/>
                <a:cs typeface="Raleway"/>
                <a:sym typeface="Raleway"/>
              </a:rPr>
              <a:t> butonuna tıklayarak kodlarınızı dijital deponuza yükleyiniz.</a:t>
            </a:r>
          </a:p>
        </p:txBody>
      </p:sp>
      <p:sp>
        <p:nvSpPr>
          <p:cNvPr name="AutoShape 12" id="12"/>
          <p:cNvSpPr/>
          <p:nvPr/>
        </p:nvSpPr>
        <p:spPr>
          <a:xfrm flipV="true">
            <a:off x="3144607" y="4337003"/>
            <a:ext cx="1932670" cy="163718"/>
          </a:xfrm>
          <a:prstGeom prst="line">
            <a:avLst/>
          </a:prstGeom>
          <a:ln cap="flat" w="38100">
            <a:solidFill>
              <a:srgbClr val="FF2A2A"/>
            </a:solidFill>
            <a:prstDash val="solid"/>
            <a:headEnd type="none" len="sm" w="sm"/>
            <a:tailEnd type="triangle" len="med" w="lg"/>
          </a:ln>
        </p:spPr>
      </p:sp>
      <p:grpSp>
        <p:nvGrpSpPr>
          <p:cNvPr name="Group 13" id="13"/>
          <p:cNvGrpSpPr/>
          <p:nvPr/>
        </p:nvGrpSpPr>
        <p:grpSpPr>
          <a:xfrm rot="0">
            <a:off x="2241151" y="4042998"/>
            <a:ext cx="943083" cy="930234"/>
            <a:chOff x="0" y="0"/>
            <a:chExt cx="248384" cy="245000"/>
          </a:xfrm>
        </p:grpSpPr>
        <p:sp>
          <p:nvSpPr>
            <p:cNvPr name="Freeform 14" id="14"/>
            <p:cNvSpPr/>
            <p:nvPr/>
          </p:nvSpPr>
          <p:spPr>
            <a:xfrm flipH="false" flipV="false" rot="0">
              <a:off x="0" y="0"/>
              <a:ext cx="248384" cy="245000"/>
            </a:xfrm>
            <a:custGeom>
              <a:avLst/>
              <a:gdLst/>
              <a:ahLst/>
              <a:cxnLst/>
              <a:rect r="r" b="b" t="t" l="l"/>
              <a:pathLst>
                <a:path h="245000" w="248384">
                  <a:moveTo>
                    <a:pt x="122500" y="0"/>
                  </a:moveTo>
                  <a:lnTo>
                    <a:pt x="125884" y="0"/>
                  </a:lnTo>
                  <a:cubicBezTo>
                    <a:pt x="158373" y="0"/>
                    <a:pt x="189531" y="12906"/>
                    <a:pt x="212505" y="35879"/>
                  </a:cubicBezTo>
                  <a:cubicBezTo>
                    <a:pt x="235478" y="58853"/>
                    <a:pt x="248384" y="90011"/>
                    <a:pt x="248384" y="122500"/>
                  </a:cubicBezTo>
                  <a:lnTo>
                    <a:pt x="248384" y="122500"/>
                  </a:lnTo>
                  <a:cubicBezTo>
                    <a:pt x="248384" y="190155"/>
                    <a:pt x="193539" y="245000"/>
                    <a:pt x="125884" y="245000"/>
                  </a:cubicBezTo>
                  <a:lnTo>
                    <a:pt x="122500" y="245000"/>
                  </a:lnTo>
                  <a:cubicBezTo>
                    <a:pt x="54845" y="245000"/>
                    <a:pt x="0" y="190155"/>
                    <a:pt x="0" y="122500"/>
                  </a:cubicBezTo>
                  <a:lnTo>
                    <a:pt x="0" y="122500"/>
                  </a:lnTo>
                  <a:cubicBezTo>
                    <a:pt x="0" y="54845"/>
                    <a:pt x="54845" y="0"/>
                    <a:pt x="122500" y="0"/>
                  </a:cubicBezTo>
                  <a:close/>
                </a:path>
              </a:pathLst>
            </a:custGeom>
            <a:ln w="38100" cap="sq">
              <a:solidFill>
                <a:srgbClr val="FF000A"/>
              </a:solidFill>
              <a:prstDash val="sysDot"/>
              <a:miter/>
            </a:ln>
          </p:spPr>
        </p:sp>
        <p:sp>
          <p:nvSpPr>
            <p:cNvPr name="TextBox 15" id="15"/>
            <p:cNvSpPr txBox="true"/>
            <p:nvPr/>
          </p:nvSpPr>
          <p:spPr>
            <a:xfrm>
              <a:off x="0" y="-66675"/>
              <a:ext cx="248384" cy="311675"/>
            </a:xfrm>
            <a:prstGeom prst="rect">
              <a:avLst/>
            </a:prstGeom>
          </p:spPr>
          <p:txBody>
            <a:bodyPr anchor="ctr" rtlCol="false" tIns="50800" lIns="50800" bIns="50800" rIns="50800"/>
            <a:lstStyle/>
            <a:p>
              <a:pPr algn="ctr">
                <a:lnSpc>
                  <a:spcPts val="3569"/>
                </a:lnSpc>
              </a:pPr>
            </a:p>
          </p:txBody>
        </p:sp>
      </p:grpSp>
      <p:sp>
        <p:nvSpPr>
          <p:cNvPr name="AutoShape 16" id="16"/>
          <p:cNvSpPr/>
          <p:nvPr/>
        </p:nvSpPr>
        <p:spPr>
          <a:xfrm flipH="true">
            <a:off x="5264661" y="5143500"/>
            <a:ext cx="983486" cy="668127"/>
          </a:xfrm>
          <a:prstGeom prst="line">
            <a:avLst/>
          </a:prstGeom>
          <a:ln cap="flat" w="38100">
            <a:solidFill>
              <a:srgbClr val="FF2A2A"/>
            </a:solidFill>
            <a:prstDash val="solid"/>
            <a:headEnd type="none" len="sm" w="sm"/>
            <a:tailEnd type="triangle" len="med" w="lg"/>
          </a:ln>
        </p:spPr>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2547561" y="1360927"/>
            <a:ext cx="13192878" cy="7565147"/>
          </a:xfrm>
          <a:custGeom>
            <a:avLst/>
            <a:gdLst/>
            <a:ahLst/>
            <a:cxnLst/>
            <a:rect r="r" b="b" t="t" l="l"/>
            <a:pathLst>
              <a:path h="7565147" w="13192878">
                <a:moveTo>
                  <a:pt x="0" y="0"/>
                </a:moveTo>
                <a:lnTo>
                  <a:pt x="13192878" y="0"/>
                </a:lnTo>
                <a:lnTo>
                  <a:pt x="13192878" y="7565146"/>
                </a:lnTo>
                <a:lnTo>
                  <a:pt x="0" y="7565146"/>
                </a:lnTo>
                <a:lnTo>
                  <a:pt x="0" y="0"/>
                </a:lnTo>
                <a:close/>
              </a:path>
            </a:pathLst>
          </a:custGeom>
          <a:blipFill>
            <a:blip r:embed="rId2"/>
            <a:stretch>
              <a:fillRect l="0" t="0" r="0" b="0"/>
            </a:stretch>
          </a:blipFill>
        </p:spPr>
      </p:sp>
      <p:grpSp>
        <p:nvGrpSpPr>
          <p:cNvPr name="Group 3" id="3"/>
          <p:cNvGrpSpPr/>
          <p:nvPr/>
        </p:nvGrpSpPr>
        <p:grpSpPr>
          <a:xfrm rot="0">
            <a:off x="2792844" y="4564008"/>
            <a:ext cx="9173560" cy="358216"/>
            <a:chOff x="0" y="0"/>
            <a:chExt cx="2416082" cy="94345"/>
          </a:xfrm>
        </p:grpSpPr>
        <p:sp>
          <p:nvSpPr>
            <p:cNvPr name="Freeform 4" id="4"/>
            <p:cNvSpPr/>
            <p:nvPr/>
          </p:nvSpPr>
          <p:spPr>
            <a:xfrm flipH="false" flipV="false" rot="0">
              <a:off x="0" y="0"/>
              <a:ext cx="2416082" cy="94345"/>
            </a:xfrm>
            <a:custGeom>
              <a:avLst/>
              <a:gdLst/>
              <a:ahLst/>
              <a:cxnLst/>
              <a:rect r="r" b="b" t="t" l="l"/>
              <a:pathLst>
                <a:path h="94345" w="2416082">
                  <a:moveTo>
                    <a:pt x="14347" y="0"/>
                  </a:moveTo>
                  <a:lnTo>
                    <a:pt x="2401735" y="0"/>
                  </a:lnTo>
                  <a:cubicBezTo>
                    <a:pt x="2409658" y="0"/>
                    <a:pt x="2416082" y="6423"/>
                    <a:pt x="2416082" y="14347"/>
                  </a:cubicBezTo>
                  <a:lnTo>
                    <a:pt x="2416082" y="79998"/>
                  </a:lnTo>
                  <a:cubicBezTo>
                    <a:pt x="2416082" y="87922"/>
                    <a:pt x="2409658" y="94345"/>
                    <a:pt x="2401735" y="94345"/>
                  </a:cubicBezTo>
                  <a:lnTo>
                    <a:pt x="14347" y="94345"/>
                  </a:lnTo>
                  <a:cubicBezTo>
                    <a:pt x="6423" y="94345"/>
                    <a:pt x="0" y="87922"/>
                    <a:pt x="0" y="79998"/>
                  </a:cubicBezTo>
                  <a:lnTo>
                    <a:pt x="0" y="14347"/>
                  </a:lnTo>
                  <a:cubicBezTo>
                    <a:pt x="0" y="6423"/>
                    <a:pt x="6423" y="0"/>
                    <a:pt x="14347" y="0"/>
                  </a:cubicBezTo>
                  <a:close/>
                </a:path>
              </a:pathLst>
            </a:custGeom>
            <a:ln w="38100" cap="sq">
              <a:solidFill>
                <a:srgbClr val="FF000A"/>
              </a:solidFill>
              <a:prstDash val="sysDot"/>
              <a:miter/>
            </a:ln>
          </p:spPr>
        </p:sp>
        <p:sp>
          <p:nvSpPr>
            <p:cNvPr name="TextBox 5" id="5"/>
            <p:cNvSpPr txBox="true"/>
            <p:nvPr/>
          </p:nvSpPr>
          <p:spPr>
            <a:xfrm>
              <a:off x="0" y="-66675"/>
              <a:ext cx="2416082" cy="161020"/>
            </a:xfrm>
            <a:prstGeom prst="rect">
              <a:avLst/>
            </a:prstGeom>
          </p:spPr>
          <p:txBody>
            <a:bodyPr anchor="ctr" rtlCol="false" tIns="50800" lIns="50800" bIns="50800" rIns="50800"/>
            <a:lstStyle/>
            <a:p>
              <a:pPr algn="ctr">
                <a:lnSpc>
                  <a:spcPts val="3569"/>
                </a:lnSpc>
              </a:pPr>
            </a:p>
          </p:txBody>
        </p:sp>
      </p:gr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107579"/>
            <a:ext cx="3794901" cy="6071841"/>
          </a:xfrm>
          <a:custGeom>
            <a:avLst/>
            <a:gdLst/>
            <a:ahLst/>
            <a:cxnLst/>
            <a:rect r="r" b="b" t="t" l="l"/>
            <a:pathLst>
              <a:path h="6071841" w="3794901">
                <a:moveTo>
                  <a:pt x="0" y="0"/>
                </a:moveTo>
                <a:lnTo>
                  <a:pt x="3794901" y="0"/>
                </a:lnTo>
                <a:lnTo>
                  <a:pt x="3794901" y="6071842"/>
                </a:lnTo>
                <a:lnTo>
                  <a:pt x="0" y="6071842"/>
                </a:lnTo>
                <a:lnTo>
                  <a:pt x="0" y="0"/>
                </a:lnTo>
                <a:close/>
              </a:path>
            </a:pathLst>
          </a:custGeom>
          <a:blipFill>
            <a:blip r:embed="rId2"/>
            <a:stretch>
              <a:fillRect l="0" t="0" r="0" b="0"/>
            </a:stretch>
          </a:blipFill>
        </p:spPr>
      </p:sp>
      <p:sp>
        <p:nvSpPr>
          <p:cNvPr name="TextBox 3" id="3"/>
          <p:cNvSpPr txBox="true"/>
          <p:nvPr/>
        </p:nvSpPr>
        <p:spPr>
          <a:xfrm rot="0">
            <a:off x="5072827" y="3094673"/>
            <a:ext cx="12186473" cy="4030980"/>
          </a:xfrm>
          <a:prstGeom prst="rect">
            <a:avLst/>
          </a:prstGeom>
        </p:spPr>
        <p:txBody>
          <a:bodyPr anchor="t" rtlCol="false" tIns="0" lIns="0" bIns="0" rIns="0">
            <a:spAutoFit/>
          </a:bodyPr>
          <a:lstStyle/>
          <a:p>
            <a:pPr algn="l">
              <a:lnSpc>
                <a:spcPts val="3569"/>
              </a:lnSpc>
            </a:pPr>
            <a:r>
              <a:rPr lang="en-US" sz="2550" spc="-43">
                <a:solidFill>
                  <a:srgbClr val="203251"/>
                </a:solidFill>
                <a:latin typeface="Raleway"/>
                <a:ea typeface="Raleway"/>
                <a:cs typeface="Raleway"/>
                <a:sym typeface="Raleway"/>
              </a:rPr>
              <a:t>Yazılım projelerinde sadece tam sayılarla (int) çalışmak, finansal işlemler veya hassas ölçümler gerektiren durumlarda yetersiz kalır. </a:t>
            </a:r>
          </a:p>
          <a:p>
            <a:pPr algn="l">
              <a:lnSpc>
                <a:spcPts val="3569"/>
              </a:lnSpc>
            </a:pPr>
          </a:p>
          <a:p>
            <a:pPr algn="l">
              <a:lnSpc>
                <a:spcPts val="3569"/>
              </a:lnSpc>
            </a:pPr>
            <a:r>
              <a:rPr lang="en-US" sz="2550" spc="-43">
                <a:solidFill>
                  <a:srgbClr val="203251"/>
                </a:solidFill>
                <a:latin typeface="Raleway"/>
                <a:ea typeface="Raleway"/>
                <a:cs typeface="Raleway"/>
                <a:sym typeface="Raleway"/>
              </a:rPr>
              <a:t>Döviz kurları, ürün fiyatları, ağırlık gibi ondalıklı değer barındıran kullanıcı girdilerinin matematiksel hesaplamalara dâhil edilebilmesi için metinsel (str) verilerin float() fonksiyonu kullanılarak ondalıklı sayı türüne dönüştürülmesi gereklidir.</a:t>
            </a:r>
          </a:p>
          <a:p>
            <a:pPr algn="l">
              <a:lnSpc>
                <a:spcPts val="3569"/>
              </a:lnSpc>
            </a:pPr>
          </a:p>
          <a:p>
            <a:pPr algn="l">
              <a:lnSpc>
                <a:spcPts val="3569"/>
              </a:lnSpc>
            </a:pPr>
            <a:r>
              <a:rPr lang="en-US" sz="2550" spc="-43">
                <a:solidFill>
                  <a:srgbClr val="203251"/>
                </a:solidFill>
                <a:latin typeface="Raleway"/>
                <a:ea typeface="Raleway"/>
                <a:cs typeface="Raleway"/>
                <a:sym typeface="Raleway"/>
              </a:rPr>
              <a:t>Arka planda hesaplanan bu verilerin kullanıcıya sunulurken bilgilendirici metinlerle birleştirilmesi, yazılımın okunabilirliğini ve kalitesini artırır.</a:t>
            </a:r>
          </a:p>
        </p:txBody>
      </p:sp>
      <p:sp>
        <p:nvSpPr>
          <p:cNvPr name="Freeform 4" id="4"/>
          <p:cNvSpPr/>
          <p:nvPr/>
        </p:nvSpPr>
        <p:spPr>
          <a:xfrm>
            <a:off x="1028700" y="1466806"/>
            <a:ext cx="16564502" cy="7169815"/>
          </a:xfrm>
          <a:custGeom>
            <a:avLst/>
            <a:gdLst/>
            <a:ahLst/>
            <a:cxnLst/>
            <a:rect r="r" b="b" t="t" l="l"/>
            <a:pathLst>
              <a:path h="7169815" w="16564502">
                <a:moveTo>
                  <a:pt x="1767836" y="6846481"/>
                </a:moveTo>
                <a:lnTo>
                  <a:pt x="1767836" y="7008148"/>
                </a:lnTo>
                <a:cubicBezTo>
                  <a:pt x="1767836" y="7051024"/>
                  <a:pt x="1784868" y="7092145"/>
                  <a:pt x="1815187" y="7122464"/>
                </a:cubicBezTo>
                <a:cubicBezTo>
                  <a:pt x="1845505" y="7152782"/>
                  <a:pt x="1886626" y="7169815"/>
                  <a:pt x="1929503" y="7169815"/>
                </a:cubicBezTo>
                <a:lnTo>
                  <a:pt x="16335902" y="7169815"/>
                </a:lnTo>
                <a:cubicBezTo>
                  <a:pt x="16396531" y="7169815"/>
                  <a:pt x="16454676" y="7145730"/>
                  <a:pt x="16497546" y="7102859"/>
                </a:cubicBezTo>
                <a:cubicBezTo>
                  <a:pt x="16540418" y="7059989"/>
                  <a:pt x="16564502" y="7001844"/>
                  <a:pt x="16564502" y="6941215"/>
                </a:cubicBezTo>
                <a:lnTo>
                  <a:pt x="16564502" y="228600"/>
                </a:lnTo>
                <a:cubicBezTo>
                  <a:pt x="16564502" y="102348"/>
                  <a:pt x="16462155" y="0"/>
                  <a:pt x="16335902" y="0"/>
                </a:cubicBezTo>
                <a:lnTo>
                  <a:pt x="228600" y="0"/>
                </a:lnTo>
                <a:cubicBezTo>
                  <a:pt x="167972" y="0"/>
                  <a:pt x="109826" y="24084"/>
                  <a:pt x="66955" y="66955"/>
                </a:cubicBezTo>
                <a:cubicBezTo>
                  <a:pt x="24085" y="109826"/>
                  <a:pt x="0" y="167971"/>
                  <a:pt x="0" y="228600"/>
                </a:cubicBezTo>
                <a:lnTo>
                  <a:pt x="0" y="640773"/>
                </a:lnTo>
              </a:path>
            </a:pathLst>
          </a:custGeom>
          <a:ln cap="flat" w="38100">
            <a:solidFill>
              <a:srgbClr val="000000"/>
            </a:solidFill>
            <a:prstDash val="solid"/>
            <a:headEnd type="none" len="sm" w="sm"/>
            <a:tailEnd type="none" len="sm" w="sm"/>
          </a:ln>
        </p:spPr>
      </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4248571"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Bold"/>
                <a:ea typeface="Raleway Bold"/>
                <a:cs typeface="Raleway Bold"/>
                <a:sym typeface="Raleway Bold"/>
              </a:rPr>
              <a:t>UYGULAMA 6: </a:t>
            </a:r>
            <a:r>
              <a:rPr lang="en-US" sz="3000" spc="-51" b="true">
                <a:solidFill>
                  <a:srgbClr val="203251"/>
                </a:solidFill>
                <a:latin typeface="Raleway Bold"/>
                <a:ea typeface="Raleway Bold"/>
                <a:cs typeface="Raleway Bold"/>
                <a:sym typeface="Raleway Bold"/>
              </a:rPr>
              <a:t>DİNAMİK DÖVİZ VE AKILLI KUMBARA ASİSTANI</a:t>
            </a:r>
          </a:p>
        </p:txBody>
      </p:sp>
      <p:sp>
        <p:nvSpPr>
          <p:cNvPr name="TextBox 4" id="4"/>
          <p:cNvSpPr txBox="true"/>
          <p:nvPr/>
        </p:nvSpPr>
        <p:spPr>
          <a:xfrm rot="0">
            <a:off x="1028700" y="1845633"/>
            <a:ext cx="13314268" cy="313563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Problem Senaryosu:</a:t>
            </a:r>
            <a:r>
              <a:rPr lang="en-US" sz="2550" spc="-43">
                <a:solidFill>
                  <a:srgbClr val="203251"/>
                </a:solidFill>
                <a:latin typeface="Raleway"/>
                <a:ea typeface="Raleway"/>
                <a:cs typeface="Raleway"/>
                <a:sym typeface="Raleway"/>
              </a:rPr>
              <a:t> Kod-Asistan yazılımına, kullanıcıların birikimlerini takip eden akıllı bir finansal modül eklemeniz istenmektedir. Kullanıcı, her işlemde kumbarasına eklediği Türk Lirası (TL) miktarını ve o günkü güncel döviz kurunu klavyeden sisteme girecektir. Program, kullanıcıdan alınan bu verileri işleyerek kumbaraya eklenen TL tutarını ve bunun döviz karşılığını hes</a:t>
            </a:r>
            <a:r>
              <a:rPr lang="en-US" sz="2550" spc="-43">
                <a:solidFill>
                  <a:srgbClr val="203251"/>
                </a:solidFill>
                <a:latin typeface="Raleway"/>
                <a:ea typeface="Raleway"/>
                <a:cs typeface="Raleway"/>
                <a:sym typeface="Raleway"/>
              </a:rPr>
              <a:t>apl</a:t>
            </a:r>
            <a:r>
              <a:rPr lang="en-US" sz="2550" spc="-43">
                <a:solidFill>
                  <a:srgbClr val="203251"/>
                </a:solidFill>
                <a:latin typeface="Raleway"/>
                <a:ea typeface="Raleway"/>
                <a:cs typeface="Raleway"/>
                <a:sym typeface="Raleway"/>
              </a:rPr>
              <a:t>a</a:t>
            </a:r>
            <a:r>
              <a:rPr lang="en-US" sz="2550" spc="-43">
                <a:solidFill>
                  <a:srgbClr val="203251"/>
                </a:solidFill>
                <a:latin typeface="Raleway"/>
                <a:ea typeface="Raleway"/>
                <a:cs typeface="Raleway"/>
                <a:sym typeface="Raleway"/>
              </a:rPr>
              <a:t>malı; sonucu </a:t>
            </a:r>
            <a:r>
              <a:rPr lang="en-US" sz="2550" spc="-43" b="true">
                <a:solidFill>
                  <a:srgbClr val="203251"/>
                </a:solidFill>
                <a:latin typeface="Raleway Bold"/>
                <a:ea typeface="Raleway Bold"/>
                <a:cs typeface="Raleway Bold"/>
                <a:sym typeface="Raleway Bold"/>
              </a:rPr>
              <a:t>f-string </a:t>
            </a:r>
            <a:r>
              <a:rPr lang="en-US" sz="2550" spc="-43">
                <a:solidFill>
                  <a:srgbClr val="203251"/>
                </a:solidFill>
                <a:latin typeface="Raleway"/>
                <a:ea typeface="Raleway"/>
                <a:cs typeface="Raleway"/>
                <a:sym typeface="Raleway"/>
              </a:rPr>
              <a:t>kull</a:t>
            </a:r>
            <a:r>
              <a:rPr lang="en-US" sz="2550" spc="-43">
                <a:solidFill>
                  <a:srgbClr val="203251"/>
                </a:solidFill>
                <a:latin typeface="Raleway"/>
                <a:ea typeface="Raleway"/>
                <a:cs typeface="Raleway"/>
                <a:sym typeface="Raleway"/>
              </a:rPr>
              <a:t>a</a:t>
            </a:r>
            <a:r>
              <a:rPr lang="en-US" sz="2550" spc="-43">
                <a:solidFill>
                  <a:srgbClr val="203251"/>
                </a:solidFill>
                <a:latin typeface="Raleway"/>
                <a:ea typeface="Raleway"/>
                <a:cs typeface="Raleway"/>
                <a:sym typeface="Raleway"/>
              </a:rPr>
              <a:t>narak</a:t>
            </a:r>
            <a:r>
              <a:rPr lang="en-US" sz="2550" spc="-43">
                <a:solidFill>
                  <a:srgbClr val="203251"/>
                </a:solidFill>
                <a:latin typeface="Raleway"/>
                <a:ea typeface="Raleway"/>
                <a:cs typeface="Raleway"/>
                <a:sym typeface="Raleway"/>
              </a:rPr>
              <a:t> ekrana yazdırmalıdır.</a:t>
            </a:r>
            <a:r>
              <a:rPr lang="en-US" sz="2550" spc="-43">
                <a:solidFill>
                  <a:srgbClr val="203251"/>
                </a:solidFill>
                <a:latin typeface="Raleway"/>
                <a:ea typeface="Raleway"/>
                <a:cs typeface="Raleway"/>
                <a:sym typeface="Raleway"/>
              </a:rPr>
              <a:t> Kullanıcı döviz kurunu ondalıklı bir değer (örneğin 34.55) ol</a:t>
            </a:r>
            <a:r>
              <a:rPr lang="en-US" sz="2550" spc="-43">
                <a:solidFill>
                  <a:srgbClr val="203251"/>
                </a:solidFill>
                <a:latin typeface="Raleway"/>
                <a:ea typeface="Raleway"/>
                <a:cs typeface="Raleway"/>
                <a:sym typeface="Raleway"/>
              </a:rPr>
              <a:t>arak</a:t>
            </a:r>
            <a:r>
              <a:rPr lang="en-US" sz="2550" spc="-43">
                <a:solidFill>
                  <a:srgbClr val="203251"/>
                </a:solidFill>
                <a:latin typeface="Raleway"/>
                <a:ea typeface="Raleway"/>
                <a:cs typeface="Raleway"/>
                <a:sym typeface="Raleway"/>
              </a:rPr>
              <a:t> girebileceğinden, giriş verilerinin uygun veri tipine dönüştürülmesi ve hesaplamalarda doğru veri türleriyle kullanılması gerekmektedir.</a:t>
            </a:r>
          </a:p>
        </p:txBody>
      </p:sp>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747061"/>
            <a:ext cx="16230600" cy="2241852"/>
          </a:xfrm>
          <a:custGeom>
            <a:avLst/>
            <a:gdLst/>
            <a:ahLst/>
            <a:cxnLst/>
            <a:rect r="r" b="b" t="t" l="l"/>
            <a:pathLst>
              <a:path h="2241852" w="16230600">
                <a:moveTo>
                  <a:pt x="0" y="0"/>
                </a:moveTo>
                <a:lnTo>
                  <a:pt x="16230600" y="0"/>
                </a:lnTo>
                <a:lnTo>
                  <a:pt x="16230600" y="2241851"/>
                </a:lnTo>
                <a:lnTo>
                  <a:pt x="0" y="2241851"/>
                </a:lnTo>
                <a:lnTo>
                  <a:pt x="0" y="0"/>
                </a:lnTo>
                <a:close/>
              </a:path>
            </a:pathLst>
          </a:custGeom>
          <a:blipFill>
            <a:blip r:embed="rId2"/>
            <a:stretch>
              <a:fillRect l="0" t="0" r="0" b="0"/>
            </a:stretch>
          </a:blipFill>
        </p:spPr>
      </p:sp>
      <p:sp>
        <p:nvSpPr>
          <p:cNvPr name="TextBox 3" id="3"/>
          <p:cNvSpPr txBox="true"/>
          <p:nvPr/>
        </p:nvSpPr>
        <p:spPr>
          <a:xfrm rot="0">
            <a:off x="1028700" y="962025"/>
            <a:ext cx="13314268"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a:t>
            </a:r>
            <a:r>
              <a:rPr lang="en-US" sz="2550" spc="-43" b="true">
                <a:solidFill>
                  <a:srgbClr val="203251"/>
                </a:solidFill>
                <a:latin typeface="Raleway Semi-Bold"/>
                <a:ea typeface="Raleway Semi-Bold"/>
                <a:cs typeface="Raleway Semi-Bold"/>
                <a:sym typeface="Raleway Semi-Bold"/>
              </a:rPr>
              <a:t>şamaları:</a:t>
            </a:r>
          </a:p>
        </p:txBody>
      </p:sp>
      <p:sp>
        <p:nvSpPr>
          <p:cNvPr name="TextBox 4" id="4"/>
          <p:cNvSpPr txBox="true"/>
          <p:nvPr/>
        </p:nvSpPr>
        <p:spPr>
          <a:xfrm rot="0">
            <a:off x="1028700" y="1653747"/>
            <a:ext cx="16230600" cy="89725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1. Aşama: </a:t>
            </a:r>
            <a:r>
              <a:rPr lang="en-US" sz="2550" spc="-43">
                <a:solidFill>
                  <a:srgbClr val="203251"/>
                </a:solidFill>
                <a:latin typeface="Raleway"/>
                <a:ea typeface="Raleway"/>
                <a:cs typeface="Raleway"/>
                <a:sym typeface="Raleway"/>
              </a:rPr>
              <a:t>K</a:t>
            </a:r>
            <a:r>
              <a:rPr lang="en-US" sz="2550" spc="-43">
                <a:solidFill>
                  <a:srgbClr val="203251"/>
                </a:solidFill>
                <a:latin typeface="Raleway"/>
                <a:ea typeface="Raleway"/>
                <a:cs typeface="Raleway"/>
                <a:sym typeface="Raleway"/>
              </a:rPr>
              <a:t>od editörünü açınız ve </a:t>
            </a:r>
            <a:r>
              <a:rPr lang="en-US" sz="2550" spc="-43">
                <a:solidFill>
                  <a:srgbClr val="203251"/>
                </a:solidFill>
                <a:latin typeface="Raleway"/>
                <a:ea typeface="Raleway"/>
                <a:cs typeface="Raleway"/>
                <a:sym typeface="Raleway"/>
              </a:rPr>
              <a:t>kod_asistanim </a:t>
            </a:r>
            <a:r>
              <a:rPr lang="en-US" sz="2550" spc="-43">
                <a:solidFill>
                  <a:srgbClr val="203251"/>
                </a:solidFill>
                <a:latin typeface="Raleway"/>
                <a:ea typeface="Raleway"/>
                <a:cs typeface="Raleway"/>
                <a:sym typeface="Raleway"/>
              </a:rPr>
              <a:t>çalışma klasörünüzün içerisine </a:t>
            </a:r>
            <a:r>
              <a:rPr lang="en-US" sz="2550" spc="-43" b="true">
                <a:solidFill>
                  <a:srgbClr val="203251"/>
                </a:solidFill>
                <a:latin typeface="Raleway Bold"/>
                <a:ea typeface="Raleway Bold"/>
                <a:cs typeface="Raleway Bold"/>
                <a:sym typeface="Raleway Bold"/>
              </a:rPr>
              <a:t>kumbara_asistani.py</a:t>
            </a:r>
            <a:r>
              <a:rPr lang="en-US" sz="2550" spc="-43">
                <a:solidFill>
                  <a:srgbClr val="203251"/>
                </a:solidFill>
                <a:latin typeface="Raleway"/>
                <a:ea typeface="Raleway"/>
                <a:cs typeface="Raleway"/>
                <a:sym typeface="Raleway"/>
              </a:rPr>
              <a:t> adında yeni bir temiz Python kaynak kod dosyası ekleyiniz.</a:t>
            </a:r>
          </a:p>
        </p:txBody>
      </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359195" y="4286381"/>
            <a:ext cx="15900105" cy="3203607"/>
          </a:xfrm>
          <a:custGeom>
            <a:avLst/>
            <a:gdLst/>
            <a:ahLst/>
            <a:cxnLst/>
            <a:rect r="r" b="b" t="t" l="l"/>
            <a:pathLst>
              <a:path h="3203607" w="15900105">
                <a:moveTo>
                  <a:pt x="0" y="0"/>
                </a:moveTo>
                <a:lnTo>
                  <a:pt x="15900105" y="0"/>
                </a:lnTo>
                <a:lnTo>
                  <a:pt x="15900105" y="3203607"/>
                </a:lnTo>
                <a:lnTo>
                  <a:pt x="0" y="3203607"/>
                </a:lnTo>
                <a:lnTo>
                  <a:pt x="0" y="0"/>
                </a:lnTo>
                <a:close/>
              </a:path>
            </a:pathLst>
          </a:custGeom>
          <a:blipFill>
            <a:blip r:embed="rId2"/>
            <a:stretch>
              <a:fillRect l="0" t="0" r="0" b="-153743"/>
            </a:stretch>
          </a:blipFill>
        </p:spPr>
      </p:sp>
      <p:sp>
        <p:nvSpPr>
          <p:cNvPr name="TextBox 3" id="3"/>
          <p:cNvSpPr txBox="true"/>
          <p:nvPr/>
        </p:nvSpPr>
        <p:spPr>
          <a:xfrm rot="0">
            <a:off x="1028700" y="962025"/>
            <a:ext cx="16230600" cy="3135630"/>
          </a:xfrm>
          <a:prstGeom prst="rect">
            <a:avLst/>
          </a:prstGeom>
        </p:spPr>
        <p:txBody>
          <a:bodyPr anchor="t" rtlCol="false" tIns="0" lIns="0" bIns="0" rIns="0">
            <a:spAutoFit/>
          </a:bodyPr>
          <a:lstStyle/>
          <a:p>
            <a:pPr algn="l" marL="550545" indent="-275272" lvl="1">
              <a:lnSpc>
                <a:spcPts val="3569"/>
              </a:lnSpc>
              <a:buFont typeface="Arial"/>
              <a:buChar char="•"/>
            </a:pPr>
            <a:r>
              <a:rPr lang="en-US" sz="2550" spc="-43">
                <a:solidFill>
                  <a:srgbClr val="203251"/>
                </a:solidFill>
                <a:latin typeface="Raleway"/>
                <a:ea typeface="Raleway"/>
                <a:cs typeface="Raleway"/>
                <a:sym typeface="Raleway"/>
              </a:rPr>
              <a:t>Kullanıcıdan kumbaraya atılan TL miktarını ve bunun güncel Döviz kurunu </a:t>
            </a:r>
            <a:r>
              <a:rPr lang="en-US" b="true" sz="2550" spc="-43">
                <a:solidFill>
                  <a:srgbClr val="203251"/>
                </a:solidFill>
                <a:latin typeface="Raleway Bold"/>
                <a:ea typeface="Raleway Bold"/>
                <a:cs typeface="Raleway Bold"/>
                <a:sym typeface="Raleway Bold"/>
              </a:rPr>
              <a:t>input()</a:t>
            </a:r>
            <a:r>
              <a:rPr lang="en-US" sz="2550" spc="-43">
                <a:solidFill>
                  <a:srgbClr val="203251"/>
                </a:solidFill>
                <a:latin typeface="Raleway"/>
                <a:ea typeface="Raleway"/>
                <a:cs typeface="Raleway"/>
                <a:sym typeface="Raleway"/>
              </a:rPr>
              <a:t> fonksiyonu ile dinamik olarak talep ediniz.</a:t>
            </a:r>
          </a:p>
          <a:p>
            <a:pPr algn="l" marL="550545" indent="-275272" lvl="1">
              <a:lnSpc>
                <a:spcPts val="3569"/>
              </a:lnSpc>
              <a:buFont typeface="Arial"/>
              <a:buChar char="•"/>
            </a:pPr>
            <a:r>
              <a:rPr lang="en-US" sz="2550" spc="-43">
                <a:solidFill>
                  <a:srgbClr val="203251"/>
                </a:solidFill>
                <a:latin typeface="Raleway"/>
                <a:ea typeface="Raleway"/>
                <a:cs typeface="Raleway"/>
                <a:sym typeface="Raleway"/>
              </a:rPr>
              <a:t>Alınan verilerin varsayılan olarak metinsel (str) olduğunu unutmayınız, matematiksel bölme işlemine dâhil edebilmek için kur ve TL verilerini </a:t>
            </a:r>
            <a:r>
              <a:rPr lang="en-US" b="true" sz="2550" spc="-43">
                <a:solidFill>
                  <a:srgbClr val="203251"/>
                </a:solidFill>
                <a:latin typeface="Raleway Bold"/>
                <a:ea typeface="Raleway Bold"/>
                <a:cs typeface="Raleway Bold"/>
                <a:sym typeface="Raleway Bold"/>
              </a:rPr>
              <a:t>uygun</a:t>
            </a:r>
            <a:r>
              <a:rPr lang="en-US" sz="2550" spc="-43">
                <a:solidFill>
                  <a:srgbClr val="203251"/>
                </a:solidFill>
                <a:latin typeface="Raleway"/>
                <a:ea typeface="Raleway"/>
                <a:cs typeface="Raleway"/>
                <a:sym typeface="Raleway"/>
              </a:rPr>
              <a:t> </a:t>
            </a:r>
            <a:r>
              <a:rPr lang="en-US" b="true" sz="2550" spc="-43">
                <a:solidFill>
                  <a:srgbClr val="203251"/>
                </a:solidFill>
                <a:latin typeface="Raleway Bold"/>
                <a:ea typeface="Raleway Bold"/>
                <a:cs typeface="Raleway Bold"/>
                <a:sym typeface="Raleway Bold"/>
              </a:rPr>
              <a:t>sayısal veri türlerine (float) dönüştürünüz.</a:t>
            </a:r>
          </a:p>
          <a:p>
            <a:pPr algn="l" marL="550545" indent="-275272" lvl="1">
              <a:lnSpc>
                <a:spcPts val="3569"/>
              </a:lnSpc>
              <a:buFont typeface="Arial"/>
              <a:buChar char="•"/>
            </a:pPr>
            <a:r>
              <a:rPr lang="en-US" sz="2550" spc="-43">
                <a:solidFill>
                  <a:srgbClr val="203251"/>
                </a:solidFill>
                <a:latin typeface="Raleway"/>
                <a:ea typeface="Raleway"/>
                <a:cs typeface="Raleway"/>
                <a:sym typeface="Raleway"/>
              </a:rPr>
              <a:t>Döviz karşılığını hesaplayan matematiksel formülü kurunuz ve oluşan sonucu f-string mimarisiyle ekrana yazdırınız.</a:t>
            </a:r>
          </a:p>
          <a:p>
            <a:pPr algn="l" marL="550545" indent="-275272" lvl="1">
              <a:lnSpc>
                <a:spcPts val="3569"/>
              </a:lnSpc>
              <a:buFont typeface="Arial"/>
              <a:buChar char="•"/>
            </a:pPr>
            <a:r>
              <a:rPr lang="en-US" sz="2550" spc="-43">
                <a:solidFill>
                  <a:srgbClr val="203251"/>
                </a:solidFill>
                <a:latin typeface="Raleway"/>
                <a:ea typeface="Raleway"/>
                <a:cs typeface="Raleway"/>
                <a:sym typeface="Raleway"/>
              </a:rPr>
              <a:t>Değişken isimlerinizde snake_case notasyonunu kusursuzca uygulayınız.</a:t>
            </a:r>
          </a:p>
        </p:txBody>
      </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359195" y="1028700"/>
            <a:ext cx="15900105" cy="8096959"/>
          </a:xfrm>
          <a:custGeom>
            <a:avLst/>
            <a:gdLst/>
            <a:ahLst/>
            <a:cxnLst/>
            <a:rect r="r" b="b" t="t" l="l"/>
            <a:pathLst>
              <a:path h="8096959" w="15900105">
                <a:moveTo>
                  <a:pt x="0" y="0"/>
                </a:moveTo>
                <a:lnTo>
                  <a:pt x="15900105" y="0"/>
                </a:lnTo>
                <a:lnTo>
                  <a:pt x="15900105" y="8096959"/>
                </a:lnTo>
                <a:lnTo>
                  <a:pt x="0" y="8096959"/>
                </a:lnTo>
                <a:lnTo>
                  <a:pt x="0" y="0"/>
                </a:lnTo>
                <a:close/>
              </a:path>
            </a:pathLst>
          </a:custGeom>
          <a:blipFill>
            <a:blip r:embed="rId2"/>
            <a:stretch>
              <a:fillRect l="0" t="0" r="0" b="-394"/>
            </a:stretch>
          </a:blipFill>
        </p:spPr>
      </p:sp>
      <p:grpSp>
        <p:nvGrpSpPr>
          <p:cNvPr name="Group 3" id="3"/>
          <p:cNvGrpSpPr/>
          <p:nvPr/>
        </p:nvGrpSpPr>
        <p:grpSpPr>
          <a:xfrm rot="0">
            <a:off x="7205645" y="7264670"/>
            <a:ext cx="515394" cy="191593"/>
            <a:chOff x="0" y="0"/>
            <a:chExt cx="135742" cy="50461"/>
          </a:xfrm>
        </p:grpSpPr>
        <p:sp>
          <p:nvSpPr>
            <p:cNvPr name="Freeform 4" id="4"/>
            <p:cNvSpPr/>
            <p:nvPr/>
          </p:nvSpPr>
          <p:spPr>
            <a:xfrm flipH="false" flipV="false" rot="0">
              <a:off x="0" y="0"/>
              <a:ext cx="135742" cy="50461"/>
            </a:xfrm>
            <a:custGeom>
              <a:avLst/>
              <a:gdLst/>
              <a:ahLst/>
              <a:cxnLst/>
              <a:rect r="r" b="b" t="t" l="l"/>
              <a:pathLst>
                <a:path h="50461" w="135742">
                  <a:moveTo>
                    <a:pt x="25230" y="0"/>
                  </a:moveTo>
                  <a:lnTo>
                    <a:pt x="110511" y="0"/>
                  </a:lnTo>
                  <a:cubicBezTo>
                    <a:pt x="117203" y="0"/>
                    <a:pt x="123620" y="2658"/>
                    <a:pt x="128352" y="7390"/>
                  </a:cubicBezTo>
                  <a:cubicBezTo>
                    <a:pt x="133083" y="12121"/>
                    <a:pt x="135742" y="18539"/>
                    <a:pt x="135742" y="25230"/>
                  </a:cubicBezTo>
                  <a:lnTo>
                    <a:pt x="135742" y="25230"/>
                  </a:lnTo>
                  <a:cubicBezTo>
                    <a:pt x="135742" y="39165"/>
                    <a:pt x="124446" y="50461"/>
                    <a:pt x="110511" y="50461"/>
                  </a:cubicBezTo>
                  <a:lnTo>
                    <a:pt x="25230" y="50461"/>
                  </a:lnTo>
                  <a:cubicBezTo>
                    <a:pt x="18539" y="50461"/>
                    <a:pt x="12121" y="47802"/>
                    <a:pt x="7390" y="43071"/>
                  </a:cubicBezTo>
                  <a:cubicBezTo>
                    <a:pt x="2658" y="38339"/>
                    <a:pt x="0" y="31922"/>
                    <a:pt x="0" y="25230"/>
                  </a:cubicBezTo>
                  <a:lnTo>
                    <a:pt x="0" y="25230"/>
                  </a:lnTo>
                  <a:cubicBezTo>
                    <a:pt x="0" y="18539"/>
                    <a:pt x="2658" y="12121"/>
                    <a:pt x="7390" y="7390"/>
                  </a:cubicBezTo>
                  <a:cubicBezTo>
                    <a:pt x="12121" y="2658"/>
                    <a:pt x="18539" y="0"/>
                    <a:pt x="25230" y="0"/>
                  </a:cubicBezTo>
                  <a:close/>
                </a:path>
              </a:pathLst>
            </a:custGeom>
            <a:ln w="19050" cap="sq">
              <a:solidFill>
                <a:srgbClr val="FF000A"/>
              </a:solidFill>
              <a:prstDash val="sysDot"/>
              <a:miter/>
            </a:ln>
          </p:spPr>
        </p:sp>
        <p:sp>
          <p:nvSpPr>
            <p:cNvPr name="TextBox 5" id="5"/>
            <p:cNvSpPr txBox="true"/>
            <p:nvPr/>
          </p:nvSpPr>
          <p:spPr>
            <a:xfrm>
              <a:off x="0" y="-66675"/>
              <a:ext cx="135742" cy="117136"/>
            </a:xfrm>
            <a:prstGeom prst="rect">
              <a:avLst/>
            </a:prstGeom>
          </p:spPr>
          <p:txBody>
            <a:bodyPr anchor="ctr" rtlCol="false" tIns="50800" lIns="50800" bIns="50800" rIns="50800"/>
            <a:lstStyle/>
            <a:p>
              <a:pPr algn="ctr">
                <a:lnSpc>
                  <a:spcPts val="3569"/>
                </a:lnSpc>
              </a:pPr>
            </a:p>
          </p:txBody>
        </p:sp>
      </p:grpSp>
      <p:grpSp>
        <p:nvGrpSpPr>
          <p:cNvPr name="Group 6" id="6"/>
          <p:cNvGrpSpPr/>
          <p:nvPr/>
        </p:nvGrpSpPr>
        <p:grpSpPr>
          <a:xfrm rot="0">
            <a:off x="16187059" y="1384080"/>
            <a:ext cx="520175" cy="358682"/>
            <a:chOff x="0" y="0"/>
            <a:chExt cx="137001" cy="94468"/>
          </a:xfrm>
        </p:grpSpPr>
        <p:sp>
          <p:nvSpPr>
            <p:cNvPr name="Freeform 7" id="7"/>
            <p:cNvSpPr/>
            <p:nvPr/>
          </p:nvSpPr>
          <p:spPr>
            <a:xfrm flipH="false" flipV="false" rot="0">
              <a:off x="0" y="0"/>
              <a:ext cx="137001" cy="94468"/>
            </a:xfrm>
            <a:custGeom>
              <a:avLst/>
              <a:gdLst/>
              <a:ahLst/>
              <a:cxnLst/>
              <a:rect r="r" b="b" t="t" l="l"/>
              <a:pathLst>
                <a:path h="94468" w="137001">
                  <a:moveTo>
                    <a:pt x="47234" y="0"/>
                  </a:moveTo>
                  <a:lnTo>
                    <a:pt x="89767" y="0"/>
                  </a:lnTo>
                  <a:cubicBezTo>
                    <a:pt x="115853" y="0"/>
                    <a:pt x="137001" y="21147"/>
                    <a:pt x="137001" y="47234"/>
                  </a:cubicBezTo>
                  <a:lnTo>
                    <a:pt x="137001" y="47234"/>
                  </a:lnTo>
                  <a:cubicBezTo>
                    <a:pt x="137001" y="59761"/>
                    <a:pt x="132024" y="71775"/>
                    <a:pt x="123166" y="80633"/>
                  </a:cubicBezTo>
                  <a:cubicBezTo>
                    <a:pt x="114308" y="89491"/>
                    <a:pt x="102294" y="94468"/>
                    <a:pt x="89767"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8" id="8"/>
            <p:cNvSpPr txBox="true"/>
            <p:nvPr/>
          </p:nvSpPr>
          <p:spPr>
            <a:xfrm>
              <a:off x="0" y="-66675"/>
              <a:ext cx="137001" cy="161143"/>
            </a:xfrm>
            <a:prstGeom prst="rect">
              <a:avLst/>
            </a:prstGeom>
          </p:spPr>
          <p:txBody>
            <a:bodyPr anchor="ctr" rtlCol="false" tIns="50800" lIns="50800" bIns="50800" rIns="50800"/>
            <a:lstStyle/>
            <a:p>
              <a:pPr algn="ctr">
                <a:lnSpc>
                  <a:spcPts val="3569"/>
                </a:lnSpc>
              </a:pPr>
            </a:p>
          </p:txBody>
        </p:sp>
      </p:grpSp>
      <p:sp>
        <p:nvSpPr>
          <p:cNvPr name="AutoShape 9" id="9"/>
          <p:cNvSpPr/>
          <p:nvPr/>
        </p:nvSpPr>
        <p:spPr>
          <a:xfrm flipH="true">
            <a:off x="9385675" y="1742762"/>
            <a:ext cx="7061471" cy="5086093"/>
          </a:xfrm>
          <a:prstGeom prst="line">
            <a:avLst/>
          </a:prstGeom>
          <a:ln cap="flat" w="38100">
            <a:solidFill>
              <a:srgbClr val="FF000A"/>
            </a:solidFill>
            <a:prstDash val="solid"/>
            <a:headEnd type="none" len="sm" w="sm"/>
            <a:tailEnd type="triangle" len="med" w="lg"/>
          </a:ln>
        </p:spPr>
      </p:sp>
      <p:grpSp>
        <p:nvGrpSpPr>
          <p:cNvPr name="Group 10" id="10"/>
          <p:cNvGrpSpPr/>
          <p:nvPr/>
        </p:nvGrpSpPr>
        <p:grpSpPr>
          <a:xfrm rot="0">
            <a:off x="6481745" y="7446737"/>
            <a:ext cx="515394" cy="191593"/>
            <a:chOff x="0" y="0"/>
            <a:chExt cx="135742" cy="50461"/>
          </a:xfrm>
        </p:grpSpPr>
        <p:sp>
          <p:nvSpPr>
            <p:cNvPr name="Freeform 11" id="11"/>
            <p:cNvSpPr/>
            <p:nvPr/>
          </p:nvSpPr>
          <p:spPr>
            <a:xfrm flipH="false" flipV="false" rot="0">
              <a:off x="0" y="0"/>
              <a:ext cx="135742" cy="50461"/>
            </a:xfrm>
            <a:custGeom>
              <a:avLst/>
              <a:gdLst/>
              <a:ahLst/>
              <a:cxnLst/>
              <a:rect r="r" b="b" t="t" l="l"/>
              <a:pathLst>
                <a:path h="50461" w="135742">
                  <a:moveTo>
                    <a:pt x="25230" y="0"/>
                  </a:moveTo>
                  <a:lnTo>
                    <a:pt x="110511" y="0"/>
                  </a:lnTo>
                  <a:cubicBezTo>
                    <a:pt x="117203" y="0"/>
                    <a:pt x="123620" y="2658"/>
                    <a:pt x="128352" y="7390"/>
                  </a:cubicBezTo>
                  <a:cubicBezTo>
                    <a:pt x="133083" y="12121"/>
                    <a:pt x="135742" y="18539"/>
                    <a:pt x="135742" y="25230"/>
                  </a:cubicBezTo>
                  <a:lnTo>
                    <a:pt x="135742" y="25230"/>
                  </a:lnTo>
                  <a:cubicBezTo>
                    <a:pt x="135742" y="39165"/>
                    <a:pt x="124446" y="50461"/>
                    <a:pt x="110511" y="50461"/>
                  </a:cubicBezTo>
                  <a:lnTo>
                    <a:pt x="25230" y="50461"/>
                  </a:lnTo>
                  <a:cubicBezTo>
                    <a:pt x="18539" y="50461"/>
                    <a:pt x="12121" y="47802"/>
                    <a:pt x="7390" y="43071"/>
                  </a:cubicBezTo>
                  <a:cubicBezTo>
                    <a:pt x="2658" y="38339"/>
                    <a:pt x="0" y="31922"/>
                    <a:pt x="0" y="25230"/>
                  </a:cubicBezTo>
                  <a:lnTo>
                    <a:pt x="0" y="25230"/>
                  </a:lnTo>
                  <a:cubicBezTo>
                    <a:pt x="0" y="18539"/>
                    <a:pt x="2658" y="12121"/>
                    <a:pt x="7390" y="7390"/>
                  </a:cubicBezTo>
                  <a:cubicBezTo>
                    <a:pt x="12121" y="2658"/>
                    <a:pt x="18539" y="0"/>
                    <a:pt x="25230" y="0"/>
                  </a:cubicBezTo>
                  <a:close/>
                </a:path>
              </a:pathLst>
            </a:custGeom>
            <a:ln w="19050" cap="sq">
              <a:solidFill>
                <a:srgbClr val="FF000A"/>
              </a:solidFill>
              <a:prstDash val="sysDot"/>
              <a:miter/>
            </a:ln>
          </p:spPr>
        </p:sp>
        <p:sp>
          <p:nvSpPr>
            <p:cNvPr name="TextBox 12" id="12"/>
            <p:cNvSpPr txBox="true"/>
            <p:nvPr/>
          </p:nvSpPr>
          <p:spPr>
            <a:xfrm>
              <a:off x="0" y="-66675"/>
              <a:ext cx="135742" cy="117136"/>
            </a:xfrm>
            <a:prstGeom prst="rect">
              <a:avLst/>
            </a:prstGeom>
          </p:spPr>
          <p:txBody>
            <a:bodyPr anchor="ctr" rtlCol="false" tIns="50800" lIns="50800" bIns="50800" rIns="50800"/>
            <a:lstStyle/>
            <a:p>
              <a:pPr algn="ctr">
                <a:lnSpc>
                  <a:spcPts val="3569"/>
                </a:lnSpc>
              </a:pPr>
            </a:p>
          </p:txBody>
        </p:sp>
      </p:grpSp>
      <p:grpSp>
        <p:nvGrpSpPr>
          <p:cNvPr name="Group 13" id="13"/>
          <p:cNvGrpSpPr/>
          <p:nvPr/>
        </p:nvGrpSpPr>
        <p:grpSpPr>
          <a:xfrm rot="0">
            <a:off x="4317665" y="7638330"/>
            <a:ext cx="4826335" cy="191593"/>
            <a:chOff x="0" y="0"/>
            <a:chExt cx="1271134" cy="50461"/>
          </a:xfrm>
        </p:grpSpPr>
        <p:sp>
          <p:nvSpPr>
            <p:cNvPr name="Freeform 14" id="14"/>
            <p:cNvSpPr/>
            <p:nvPr/>
          </p:nvSpPr>
          <p:spPr>
            <a:xfrm flipH="false" flipV="false" rot="0">
              <a:off x="0" y="0"/>
              <a:ext cx="1271134" cy="50461"/>
            </a:xfrm>
            <a:custGeom>
              <a:avLst/>
              <a:gdLst/>
              <a:ahLst/>
              <a:cxnLst/>
              <a:rect r="r" b="b" t="t" l="l"/>
              <a:pathLst>
                <a:path h="50461" w="1271134">
                  <a:moveTo>
                    <a:pt x="25230" y="0"/>
                  </a:moveTo>
                  <a:lnTo>
                    <a:pt x="1245903" y="0"/>
                  </a:lnTo>
                  <a:cubicBezTo>
                    <a:pt x="1252595" y="0"/>
                    <a:pt x="1259012" y="2658"/>
                    <a:pt x="1263744" y="7390"/>
                  </a:cubicBezTo>
                  <a:cubicBezTo>
                    <a:pt x="1268475" y="12121"/>
                    <a:pt x="1271134" y="18539"/>
                    <a:pt x="1271134" y="25230"/>
                  </a:cubicBezTo>
                  <a:lnTo>
                    <a:pt x="1271134" y="25230"/>
                  </a:lnTo>
                  <a:cubicBezTo>
                    <a:pt x="1271134" y="39165"/>
                    <a:pt x="1259838" y="50461"/>
                    <a:pt x="1245903" y="50461"/>
                  </a:cubicBezTo>
                  <a:lnTo>
                    <a:pt x="25230" y="50461"/>
                  </a:lnTo>
                  <a:cubicBezTo>
                    <a:pt x="18539" y="50461"/>
                    <a:pt x="12121" y="47802"/>
                    <a:pt x="7390" y="43071"/>
                  </a:cubicBezTo>
                  <a:cubicBezTo>
                    <a:pt x="2658" y="38339"/>
                    <a:pt x="0" y="31922"/>
                    <a:pt x="0" y="25230"/>
                  </a:cubicBezTo>
                  <a:lnTo>
                    <a:pt x="0" y="25230"/>
                  </a:lnTo>
                  <a:cubicBezTo>
                    <a:pt x="0" y="18539"/>
                    <a:pt x="2658" y="12121"/>
                    <a:pt x="7390" y="7390"/>
                  </a:cubicBezTo>
                  <a:cubicBezTo>
                    <a:pt x="12121" y="2658"/>
                    <a:pt x="18539" y="0"/>
                    <a:pt x="25230" y="0"/>
                  </a:cubicBezTo>
                  <a:close/>
                </a:path>
              </a:pathLst>
            </a:custGeom>
            <a:ln w="19050" cap="sq">
              <a:solidFill>
                <a:srgbClr val="FF000A"/>
              </a:solidFill>
              <a:prstDash val="sysDot"/>
              <a:miter/>
            </a:ln>
          </p:spPr>
        </p:sp>
        <p:sp>
          <p:nvSpPr>
            <p:cNvPr name="TextBox 15" id="15"/>
            <p:cNvSpPr txBox="true"/>
            <p:nvPr/>
          </p:nvSpPr>
          <p:spPr>
            <a:xfrm>
              <a:off x="0" y="-66675"/>
              <a:ext cx="1271134" cy="117136"/>
            </a:xfrm>
            <a:prstGeom prst="rect">
              <a:avLst/>
            </a:prstGeom>
          </p:spPr>
          <p:txBody>
            <a:bodyPr anchor="ctr" rtlCol="false" tIns="50800" lIns="50800" bIns="50800" rIns="50800"/>
            <a:lstStyle/>
            <a:p>
              <a:pPr algn="ctr">
                <a:lnSpc>
                  <a:spcPts val="3569"/>
                </a:lnSpc>
              </a:pPr>
            </a:p>
          </p:txBody>
        </p:sp>
      </p:gr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2507847" y="2096378"/>
            <a:ext cx="13272307" cy="7888761"/>
          </a:xfrm>
          <a:custGeom>
            <a:avLst/>
            <a:gdLst/>
            <a:ahLst/>
            <a:cxnLst/>
            <a:rect r="r" b="b" t="t" l="l"/>
            <a:pathLst>
              <a:path h="7888761" w="13272307">
                <a:moveTo>
                  <a:pt x="0" y="0"/>
                </a:moveTo>
                <a:lnTo>
                  <a:pt x="13272306" y="0"/>
                </a:lnTo>
                <a:lnTo>
                  <a:pt x="13272306" y="7888761"/>
                </a:lnTo>
                <a:lnTo>
                  <a:pt x="0" y="7888761"/>
                </a:lnTo>
                <a:lnTo>
                  <a:pt x="0" y="0"/>
                </a:lnTo>
                <a:close/>
              </a:path>
            </a:pathLst>
          </a:custGeom>
          <a:blipFill>
            <a:blip r:embed="rId2"/>
            <a:stretch>
              <a:fillRect l="0" t="0" r="0" b="0"/>
            </a:stretch>
          </a:blipFill>
        </p:spPr>
      </p:sp>
      <p:sp>
        <p:nvSpPr>
          <p:cNvPr name="TextBox 3" id="3"/>
          <p:cNvSpPr txBox="true"/>
          <p:nvPr/>
        </p:nvSpPr>
        <p:spPr>
          <a:xfrm rot="0">
            <a:off x="1028700" y="962025"/>
            <a:ext cx="16230600" cy="897255"/>
          </a:xfrm>
          <a:prstGeom prst="rect">
            <a:avLst/>
          </a:prstGeom>
        </p:spPr>
        <p:txBody>
          <a:bodyPr anchor="t" rtlCol="false" tIns="0" lIns="0" bIns="0" rIns="0">
            <a:spAutoFit/>
          </a:bodyPr>
          <a:lstStyle/>
          <a:p>
            <a:pPr algn="l" marL="550545" indent="-275272" lvl="1">
              <a:lnSpc>
                <a:spcPts val="3569"/>
              </a:lnSpc>
              <a:buFont typeface="Arial"/>
              <a:buChar char="•"/>
            </a:pPr>
            <a:r>
              <a:rPr lang="en-US" sz="2550" spc="-43">
                <a:solidFill>
                  <a:srgbClr val="203251"/>
                </a:solidFill>
                <a:latin typeface="Raleway"/>
                <a:ea typeface="Raleway"/>
                <a:cs typeface="Raleway"/>
                <a:sym typeface="Raleway"/>
              </a:rPr>
              <a:t>Kodunuzu kod editörü terminalinde test ettikten sonra dijital deponuza giderek "</a:t>
            </a:r>
            <a:r>
              <a:rPr lang="en-US" b="true" sz="2550" spc="-43">
                <a:solidFill>
                  <a:srgbClr val="203251"/>
                </a:solidFill>
                <a:latin typeface="Raleway Bold"/>
                <a:ea typeface="Raleway Bold"/>
                <a:cs typeface="Raleway Bold"/>
                <a:sym typeface="Raleway Bold"/>
              </a:rPr>
              <a:t>Dinamik kumbara asistanı modülü tip dönüşümleriyle kararlı şekilde kodlandı.</a:t>
            </a:r>
            <a:r>
              <a:rPr lang="en-US" sz="2550" spc="-43">
                <a:solidFill>
                  <a:srgbClr val="203251"/>
                </a:solidFill>
                <a:latin typeface="Raleway"/>
                <a:ea typeface="Raleway"/>
                <a:cs typeface="Raleway"/>
                <a:sym typeface="Raleway"/>
              </a:rPr>
              <a:t>" sürüm notuyla (commit) dijital depoya yükleyiniz</a:t>
            </a:r>
          </a:p>
        </p:txBody>
      </p:sp>
      <p:grpSp>
        <p:nvGrpSpPr>
          <p:cNvPr name="Group 4" id="4"/>
          <p:cNvGrpSpPr/>
          <p:nvPr/>
        </p:nvGrpSpPr>
        <p:grpSpPr>
          <a:xfrm rot="0">
            <a:off x="2702929" y="5446904"/>
            <a:ext cx="9529573" cy="371008"/>
            <a:chOff x="0" y="0"/>
            <a:chExt cx="2509846" cy="97714"/>
          </a:xfrm>
        </p:grpSpPr>
        <p:sp>
          <p:nvSpPr>
            <p:cNvPr name="Freeform 5" id="5"/>
            <p:cNvSpPr/>
            <p:nvPr/>
          </p:nvSpPr>
          <p:spPr>
            <a:xfrm flipH="false" flipV="false" rot="0">
              <a:off x="0" y="0"/>
              <a:ext cx="2509846" cy="97714"/>
            </a:xfrm>
            <a:custGeom>
              <a:avLst/>
              <a:gdLst/>
              <a:ahLst/>
              <a:cxnLst/>
              <a:rect r="r" b="b" t="t" l="l"/>
              <a:pathLst>
                <a:path h="97714" w="2509846">
                  <a:moveTo>
                    <a:pt x="13811" y="0"/>
                  </a:moveTo>
                  <a:lnTo>
                    <a:pt x="2496035" y="0"/>
                  </a:lnTo>
                  <a:cubicBezTo>
                    <a:pt x="2503663" y="0"/>
                    <a:pt x="2509846" y="6183"/>
                    <a:pt x="2509846" y="13811"/>
                  </a:cubicBezTo>
                  <a:lnTo>
                    <a:pt x="2509846" y="83903"/>
                  </a:lnTo>
                  <a:cubicBezTo>
                    <a:pt x="2509846" y="91531"/>
                    <a:pt x="2503663" y="97714"/>
                    <a:pt x="2496035" y="97714"/>
                  </a:cubicBezTo>
                  <a:lnTo>
                    <a:pt x="13811" y="97714"/>
                  </a:lnTo>
                  <a:cubicBezTo>
                    <a:pt x="6183" y="97714"/>
                    <a:pt x="0" y="91531"/>
                    <a:pt x="0" y="83903"/>
                  </a:cubicBezTo>
                  <a:lnTo>
                    <a:pt x="0" y="13811"/>
                  </a:lnTo>
                  <a:cubicBezTo>
                    <a:pt x="0" y="6183"/>
                    <a:pt x="6183" y="0"/>
                    <a:pt x="13811" y="0"/>
                  </a:cubicBezTo>
                  <a:close/>
                </a:path>
              </a:pathLst>
            </a:custGeom>
            <a:ln w="19050" cap="sq">
              <a:solidFill>
                <a:srgbClr val="FF000A"/>
              </a:solidFill>
              <a:prstDash val="sysDot"/>
              <a:miter/>
            </a:ln>
          </p:spPr>
        </p:sp>
        <p:sp>
          <p:nvSpPr>
            <p:cNvPr name="TextBox 6" id="6"/>
            <p:cNvSpPr txBox="true"/>
            <p:nvPr/>
          </p:nvSpPr>
          <p:spPr>
            <a:xfrm>
              <a:off x="0" y="-66675"/>
              <a:ext cx="2509846" cy="164389"/>
            </a:xfrm>
            <a:prstGeom prst="rect">
              <a:avLst/>
            </a:prstGeom>
          </p:spPr>
          <p:txBody>
            <a:bodyPr anchor="ctr" rtlCol="false" tIns="50800" lIns="50800" bIns="50800" rIns="50800"/>
            <a:lstStyle/>
            <a:p>
              <a:pPr algn="ctr">
                <a:lnSpc>
                  <a:spcPts val="3569"/>
                </a:lnSpc>
              </a:pPr>
            </a:p>
          </p:txBody>
        </p:sp>
      </p:grpSp>
    </p:spTree>
  </p:cSld>
  <p:clrMapOvr>
    <a:masterClrMapping/>
  </p:clrMapOvr>
</p:sld>
</file>

<file path=ppt/slides/slide11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2.2.2. Temel Tür Dönüşüm Fonksiyonları ve Sınır Durum Analizi</a:t>
            </a:r>
          </a:p>
        </p:txBody>
      </p:sp>
      <p:sp>
        <p:nvSpPr>
          <p:cNvPr name="TextBox 3" id="3"/>
          <p:cNvSpPr txBox="true"/>
          <p:nvPr/>
        </p:nvSpPr>
        <p:spPr>
          <a:xfrm rot="0">
            <a:off x="1028700" y="1752600"/>
            <a:ext cx="16230600" cy="26225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Yazılım geliştirme süreçlerinde dinamik veri girişi sağlayan</a:t>
            </a:r>
            <a:r>
              <a:rPr lang="en-US" sz="2499" spc="-117" b="true">
                <a:solidFill>
                  <a:srgbClr val="424242"/>
                </a:solidFill>
                <a:latin typeface="Raleway Bold"/>
                <a:ea typeface="Raleway Bold"/>
                <a:cs typeface="Raleway Bold"/>
                <a:sym typeface="Raleway Bold"/>
              </a:rPr>
              <a:t> input() </a:t>
            </a:r>
            <a:r>
              <a:rPr lang="en-US" sz="2499" spc="-117">
                <a:solidFill>
                  <a:srgbClr val="424242"/>
                </a:solidFill>
                <a:latin typeface="Raleway"/>
                <a:ea typeface="Raleway"/>
                <a:cs typeface="Raleway"/>
                <a:sym typeface="Raleway"/>
              </a:rPr>
              <a:t>fonksiyonunun girdileri, her zaman metinsel veri türünde belleğe kaydedilir. Girdilerin sayısal algoritmalara dâhil edilebilmesi için kullanılan</a:t>
            </a:r>
            <a:r>
              <a:rPr lang="en-US" sz="2499" spc="-117">
                <a:solidFill>
                  <a:srgbClr val="424242"/>
                </a:solidFill>
                <a:latin typeface="Raleway"/>
                <a:ea typeface="Raleway"/>
                <a:cs typeface="Raleway"/>
                <a:sym typeface="Raleway"/>
              </a:rPr>
              <a:t> </a:t>
            </a:r>
            <a:r>
              <a:rPr lang="en-US" sz="2499" spc="-117" b="true">
                <a:solidFill>
                  <a:srgbClr val="424242"/>
                </a:solidFill>
                <a:latin typeface="Raleway Bold"/>
                <a:ea typeface="Raleway Bold"/>
                <a:cs typeface="Raleway Bold"/>
                <a:sym typeface="Raleway Bold"/>
              </a:rPr>
              <a:t>int() </a:t>
            </a:r>
            <a:r>
              <a:rPr lang="en-US" sz="2499" spc="-117">
                <a:solidFill>
                  <a:srgbClr val="424242"/>
                </a:solidFill>
                <a:latin typeface="Raleway"/>
                <a:ea typeface="Raleway"/>
                <a:cs typeface="Raleway"/>
                <a:sym typeface="Raleway"/>
              </a:rPr>
              <a:t>fonksiyonu gibi Python dilinde her temel veri türünün kendi adıyla anılan, yerleşik bir t</a:t>
            </a:r>
            <a:r>
              <a:rPr lang="en-US" sz="2499" spc="-117">
                <a:solidFill>
                  <a:srgbClr val="424242"/>
                </a:solidFill>
                <a:latin typeface="Raleway"/>
                <a:ea typeface="Raleway"/>
                <a:cs typeface="Raleway"/>
                <a:sym typeface="Raleway"/>
              </a:rPr>
              <a:t>ip </a:t>
            </a:r>
            <a:r>
              <a:rPr lang="en-US" sz="2499" spc="-117">
                <a:solidFill>
                  <a:srgbClr val="424242"/>
                </a:solidFill>
                <a:latin typeface="Raleway"/>
                <a:ea typeface="Raleway"/>
                <a:cs typeface="Raleway"/>
                <a:sym typeface="Raleway"/>
              </a:rPr>
              <a:t>dönüşüm f</a:t>
            </a:r>
            <a:r>
              <a:rPr lang="en-US" sz="2499" spc="-117">
                <a:solidFill>
                  <a:srgbClr val="424242"/>
                </a:solidFill>
                <a:latin typeface="Raleway"/>
                <a:ea typeface="Raleway"/>
                <a:cs typeface="Raleway"/>
                <a:sym typeface="Raleway"/>
              </a:rPr>
              <a:t>onksiyonu</a:t>
            </a:r>
            <a:r>
              <a:rPr lang="en-US" sz="2499" spc="-117">
                <a:solidFill>
                  <a:srgbClr val="424242"/>
                </a:solidFill>
                <a:latin typeface="Raleway"/>
                <a:ea typeface="Raleway"/>
                <a:cs typeface="Raleway"/>
                <a:sym typeface="Raleway"/>
              </a:rPr>
              <a:t> bulu</a:t>
            </a:r>
            <a:r>
              <a:rPr lang="en-US" sz="2499" spc="-117">
                <a:solidFill>
                  <a:srgbClr val="424242"/>
                </a:solidFill>
                <a:latin typeface="Raleway"/>
                <a:ea typeface="Raleway"/>
                <a:cs typeface="Raleway"/>
                <a:sym typeface="Raleway"/>
              </a:rPr>
              <a:t>nu</a:t>
            </a:r>
            <a:r>
              <a:rPr lang="en-US" sz="2499" spc="-117">
                <a:solidFill>
                  <a:srgbClr val="424242"/>
                </a:solidFill>
                <a:latin typeface="Raleway"/>
                <a:ea typeface="Raleway"/>
                <a:cs typeface="Raleway"/>
                <a:sym typeface="Raleway"/>
              </a:rPr>
              <a:t>r. Verileri</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bir türden diğerine dönüştürülmesi; bilgisayar belleğindeki orijin</a:t>
            </a:r>
            <a:r>
              <a:rPr lang="en-US" sz="2499" spc="-117">
                <a:solidFill>
                  <a:srgbClr val="424242"/>
                </a:solidFill>
                <a:latin typeface="Raleway"/>
                <a:ea typeface="Raleway"/>
                <a:cs typeface="Raleway"/>
                <a:sym typeface="Raleway"/>
              </a:rPr>
              <a:t>al</a:t>
            </a:r>
            <a:r>
              <a:rPr lang="en-US" sz="2499" spc="-117">
                <a:solidFill>
                  <a:srgbClr val="424242"/>
                </a:solidFill>
                <a:latin typeface="Raleway"/>
                <a:ea typeface="Raleway"/>
                <a:cs typeface="Raleway"/>
                <a:sym typeface="Raleway"/>
              </a:rPr>
              <a:t> verinin deği</a:t>
            </a:r>
            <a:r>
              <a:rPr lang="en-US" sz="2499" spc="-117">
                <a:solidFill>
                  <a:srgbClr val="424242"/>
                </a:solidFill>
                <a:latin typeface="Raleway"/>
                <a:ea typeface="Raleway"/>
                <a:cs typeface="Raleway"/>
                <a:sym typeface="Raleway"/>
              </a:rPr>
              <a:t>ş</a:t>
            </a:r>
            <a:r>
              <a:rPr lang="en-US" sz="2499" spc="-117">
                <a:solidFill>
                  <a:srgbClr val="424242"/>
                </a:solidFill>
                <a:latin typeface="Raleway"/>
                <a:ea typeface="Raleway"/>
                <a:cs typeface="Raleway"/>
                <a:sym typeface="Raleway"/>
              </a:rPr>
              <a:t>tiril</a:t>
            </a:r>
            <a:r>
              <a:rPr lang="en-US" sz="2499" spc="-117">
                <a:solidFill>
                  <a:srgbClr val="424242"/>
                </a:solidFill>
                <a:latin typeface="Raleway"/>
                <a:ea typeface="Raleway"/>
                <a:cs typeface="Raleway"/>
                <a:sym typeface="Raleway"/>
              </a:rPr>
              <a:t>m</a:t>
            </a:r>
            <a:r>
              <a:rPr lang="en-US" sz="2499" spc="-117">
                <a:solidFill>
                  <a:srgbClr val="424242"/>
                </a:solidFill>
                <a:latin typeface="Raleway"/>
                <a:ea typeface="Raleway"/>
                <a:cs typeface="Raleway"/>
                <a:sym typeface="Raleway"/>
              </a:rPr>
              <a:t>esi değil, o veriden istenen yeni türde t</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mamen</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yeni bir değer (nesne) üretilmesi ve veri üzerinde yürütülebilecek m</a:t>
            </a:r>
            <a:r>
              <a:rPr lang="en-US" sz="2499" spc="-117">
                <a:solidFill>
                  <a:srgbClr val="424242"/>
                </a:solidFill>
                <a:latin typeface="Raleway"/>
                <a:ea typeface="Raleway"/>
                <a:cs typeface="Raleway"/>
                <a:sym typeface="Raleway"/>
              </a:rPr>
              <a:t>antı</a:t>
            </a:r>
            <a:r>
              <a:rPr lang="en-US" sz="2499" spc="-117">
                <a:solidFill>
                  <a:srgbClr val="424242"/>
                </a:solidFill>
                <a:latin typeface="Raleway"/>
                <a:ea typeface="Raleway"/>
                <a:cs typeface="Raleway"/>
                <a:sym typeface="Raleway"/>
              </a:rPr>
              <a:t>ksal veya aritmetik işlem yeteneklerinin yeniden tan</a:t>
            </a:r>
            <a:r>
              <a:rPr lang="en-US" sz="2499" spc="-117">
                <a:solidFill>
                  <a:srgbClr val="424242"/>
                </a:solidFill>
                <a:latin typeface="Raleway"/>
                <a:ea typeface="Raleway"/>
                <a:cs typeface="Raleway"/>
                <a:sym typeface="Raleway"/>
              </a:rPr>
              <a:t>ı</a:t>
            </a:r>
            <a:r>
              <a:rPr lang="en-US" sz="2499" spc="-117">
                <a:solidFill>
                  <a:srgbClr val="424242"/>
                </a:solidFill>
                <a:latin typeface="Raleway"/>
                <a:ea typeface="Raleway"/>
                <a:cs typeface="Raleway"/>
                <a:sym typeface="Raleway"/>
              </a:rPr>
              <a:t>mlanması anlamına gelir.</a:t>
            </a:r>
          </a:p>
        </p:txBody>
      </p:sp>
    </p:spTree>
  </p:cSld>
  <p:clrMapOvr>
    <a:masterClrMapping/>
  </p:clrMapOvr>
</p:sld>
</file>

<file path=ppt/slides/slide11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Temel Tür Dönüşüm Fonksiyonları:</a:t>
            </a:r>
          </a:p>
        </p:txBody>
      </p:sp>
      <p:graphicFrame>
        <p:nvGraphicFramePr>
          <p:cNvPr name="Table 3" id="3"/>
          <p:cNvGraphicFramePr>
            <a:graphicFrameLocks noGrp="true"/>
          </p:cNvGraphicFramePr>
          <p:nvPr/>
        </p:nvGraphicFramePr>
        <p:xfrm>
          <a:off x="1028700" y="1663299"/>
          <a:ext cx="16230600" cy="5429250"/>
        </p:xfrm>
        <a:graphic>
          <a:graphicData uri="http://schemas.openxmlformats.org/drawingml/2006/table">
            <a:tbl>
              <a:tblPr/>
              <a:tblGrid>
                <a:gridCol w="2020713"/>
                <a:gridCol w="10083109"/>
                <a:gridCol w="2347048"/>
                <a:gridCol w="1779730"/>
              </a:tblGrid>
              <a:tr h="667922">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Fonksiyon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Görevi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Çıktı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4F5"/>
                    </a:solidFill>
                  </a:tcPr>
                </a:tc>
              </a:tr>
              <a:tr h="92554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Kendisine parametre olarak verilen tam sayıları veya sayısal içerikli metinleri tam sayı türüne dönüştürür.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int("18")</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18</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4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float()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Kendisine parametre olarak verilen tam sayıları veya sayısal içerikli metinleri ondalıklı sayı türüne dönüştürür.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float(89)</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89.0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859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str()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Sayısal veya mantıksal değerleri, metinsel karakter dizilerine dönüştürür. Bu dönüşümden sonra veriler üzerinde matematiksel hesaplamalar yapılamaz hâle gelir.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str(100)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63163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Verilen değerlerin mantıksal birer doğruluk değeri (True / False) üretmesini sağlar. Python bellek mimarisinde sıfır (0 ve 0.0), "" (boş metin), boş koleksiyonlar, None gibi değerler False kabul edilirken, bunların dışındaki çoğu değer True olarak anlamlandırılır.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731847" y="6216835"/>
            <a:ext cx="4953953" cy="520454"/>
          </a:xfrm>
          <a:custGeom>
            <a:avLst/>
            <a:gdLst/>
            <a:ahLst/>
            <a:cxnLst/>
            <a:rect r="r" b="b" t="t" l="l"/>
            <a:pathLst>
              <a:path h="520454" w="4953953">
                <a:moveTo>
                  <a:pt x="0" y="0"/>
                </a:moveTo>
                <a:lnTo>
                  <a:pt x="4953953" y="0"/>
                </a:lnTo>
                <a:lnTo>
                  <a:pt x="4953953" y="520454"/>
                </a:lnTo>
                <a:lnTo>
                  <a:pt x="0" y="520454"/>
                </a:lnTo>
                <a:lnTo>
                  <a:pt x="0" y="0"/>
                </a:lnTo>
                <a:close/>
              </a:path>
            </a:pathLst>
          </a:custGeom>
          <a:blipFill>
            <a:blip r:embed="rId2"/>
            <a:stretch>
              <a:fillRect l="0" t="0" r="0" b="0"/>
            </a:stretch>
          </a:blipFill>
        </p:spPr>
      </p:sp>
      <p:sp>
        <p:nvSpPr>
          <p:cNvPr name="Freeform 3" id="3"/>
          <p:cNvSpPr/>
          <p:nvPr/>
        </p:nvSpPr>
        <p:spPr>
          <a:xfrm flipH="false" flipV="false" rot="0">
            <a:off x="6301575" y="5665841"/>
            <a:ext cx="11762709" cy="1622443"/>
          </a:xfrm>
          <a:custGeom>
            <a:avLst/>
            <a:gdLst/>
            <a:ahLst/>
            <a:cxnLst/>
            <a:rect r="r" b="b" t="t" l="l"/>
            <a:pathLst>
              <a:path h="1622443" w="11762709">
                <a:moveTo>
                  <a:pt x="0" y="0"/>
                </a:moveTo>
                <a:lnTo>
                  <a:pt x="11762709" y="0"/>
                </a:lnTo>
                <a:lnTo>
                  <a:pt x="11762709" y="1622442"/>
                </a:lnTo>
                <a:lnTo>
                  <a:pt x="0" y="1622442"/>
                </a:lnTo>
                <a:lnTo>
                  <a:pt x="0" y="0"/>
                </a:lnTo>
                <a:close/>
              </a:path>
            </a:pathLst>
          </a:custGeom>
          <a:blipFill>
            <a:blip r:embed="rId3"/>
            <a:stretch>
              <a:fillRect l="0" t="0" r="0" b="0"/>
            </a:stretch>
          </a:blipFill>
        </p:spPr>
      </p:sp>
      <p:sp>
        <p:nvSpPr>
          <p:cNvPr name="TextBox 4" id="4"/>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b="true" sz="2499" spc="-117">
                <a:solidFill>
                  <a:srgbClr val="000000"/>
                </a:solidFill>
                <a:latin typeface="Raleway Bold"/>
                <a:ea typeface="Raleway Bold"/>
                <a:cs typeface="Raleway Bold"/>
                <a:sym typeface="Raleway Bold"/>
              </a:rPr>
              <a:t>Sınır Durumlar ve Hata Dinamikleri:</a:t>
            </a:r>
          </a:p>
        </p:txBody>
      </p:sp>
      <p:sp>
        <p:nvSpPr>
          <p:cNvPr name="TextBox 5" id="5"/>
          <p:cNvSpPr txBox="true"/>
          <p:nvPr/>
        </p:nvSpPr>
        <p:spPr>
          <a:xfrm rot="0">
            <a:off x="1028700" y="1752600"/>
            <a:ext cx="16230600" cy="8699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Yazılımcını</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kontrolü dışında dönüştürülmesi teknik olarak imkânsız olan</a:t>
            </a:r>
            <a:r>
              <a:rPr lang="en-US" sz="2499" spc="-117">
                <a:solidFill>
                  <a:srgbClr val="424242"/>
                </a:solidFill>
                <a:latin typeface="Raleway"/>
                <a:ea typeface="Raleway"/>
                <a:cs typeface="Raleway"/>
                <a:sym typeface="Raleway"/>
              </a:rPr>
              <a:t> veri</a:t>
            </a:r>
            <a:r>
              <a:rPr lang="en-US" sz="2499" spc="-117">
                <a:solidFill>
                  <a:srgbClr val="424242"/>
                </a:solidFill>
                <a:latin typeface="Raleway"/>
                <a:ea typeface="Raleway"/>
                <a:cs typeface="Raleway"/>
                <a:sym typeface="Raleway"/>
              </a:rPr>
              <a:t>ler</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fonksiyonlara parametre olarak gönderildiğinde dönüşüm hatası o</a:t>
            </a:r>
            <a:r>
              <a:rPr lang="en-US" sz="2499" spc="-117">
                <a:solidFill>
                  <a:srgbClr val="424242"/>
                </a:solidFill>
                <a:latin typeface="Raleway"/>
                <a:ea typeface="Raleway"/>
                <a:cs typeface="Raleway"/>
                <a:sym typeface="Raleway"/>
              </a:rPr>
              <a:t>luşu</a:t>
            </a:r>
            <a:r>
              <a:rPr lang="en-US" sz="2499" spc="-117">
                <a:solidFill>
                  <a:srgbClr val="424242"/>
                </a:solidFill>
                <a:latin typeface="Raleway"/>
                <a:ea typeface="Raleway"/>
                <a:cs typeface="Raleway"/>
                <a:sym typeface="Raleway"/>
              </a:rPr>
              <a:t>r ve bu h</a:t>
            </a:r>
            <a:r>
              <a:rPr lang="en-US" sz="2499" spc="-117">
                <a:solidFill>
                  <a:srgbClr val="424242"/>
                </a:solidFill>
                <a:latin typeface="Raleway"/>
                <a:ea typeface="Raleway"/>
                <a:cs typeface="Raleway"/>
                <a:sym typeface="Raleway"/>
              </a:rPr>
              <a:t>at</a:t>
            </a:r>
            <a:r>
              <a:rPr lang="en-US" sz="2499" spc="-117">
                <a:solidFill>
                  <a:srgbClr val="424242"/>
                </a:solidFill>
                <a:latin typeface="Raleway"/>
                <a:ea typeface="Raleway"/>
                <a:cs typeface="Raleway"/>
                <a:sym typeface="Raleway"/>
              </a:rPr>
              <a:t>a yakalanmazsa program durur.</a:t>
            </a:r>
          </a:p>
        </p:txBody>
      </p:sp>
      <p:sp>
        <p:nvSpPr>
          <p:cNvPr name="TextBox 6" id="6"/>
          <p:cNvSpPr txBox="true"/>
          <p:nvPr/>
        </p:nvSpPr>
        <p:spPr>
          <a:xfrm rot="0">
            <a:off x="1028700" y="2974975"/>
            <a:ext cx="16230600" cy="174625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Sınır Durumu 1: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Metinden Sayıya Dönüşüm Sınırı: </a:t>
            </a:r>
            <a:r>
              <a:rPr lang="en-US" sz="2499" spc="-117">
                <a:solidFill>
                  <a:srgbClr val="424242"/>
                </a:solidFill>
                <a:latin typeface="Raleway"/>
                <a:ea typeface="Raleway"/>
                <a:cs typeface="Raleway"/>
                <a:sym typeface="Raleway"/>
              </a:rPr>
              <a:t>İçerisinde alfabetik karakter veya özel sembol barındıran bir metin, int() veya float() fonksiyonu ile sayıya dönüştürülemez.</a:t>
            </a:r>
          </a:p>
          <a:p>
            <a:pPr algn="l" marL="1079499" indent="-359833" lvl="2">
              <a:lnSpc>
                <a:spcPts val="3499"/>
              </a:lnSpc>
              <a:buFont typeface="Arial"/>
              <a:buChar char="⚬"/>
            </a:pPr>
            <a:r>
              <a:rPr lang="en-US" b="true" sz="2499" spc="-117">
                <a:solidFill>
                  <a:srgbClr val="424242"/>
                </a:solidFill>
                <a:latin typeface="Raleway Bold"/>
                <a:ea typeface="Raleway Bold"/>
                <a:cs typeface="Raleway Bold"/>
                <a:sym typeface="Raleway Bold"/>
              </a:rPr>
              <a:t>Örnek: </a:t>
            </a:r>
            <a:r>
              <a:rPr lang="en-US" sz="2499" spc="-117">
                <a:solidFill>
                  <a:srgbClr val="424242"/>
                </a:solidFill>
                <a:latin typeface="Raleway"/>
                <a:ea typeface="Raleway"/>
                <a:cs typeface="Raleway"/>
                <a:sym typeface="Raleway"/>
              </a:rPr>
              <a:t>int("Kod Asistan") → </a:t>
            </a:r>
            <a:r>
              <a:rPr lang="en-US" b="true" sz="2499" spc="-117">
                <a:solidFill>
                  <a:srgbClr val="FF000A"/>
                </a:solidFill>
                <a:latin typeface="Raleway Bold"/>
                <a:ea typeface="Raleway Bold"/>
                <a:cs typeface="Raleway Bold"/>
                <a:sym typeface="Raleway Bold"/>
              </a:rPr>
              <a:t>ValueError</a:t>
            </a:r>
          </a:p>
        </p:txBody>
      </p:sp>
      <p:sp>
        <p:nvSpPr>
          <p:cNvPr name="AutoShape 7" id="7"/>
          <p:cNvSpPr/>
          <p:nvPr/>
        </p:nvSpPr>
        <p:spPr>
          <a:xfrm>
            <a:off x="5685800" y="6477062"/>
            <a:ext cx="590078" cy="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753400" y="5788971"/>
            <a:ext cx="3770365" cy="473197"/>
          </a:xfrm>
          <a:custGeom>
            <a:avLst/>
            <a:gdLst/>
            <a:ahLst/>
            <a:cxnLst/>
            <a:rect r="r" b="b" t="t" l="l"/>
            <a:pathLst>
              <a:path h="473197" w="3770365">
                <a:moveTo>
                  <a:pt x="0" y="0"/>
                </a:moveTo>
                <a:lnTo>
                  <a:pt x="3770364" y="0"/>
                </a:lnTo>
                <a:lnTo>
                  <a:pt x="3770364" y="473197"/>
                </a:lnTo>
                <a:lnTo>
                  <a:pt x="0" y="473197"/>
                </a:lnTo>
                <a:lnTo>
                  <a:pt x="0" y="0"/>
                </a:lnTo>
                <a:close/>
              </a:path>
            </a:pathLst>
          </a:custGeom>
          <a:blipFill>
            <a:blip r:embed="rId2"/>
            <a:stretch>
              <a:fillRect l="0" t="0" r="-6573" b="-10391"/>
            </a:stretch>
          </a:blipFill>
        </p:spPr>
      </p:sp>
      <p:sp>
        <p:nvSpPr>
          <p:cNvPr name="Freeform 3" id="3"/>
          <p:cNvSpPr/>
          <p:nvPr/>
        </p:nvSpPr>
        <p:spPr>
          <a:xfrm flipH="false" flipV="false" rot="0">
            <a:off x="4919441" y="5118476"/>
            <a:ext cx="12927754" cy="1814186"/>
          </a:xfrm>
          <a:custGeom>
            <a:avLst/>
            <a:gdLst/>
            <a:ahLst/>
            <a:cxnLst/>
            <a:rect r="r" b="b" t="t" l="l"/>
            <a:pathLst>
              <a:path h="1814186" w="12927754">
                <a:moveTo>
                  <a:pt x="0" y="0"/>
                </a:moveTo>
                <a:lnTo>
                  <a:pt x="12927754" y="0"/>
                </a:lnTo>
                <a:lnTo>
                  <a:pt x="12927754" y="1814186"/>
                </a:lnTo>
                <a:lnTo>
                  <a:pt x="0" y="1814186"/>
                </a:lnTo>
                <a:lnTo>
                  <a:pt x="0" y="0"/>
                </a:lnTo>
                <a:close/>
              </a:path>
            </a:pathLst>
          </a:custGeom>
          <a:blipFill>
            <a:blip r:embed="rId3"/>
            <a:stretch>
              <a:fillRect l="0" t="0" r="0" b="0"/>
            </a:stretch>
          </a:blipFill>
        </p:spPr>
      </p:sp>
      <p:sp>
        <p:nvSpPr>
          <p:cNvPr name="TextBox 4" id="4"/>
          <p:cNvSpPr txBox="true"/>
          <p:nvPr/>
        </p:nvSpPr>
        <p:spPr>
          <a:xfrm rot="0">
            <a:off x="1028700" y="971550"/>
            <a:ext cx="16230600" cy="218440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Sınır Durumu 2: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Ondalıklı Metin Tuzağı: </a:t>
            </a:r>
            <a:r>
              <a:rPr lang="en-US" sz="2499" spc="-117">
                <a:solidFill>
                  <a:srgbClr val="424242"/>
                </a:solidFill>
                <a:latin typeface="Raleway"/>
                <a:ea typeface="Raleway"/>
                <a:cs typeface="Raleway"/>
                <a:sym typeface="Raleway"/>
              </a:rPr>
              <a:t>Doğrudan tam sayıya çevrilemeyen ondalıklı bir metin ifadesi önce float() fonksiyonuyla sayıya dönüştürülmeli, ardından int() katmanına alınmalıdır. Burada int() fonksiyonunun matematiksel bir yuvarlama yapmadığına, sadece sayının ondalık kısmını kesip attığına dikkat ediniz.</a:t>
            </a:r>
          </a:p>
          <a:p>
            <a:pPr algn="l" marL="1079499" indent="-359833" lvl="2">
              <a:lnSpc>
                <a:spcPts val="3499"/>
              </a:lnSpc>
              <a:buFont typeface="Arial"/>
              <a:buChar char="⚬"/>
            </a:pPr>
            <a:r>
              <a:rPr lang="en-US" b="true" sz="2499" spc="-117">
                <a:solidFill>
                  <a:srgbClr val="424242"/>
                </a:solidFill>
                <a:latin typeface="Raleway Bold"/>
                <a:ea typeface="Raleway Bold"/>
                <a:cs typeface="Raleway Bold"/>
                <a:sym typeface="Raleway Bold"/>
              </a:rPr>
              <a:t>Örnek: </a:t>
            </a:r>
            <a:r>
              <a:rPr lang="en-US" sz="2499" spc="-117">
                <a:solidFill>
                  <a:srgbClr val="424242"/>
                </a:solidFill>
                <a:latin typeface="Raleway"/>
                <a:ea typeface="Raleway"/>
                <a:cs typeface="Raleway"/>
                <a:sym typeface="Raleway"/>
              </a:rPr>
              <a:t>int("99.9") → </a:t>
            </a:r>
            <a:r>
              <a:rPr lang="en-US" b="true" sz="2499" spc="-117">
                <a:solidFill>
                  <a:srgbClr val="FF000A"/>
                </a:solidFill>
                <a:latin typeface="Raleway Bold"/>
                <a:ea typeface="Raleway Bold"/>
                <a:cs typeface="Raleway Bold"/>
                <a:sym typeface="Raleway Bold"/>
              </a:rPr>
              <a:t>ValueError</a:t>
            </a:r>
          </a:p>
        </p:txBody>
      </p:sp>
      <p:sp>
        <p:nvSpPr>
          <p:cNvPr name="AutoShape 5" id="5"/>
          <p:cNvSpPr/>
          <p:nvPr/>
        </p:nvSpPr>
        <p:spPr>
          <a:xfrm>
            <a:off x="4523764" y="6025569"/>
            <a:ext cx="395676" cy="0"/>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806616" y="5305742"/>
            <a:ext cx="2768478" cy="481402"/>
          </a:xfrm>
          <a:custGeom>
            <a:avLst/>
            <a:gdLst/>
            <a:ahLst/>
            <a:cxnLst/>
            <a:rect r="r" b="b" t="t" l="l"/>
            <a:pathLst>
              <a:path h="481402" w="2768478">
                <a:moveTo>
                  <a:pt x="0" y="0"/>
                </a:moveTo>
                <a:lnTo>
                  <a:pt x="2768478" y="0"/>
                </a:lnTo>
                <a:lnTo>
                  <a:pt x="2768478" y="481403"/>
                </a:lnTo>
                <a:lnTo>
                  <a:pt x="0" y="481403"/>
                </a:lnTo>
                <a:lnTo>
                  <a:pt x="0" y="0"/>
                </a:lnTo>
                <a:close/>
              </a:path>
            </a:pathLst>
          </a:custGeom>
          <a:blipFill>
            <a:blip r:embed="rId2"/>
            <a:stretch>
              <a:fillRect l="0" t="0" r="-5449" b="-13704"/>
            </a:stretch>
          </a:blipFill>
        </p:spPr>
      </p:sp>
      <p:sp>
        <p:nvSpPr>
          <p:cNvPr name="Freeform 3" id="3"/>
          <p:cNvSpPr/>
          <p:nvPr/>
        </p:nvSpPr>
        <p:spPr>
          <a:xfrm flipH="false" flipV="false" rot="0">
            <a:off x="1806616" y="7211815"/>
            <a:ext cx="2919347" cy="475962"/>
          </a:xfrm>
          <a:custGeom>
            <a:avLst/>
            <a:gdLst/>
            <a:ahLst/>
            <a:cxnLst/>
            <a:rect r="r" b="b" t="t" l="l"/>
            <a:pathLst>
              <a:path h="475962" w="2919347">
                <a:moveTo>
                  <a:pt x="0" y="0"/>
                </a:moveTo>
                <a:lnTo>
                  <a:pt x="2919347" y="0"/>
                </a:lnTo>
                <a:lnTo>
                  <a:pt x="2919347" y="475961"/>
                </a:lnTo>
                <a:lnTo>
                  <a:pt x="0" y="475961"/>
                </a:lnTo>
                <a:lnTo>
                  <a:pt x="0" y="0"/>
                </a:lnTo>
                <a:close/>
              </a:path>
            </a:pathLst>
          </a:custGeom>
          <a:blipFill>
            <a:blip r:embed="rId3"/>
            <a:stretch>
              <a:fillRect l="0" t="0" r="0" b="-13584"/>
            </a:stretch>
          </a:blipFill>
        </p:spPr>
      </p:sp>
      <p:sp>
        <p:nvSpPr>
          <p:cNvPr name="Freeform 4" id="4"/>
          <p:cNvSpPr/>
          <p:nvPr/>
        </p:nvSpPr>
        <p:spPr>
          <a:xfrm flipH="false" flipV="false" rot="0">
            <a:off x="5112147" y="5236588"/>
            <a:ext cx="12972596" cy="619710"/>
          </a:xfrm>
          <a:custGeom>
            <a:avLst/>
            <a:gdLst/>
            <a:ahLst/>
            <a:cxnLst/>
            <a:rect r="r" b="b" t="t" l="l"/>
            <a:pathLst>
              <a:path h="619710" w="12972596">
                <a:moveTo>
                  <a:pt x="0" y="0"/>
                </a:moveTo>
                <a:lnTo>
                  <a:pt x="12972596" y="0"/>
                </a:lnTo>
                <a:lnTo>
                  <a:pt x="12972596" y="619710"/>
                </a:lnTo>
                <a:lnTo>
                  <a:pt x="0" y="619710"/>
                </a:lnTo>
                <a:lnTo>
                  <a:pt x="0" y="0"/>
                </a:lnTo>
                <a:close/>
              </a:path>
            </a:pathLst>
          </a:custGeom>
          <a:blipFill>
            <a:blip r:embed="rId4"/>
            <a:stretch>
              <a:fillRect l="0" t="0" r="0" b="0"/>
            </a:stretch>
          </a:blipFill>
        </p:spPr>
      </p:sp>
      <p:sp>
        <p:nvSpPr>
          <p:cNvPr name="Freeform 5" id="5"/>
          <p:cNvSpPr/>
          <p:nvPr/>
        </p:nvSpPr>
        <p:spPr>
          <a:xfrm flipH="false" flipV="false" rot="0">
            <a:off x="5112147" y="7168379"/>
            <a:ext cx="12972596" cy="562832"/>
          </a:xfrm>
          <a:custGeom>
            <a:avLst/>
            <a:gdLst/>
            <a:ahLst/>
            <a:cxnLst/>
            <a:rect r="r" b="b" t="t" l="l"/>
            <a:pathLst>
              <a:path h="562832" w="12972596">
                <a:moveTo>
                  <a:pt x="0" y="0"/>
                </a:moveTo>
                <a:lnTo>
                  <a:pt x="12972596" y="0"/>
                </a:lnTo>
                <a:lnTo>
                  <a:pt x="12972596" y="562833"/>
                </a:lnTo>
                <a:lnTo>
                  <a:pt x="0" y="562833"/>
                </a:lnTo>
                <a:lnTo>
                  <a:pt x="0" y="0"/>
                </a:lnTo>
                <a:close/>
              </a:path>
            </a:pathLst>
          </a:custGeom>
          <a:blipFill>
            <a:blip r:embed="rId5"/>
            <a:stretch>
              <a:fillRect l="0" t="0" r="0" b="0"/>
            </a:stretch>
          </a:blipFill>
        </p:spPr>
      </p:sp>
      <p:sp>
        <p:nvSpPr>
          <p:cNvPr name="TextBox 6" id="6"/>
          <p:cNvSpPr txBox="true"/>
          <p:nvPr/>
        </p:nvSpPr>
        <p:spPr>
          <a:xfrm rot="0">
            <a:off x="1028700" y="971550"/>
            <a:ext cx="16230600" cy="2622550"/>
          </a:xfrm>
          <a:prstGeom prst="rect">
            <a:avLst/>
          </a:prstGeom>
        </p:spPr>
        <p:txBody>
          <a:bodyPr anchor="t" rtlCol="false" tIns="0" lIns="0" bIns="0" rIns="0">
            <a:spAutoFit/>
          </a:bodyPr>
          <a:lstStyle/>
          <a:p>
            <a:pPr algn="l">
              <a:lnSpc>
                <a:spcPts val="3499"/>
              </a:lnSpc>
            </a:pPr>
            <a:r>
              <a:rPr lang="en-US" sz="2499" spc="-117" b="true">
                <a:solidFill>
                  <a:srgbClr val="CEAF69"/>
                </a:solidFill>
                <a:latin typeface="Raleway Bold"/>
                <a:ea typeface="Raleway Bold"/>
                <a:cs typeface="Raleway Bold"/>
                <a:sym typeface="Raleway Bold"/>
              </a:rPr>
              <a:t>Sınır Durumu 3: </a:t>
            </a:r>
          </a:p>
          <a:p>
            <a:pPr algn="l" marL="539749" indent="-269875" lvl="1">
              <a:lnSpc>
                <a:spcPts val="3499"/>
              </a:lnSpc>
              <a:buFont typeface="Arial"/>
              <a:buChar char="•"/>
            </a:pPr>
            <a:r>
              <a:rPr lang="en-US" b="true" sz="2499" spc="-117">
                <a:solidFill>
                  <a:srgbClr val="424242"/>
                </a:solidFill>
                <a:latin typeface="Raleway Bold"/>
                <a:ea typeface="Raleway Bold"/>
                <a:cs typeface="Raleway Bold"/>
                <a:sym typeface="Raleway Bold"/>
              </a:rPr>
              <a:t>bool() Fonksiyonunda Yokluk Denetimi: </a:t>
            </a:r>
            <a:r>
              <a:rPr lang="en-US" sz="2499" spc="-117">
                <a:solidFill>
                  <a:srgbClr val="424242"/>
                </a:solidFill>
                <a:latin typeface="Raleway"/>
                <a:ea typeface="Raleway"/>
                <a:cs typeface="Raleway"/>
                <a:sym typeface="Raleway"/>
              </a:rPr>
              <a:t>Sayısal olarak 0 ve 0.0 değerleri ve metinsel olarak tamamen boş bırakılmış "" ifadeleri bool() süzgecinden geçirildiğinde False sonucunu üretir. İçinde tek bir boşluk karakteri dahi olan " " ifadesi ise bellek hücresi dolu kabul edildiği için True çıktısını basar.</a:t>
            </a:r>
          </a:p>
          <a:p>
            <a:pPr algn="l" marL="1079499" indent="-359833" lvl="2">
              <a:lnSpc>
                <a:spcPts val="3499"/>
              </a:lnSpc>
              <a:buFont typeface="Arial"/>
              <a:buChar char="⚬"/>
            </a:pPr>
            <a:r>
              <a:rPr lang="en-US" b="true" sz="2499" spc="-117">
                <a:solidFill>
                  <a:srgbClr val="424242"/>
                </a:solidFill>
                <a:latin typeface="Raleway Bold"/>
                <a:ea typeface="Raleway Bold"/>
                <a:cs typeface="Raleway Bold"/>
                <a:sym typeface="Raleway Bold"/>
              </a:rPr>
              <a:t>Örnek: </a:t>
            </a:r>
            <a:r>
              <a:rPr lang="en-US" sz="2499" spc="-117">
                <a:solidFill>
                  <a:srgbClr val="424242"/>
                </a:solidFill>
                <a:latin typeface="Raleway"/>
                <a:ea typeface="Raleway"/>
                <a:cs typeface="Raleway"/>
                <a:sym typeface="Raleway"/>
              </a:rPr>
              <a:t>bool(“”)→ False</a:t>
            </a:r>
          </a:p>
          <a:p>
            <a:pPr algn="l" marL="1079499" indent="-359833" lvl="2">
              <a:lnSpc>
                <a:spcPts val="3499"/>
              </a:lnSpc>
              <a:buFont typeface="Arial"/>
              <a:buChar char="⚬"/>
            </a:pPr>
            <a:r>
              <a:rPr lang="en-US" b="true" sz="2499" spc="-117">
                <a:solidFill>
                  <a:srgbClr val="424242"/>
                </a:solidFill>
                <a:latin typeface="Raleway Bold"/>
                <a:ea typeface="Raleway Bold"/>
                <a:cs typeface="Raleway Bold"/>
                <a:sym typeface="Raleway Bold"/>
              </a:rPr>
              <a:t>Örnek:</a:t>
            </a:r>
            <a:r>
              <a:rPr lang="en-US" sz="2499" spc="-117">
                <a:solidFill>
                  <a:srgbClr val="424242"/>
                </a:solidFill>
                <a:latin typeface="Raleway"/>
                <a:ea typeface="Raleway"/>
                <a:cs typeface="Raleway"/>
                <a:sym typeface="Raleway"/>
              </a:rPr>
              <a:t> bool(“ ”)→ True</a:t>
            </a:r>
          </a:p>
        </p:txBody>
      </p:sp>
      <p:sp>
        <p:nvSpPr>
          <p:cNvPr name="AutoShape 7" id="7"/>
          <p:cNvSpPr/>
          <p:nvPr/>
        </p:nvSpPr>
        <p:spPr>
          <a:xfrm flipV="true">
            <a:off x="4575094" y="5487847"/>
            <a:ext cx="438749" cy="58596"/>
          </a:xfrm>
          <a:prstGeom prst="line">
            <a:avLst/>
          </a:prstGeom>
          <a:ln cap="flat" w="38100">
            <a:solidFill>
              <a:srgbClr val="FF000A"/>
            </a:solidFill>
            <a:prstDash val="solid"/>
            <a:headEnd type="none" len="sm" w="sm"/>
            <a:tailEnd type="triangle" len="med" w="lg"/>
          </a:ln>
        </p:spPr>
      </p:sp>
      <p:sp>
        <p:nvSpPr>
          <p:cNvPr name="AutoShape 8" id="8"/>
          <p:cNvSpPr/>
          <p:nvPr/>
        </p:nvSpPr>
        <p:spPr>
          <a:xfrm>
            <a:off x="4725963" y="7449795"/>
            <a:ext cx="440281" cy="22431"/>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19.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Veri Türü Dönüşüm Çıktıları ve Sınır Durumları</a:t>
            </a:r>
          </a:p>
        </p:txBody>
      </p:sp>
      <p:graphicFrame>
        <p:nvGraphicFramePr>
          <p:cNvPr name="Table 3" id="3"/>
          <p:cNvGraphicFramePr>
            <a:graphicFrameLocks noGrp="true"/>
          </p:cNvGraphicFramePr>
          <p:nvPr/>
        </p:nvGraphicFramePr>
        <p:xfrm>
          <a:off x="1028700" y="1663299"/>
          <a:ext cx="16230600" cy="6743700"/>
        </p:xfrm>
        <a:graphic>
          <a:graphicData uri="http://schemas.openxmlformats.org/drawingml/2006/table">
            <a:tbl>
              <a:tblPr/>
              <a:tblGrid>
                <a:gridCol w="1821032"/>
                <a:gridCol w="2565717"/>
                <a:gridCol w="2921842"/>
                <a:gridCol w="3032433"/>
                <a:gridCol w="5889576"/>
              </a:tblGrid>
              <a:tr h="1106463">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Kaynak Veri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Kullanılan Fonksiyon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Üretilen Nihai Çıktı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Sistem Kararlılık Durumu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Elde Edilen Veri Türü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8">
                <a:tc>
                  <a:txBody>
                    <a:bodyPr anchor="t" rtlCol="false"/>
                    <a:lstStyle/>
                    <a:p>
                      <a:pPr algn="l">
                        <a:lnSpc>
                          <a:spcPts val="2800"/>
                        </a:lnSpc>
                        <a:defRPr/>
                      </a:pPr>
                      <a:r>
                        <a:rPr lang="en-US" sz="2000">
                          <a:solidFill>
                            <a:srgbClr val="000000"/>
                          </a:solidFill>
                          <a:latin typeface="Raleway"/>
                          <a:ea typeface="Raleway"/>
                          <a:cs typeface="Raleway"/>
                          <a:sym typeface="Raleway"/>
                        </a:rPr>
                        <a:t>yas = "18"</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int(</a:t>
                      </a:r>
                      <a:r>
                        <a:rPr lang="en-US" sz="2000">
                          <a:solidFill>
                            <a:srgbClr val="000000"/>
                          </a:solidFill>
                          <a:latin typeface="Raleway"/>
                          <a:ea typeface="Raleway"/>
                          <a:cs typeface="Raleway"/>
                          <a:sym typeface="Raleway"/>
                        </a:rPr>
                        <a:t>yas</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18</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9DC3C1"/>
                          </a:solidFill>
                          <a:latin typeface="Raleway Bold"/>
                          <a:ea typeface="Raleway Bold"/>
                          <a:cs typeface="Raleway Bold"/>
                          <a:sym typeface="Raleway Bold"/>
                        </a:rPr>
                        <a:t>Kararlı:</a:t>
                      </a:r>
                      <a:r>
                        <a:rPr lang="en-US" sz="2000">
                          <a:solidFill>
                            <a:srgbClr val="000000"/>
                          </a:solidFill>
                          <a:latin typeface="Raleway"/>
                          <a:ea typeface="Raleway"/>
                          <a:cs typeface="Raleway"/>
                          <a:sym typeface="Raleway"/>
                        </a:rPr>
                        <a:t> Matematiksel hesaplamalara uygundur.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232">
                <a:tc>
                  <a:txBody>
                    <a:bodyPr anchor="t" rtlCol="false"/>
                    <a:lstStyle/>
                    <a:p>
                      <a:pPr algn="l">
                        <a:lnSpc>
                          <a:spcPts val="2800"/>
                        </a:lnSpc>
                        <a:defRPr/>
                      </a:pPr>
                      <a:r>
                        <a:rPr lang="en-US" sz="2000">
                          <a:solidFill>
                            <a:srgbClr val="000000"/>
                          </a:solidFill>
                          <a:latin typeface="Raleway"/>
                          <a:ea typeface="Raleway"/>
                          <a:cs typeface="Raleway"/>
                          <a:sym typeface="Raleway"/>
                        </a:rPr>
                        <a:t>skor = "A5"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int(</a:t>
                      </a:r>
                      <a:r>
                        <a:rPr lang="en-US" sz="2000">
                          <a:solidFill>
                            <a:srgbClr val="000000"/>
                          </a:solidFill>
                          <a:latin typeface="Raleway"/>
                          <a:ea typeface="Raleway"/>
                          <a:cs typeface="Raleway"/>
                          <a:sym typeface="Raleway"/>
                        </a:rPr>
                        <a:t>skor</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HATA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FF0000"/>
                          </a:solidFill>
                          <a:latin typeface="Raleway Bold"/>
                          <a:ea typeface="Raleway Bold"/>
                          <a:cs typeface="Raleway Bold"/>
                          <a:sym typeface="Raleway Bold"/>
                        </a:rPr>
                        <a:t>ValueError:</a:t>
                      </a:r>
                      <a:r>
                        <a:rPr lang="en-US" sz="2000" b="true">
                          <a:solidFill>
                            <a:srgbClr val="000000"/>
                          </a:solidFill>
                          <a:latin typeface="Raleway Bold"/>
                          <a:ea typeface="Raleway Bold"/>
                          <a:cs typeface="Raleway Bold"/>
                          <a:sym typeface="Raleway Bold"/>
                        </a:rPr>
                        <a:t> </a:t>
                      </a:r>
                      <a:r>
                        <a:rPr lang="en-US" sz="2000">
                          <a:solidFill>
                            <a:srgbClr val="000000"/>
                          </a:solidFill>
                          <a:latin typeface="Raleway"/>
                          <a:ea typeface="Raleway"/>
                          <a:cs typeface="Raleway"/>
                          <a:sym typeface="Raleway"/>
                        </a:rPr>
                        <a:t>Metin içinde rakam dışı karakter vardır.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8">
                <a:tc>
                  <a:txBody>
                    <a:bodyPr anchor="t" rtlCol="false"/>
                    <a:lstStyle/>
                    <a:p>
                      <a:pPr algn="l">
                        <a:lnSpc>
                          <a:spcPts val="2800"/>
                        </a:lnSpc>
                        <a:defRPr/>
                      </a:pPr>
                      <a:r>
                        <a:rPr lang="en-US" sz="2000">
                          <a:solidFill>
                            <a:srgbClr val="000000"/>
                          </a:solidFill>
                          <a:latin typeface="Raleway"/>
                          <a:ea typeface="Raleway"/>
                          <a:cs typeface="Raleway"/>
                          <a:sym typeface="Raleway"/>
                        </a:rPr>
                        <a:t>fiyat = 89</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float(</a:t>
                      </a:r>
                      <a:r>
                        <a:rPr lang="en-US" sz="2000">
                          <a:solidFill>
                            <a:srgbClr val="000000"/>
                          </a:solidFill>
                          <a:latin typeface="Raleway"/>
                          <a:ea typeface="Raleway"/>
                          <a:cs typeface="Raleway"/>
                          <a:sym typeface="Raleway"/>
                        </a:rPr>
                        <a:t>fiyat</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89.0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9DC3C1"/>
                          </a:solidFill>
                          <a:latin typeface="Raleway Bold"/>
                          <a:ea typeface="Raleway Bold"/>
                          <a:cs typeface="Raleway Bold"/>
                          <a:sym typeface="Raleway Bold"/>
                        </a:rPr>
                        <a:t>Kararlı:</a:t>
                      </a:r>
                      <a:r>
                        <a:rPr lang="en-US" sz="2000">
                          <a:solidFill>
                            <a:srgbClr val="9DC3C1"/>
                          </a:solidFill>
                          <a:latin typeface="Raleway"/>
                          <a:ea typeface="Raleway"/>
                          <a:cs typeface="Raleway"/>
                          <a:sym typeface="Raleway"/>
                        </a:rPr>
                        <a:t> </a:t>
                      </a:r>
                      <a:r>
                        <a:rPr lang="en-US" sz="2000">
                          <a:solidFill>
                            <a:srgbClr val="000000"/>
                          </a:solidFill>
                          <a:latin typeface="Raleway"/>
                          <a:ea typeface="Raleway"/>
                          <a:cs typeface="Raleway"/>
                          <a:sym typeface="Raleway"/>
                        </a:rPr>
                        <a:t>Değer float türüne dönüştürüldü.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float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8">
                <a:tc>
                  <a:txBody>
                    <a:bodyPr anchor="t" rtlCol="false"/>
                    <a:lstStyle/>
                    <a:p>
                      <a:pPr algn="l">
                        <a:lnSpc>
                          <a:spcPts val="2800"/>
                        </a:lnSpc>
                        <a:defRPr/>
                      </a:pPr>
                      <a:r>
                        <a:rPr lang="en-US" sz="2000">
                          <a:solidFill>
                            <a:srgbClr val="000000"/>
                          </a:solidFill>
                          <a:latin typeface="Raleway"/>
                          <a:ea typeface="Raleway"/>
                          <a:cs typeface="Raleway"/>
                          <a:sym typeface="Raleway"/>
                        </a:rPr>
                        <a:t>kod = "3.14"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int(</a:t>
                      </a:r>
                      <a:r>
                        <a:rPr lang="en-US" sz="2000">
                          <a:solidFill>
                            <a:srgbClr val="000000"/>
                          </a:solidFill>
                          <a:latin typeface="Raleway"/>
                          <a:ea typeface="Raleway"/>
                          <a:cs typeface="Raleway"/>
                          <a:sym typeface="Raleway"/>
                        </a:rPr>
                        <a:t>kod</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HATA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FF0000"/>
                          </a:solidFill>
                          <a:latin typeface="Raleway Bold"/>
                          <a:ea typeface="Raleway Bold"/>
                          <a:cs typeface="Raleway Bold"/>
                          <a:sym typeface="Raleway Bold"/>
                        </a:rPr>
                        <a:t>ValueError:</a:t>
                      </a:r>
                      <a:r>
                        <a:rPr lang="en-US" sz="2000">
                          <a:solidFill>
                            <a:srgbClr val="000000"/>
                          </a:solidFill>
                          <a:latin typeface="Raleway"/>
                          <a:ea typeface="Raleway"/>
                          <a:cs typeface="Raleway"/>
                          <a:sym typeface="Raleway"/>
                        </a:rPr>
                        <a:t> Onalıklı metin doğrudan int olamaz.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8">
                <a:tc>
                  <a:txBody>
                    <a:bodyPr anchor="t" rtlCol="false"/>
                    <a:lstStyle/>
                    <a:p>
                      <a:pPr algn="l">
                        <a:lnSpc>
                          <a:spcPts val="2800"/>
                        </a:lnSpc>
                        <a:defRPr/>
                      </a:pPr>
                      <a:r>
                        <a:rPr lang="en-US" sz="2000">
                          <a:solidFill>
                            <a:srgbClr val="000000"/>
                          </a:solidFill>
                          <a:latin typeface="Raleway"/>
                          <a:ea typeface="Raleway"/>
                          <a:cs typeface="Raleway"/>
                          <a:sym typeface="Raleway"/>
                        </a:rPr>
                        <a:t>veri = 100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str(</a:t>
                      </a:r>
                      <a:r>
                        <a:rPr lang="en-US" sz="2000">
                          <a:solidFill>
                            <a:srgbClr val="000000"/>
                          </a:solidFill>
                          <a:latin typeface="Raleway"/>
                          <a:ea typeface="Raleway"/>
                          <a:cs typeface="Raleway"/>
                          <a:sym typeface="Raleway"/>
                        </a:rPr>
                        <a:t>veri</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9DC3C1"/>
                          </a:solidFill>
                          <a:latin typeface="Raleway Bold"/>
                          <a:ea typeface="Raleway Bold"/>
                          <a:cs typeface="Raleway Bold"/>
                          <a:sym typeface="Raleway Bold"/>
                        </a:rPr>
                        <a:t>Kararlı:</a:t>
                      </a:r>
                      <a:r>
                        <a:rPr lang="en-US" sz="2000">
                          <a:solidFill>
                            <a:srgbClr val="000000"/>
                          </a:solidFill>
                          <a:latin typeface="Raleway"/>
                          <a:ea typeface="Raleway"/>
                          <a:cs typeface="Raleway"/>
                          <a:sym typeface="Raleway"/>
                        </a:rPr>
                        <a:t> Karakter dizisi oldu, aritmetiğe kapatıldı.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str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232">
                <a:tc>
                  <a:txBody>
                    <a:bodyPr anchor="t" rtlCol="false"/>
                    <a:lstStyle/>
                    <a:p>
                      <a:pPr algn="l">
                        <a:lnSpc>
                          <a:spcPts val="2800"/>
                        </a:lnSpc>
                        <a:defRPr/>
                      </a:pPr>
                      <a:r>
                        <a:rPr lang="en-US" sz="2000">
                          <a:solidFill>
                            <a:srgbClr val="000000"/>
                          </a:solidFill>
                          <a:latin typeface="Raleway"/>
                          <a:ea typeface="Raleway"/>
                          <a:cs typeface="Raleway"/>
                          <a:sym typeface="Raleway"/>
                        </a:rPr>
                        <a:t>durum = 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bool(</a:t>
                      </a:r>
                      <a:r>
                        <a:rPr lang="en-US" sz="2000">
                          <a:solidFill>
                            <a:srgbClr val="000000"/>
                          </a:solidFill>
                          <a:latin typeface="Raleway"/>
                          <a:ea typeface="Raleway"/>
                          <a:cs typeface="Raleway"/>
                          <a:sym typeface="Raleway"/>
                        </a:rPr>
                        <a:t>durum</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9DC3C1"/>
                          </a:solidFill>
                          <a:latin typeface="Raleway Bold"/>
                          <a:ea typeface="Raleway Bold"/>
                          <a:cs typeface="Raleway Bold"/>
                          <a:sym typeface="Raleway Bold"/>
                        </a:rPr>
                        <a:t>Kararlı:</a:t>
                      </a:r>
                      <a:r>
                        <a:rPr lang="en-US" sz="2000">
                          <a:solidFill>
                            <a:srgbClr val="000000"/>
                          </a:solidFill>
                          <a:latin typeface="Raleway"/>
                          <a:ea typeface="Raleway"/>
                          <a:cs typeface="Raleway"/>
                          <a:sym typeface="Raleway"/>
                        </a:rPr>
                        <a:t> Sıfır, Python'da yanlış kabul edilen değerlerden biridir.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8">
                <a:tc>
                  <a:txBody>
                    <a:bodyPr anchor="t" rtlCol="false"/>
                    <a:lstStyle/>
                    <a:p>
                      <a:pPr algn="l">
                        <a:lnSpc>
                          <a:spcPts val="2800"/>
                        </a:lnSpc>
                        <a:defRPr/>
                      </a:pPr>
                      <a:r>
                        <a:rPr lang="en-US" sz="2000">
                          <a:solidFill>
                            <a:srgbClr val="000000"/>
                          </a:solidFill>
                          <a:latin typeface="Raleway"/>
                          <a:ea typeface="Raleway"/>
                          <a:cs typeface="Raleway"/>
                          <a:sym typeface="Raleway"/>
                        </a:rPr>
                        <a:t>metin =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bool(</a:t>
                      </a:r>
                      <a:r>
                        <a:rPr lang="en-US" sz="2000">
                          <a:solidFill>
                            <a:srgbClr val="000000"/>
                          </a:solidFill>
                          <a:latin typeface="Raleway"/>
                          <a:ea typeface="Raleway"/>
                          <a:cs typeface="Raleway"/>
                          <a:sym typeface="Raleway"/>
                        </a:rPr>
                        <a:t>metin</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9DC3C1"/>
                          </a:solidFill>
                          <a:latin typeface="Raleway Bold"/>
                          <a:ea typeface="Raleway Bold"/>
                          <a:cs typeface="Raleway Bold"/>
                          <a:sym typeface="Raleway Bold"/>
                        </a:rPr>
                        <a:t>Kararlı:</a:t>
                      </a:r>
                      <a:r>
                        <a:rPr lang="en-US" sz="2000">
                          <a:solidFill>
                            <a:srgbClr val="000000"/>
                          </a:solidFill>
                          <a:latin typeface="Raleway"/>
                          <a:ea typeface="Raleway"/>
                          <a:cs typeface="Raleway"/>
                          <a:sym typeface="Raleway"/>
                        </a:rPr>
                        <a:t> Boş karakter dizisi yokluk ifade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232">
                <a:tc>
                  <a:txBody>
                    <a:bodyPr anchor="t" rtlCol="false"/>
                    <a:lstStyle/>
                    <a:p>
                      <a:pPr algn="l">
                        <a:lnSpc>
                          <a:spcPts val="2800"/>
                        </a:lnSpc>
                        <a:defRPr/>
                      </a:pPr>
                      <a:r>
                        <a:rPr lang="en-US" sz="2000">
                          <a:solidFill>
                            <a:srgbClr val="000000"/>
                          </a:solidFill>
                          <a:latin typeface="Raleway"/>
                          <a:ea typeface="Raleway"/>
                          <a:cs typeface="Raleway"/>
                          <a:sym typeface="Raleway"/>
                        </a:rPr>
                        <a:t>bosluk = "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bool(</a:t>
                      </a:r>
                      <a:r>
                        <a:rPr lang="en-US" sz="2000">
                          <a:solidFill>
                            <a:srgbClr val="000000"/>
                          </a:solidFill>
                          <a:latin typeface="Raleway"/>
                          <a:ea typeface="Raleway"/>
                          <a:cs typeface="Raleway"/>
                          <a:sym typeface="Raleway"/>
                        </a:rPr>
                        <a:t>bosluk</a:t>
                      </a: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9DC3C1"/>
                          </a:solidFill>
                          <a:latin typeface="Raleway Bold"/>
                          <a:ea typeface="Raleway Bold"/>
                          <a:cs typeface="Raleway Bold"/>
                          <a:sym typeface="Raleway Bold"/>
                        </a:rPr>
                        <a:t>Kararlı:</a:t>
                      </a:r>
                      <a:r>
                        <a:rPr lang="en-US" sz="2000">
                          <a:solidFill>
                            <a:srgbClr val="000000"/>
                          </a:solidFill>
                          <a:latin typeface="Raleway"/>
                          <a:ea typeface="Raleway"/>
                          <a:cs typeface="Raleway"/>
                          <a:sym typeface="Raleway"/>
                        </a:rPr>
                        <a:t> Hücrede boşluk karakteri barındığı için doludur.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5949966" y="4022752"/>
            <a:ext cx="6527893" cy="5124396"/>
          </a:xfrm>
          <a:custGeom>
            <a:avLst/>
            <a:gdLst/>
            <a:ahLst/>
            <a:cxnLst/>
            <a:rect r="r" b="b" t="t" l="l"/>
            <a:pathLst>
              <a:path h="5124396" w="6527893">
                <a:moveTo>
                  <a:pt x="0" y="0"/>
                </a:moveTo>
                <a:lnTo>
                  <a:pt x="6527892" y="0"/>
                </a:lnTo>
                <a:lnTo>
                  <a:pt x="6527892" y="5124396"/>
                </a:lnTo>
                <a:lnTo>
                  <a:pt x="0" y="5124396"/>
                </a:lnTo>
                <a:lnTo>
                  <a:pt x="0" y="0"/>
                </a:lnTo>
                <a:close/>
              </a:path>
            </a:pathLst>
          </a:custGeom>
          <a:blipFill>
            <a:blip r:embed="rId2"/>
            <a:stretch>
              <a:fillRect l="0" t="0" r="0" b="0"/>
            </a:stretch>
          </a:blipFill>
        </p:spPr>
      </p:sp>
      <p:sp>
        <p:nvSpPr>
          <p:cNvPr name="TextBox 3" id="3"/>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Düşünelim-Tartışalım</a:t>
            </a:r>
          </a:p>
        </p:txBody>
      </p:sp>
      <p:sp>
        <p:nvSpPr>
          <p:cNvPr name="TextBox 4" id="4"/>
          <p:cNvSpPr txBox="true"/>
          <p:nvPr/>
        </p:nvSpPr>
        <p:spPr>
          <a:xfrm rot="0">
            <a:off x="1907595" y="1866927"/>
            <a:ext cx="14472811"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 e-ticaret sistemin</a:t>
            </a:r>
            <a:r>
              <a:rPr lang="en-US" sz="2499" spc="-117">
                <a:solidFill>
                  <a:srgbClr val="424242"/>
                </a:solidFill>
                <a:latin typeface="Raleway"/>
                <a:ea typeface="Raleway"/>
                <a:cs typeface="Raleway"/>
                <a:sym typeface="Raleway"/>
              </a:rPr>
              <a:t>in </a:t>
            </a:r>
            <a:r>
              <a:rPr lang="en-US" sz="2499" spc="-117">
                <a:solidFill>
                  <a:srgbClr val="424242"/>
                </a:solidFill>
                <a:latin typeface="Raleway"/>
                <a:ea typeface="Raleway"/>
                <a:cs typeface="Raleway"/>
                <a:sym typeface="Raleway"/>
              </a:rPr>
              <a:t>fatura modülü tasarlanırken kullanıcını</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klavyeden girdiği </a:t>
            </a:r>
            <a:r>
              <a:rPr lang="en-US" sz="2499" spc="-117" b="true">
                <a:solidFill>
                  <a:srgbClr val="424242"/>
                </a:solidFill>
                <a:latin typeface="Raleway Bold"/>
                <a:ea typeface="Raleway Bold"/>
                <a:cs typeface="Raleway Bold"/>
                <a:sym typeface="Raleway Bold"/>
              </a:rPr>
              <a:t>fatura_tutari = "250.75" </a:t>
            </a:r>
            <a:r>
              <a:rPr lang="en-US" sz="2499" spc="-117">
                <a:solidFill>
                  <a:srgbClr val="424242"/>
                </a:solidFill>
                <a:latin typeface="Raleway"/>
                <a:ea typeface="Raleway"/>
                <a:cs typeface="Raleway"/>
                <a:sym typeface="Raleway"/>
              </a:rPr>
              <a:t>değer</a:t>
            </a:r>
            <a:r>
              <a:rPr lang="en-US" sz="2499" spc="-117">
                <a:solidFill>
                  <a:srgbClr val="424242"/>
                </a:solidFill>
                <a:latin typeface="Raleway"/>
                <a:ea typeface="Raleway"/>
                <a:cs typeface="Raleway"/>
                <a:sym typeface="Raleway"/>
              </a:rPr>
              <a:t>i </a:t>
            </a:r>
            <a:r>
              <a:rPr lang="en-US" sz="2499" spc="-117">
                <a:solidFill>
                  <a:srgbClr val="424242"/>
                </a:solidFill>
                <a:latin typeface="Raleway"/>
                <a:ea typeface="Raleway"/>
                <a:cs typeface="Raleway"/>
                <a:sym typeface="Raleway"/>
              </a:rPr>
              <a:t>önce </a:t>
            </a:r>
            <a:r>
              <a:rPr lang="en-US" sz="2499" spc="-117" b="true">
                <a:solidFill>
                  <a:srgbClr val="424242"/>
                </a:solidFill>
                <a:latin typeface="Raleway Bold"/>
                <a:ea typeface="Raleway Bold"/>
                <a:cs typeface="Raleway Bold"/>
                <a:sym typeface="Raleway Bold"/>
              </a:rPr>
              <a:t>float()</a:t>
            </a:r>
            <a:r>
              <a:rPr lang="en-US" sz="2499" spc="-117">
                <a:solidFill>
                  <a:srgbClr val="424242"/>
                </a:solidFill>
                <a:latin typeface="Raleway"/>
                <a:ea typeface="Raleway"/>
                <a:cs typeface="Raleway"/>
                <a:sym typeface="Raleway"/>
              </a:rPr>
              <a:t> ile dönüştürülüp ardından</a:t>
            </a:r>
            <a:r>
              <a:rPr lang="en-US" sz="2499" spc="-117" b="true">
                <a:solidFill>
                  <a:srgbClr val="424242"/>
                </a:solidFill>
                <a:latin typeface="Raleway Bold"/>
                <a:ea typeface="Raleway Bold"/>
                <a:cs typeface="Raleway Bold"/>
                <a:sym typeface="Raleway Bold"/>
              </a:rPr>
              <a:t> int() </a:t>
            </a:r>
            <a:r>
              <a:rPr lang="en-US" sz="2499" spc="-117">
                <a:solidFill>
                  <a:srgbClr val="424242"/>
                </a:solidFill>
                <a:latin typeface="Raleway"/>
                <a:ea typeface="Raleway"/>
                <a:cs typeface="Raleway"/>
                <a:sym typeface="Raleway"/>
              </a:rPr>
              <a:t>fonksiyonun</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 verilirse hangi veri kaybı y</a:t>
            </a:r>
            <a:r>
              <a:rPr lang="en-US" sz="2499" spc="-117">
                <a:solidFill>
                  <a:srgbClr val="424242"/>
                </a:solidFill>
                <a:latin typeface="Raleway"/>
                <a:ea typeface="Raleway"/>
                <a:cs typeface="Raleway"/>
                <a:sym typeface="Raleway"/>
              </a:rPr>
              <a:t>aş</a:t>
            </a:r>
            <a:r>
              <a:rPr lang="en-US" sz="2499" spc="-117">
                <a:solidFill>
                  <a:srgbClr val="424242"/>
                </a:solidFill>
                <a:latin typeface="Raleway"/>
                <a:ea typeface="Raleway"/>
                <a:cs typeface="Raleway"/>
                <a:sym typeface="Raleway"/>
              </a:rPr>
              <a:t>anır? </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Verinin bellek davranışı boyutunu dikkate alarak açıklayınız.</a:t>
            </a:r>
          </a:p>
        </p:txBody>
      </p:sp>
      <p:sp>
        <p:nvSpPr>
          <p:cNvPr name="Freeform 5" id="5"/>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ysDash"/>
            <a:headEnd type="none" len="sm" w="sm"/>
            <a:tailEnd type="none" len="sm" w="sm"/>
          </a:ln>
        </p:spPr>
      </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sz="3999" spc="-187" b="true">
                <a:solidFill>
                  <a:srgbClr val="424242"/>
                </a:solidFill>
                <a:latin typeface="Raleway Heavy"/>
                <a:ea typeface="Raleway Heavy"/>
                <a:cs typeface="Raleway Heavy"/>
                <a:sym typeface="Raleway Heavy"/>
              </a:rPr>
              <a:t>2.3. OPERATÖRLER VE İŞLEM ÖNCELİĞİ</a:t>
            </a:r>
          </a:p>
        </p:txBody>
      </p:sp>
      <p:sp>
        <p:nvSpPr>
          <p:cNvPr name="TextBox 4" id="4"/>
          <p:cNvSpPr txBox="true"/>
          <p:nvPr/>
        </p:nvSpPr>
        <p:spPr>
          <a:xfrm rot="0">
            <a:off x="1028700" y="1901213"/>
            <a:ext cx="16230600"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Yazılım geliştirme süreçlerinde verilerin sadece belleğe kaydedilmesi veya türlerinin dönüştürülmesi tek başına bir anlam ifade etmez. </a:t>
            </a:r>
          </a:p>
          <a:p>
            <a:pPr algn="l">
              <a:lnSpc>
                <a:spcPts val="3499"/>
              </a:lnSpc>
            </a:pPr>
          </a:p>
          <a:p>
            <a:pPr algn="l">
              <a:lnSpc>
                <a:spcPts val="3499"/>
              </a:lnSpc>
            </a:pPr>
            <a:r>
              <a:rPr lang="en-US" sz="2499" spc="-117">
                <a:solidFill>
                  <a:srgbClr val="424242"/>
                </a:solidFill>
                <a:latin typeface="Raleway"/>
                <a:ea typeface="Raleway"/>
                <a:cs typeface="Raleway"/>
                <a:sym typeface="Raleway"/>
              </a:rPr>
              <a:t>Programların işlevsel birer ürüne dönüşebilmesi için bu verilerin belirli kurallar çerçevesinde işlenmesi, birbiriyle kıyaslanması ve mantıksal karar mekanizmalarına dâhil edilmesi gerekir.</a:t>
            </a:r>
          </a:p>
        </p:txBody>
      </p:sp>
    </p:spTree>
  </p:cSld>
  <p:clrMapOvr>
    <a:masterClrMapping/>
  </p:clrMapOvr>
</p:sld>
</file>

<file path=ppt/slides/slide12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2.3.1. Operatörler</a:t>
            </a:r>
          </a:p>
        </p:txBody>
      </p:sp>
      <p:sp>
        <p:nvSpPr>
          <p:cNvPr name="TextBox 3" id="3"/>
          <p:cNvSpPr txBox="true"/>
          <p:nvPr/>
        </p:nvSpPr>
        <p:spPr>
          <a:xfrm rot="0">
            <a:off x="1028700" y="1752600"/>
            <a:ext cx="16230600" cy="17462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Bilgisayarlarda veriler üzerinde matematiksel, karşılaştırmalı veya mantıksal yönlendirmeler yapmasını sağlayan özel sembollere ve karakter dizilerine </a:t>
            </a:r>
            <a:r>
              <a:rPr lang="en-US" sz="2499" spc="-117" b="true">
                <a:solidFill>
                  <a:srgbClr val="424242"/>
                </a:solidFill>
                <a:latin typeface="Raleway Bold"/>
                <a:ea typeface="Raleway Bold"/>
                <a:cs typeface="Raleway Bold"/>
                <a:sym typeface="Raleway Bold"/>
              </a:rPr>
              <a:t>operatör </a:t>
            </a:r>
            <a:r>
              <a:rPr lang="en-US" sz="2499" spc="-117">
                <a:solidFill>
                  <a:srgbClr val="424242"/>
                </a:solidFill>
                <a:latin typeface="Raleway"/>
                <a:ea typeface="Raleway"/>
                <a:cs typeface="Raleway"/>
                <a:sym typeface="Raleway"/>
              </a:rPr>
              <a:t>adı verilir. </a:t>
            </a:r>
          </a:p>
          <a:p>
            <a:pPr algn="l">
              <a:lnSpc>
                <a:spcPts val="3499"/>
              </a:lnSpc>
            </a:pPr>
          </a:p>
          <a:p>
            <a:pPr algn="l">
              <a:lnSpc>
                <a:spcPts val="3499"/>
              </a:lnSpc>
            </a:pPr>
            <a:r>
              <a:rPr lang="en-US" sz="2499" spc="-117">
                <a:solidFill>
                  <a:srgbClr val="424242"/>
                </a:solidFill>
                <a:latin typeface="Raleway"/>
                <a:ea typeface="Raleway"/>
                <a:cs typeface="Raleway"/>
                <a:sym typeface="Raleway"/>
              </a:rPr>
              <a:t>Operatörlerin işleme aldığı değişken ya da sab</a:t>
            </a:r>
            <a:r>
              <a:rPr lang="en-US" sz="2499" spc="-117">
                <a:solidFill>
                  <a:srgbClr val="424242"/>
                </a:solidFill>
                <a:latin typeface="Raleway"/>
                <a:ea typeface="Raleway"/>
                <a:cs typeface="Raleway"/>
                <a:sym typeface="Raleway"/>
              </a:rPr>
              <a:t>it </a:t>
            </a:r>
            <a:r>
              <a:rPr lang="en-US" sz="2499" spc="-117">
                <a:solidFill>
                  <a:srgbClr val="424242"/>
                </a:solidFill>
                <a:latin typeface="Raleway"/>
                <a:ea typeface="Raleway"/>
                <a:cs typeface="Raleway"/>
                <a:sym typeface="Raleway"/>
              </a:rPr>
              <a:t>değerlere ise </a:t>
            </a:r>
            <a:r>
              <a:rPr lang="en-US" sz="2499" spc="-117" b="true">
                <a:solidFill>
                  <a:srgbClr val="424242"/>
                </a:solidFill>
                <a:latin typeface="Raleway Bold"/>
                <a:ea typeface="Raleway Bold"/>
                <a:cs typeface="Raleway Bold"/>
                <a:sym typeface="Raleway Bold"/>
              </a:rPr>
              <a:t>operand </a:t>
            </a:r>
            <a:r>
              <a:rPr lang="en-US" sz="2499" spc="-117">
                <a:solidFill>
                  <a:srgbClr val="424242"/>
                </a:solidFill>
                <a:latin typeface="Raleway"/>
                <a:ea typeface="Raleway"/>
                <a:cs typeface="Raleway"/>
                <a:sym typeface="Raleway"/>
              </a:rPr>
              <a:t>denir.</a:t>
            </a:r>
          </a:p>
        </p:txBody>
      </p:sp>
    </p:spTree>
  </p:cSld>
  <p:clrMapOvr>
    <a:masterClrMapping/>
  </p:clrMapOvr>
</p:sld>
</file>

<file path=ppt/slides/slide12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b="true" sz="3000" spc="-141">
                <a:solidFill>
                  <a:srgbClr val="5EC596"/>
                </a:solidFill>
                <a:latin typeface="Raleway Bold"/>
                <a:ea typeface="Raleway Bold"/>
                <a:cs typeface="Raleway Bold"/>
                <a:sym typeface="Raleway Bold"/>
              </a:rPr>
              <a:t>Aritmetik Operatörler:</a:t>
            </a:r>
          </a:p>
        </p:txBody>
      </p:sp>
      <p:sp>
        <p:nvSpPr>
          <p:cNvPr name="TextBox 3" id="3"/>
          <p:cNvSpPr txBox="true"/>
          <p:nvPr/>
        </p:nvSpPr>
        <p:spPr>
          <a:xfrm rot="0">
            <a:off x="1028700" y="1607830"/>
            <a:ext cx="16230600" cy="8699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Matematiksel</a:t>
            </a:r>
            <a:r>
              <a:rPr lang="en-US" sz="2499" spc="-117">
                <a:solidFill>
                  <a:srgbClr val="424242"/>
                </a:solidFill>
                <a:latin typeface="Raleway"/>
                <a:ea typeface="Raleway"/>
                <a:cs typeface="Raleway"/>
                <a:sym typeface="Raleway"/>
              </a:rPr>
              <a:t> hes</a:t>
            </a:r>
            <a:r>
              <a:rPr lang="en-US" sz="2499" spc="-117">
                <a:solidFill>
                  <a:srgbClr val="424242"/>
                </a:solidFill>
                <a:latin typeface="Raleway"/>
                <a:ea typeface="Raleway"/>
                <a:cs typeface="Raleway"/>
                <a:sym typeface="Raleway"/>
              </a:rPr>
              <a:t>aplamaların, formülleri</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ve sayısal ver</a:t>
            </a:r>
            <a:r>
              <a:rPr lang="en-US" sz="2499" spc="-117">
                <a:solidFill>
                  <a:srgbClr val="424242"/>
                </a:solidFill>
                <a:latin typeface="Raleway"/>
                <a:ea typeface="Raleway"/>
                <a:cs typeface="Raleway"/>
                <a:sym typeface="Raleway"/>
              </a:rPr>
              <a:t>i a</a:t>
            </a:r>
            <a:r>
              <a:rPr lang="en-US" sz="2499" spc="-117">
                <a:solidFill>
                  <a:srgbClr val="424242"/>
                </a:solidFill>
                <a:latin typeface="Raleway"/>
                <a:ea typeface="Raleway"/>
                <a:cs typeface="Raleway"/>
                <a:sym typeface="Raleway"/>
              </a:rPr>
              <a:t>nalizlerinin kayn</a:t>
            </a:r>
            <a:r>
              <a:rPr lang="en-US" sz="2499" spc="-117">
                <a:solidFill>
                  <a:srgbClr val="424242"/>
                </a:solidFill>
                <a:latin typeface="Raleway"/>
                <a:ea typeface="Raleway"/>
                <a:cs typeface="Raleway"/>
                <a:sym typeface="Raleway"/>
              </a:rPr>
              <a:t>ak</a:t>
            </a:r>
            <a:r>
              <a:rPr lang="en-US" sz="2499" spc="-117">
                <a:solidFill>
                  <a:srgbClr val="424242"/>
                </a:solidFill>
                <a:latin typeface="Raleway"/>
                <a:ea typeface="Raleway"/>
                <a:cs typeface="Raleway"/>
                <a:sym typeface="Raleway"/>
              </a:rPr>
              <a:t> kod içerisinde çalıştırılmasını sağl</a:t>
            </a:r>
            <a:r>
              <a:rPr lang="en-US" sz="2499" spc="-117">
                <a:solidFill>
                  <a:srgbClr val="424242"/>
                </a:solidFill>
                <a:latin typeface="Raleway"/>
                <a:ea typeface="Raleway"/>
                <a:cs typeface="Raleway"/>
                <a:sym typeface="Raleway"/>
              </a:rPr>
              <a:t>ay</a:t>
            </a:r>
            <a:r>
              <a:rPr lang="en-US" sz="2499" spc="-117">
                <a:solidFill>
                  <a:srgbClr val="424242"/>
                </a:solidFill>
                <a:latin typeface="Raleway"/>
                <a:ea typeface="Raleway"/>
                <a:cs typeface="Raleway"/>
                <a:sym typeface="Raleway"/>
              </a:rPr>
              <a:t>an sembollerdir.</a:t>
            </a:r>
          </a:p>
        </p:txBody>
      </p:sp>
      <p:graphicFrame>
        <p:nvGraphicFramePr>
          <p:cNvPr name="Table 4" id="4"/>
          <p:cNvGraphicFramePr>
            <a:graphicFrameLocks noGrp="true"/>
          </p:cNvGraphicFramePr>
          <p:nvPr/>
        </p:nvGraphicFramePr>
        <p:xfrm>
          <a:off x="1028700" y="2658755"/>
          <a:ext cx="16230600" cy="6791325"/>
        </p:xfrm>
        <a:graphic>
          <a:graphicData uri="http://schemas.openxmlformats.org/drawingml/2006/table">
            <a:tbl>
              <a:tblPr/>
              <a:tblGrid>
                <a:gridCol w="1556983"/>
                <a:gridCol w="1507950"/>
                <a:gridCol w="9966579"/>
                <a:gridCol w="1599544"/>
                <a:gridCol w="1599544"/>
              </a:tblGrid>
              <a:tr h="667686">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Operatör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Sembol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Görevi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sz="2499" b="true">
                          <a:solidFill>
                            <a:srgbClr val="000000"/>
                          </a:solidFill>
                          <a:latin typeface="Raleway Bold"/>
                          <a:ea typeface="Raleway Bold"/>
                          <a:cs typeface="Raleway Bold"/>
                          <a:sym typeface="Raleway Bold"/>
                        </a:rPr>
                        <a:t>Örnek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sz="2499" b="true">
                          <a:solidFill>
                            <a:srgbClr val="000000"/>
                          </a:solidFill>
                          <a:latin typeface="Raleway Bold"/>
                          <a:ea typeface="Raleway Bold"/>
                          <a:cs typeface="Raleway Bold"/>
                          <a:sym typeface="Raleway Bold"/>
                        </a:rPr>
                        <a:t>Çıktı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r>
              <a:tr h="92522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Toplama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İki sayısal veriyi toplar. Metinsel veriler arasında kullanıldığında ise birleştirme (concatenation) işlevi görür.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5 + 3</a:t>
                      </a:r>
                      <a:r>
                        <a:rPr lang="en-US" sz="2000">
                          <a:solidFill>
                            <a:srgbClr val="000000"/>
                          </a:solidFill>
                          <a:latin typeface="Raleway"/>
                          <a:ea typeface="Raleway"/>
                          <a:cs typeface="Raleway"/>
                          <a:sym typeface="Raleway"/>
                        </a:rPr>
                        <a:t>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8</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Çıkarma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Soldaki sayısal değerden sağdaki sayısal değeri çıkarır.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6</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22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Çarpma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İki sayısal değeri çarpar. Metinsel bir veri ile bir tam sayı arasında kullanıldığında metni belirtilen sayı kadar ardışık olarak çoğaltır.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3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814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Bölme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Soldaki değeri sağdaki değere böler. Python bellek mimarisinde bu operatörün ürettiği sonuç, bölünen sayılar tam sayı olsa dahi her zaman ondalıklı sayı (float) türünde tahsis edilir.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22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Taban Bölme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Bölme sonucunun taban değerini, yani kendisinden büyük olmayan en yakın tam sayıyı üretir.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22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Mod Alma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Bölme işlemi sonucunda kalan sayısal değeri sisteme döndürür. Özellikle bir sayının tek mi, çift mi olduğunun denetlenmesinde (2'ye göre mod alma) sıklıkla kullanılır.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10 %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3</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30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Üs Alma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Soldaki sayının, sağdaki sayı kadar kuvvetini (üssünü) hesaplar.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5 ** 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2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Python Aritmetik Operatörleri ve Çıktı Analizleri</a:t>
            </a:r>
          </a:p>
        </p:txBody>
      </p:sp>
      <p:graphicFrame>
        <p:nvGraphicFramePr>
          <p:cNvPr name="Table 3" id="3"/>
          <p:cNvGraphicFramePr>
            <a:graphicFrameLocks noGrp="true"/>
          </p:cNvGraphicFramePr>
          <p:nvPr/>
        </p:nvGraphicFramePr>
        <p:xfrm>
          <a:off x="1028700" y="1622425"/>
          <a:ext cx="16230600" cy="4457700"/>
        </p:xfrm>
        <a:graphic>
          <a:graphicData uri="http://schemas.openxmlformats.org/drawingml/2006/table">
            <a:tbl>
              <a:tblPr/>
              <a:tblGrid>
                <a:gridCol w="2777037"/>
                <a:gridCol w="1960746"/>
                <a:gridCol w="1623657"/>
                <a:gridCol w="2027421"/>
                <a:gridCol w="7841739"/>
              </a:tblGrid>
              <a:tr h="1107266">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İşlem İfadesi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Kullanılan Operatör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Çıktı Sonucu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Elde Edilen Veri Türü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Teknik 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r>
              <a:tr h="92590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float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Bölme işleminin sonucu her zaman ondalıklı (float) veri türünde üretilir.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90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Tam bölme işlemi, sonucun ondalıklı kısmını kaldırarak tam sayı değerini döndürür.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72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13 %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3</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Mod alma işlemi, bölme sonucunda kalan değeri üretir.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90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5 ** 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Üs alma işlemi, sayının belirtilen kuvvetini hesaplayarak sonucu üretir.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2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5EC596"/>
                </a:solidFill>
                <a:latin typeface="Raleway Bold"/>
                <a:ea typeface="Raleway Bold"/>
                <a:cs typeface="Raleway Bold"/>
                <a:sym typeface="Raleway Bold"/>
              </a:rPr>
              <a:t>Ka</a:t>
            </a:r>
            <a:r>
              <a:rPr lang="en-US" b="true" sz="3000" spc="-141">
                <a:solidFill>
                  <a:srgbClr val="5EC596"/>
                </a:solidFill>
                <a:latin typeface="Raleway Bold"/>
                <a:ea typeface="Raleway Bold"/>
                <a:cs typeface="Raleway Bold"/>
                <a:sym typeface="Raleway Bold"/>
              </a:rPr>
              <a:t>rşılaştırma Operatörleri:</a:t>
            </a:r>
          </a:p>
        </p:txBody>
      </p:sp>
      <p:sp>
        <p:nvSpPr>
          <p:cNvPr name="TextBox 3" id="3"/>
          <p:cNvSpPr txBox="true"/>
          <p:nvPr/>
        </p:nvSpPr>
        <p:spPr>
          <a:xfrm rot="0">
            <a:off x="1028700" y="1649412"/>
            <a:ext cx="16230600" cy="13081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İki verinin birbiriyle olan büyüklük, küçüklük veya eşitlik durumlarını analiz etmek amacıyla kullanılan matematiksel</a:t>
            </a:r>
            <a:r>
              <a:rPr lang="en-US" sz="2499" spc="-117">
                <a:solidFill>
                  <a:srgbClr val="424242"/>
                </a:solidFill>
                <a:latin typeface="Raleway"/>
                <a:ea typeface="Raleway"/>
                <a:cs typeface="Raleway"/>
                <a:sym typeface="Raleway"/>
              </a:rPr>
              <a:t> denetim </a:t>
            </a:r>
            <a:r>
              <a:rPr lang="en-US" sz="2499" spc="-117">
                <a:solidFill>
                  <a:srgbClr val="424242"/>
                </a:solidFill>
                <a:latin typeface="Raleway"/>
                <a:ea typeface="Raleway"/>
                <a:cs typeface="Raleway"/>
                <a:sym typeface="Raleway"/>
              </a:rPr>
              <a:t>araçlarıdır. Karşılaştırma (İlişkisel) operatörleri,</a:t>
            </a:r>
            <a:r>
              <a:rPr lang="en-US" sz="2499" spc="-117">
                <a:solidFill>
                  <a:srgbClr val="424242"/>
                </a:solidFill>
                <a:latin typeface="Raleway"/>
                <a:ea typeface="Raleway"/>
                <a:cs typeface="Raleway"/>
                <a:sym typeface="Raleway"/>
              </a:rPr>
              <a:t> u</a:t>
            </a:r>
            <a:r>
              <a:rPr lang="en-US" sz="2499" spc="-117">
                <a:solidFill>
                  <a:srgbClr val="424242"/>
                </a:solidFill>
                <a:latin typeface="Raleway"/>
                <a:ea typeface="Raleway"/>
                <a:cs typeface="Raleway"/>
                <a:sym typeface="Raleway"/>
              </a:rPr>
              <a:t>yumlu ver</a:t>
            </a:r>
            <a:r>
              <a:rPr lang="en-US" sz="2499" spc="-117">
                <a:solidFill>
                  <a:srgbClr val="424242"/>
                </a:solidFill>
                <a:latin typeface="Raleway"/>
                <a:ea typeface="Raleway"/>
                <a:cs typeface="Raleway"/>
                <a:sym typeface="Raleway"/>
              </a:rPr>
              <a:t>i tür</a:t>
            </a:r>
            <a:r>
              <a:rPr lang="en-US" sz="2499" spc="-117">
                <a:solidFill>
                  <a:srgbClr val="424242"/>
                </a:solidFill>
                <a:latin typeface="Raleway"/>
                <a:ea typeface="Raleway"/>
                <a:cs typeface="Raleway"/>
                <a:sym typeface="Raleway"/>
              </a:rPr>
              <a:t>leri arasınd</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 kullanıldığında sisteme her zaman mantıksal veri türünde sadece True ve</a:t>
            </a: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a False çıktısı üretir.</a:t>
            </a:r>
          </a:p>
        </p:txBody>
      </p:sp>
      <p:graphicFrame>
        <p:nvGraphicFramePr>
          <p:cNvPr name="Table 4" id="4"/>
          <p:cNvGraphicFramePr>
            <a:graphicFrameLocks noGrp="true"/>
          </p:cNvGraphicFramePr>
          <p:nvPr/>
        </p:nvGraphicFramePr>
        <p:xfrm>
          <a:off x="1028700" y="3176588"/>
          <a:ext cx="16230600" cy="4105275"/>
        </p:xfrm>
        <a:graphic>
          <a:graphicData uri="http://schemas.openxmlformats.org/drawingml/2006/table">
            <a:tbl>
              <a:tblPr/>
              <a:tblGrid>
                <a:gridCol w="1930156"/>
                <a:gridCol w="1580415"/>
                <a:gridCol w="8575480"/>
                <a:gridCol w="2081695"/>
                <a:gridCol w="2062855"/>
              </a:tblGrid>
              <a:tr h="668301">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Operatör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Sembol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Anlamı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Çıktı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r>
              <a:tr h="57282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Eşittir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İki tarafın değerlerinin birbirine eşit olup olmadığını denetler.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5 ==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82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Eşit Değildir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İki tarafın değerlerinin birbirinden farklı olup olmadığını denetler.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10 != 10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82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Büyüktür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&gt;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Soldaki değerin sağdakinden büyüklük durumunu denetler.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7 &gt; 3</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82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Küçüktür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&lt;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Soldaki değerin sağdakinden küçüklük durumunu denetler.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 &lt; 8</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82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Büyük Eşittir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&gt;=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Değerlerin hem büyüklük hem de eşitlik sınır durumlarını kontrol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5 &gt;=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82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Küçük Eşittir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&lt;=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Değerlerin hem küçüklük hem de eşitlik sınır durumlarını kontrol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3 &lt;= 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TextBox 5" id="5"/>
          <p:cNvSpPr txBox="true"/>
          <p:nvPr/>
        </p:nvSpPr>
        <p:spPr>
          <a:xfrm rot="0">
            <a:off x="1028700" y="7443788"/>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Önemli Not: </a:t>
            </a:r>
            <a:r>
              <a:rPr lang="en-US" sz="2499" spc="-117">
                <a:solidFill>
                  <a:srgbClr val="424242"/>
                </a:solidFill>
                <a:latin typeface="Raleway"/>
                <a:ea typeface="Raleway"/>
                <a:cs typeface="Raleway"/>
                <a:sym typeface="Raleway"/>
              </a:rPr>
              <a:t>Tek eşittir = sembolü bellekte veri atama eylemidir, çift eşittir == ise mantıksal kıyaslama operatörüdür.</a:t>
            </a:r>
          </a:p>
        </p:txBody>
      </p:sp>
    </p:spTree>
  </p:cSld>
  <p:clrMapOvr>
    <a:masterClrMapping/>
  </p:clrMapOvr>
</p:sld>
</file>

<file path=ppt/slides/slide126.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5EC596"/>
                </a:solidFill>
                <a:latin typeface="Raleway Bold"/>
                <a:ea typeface="Raleway Bold"/>
                <a:cs typeface="Raleway Bold"/>
                <a:sym typeface="Raleway Bold"/>
              </a:rPr>
              <a:t>M</a:t>
            </a:r>
            <a:r>
              <a:rPr lang="en-US" b="true" sz="3000" spc="-141">
                <a:solidFill>
                  <a:srgbClr val="5EC596"/>
                </a:solidFill>
                <a:latin typeface="Raleway Bold"/>
                <a:ea typeface="Raleway Bold"/>
                <a:cs typeface="Raleway Bold"/>
                <a:sym typeface="Raleway Bold"/>
              </a:rPr>
              <a:t>antıksal Operatörler:</a:t>
            </a:r>
          </a:p>
        </p:txBody>
      </p:sp>
      <p:sp>
        <p:nvSpPr>
          <p:cNvPr name="TextBox 3" id="3"/>
          <p:cNvSpPr txBox="true"/>
          <p:nvPr/>
        </p:nvSpPr>
        <p:spPr>
          <a:xfrm rot="0">
            <a:off x="1028700" y="1567835"/>
            <a:ext cx="16230600" cy="13081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Birden fazla karşılaştırma ifadesinin veya mantıksal durumun birleştirilerek tek bir nihai karar meka</a:t>
            </a:r>
            <a:r>
              <a:rPr lang="en-US" sz="2499" spc="-117">
                <a:solidFill>
                  <a:srgbClr val="424242"/>
                </a:solidFill>
                <a:latin typeface="Raleway"/>
                <a:ea typeface="Raleway"/>
                <a:cs typeface="Raleway"/>
                <a:sym typeface="Raleway"/>
              </a:rPr>
              <a:t>nizm</a:t>
            </a:r>
            <a:r>
              <a:rPr lang="en-US" sz="2499" spc="-117">
                <a:solidFill>
                  <a:srgbClr val="424242"/>
                </a:solidFill>
                <a:latin typeface="Raleway"/>
                <a:ea typeface="Raleway"/>
                <a:cs typeface="Raleway"/>
                <a:sym typeface="Raleway"/>
              </a:rPr>
              <a:t>asına dönüştürülmesini sağlayan operatörlerdir. Özell</a:t>
            </a:r>
            <a:r>
              <a:rPr lang="en-US" sz="2499" spc="-117">
                <a:solidFill>
                  <a:srgbClr val="424242"/>
                </a:solidFill>
                <a:latin typeface="Raleway"/>
                <a:ea typeface="Raleway"/>
                <a:cs typeface="Raleway"/>
                <a:sym typeface="Raleway"/>
              </a:rPr>
              <a:t>ikle prog</a:t>
            </a:r>
            <a:r>
              <a:rPr lang="en-US" sz="2499" spc="-117">
                <a:solidFill>
                  <a:srgbClr val="424242"/>
                </a:solidFill>
                <a:latin typeface="Raleway"/>
                <a:ea typeface="Raleway"/>
                <a:cs typeface="Raleway"/>
                <a:sym typeface="Raleway"/>
              </a:rPr>
              <a:t>ram akışınd</a:t>
            </a:r>
            <a:r>
              <a:rPr lang="en-US" sz="2499" spc="-117">
                <a:solidFill>
                  <a:srgbClr val="424242"/>
                </a:solidFill>
                <a:latin typeface="Raleway"/>
                <a:ea typeface="Raleway"/>
                <a:cs typeface="Raleway"/>
                <a:sym typeface="Raleway"/>
              </a:rPr>
              <a:t>aki</a:t>
            </a:r>
            <a:r>
              <a:rPr lang="en-US" sz="2499" spc="-117">
                <a:solidFill>
                  <a:srgbClr val="424242"/>
                </a:solidFill>
                <a:latin typeface="Raleway"/>
                <a:ea typeface="Raleway"/>
                <a:cs typeface="Raleway"/>
                <a:sym typeface="Raleway"/>
              </a:rPr>
              <a:t> çoklu şart senaryolarının denetlenmesinde kritik rol o</a:t>
            </a:r>
            <a:r>
              <a:rPr lang="en-US" sz="2499" spc="-117">
                <a:solidFill>
                  <a:srgbClr val="424242"/>
                </a:solidFill>
                <a:latin typeface="Raleway"/>
                <a:ea typeface="Raleway"/>
                <a:cs typeface="Raleway"/>
                <a:sym typeface="Raleway"/>
              </a:rPr>
              <a:t>yn</a:t>
            </a:r>
            <a:r>
              <a:rPr lang="en-US" sz="2499" spc="-117">
                <a:solidFill>
                  <a:srgbClr val="424242"/>
                </a:solidFill>
                <a:latin typeface="Raleway"/>
                <a:ea typeface="Raleway"/>
                <a:cs typeface="Raleway"/>
                <a:sym typeface="Raleway"/>
              </a:rPr>
              <a:t>arlar.</a:t>
            </a:r>
          </a:p>
        </p:txBody>
      </p:sp>
      <p:graphicFrame>
        <p:nvGraphicFramePr>
          <p:cNvPr name="Table 4" id="4"/>
          <p:cNvGraphicFramePr>
            <a:graphicFrameLocks noGrp="true"/>
          </p:cNvGraphicFramePr>
          <p:nvPr/>
        </p:nvGraphicFramePr>
        <p:xfrm>
          <a:off x="1028700" y="3018810"/>
          <a:ext cx="16230600" cy="4505325"/>
        </p:xfrm>
        <a:graphic>
          <a:graphicData uri="http://schemas.openxmlformats.org/drawingml/2006/table">
            <a:tbl>
              <a:tblPr/>
              <a:tblGrid>
                <a:gridCol w="1670330"/>
                <a:gridCol w="1460495"/>
                <a:gridCol w="8955225"/>
                <a:gridCol w="2081695"/>
                <a:gridCol w="2062855"/>
              </a:tblGrid>
              <a:tr h="668163">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Operatör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Sembol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Görevi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Örnek</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Çıktı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AFBF4"/>
                    </a:solidFill>
                  </a:tcPr>
                </a:tc>
              </a:tr>
              <a:tr h="127905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ve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and</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Bağladığı tüm karşılaştırma ifadelerinin veya mantıksal durumların tamamının True olması durumunda True sonucunu üretir. Koşullardan tek bir tanesi bile False olursa nihai çıktı doğrudan False olur.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(5 &gt; 2) </a:t>
                      </a:r>
                      <a:r>
                        <a:rPr lang="en-US" sz="2000" b="true">
                          <a:solidFill>
                            <a:srgbClr val="000000"/>
                          </a:solidFill>
                          <a:latin typeface="Raleway Bold"/>
                          <a:ea typeface="Raleway Bold"/>
                          <a:cs typeface="Raleway Bold"/>
                          <a:sym typeface="Raleway Bold"/>
                        </a:rPr>
                        <a:t>and </a:t>
                      </a:r>
                      <a:r>
                        <a:rPr lang="en-US" sz="2000">
                          <a:solidFill>
                            <a:srgbClr val="000000"/>
                          </a:solidFill>
                          <a:latin typeface="Raleway"/>
                          <a:ea typeface="Raleway"/>
                          <a:cs typeface="Raleway"/>
                          <a:sym typeface="Raleway"/>
                        </a:rPr>
                        <a:t>(3 &lt; 1)</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905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veya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or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Bağladığı koşullardan en az bir tanesinin True olması durumunda True çıktısını basar. Sistemin False üretmesi için tüm koşulların aynı anda False olması gerekir.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(5 &gt; 2) </a:t>
                      </a:r>
                      <a:r>
                        <a:rPr lang="en-US" sz="2000" b="true">
                          <a:solidFill>
                            <a:srgbClr val="000000"/>
                          </a:solidFill>
                          <a:latin typeface="Raleway Bold"/>
                          <a:ea typeface="Raleway Bold"/>
                          <a:cs typeface="Raleway Bold"/>
                          <a:sym typeface="Raleway Bold"/>
                        </a:rPr>
                        <a:t>or </a:t>
                      </a:r>
                      <a:r>
                        <a:rPr lang="en-US" sz="2000">
                          <a:solidFill>
                            <a:srgbClr val="000000"/>
                          </a:solidFill>
                          <a:latin typeface="Raleway"/>
                          <a:ea typeface="Raleway"/>
                          <a:cs typeface="Raleway"/>
                          <a:sym typeface="Raleway"/>
                        </a:rPr>
                        <a:t>(3 &lt; 1)</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9054">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değil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not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Önüne geldiği mantıksal değerin veya karşılaştırma sonucunun tersini alır. Bu operatör; True olan bir durumu False hâline getirir, False olan bir durumu ise True olarak tersine çevirir.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not </a:t>
                      </a:r>
                      <a:r>
                        <a:rPr lang="en-US" sz="2000">
                          <a:solidFill>
                            <a:srgbClr val="000000"/>
                          </a:solidFill>
                          <a:latin typeface="Raleway"/>
                          <a:ea typeface="Raleway"/>
                          <a:cs typeface="Raleway"/>
                          <a:sym typeface="Raleway"/>
                        </a:rPr>
                        <a:t>(10 &gt; 20)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
        <p:nvSpPr>
          <p:cNvPr name="TextBox 5" id="5"/>
          <p:cNvSpPr txBox="true"/>
          <p:nvPr/>
        </p:nvSpPr>
        <p:spPr>
          <a:xfrm rot="0">
            <a:off x="1028700" y="8038485"/>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Önemli Not: </a:t>
            </a:r>
            <a:r>
              <a:rPr lang="en-US" sz="2499" spc="-117">
                <a:solidFill>
                  <a:srgbClr val="424242"/>
                </a:solidFill>
                <a:latin typeface="Raleway"/>
                <a:ea typeface="Raleway"/>
                <a:cs typeface="Raleway"/>
                <a:sym typeface="Raleway"/>
              </a:rPr>
              <a:t>Tek eşittir = sembolü bellekte veri atama eylemidir, çift eşittir == ise mantıksal kıyaslama operatörüdür.</a:t>
            </a:r>
          </a:p>
        </p:txBody>
      </p:sp>
    </p:spTree>
  </p:cSld>
  <p:clrMapOvr>
    <a:masterClrMapping/>
  </p:clrMapOvr>
</p:sld>
</file>

<file path=ppt/slides/slide127.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Python Operatörleri ve Çıktı Analizleri</a:t>
            </a:r>
          </a:p>
        </p:txBody>
      </p:sp>
      <p:graphicFrame>
        <p:nvGraphicFramePr>
          <p:cNvPr name="Table 3" id="3"/>
          <p:cNvGraphicFramePr>
            <a:graphicFrameLocks noGrp="true"/>
          </p:cNvGraphicFramePr>
          <p:nvPr/>
        </p:nvGraphicFramePr>
        <p:xfrm>
          <a:off x="1028700" y="1622425"/>
          <a:ext cx="16230600" cy="7448550"/>
        </p:xfrm>
        <a:graphic>
          <a:graphicData uri="http://schemas.openxmlformats.org/drawingml/2006/table">
            <a:tbl>
              <a:tblPr/>
              <a:tblGrid>
                <a:gridCol w="3376635"/>
                <a:gridCol w="2220572"/>
                <a:gridCol w="1943443"/>
                <a:gridCol w="2047407"/>
                <a:gridCol w="6642542"/>
              </a:tblGrid>
              <a:tr h="1106315">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İşlem İfadesi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Kullanılan Operatör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Çıktı Sonucu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Elde Edilen Veri Türü</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Teknik 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E9E9E9"/>
                    </a:solidFill>
                  </a:tcPr>
                </a:tc>
              </a:tr>
              <a:tr h="572232">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float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Bölme işlemi otomatik olarak float hücre tahsis eder.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232">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10 // 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Ondalık kısım (0.5) bellekten atılarak tam sayı bırakılır.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232">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sonuc = 13 %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3</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int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13'ün 5'e bölümünden kalan sayısal değer üretilir.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10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kontrol = (5 == 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İki değer birbirine eşit olduğu için koşul sağlanır ve True sonucu üretilir.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10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kontrol = (10 != 10)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Değerler birbirine eşit olduğu için "eşit değildir" koşulu sağlanmaz ve False sonucu üretilir.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10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onay = (5 &gt; 2) and (3 &lt; 1)</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and</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False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Koşullardan biri yanlış (False) olduğu için ve (ve) kuralı gereği sonuç False olur.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10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onay = (5 &gt; 2) or (3 &lt; 1)</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or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İlk koşul doğru (True) olduğu için or (veya) kuralı gereği tek bir şartın sağlanması yeterlidir ve sonuç True olur.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10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onay = not (10 &gt; 20)</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not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True</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bool</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Parantez içi False sonucunu verir; not (değil) operatörü bu değeri tersine çevirerek True yapar.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717833" y="1907395"/>
            <a:ext cx="14992158"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 bilgisayar yazılımı tasarlanırken sisteme girilen bir kullanıcı şifresini</a:t>
            </a:r>
            <a:r>
              <a:rPr lang="en-US" sz="2499" spc="-117">
                <a:solidFill>
                  <a:srgbClr val="424242"/>
                </a:solidFill>
                <a:latin typeface="Raleway"/>
                <a:ea typeface="Raleway"/>
                <a:cs typeface="Raleway"/>
                <a:sym typeface="Raleway"/>
              </a:rPr>
              <a:t>n h</a:t>
            </a:r>
            <a:r>
              <a:rPr lang="en-US" sz="2499" spc="-117">
                <a:solidFill>
                  <a:srgbClr val="424242"/>
                </a:solidFill>
                <a:latin typeface="Raleway"/>
                <a:ea typeface="Raleway"/>
                <a:cs typeface="Raleway"/>
                <a:sym typeface="Raleway"/>
              </a:rPr>
              <a:t>em </a:t>
            </a:r>
            <a:r>
              <a:rPr lang="en-US" sz="2499" spc="-117" b="true">
                <a:solidFill>
                  <a:srgbClr val="424242"/>
                </a:solidFill>
                <a:latin typeface="Raleway Bold"/>
                <a:ea typeface="Raleway Bold"/>
                <a:cs typeface="Raleway Bold"/>
                <a:sym typeface="Raleway Bold"/>
              </a:rPr>
              <a:t>en az 8 karakterden oluşması </a:t>
            </a:r>
            <a:r>
              <a:rPr lang="en-US" sz="2499" spc="-117">
                <a:solidFill>
                  <a:srgbClr val="424242"/>
                </a:solidFill>
                <a:latin typeface="Raleway"/>
                <a:ea typeface="Raleway"/>
                <a:cs typeface="Raleway"/>
                <a:sym typeface="Raleway"/>
              </a:rPr>
              <a:t>hem de</a:t>
            </a:r>
            <a:r>
              <a:rPr lang="en-US" sz="2499" spc="-117">
                <a:solidFill>
                  <a:srgbClr val="424242"/>
                </a:solidFill>
                <a:latin typeface="Raleway"/>
                <a:ea typeface="Raleway"/>
                <a:cs typeface="Raleway"/>
                <a:sym typeface="Raleway"/>
              </a:rPr>
              <a:t> içi</a:t>
            </a:r>
            <a:r>
              <a:rPr lang="en-US" sz="2499" spc="-117">
                <a:solidFill>
                  <a:srgbClr val="424242"/>
                </a:solidFill>
                <a:latin typeface="Raleway"/>
                <a:ea typeface="Raleway"/>
                <a:cs typeface="Raleway"/>
                <a:sym typeface="Raleway"/>
              </a:rPr>
              <a:t>nde </a:t>
            </a:r>
            <a:r>
              <a:rPr lang="en-US" sz="2499" spc="-117" b="true">
                <a:solidFill>
                  <a:srgbClr val="424242"/>
                </a:solidFill>
                <a:latin typeface="Raleway Bold"/>
                <a:ea typeface="Raleway Bold"/>
                <a:cs typeface="Raleway Bold"/>
                <a:sym typeface="Raleway Bold"/>
              </a:rPr>
              <a:t>en az bir adet özel sembol barındırması</a:t>
            </a:r>
            <a:r>
              <a:rPr lang="en-US" sz="2499" spc="-117">
                <a:solidFill>
                  <a:srgbClr val="424242"/>
                </a:solidFill>
                <a:latin typeface="Raleway"/>
                <a:ea typeface="Raleway"/>
                <a:cs typeface="Raleway"/>
                <a:sym typeface="Raleway"/>
              </a:rPr>
              <a:t> kurallarının aynı anda kontrol edilmesi istenmektedir. </a:t>
            </a:r>
          </a:p>
          <a:p>
            <a:pPr algn="l">
              <a:lnSpc>
                <a:spcPts val="3499"/>
              </a:lnSpc>
            </a:pPr>
          </a:p>
          <a:p>
            <a:pPr algn="l">
              <a:lnSpc>
                <a:spcPts val="3499"/>
              </a:lnSpc>
            </a:pPr>
            <a:r>
              <a:rPr lang="en-US" sz="2499" spc="-117">
                <a:solidFill>
                  <a:srgbClr val="424242"/>
                </a:solidFill>
                <a:latin typeface="Raleway"/>
                <a:ea typeface="Raleway"/>
                <a:cs typeface="Raleway"/>
                <a:sym typeface="Raleway"/>
              </a:rPr>
              <a:t>Bu iki şartın kontrolü için ilişkisel operatörlerin ardından hangi mantıksal operatör kullanılmalıdır? Nedenini gerekçeleriyle açıklayınız.</a:t>
            </a:r>
          </a:p>
        </p:txBody>
      </p:sp>
      <p:sp>
        <p:nvSpPr>
          <p:cNvPr name="Freeform 3" id="3"/>
          <p:cNvSpPr/>
          <p:nvPr/>
        </p:nvSpPr>
        <p:spPr>
          <a:xfrm flipH="false" flipV="false" rot="0">
            <a:off x="5949966" y="4022752"/>
            <a:ext cx="6527893" cy="5124396"/>
          </a:xfrm>
          <a:custGeom>
            <a:avLst/>
            <a:gdLst/>
            <a:ahLst/>
            <a:cxnLst/>
            <a:rect r="r" b="b" t="t" l="l"/>
            <a:pathLst>
              <a:path h="5124396" w="6527893">
                <a:moveTo>
                  <a:pt x="0" y="0"/>
                </a:moveTo>
                <a:lnTo>
                  <a:pt x="6527892" y="0"/>
                </a:lnTo>
                <a:lnTo>
                  <a:pt x="6527892" y="5124396"/>
                </a:lnTo>
                <a:lnTo>
                  <a:pt x="0" y="5124396"/>
                </a:lnTo>
                <a:lnTo>
                  <a:pt x="0" y="0"/>
                </a:lnTo>
                <a:close/>
              </a:path>
            </a:pathLst>
          </a:custGeom>
          <a:blipFill>
            <a:blip r:embed="rId2"/>
            <a:stretch>
              <a:fillRect l="0" t="0" r="0" b="0"/>
            </a:stretch>
          </a:blipFill>
        </p:spPr>
      </p:sp>
      <p:sp>
        <p:nvSpPr>
          <p:cNvPr name="Freeform 4" id="4"/>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olid"/>
            <a:headEnd type="none" len="sm" w="sm"/>
            <a:tailEnd type="none" len="sm" w="sm"/>
          </a:ln>
        </p:spPr>
      </p:sp>
      <p:sp>
        <p:nvSpPr>
          <p:cNvPr name="TextBox 5" id="5"/>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Düşünelim-Tartışalım</a:t>
            </a:r>
          </a:p>
        </p:txBody>
      </p:sp>
    </p:spTree>
  </p:cSld>
  <p:clrMapOvr>
    <a:masterClrMapping/>
  </p:clrMapOvr>
</p:sld>
</file>

<file path=ppt/slides/slide12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4248571"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Bold"/>
                <a:ea typeface="Raleway Bold"/>
                <a:cs typeface="Raleway Bold"/>
                <a:sym typeface="Raleway Bold"/>
              </a:rPr>
              <a:t>UYGULAMA 7: </a:t>
            </a:r>
            <a:r>
              <a:rPr lang="en-US" sz="3000" spc="-51" b="true">
                <a:solidFill>
                  <a:srgbClr val="203251"/>
                </a:solidFill>
                <a:latin typeface="Raleway Bold"/>
                <a:ea typeface="Raleway Bold"/>
                <a:cs typeface="Raleway Bold"/>
                <a:sym typeface="Raleway Bold"/>
              </a:rPr>
              <a:t>ARİTMETİKSEL VE MANTIKSAL ANALİZ</a:t>
            </a:r>
          </a:p>
        </p:txBody>
      </p:sp>
      <p:sp>
        <p:nvSpPr>
          <p:cNvPr name="TextBox 4" id="4"/>
          <p:cNvSpPr txBox="true"/>
          <p:nvPr/>
        </p:nvSpPr>
        <p:spPr>
          <a:xfrm rot="0">
            <a:off x="1028700" y="1845633"/>
            <a:ext cx="13314268" cy="58216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Bold"/>
                <a:ea typeface="Raleway Bold"/>
                <a:cs typeface="Raleway Bold"/>
                <a:sym typeface="Raleway Bold"/>
              </a:rPr>
              <a:t>Uygulamanın Amacı: </a:t>
            </a:r>
            <a:r>
              <a:rPr lang="en-US" sz="2550" spc="-43">
                <a:solidFill>
                  <a:srgbClr val="203251"/>
                </a:solidFill>
                <a:latin typeface="Raleway"/>
                <a:ea typeface="Raleway"/>
                <a:cs typeface="Raleway"/>
                <a:sym typeface="Raleway"/>
              </a:rPr>
              <a:t>Farklı operatör gruplarının (aritmetik, ilişkisel, mantıksal) çalışma mekanizmalarını kaynak kodlar üzerinden test etmek, bölme operatörlerinin (/, //) ürettiği sonuçları karşılaştırmak ve karmaşık mantıksal koşulların ürettiği bool sonuçlarını terminal ekranında analiz etmek</a:t>
            </a:r>
          </a:p>
          <a:p>
            <a:pPr algn="l">
              <a:lnSpc>
                <a:spcPts val="3569"/>
              </a:lnSpc>
            </a:pPr>
          </a:p>
          <a:p>
            <a:pPr algn="l">
              <a:lnSpc>
                <a:spcPts val="3569"/>
              </a:lnSpc>
            </a:pPr>
            <a:r>
              <a:rPr lang="en-US" sz="2550" spc="-43" b="true">
                <a:solidFill>
                  <a:srgbClr val="203251"/>
                </a:solidFill>
                <a:latin typeface="Raleway Bold"/>
                <a:ea typeface="Raleway Bold"/>
                <a:cs typeface="Raleway Bold"/>
                <a:sym typeface="Raleway Bold"/>
              </a:rPr>
              <a:t>Problem Senaryosu: </a:t>
            </a:r>
            <a:r>
              <a:rPr lang="en-US" sz="2550" spc="-43">
                <a:solidFill>
                  <a:srgbClr val="203251"/>
                </a:solidFill>
                <a:latin typeface="Raleway"/>
                <a:ea typeface="Raleway"/>
                <a:cs typeface="Raleway"/>
                <a:sym typeface="Raleway"/>
              </a:rPr>
              <a:t>Kod-Asistan projesinin merkezi karar ve matematiksel işlem modülünün v0.2 sürüm taslağı hazırlanmaktadır. Bu modül kapsamında asistanın, sisteme dâhil edilen sayısal veriler üzerinde taban bölme ve kalan hesaplama işlemlerini yürütmesi, aynı zamanda kullanıcı profilinin doğruluğunu çoklu mantıksal süzgeçlerden geçirerek denetlemesi istenmektedir. Sistem bileşenlerinin kararlı ve doğru çıktılar üretebilmesi için operatörlerin işlem davranışlarının bilgisayar ortamında test edilerek doğrulanması gerekmektedir.</a:t>
            </a:r>
          </a:p>
          <a:p>
            <a:pPr algn="l">
              <a:lnSpc>
                <a:spcPts val="3569"/>
              </a:lnSpc>
            </a:pPr>
          </a:p>
        </p:txBody>
      </p:sp>
    </p:spTree>
  </p:cSld>
  <p:clrMapOvr>
    <a:masterClrMapping/>
  </p:clrMapOvr>
</p:sld>
</file>

<file path=ppt/slides/slide13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59399" y="3634943"/>
            <a:ext cx="15799901" cy="2636609"/>
          </a:xfrm>
          <a:custGeom>
            <a:avLst/>
            <a:gdLst/>
            <a:ahLst/>
            <a:cxnLst/>
            <a:rect r="r" b="b" t="t" l="l"/>
            <a:pathLst>
              <a:path h="2636609" w="15799901">
                <a:moveTo>
                  <a:pt x="0" y="0"/>
                </a:moveTo>
                <a:lnTo>
                  <a:pt x="15799901" y="0"/>
                </a:lnTo>
                <a:lnTo>
                  <a:pt x="15799901" y="2636609"/>
                </a:lnTo>
                <a:lnTo>
                  <a:pt x="0" y="2636609"/>
                </a:lnTo>
                <a:lnTo>
                  <a:pt x="0" y="0"/>
                </a:lnTo>
                <a:close/>
              </a:path>
            </a:pathLst>
          </a:custGeom>
          <a:blipFill>
            <a:blip r:embed="rId2"/>
            <a:stretch>
              <a:fillRect l="0" t="0" r="0" b="-206367"/>
            </a:stretch>
          </a:blipFill>
        </p:spPr>
      </p:sp>
      <p:sp>
        <p:nvSpPr>
          <p:cNvPr name="TextBox 3" id="3"/>
          <p:cNvSpPr txBox="true"/>
          <p:nvPr/>
        </p:nvSpPr>
        <p:spPr>
          <a:xfrm rot="0">
            <a:off x="1028700" y="962025"/>
            <a:ext cx="13314268"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Bold"/>
                <a:ea typeface="Raleway Bold"/>
                <a:cs typeface="Raleway Bold"/>
                <a:sym typeface="Raleway Bold"/>
              </a:rPr>
              <a:t>Uygulamanın A</a:t>
            </a:r>
            <a:r>
              <a:rPr lang="en-US" sz="2550" spc="-43" b="true">
                <a:solidFill>
                  <a:srgbClr val="203251"/>
                </a:solidFill>
                <a:latin typeface="Raleway Bold"/>
                <a:ea typeface="Raleway Bold"/>
                <a:cs typeface="Raleway Bold"/>
                <a:sym typeface="Raleway Bold"/>
              </a:rPr>
              <a:t>şamaları:</a:t>
            </a:r>
          </a:p>
        </p:txBody>
      </p:sp>
      <p:sp>
        <p:nvSpPr>
          <p:cNvPr name="TextBox 4" id="4"/>
          <p:cNvSpPr txBox="true"/>
          <p:nvPr/>
        </p:nvSpPr>
        <p:spPr>
          <a:xfrm rot="0">
            <a:off x="1028700" y="1653747"/>
            <a:ext cx="16230600" cy="186626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1. Aşama: </a:t>
            </a:r>
            <a:r>
              <a:rPr lang="en-US" sz="2550" spc="-43">
                <a:solidFill>
                  <a:srgbClr val="203251"/>
                </a:solidFill>
                <a:latin typeface="Raleway"/>
                <a:ea typeface="Raleway"/>
                <a:cs typeface="Raleway"/>
                <a:sym typeface="Raleway"/>
              </a:rPr>
              <a:t>K</a:t>
            </a:r>
            <a:r>
              <a:rPr lang="en-US" sz="2550" spc="-43">
                <a:solidFill>
                  <a:srgbClr val="203251"/>
                </a:solidFill>
                <a:latin typeface="Raleway"/>
                <a:ea typeface="Raleway"/>
                <a:cs typeface="Raleway"/>
                <a:sym typeface="Raleway"/>
              </a:rPr>
              <a:t>od Dosyasını</a:t>
            </a:r>
            <a:r>
              <a:rPr lang="en-US" sz="2550" spc="-43">
                <a:solidFill>
                  <a:srgbClr val="203251"/>
                </a:solidFill>
                <a:latin typeface="Raleway"/>
                <a:ea typeface="Raleway"/>
                <a:cs typeface="Raleway"/>
                <a:sym typeface="Raleway"/>
              </a:rPr>
              <a:t>n H</a:t>
            </a:r>
            <a:r>
              <a:rPr lang="en-US" sz="2550" spc="-43">
                <a:solidFill>
                  <a:srgbClr val="203251"/>
                </a:solidFill>
                <a:latin typeface="Raleway"/>
                <a:ea typeface="Raleway"/>
                <a:cs typeface="Raleway"/>
                <a:sym typeface="Raleway"/>
              </a:rPr>
              <a:t>azırlanm</a:t>
            </a:r>
            <a:r>
              <a:rPr lang="en-US" sz="2550" spc="-43">
                <a:solidFill>
                  <a:srgbClr val="203251"/>
                </a:solidFill>
                <a:latin typeface="Raleway"/>
                <a:ea typeface="Raleway"/>
                <a:cs typeface="Raleway"/>
                <a:sym typeface="Raleway"/>
              </a:rPr>
              <a:t>as</a:t>
            </a:r>
            <a:r>
              <a:rPr lang="en-US" sz="2550" spc="-43">
                <a:solidFill>
                  <a:srgbClr val="203251"/>
                </a:solidFill>
                <a:latin typeface="Raleway"/>
                <a:ea typeface="Raleway"/>
                <a:cs typeface="Raleway"/>
                <a:sym typeface="Raleway"/>
              </a:rPr>
              <a:t>ı ve Aritmetik Analiz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Bilgisayardaki kod editörü programını açınız ve sol paneldeki </a:t>
            </a:r>
            <a:r>
              <a:rPr lang="en-US" b="true" sz="2000" spc="-34">
                <a:solidFill>
                  <a:srgbClr val="203251"/>
                </a:solidFill>
                <a:latin typeface="Raleway Bold"/>
                <a:ea typeface="Raleway Bold"/>
                <a:cs typeface="Raleway Bold"/>
                <a:sym typeface="Raleway Bold"/>
              </a:rPr>
              <a:t>kod_asistanim</a:t>
            </a:r>
            <a:r>
              <a:rPr lang="en-US" sz="2000" spc="-34">
                <a:solidFill>
                  <a:srgbClr val="203251"/>
                </a:solidFill>
                <a:latin typeface="Raleway"/>
                <a:ea typeface="Raleway"/>
                <a:cs typeface="Raleway"/>
                <a:sym typeface="Raleway"/>
              </a:rPr>
              <a:t> çalışma klasörü içine</a:t>
            </a:r>
            <a:r>
              <a:rPr lang="en-US" b="true" sz="2000" spc="-34">
                <a:solidFill>
                  <a:srgbClr val="203251"/>
                </a:solidFill>
                <a:latin typeface="Raleway Bold"/>
                <a:ea typeface="Raleway Bold"/>
                <a:cs typeface="Raleway Bold"/>
                <a:sym typeface="Raleway Bold"/>
              </a:rPr>
              <a:t> operator_analizi.py </a:t>
            </a:r>
            <a:r>
              <a:rPr lang="en-US" sz="2000" spc="-34">
                <a:solidFill>
                  <a:srgbClr val="203251"/>
                </a:solidFill>
                <a:latin typeface="Raleway"/>
                <a:ea typeface="Raleway"/>
                <a:cs typeface="Raleway"/>
                <a:sym typeface="Raleway"/>
              </a:rPr>
              <a:t>adında yeni bir Python kaynak kod dosyasını ekleyiniz.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Bölme (/) ile taban bölme (//) operatörleri arasındaki bellek ve veri türü farkını gözlemlemek amacıyla editör ekranına aşağıdaki komut satırlarını kodlayınız:</a:t>
            </a:r>
          </a:p>
        </p:txBody>
      </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79102" y="1798844"/>
            <a:ext cx="15799901" cy="8077700"/>
          </a:xfrm>
          <a:custGeom>
            <a:avLst/>
            <a:gdLst/>
            <a:ahLst/>
            <a:cxnLst/>
            <a:rect r="r" b="b" t="t" l="l"/>
            <a:pathLst>
              <a:path h="8077700" w="15799901">
                <a:moveTo>
                  <a:pt x="0" y="0"/>
                </a:moveTo>
                <a:lnTo>
                  <a:pt x="15799901" y="0"/>
                </a:lnTo>
                <a:lnTo>
                  <a:pt x="15799901" y="8077699"/>
                </a:lnTo>
                <a:lnTo>
                  <a:pt x="0" y="8077699"/>
                </a:lnTo>
                <a:lnTo>
                  <a:pt x="0" y="0"/>
                </a:lnTo>
                <a:close/>
              </a:path>
            </a:pathLst>
          </a:custGeom>
          <a:blipFill>
            <a:blip r:embed="rId2"/>
            <a:stretch>
              <a:fillRect l="0" t="0" r="0" b="0"/>
            </a:stretch>
          </a:blipFill>
        </p:spPr>
      </p:sp>
      <p:sp>
        <p:nvSpPr>
          <p:cNvPr name="TextBox 3" id="3"/>
          <p:cNvSpPr txBox="true"/>
          <p:nvPr/>
        </p:nvSpPr>
        <p:spPr>
          <a:xfrm rot="0">
            <a:off x="1028700" y="971550"/>
            <a:ext cx="16230600" cy="711200"/>
          </a:xfrm>
          <a:prstGeom prst="rect">
            <a:avLst/>
          </a:prstGeom>
        </p:spPr>
        <p:txBody>
          <a:bodyPr anchor="t" rtlCol="false" tIns="0" lIns="0" bIns="0" rIns="0">
            <a:spAutoFit/>
          </a:bodyPr>
          <a:lstStyle/>
          <a:p>
            <a:pPr algn="l" marL="431801" indent="-215900" lvl="1">
              <a:lnSpc>
                <a:spcPts val="2800"/>
              </a:lnSpc>
              <a:buFont typeface="Arial"/>
              <a:buChar char="•"/>
            </a:pPr>
            <a:r>
              <a:rPr lang="en-US" sz="2000" spc="-34">
                <a:solidFill>
                  <a:srgbClr val="203251"/>
                </a:solidFill>
                <a:latin typeface="Raleway"/>
                <a:ea typeface="Raleway"/>
                <a:cs typeface="Raleway"/>
                <a:sym typeface="Raleway"/>
              </a:rPr>
              <a:t>Yazılan kod dosyasını çalıştırmak amacıyla editörün sağ üst köşesinde bulunan Run Python File butonuna tıklayınız ve Terminal panelindeki çıktıları inceleyiniz.</a:t>
            </a:r>
          </a:p>
        </p:txBody>
      </p:sp>
      <p:grpSp>
        <p:nvGrpSpPr>
          <p:cNvPr name="Group 4" id="4"/>
          <p:cNvGrpSpPr/>
          <p:nvPr/>
        </p:nvGrpSpPr>
        <p:grpSpPr>
          <a:xfrm rot="0">
            <a:off x="16181718" y="2137596"/>
            <a:ext cx="520175" cy="358682"/>
            <a:chOff x="0" y="0"/>
            <a:chExt cx="137001" cy="94468"/>
          </a:xfrm>
        </p:grpSpPr>
        <p:sp>
          <p:nvSpPr>
            <p:cNvPr name="Freeform 5" id="5"/>
            <p:cNvSpPr/>
            <p:nvPr/>
          </p:nvSpPr>
          <p:spPr>
            <a:xfrm flipH="false" flipV="false" rot="0">
              <a:off x="0" y="0"/>
              <a:ext cx="137001" cy="94468"/>
            </a:xfrm>
            <a:custGeom>
              <a:avLst/>
              <a:gdLst/>
              <a:ahLst/>
              <a:cxnLst/>
              <a:rect r="r" b="b" t="t" l="l"/>
              <a:pathLst>
                <a:path h="94468" w="137001">
                  <a:moveTo>
                    <a:pt x="47234" y="0"/>
                  </a:moveTo>
                  <a:lnTo>
                    <a:pt x="89767" y="0"/>
                  </a:lnTo>
                  <a:cubicBezTo>
                    <a:pt x="115853" y="0"/>
                    <a:pt x="137001" y="21147"/>
                    <a:pt x="137001" y="47234"/>
                  </a:cubicBezTo>
                  <a:lnTo>
                    <a:pt x="137001" y="47234"/>
                  </a:lnTo>
                  <a:cubicBezTo>
                    <a:pt x="137001" y="59761"/>
                    <a:pt x="132024" y="71775"/>
                    <a:pt x="123166" y="80633"/>
                  </a:cubicBezTo>
                  <a:cubicBezTo>
                    <a:pt x="114308" y="89491"/>
                    <a:pt x="102294" y="94468"/>
                    <a:pt x="89767"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6" id="6"/>
            <p:cNvSpPr txBox="true"/>
            <p:nvPr/>
          </p:nvSpPr>
          <p:spPr>
            <a:xfrm>
              <a:off x="0" y="-66675"/>
              <a:ext cx="137001" cy="161143"/>
            </a:xfrm>
            <a:prstGeom prst="rect">
              <a:avLst/>
            </a:prstGeom>
          </p:spPr>
          <p:txBody>
            <a:bodyPr anchor="ctr" rtlCol="false" tIns="50800" lIns="50800" bIns="50800" rIns="50800"/>
            <a:lstStyle/>
            <a:p>
              <a:pPr algn="ctr">
                <a:lnSpc>
                  <a:spcPts val="3569"/>
                </a:lnSpc>
              </a:pPr>
            </a:p>
          </p:txBody>
        </p:sp>
      </p:grpSp>
      <p:sp>
        <p:nvSpPr>
          <p:cNvPr name="AutoShape 7" id="7"/>
          <p:cNvSpPr/>
          <p:nvPr/>
        </p:nvSpPr>
        <p:spPr>
          <a:xfrm flipH="true">
            <a:off x="9369201" y="2496278"/>
            <a:ext cx="7072604" cy="4844158"/>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3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grpSp>
        <p:nvGrpSpPr>
          <p:cNvPr name="Group 2" id="2"/>
          <p:cNvGrpSpPr/>
          <p:nvPr/>
        </p:nvGrpSpPr>
        <p:grpSpPr>
          <a:xfrm rot="0">
            <a:off x="1821974" y="2331862"/>
            <a:ext cx="14870054" cy="4407239"/>
            <a:chOff x="0" y="0"/>
            <a:chExt cx="3916393" cy="1160754"/>
          </a:xfrm>
        </p:grpSpPr>
        <p:sp>
          <p:nvSpPr>
            <p:cNvPr name="Freeform 3" id="3"/>
            <p:cNvSpPr/>
            <p:nvPr/>
          </p:nvSpPr>
          <p:spPr>
            <a:xfrm flipH="false" flipV="false" rot="0">
              <a:off x="0" y="0"/>
              <a:ext cx="3916393" cy="1160754"/>
            </a:xfrm>
            <a:custGeom>
              <a:avLst/>
              <a:gdLst/>
              <a:ahLst/>
              <a:cxnLst/>
              <a:rect r="r" b="b" t="t" l="l"/>
              <a:pathLst>
                <a:path h="1160754" w="3916393">
                  <a:moveTo>
                    <a:pt x="8851" y="0"/>
                  </a:moveTo>
                  <a:lnTo>
                    <a:pt x="3907542" y="0"/>
                  </a:lnTo>
                  <a:cubicBezTo>
                    <a:pt x="3909890" y="0"/>
                    <a:pt x="3912141" y="932"/>
                    <a:pt x="3913801" y="2592"/>
                  </a:cubicBezTo>
                  <a:cubicBezTo>
                    <a:pt x="3915461" y="4252"/>
                    <a:pt x="3916393" y="6503"/>
                    <a:pt x="3916393" y="8851"/>
                  </a:cubicBezTo>
                  <a:lnTo>
                    <a:pt x="3916393" y="1151904"/>
                  </a:lnTo>
                  <a:cubicBezTo>
                    <a:pt x="3916393" y="1154251"/>
                    <a:pt x="3915461" y="1156502"/>
                    <a:pt x="3913801" y="1158162"/>
                  </a:cubicBezTo>
                  <a:cubicBezTo>
                    <a:pt x="3912141" y="1159822"/>
                    <a:pt x="3909890" y="1160754"/>
                    <a:pt x="3907542" y="1160754"/>
                  </a:cubicBezTo>
                  <a:lnTo>
                    <a:pt x="8851" y="1160754"/>
                  </a:lnTo>
                  <a:cubicBezTo>
                    <a:pt x="3963" y="1160754"/>
                    <a:pt x="0" y="1156792"/>
                    <a:pt x="0" y="1151904"/>
                  </a:cubicBezTo>
                  <a:lnTo>
                    <a:pt x="0" y="8851"/>
                  </a:lnTo>
                  <a:cubicBezTo>
                    <a:pt x="0" y="6503"/>
                    <a:pt x="932" y="4252"/>
                    <a:pt x="2592" y="2592"/>
                  </a:cubicBezTo>
                  <a:cubicBezTo>
                    <a:pt x="4252" y="932"/>
                    <a:pt x="6503" y="0"/>
                    <a:pt x="8851" y="0"/>
                  </a:cubicBezTo>
                  <a:close/>
                </a:path>
              </a:pathLst>
            </a:custGeom>
            <a:solidFill>
              <a:srgbClr val="F2F2F2"/>
            </a:solidFill>
          </p:spPr>
        </p:sp>
        <p:sp>
          <p:nvSpPr>
            <p:cNvPr name="TextBox 4" id="4"/>
            <p:cNvSpPr txBox="true"/>
            <p:nvPr/>
          </p:nvSpPr>
          <p:spPr>
            <a:xfrm>
              <a:off x="0" y="-57150"/>
              <a:ext cx="3916393" cy="1217904"/>
            </a:xfrm>
            <a:prstGeom prst="rect">
              <a:avLst/>
            </a:prstGeom>
          </p:spPr>
          <p:txBody>
            <a:bodyPr anchor="ctr" rtlCol="false" tIns="50800" lIns="50800" bIns="50800" rIns="50800"/>
            <a:lstStyle/>
            <a:p>
              <a:pPr algn="l">
                <a:lnSpc>
                  <a:spcPts val="2800"/>
                </a:lnSpc>
              </a:pPr>
              <a:r>
                <a:rPr lang="en-US" sz="2000" spc="-94">
                  <a:solidFill>
                    <a:srgbClr val="000000"/>
                  </a:solidFill>
                  <a:latin typeface="Raleway"/>
                  <a:ea typeface="Raleway"/>
                  <a:cs typeface="Raleway"/>
                  <a:sym typeface="Raleway"/>
                </a:rPr>
                <a:t>      </a:t>
              </a:r>
              <a:r>
                <a:rPr lang="en-US" sz="2000" spc="-94">
                  <a:solidFill>
                    <a:srgbClr val="BEBEBE"/>
                  </a:solidFill>
                  <a:latin typeface="Raleway"/>
                  <a:ea typeface="Raleway"/>
                  <a:cs typeface="Raleway"/>
                  <a:sym typeface="Raleway"/>
                </a:rPr>
                <a:t>  # 2. Aşama: İlişkisel ve Mantıksal Operatörlerin İncelenmesi</a:t>
              </a:r>
            </a:p>
            <a:p>
              <a:pPr algn="l">
                <a:lnSpc>
                  <a:spcPts val="2800"/>
                </a:lnSpc>
              </a:pPr>
              <a:r>
                <a:rPr lang="en-US" sz="2000" spc="-94">
                  <a:solidFill>
                    <a:srgbClr val="000000"/>
                  </a:solidFill>
                  <a:latin typeface="Raleway"/>
                  <a:ea typeface="Raleway"/>
                  <a:cs typeface="Raleway"/>
                  <a:sym typeface="Raleway"/>
                </a:rPr>
                <a:t>        sayi1 = 15</a:t>
              </a:r>
            </a:p>
            <a:p>
              <a:pPr algn="l">
                <a:lnSpc>
                  <a:spcPts val="2800"/>
                </a:lnSpc>
              </a:pPr>
              <a:r>
                <a:rPr lang="en-US" sz="2000" spc="-94">
                  <a:solidFill>
                    <a:srgbClr val="000000"/>
                  </a:solidFill>
                  <a:latin typeface="Raleway"/>
                  <a:ea typeface="Raleway"/>
                  <a:cs typeface="Raleway"/>
                  <a:sym typeface="Raleway"/>
                </a:rPr>
                <a:t>        sayi2 = 20</a:t>
              </a:r>
            </a:p>
            <a:p>
              <a:pPr algn="l">
                <a:lnSpc>
                  <a:spcPts val="2800"/>
                </a:lnSpc>
              </a:pPr>
            </a:p>
            <a:p>
              <a:pPr algn="l">
                <a:lnSpc>
                  <a:spcPts val="2800"/>
                </a:lnSpc>
              </a:pPr>
              <a:r>
                <a:rPr lang="en-US" sz="2000" spc="-94">
                  <a:solidFill>
                    <a:srgbClr val="000000"/>
                  </a:solidFill>
                  <a:latin typeface="Raleway"/>
                  <a:ea typeface="Raleway"/>
                  <a:cs typeface="Raleway"/>
                  <a:sym typeface="Raleway"/>
                </a:rPr>
                <a:t>        </a:t>
              </a:r>
              <a:r>
                <a:rPr lang="en-US" sz="2000" spc="-94">
                  <a:solidFill>
                    <a:srgbClr val="BEBEBE"/>
                  </a:solidFill>
                  <a:latin typeface="Raleway"/>
                  <a:ea typeface="Raleway"/>
                  <a:cs typeface="Raleway"/>
                  <a:sym typeface="Raleway"/>
                </a:rPr>
                <a:t># Çoklu koşul denetimi (and ve or operatörlerinin davranışı)</a:t>
              </a:r>
            </a:p>
            <a:p>
              <a:pPr algn="l">
                <a:lnSpc>
                  <a:spcPts val="2800"/>
                </a:lnSpc>
              </a:pPr>
              <a:r>
                <a:rPr lang="en-US" sz="2000" spc="-94">
                  <a:solidFill>
                    <a:srgbClr val="000000"/>
                  </a:solidFill>
                  <a:latin typeface="Raleway"/>
                  <a:ea typeface="Raleway"/>
                  <a:cs typeface="Raleway"/>
                  <a:sym typeface="Raleway"/>
                </a:rPr>
                <a:t>        kosul_ve = (sayi1 &gt; 10) and (sayi2 &lt; 15)</a:t>
              </a:r>
            </a:p>
            <a:p>
              <a:pPr algn="l">
                <a:lnSpc>
                  <a:spcPts val="2800"/>
                </a:lnSpc>
              </a:pPr>
              <a:r>
                <a:rPr lang="en-US" sz="2000" spc="-94">
                  <a:solidFill>
                    <a:srgbClr val="000000"/>
                  </a:solidFill>
                  <a:latin typeface="Raleway"/>
                  <a:ea typeface="Raleway"/>
                  <a:cs typeface="Raleway"/>
                  <a:sym typeface="Raleway"/>
                </a:rPr>
                <a:t>        kosul_veya = (sayi1 &gt; 10) or (sayi2 &lt; 15)</a:t>
              </a:r>
            </a:p>
            <a:p>
              <a:pPr algn="l">
                <a:lnSpc>
                  <a:spcPts val="2800"/>
                </a:lnSpc>
              </a:pPr>
              <a:r>
                <a:rPr lang="en-US" sz="2000" spc="-94">
                  <a:solidFill>
                    <a:srgbClr val="000000"/>
                  </a:solidFill>
                  <a:latin typeface="Raleway"/>
                  <a:ea typeface="Raleway"/>
                  <a:cs typeface="Raleway"/>
                  <a:sym typeface="Raleway"/>
                </a:rPr>
                <a:t>        kosul_degil = not (sayi1 == sayi2)</a:t>
              </a:r>
            </a:p>
            <a:p>
              <a:pPr algn="l">
                <a:lnSpc>
                  <a:spcPts val="2800"/>
                </a:lnSpc>
              </a:pPr>
              <a:r>
                <a:rPr lang="en-US" sz="2000" spc="-94">
                  <a:solidFill>
                    <a:srgbClr val="000000"/>
                  </a:solidFill>
                  <a:latin typeface="Raleway"/>
                  <a:ea typeface="Raleway"/>
                  <a:cs typeface="Raleway"/>
                  <a:sym typeface="Raleway"/>
                </a:rPr>
                <a:t>        print("ve (and) Koşul Çıktısı:", kosul_ve)</a:t>
              </a:r>
            </a:p>
            <a:p>
              <a:pPr algn="l">
                <a:lnSpc>
                  <a:spcPts val="2800"/>
                </a:lnSpc>
              </a:pPr>
              <a:r>
                <a:rPr lang="en-US" sz="2000" spc="-94">
                  <a:solidFill>
                    <a:srgbClr val="000000"/>
                  </a:solidFill>
                  <a:latin typeface="Raleway"/>
                  <a:ea typeface="Raleway"/>
                  <a:cs typeface="Raleway"/>
                  <a:sym typeface="Raleway"/>
                </a:rPr>
                <a:t>        print("veya (or) Koşul Çıktısı:", kosul_veya)</a:t>
              </a:r>
            </a:p>
            <a:p>
              <a:pPr algn="l">
                <a:lnSpc>
                  <a:spcPts val="2800"/>
                </a:lnSpc>
              </a:pPr>
              <a:r>
                <a:rPr lang="en-US" sz="2000" spc="-94">
                  <a:solidFill>
                    <a:srgbClr val="000000"/>
                  </a:solidFill>
                  <a:latin typeface="Raleway"/>
                  <a:ea typeface="Raleway"/>
                  <a:cs typeface="Raleway"/>
                  <a:sym typeface="Raleway"/>
                </a:rPr>
                <a:t>        print("değil (not) Koşul Çıktısı:", kosul_degil)</a:t>
              </a:r>
            </a:p>
          </p:txBody>
        </p:sp>
      </p:grpSp>
      <p:sp>
        <p:nvSpPr>
          <p:cNvPr name="TextBox 5" id="5"/>
          <p:cNvSpPr txBox="true"/>
          <p:nvPr/>
        </p:nvSpPr>
        <p:spPr>
          <a:xfrm rot="0">
            <a:off x="1028700" y="962025"/>
            <a:ext cx="16230600" cy="116141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2. Aşama: </a:t>
            </a:r>
            <a:r>
              <a:rPr lang="en-US" sz="2550" spc="-43">
                <a:solidFill>
                  <a:srgbClr val="203251"/>
                </a:solidFill>
                <a:latin typeface="Raleway"/>
                <a:ea typeface="Raleway"/>
                <a:cs typeface="Raleway"/>
                <a:sym typeface="Raleway"/>
              </a:rPr>
              <a:t>İlişki</a:t>
            </a:r>
            <a:r>
              <a:rPr lang="en-US" sz="2550" spc="-43">
                <a:solidFill>
                  <a:srgbClr val="203251"/>
                </a:solidFill>
                <a:latin typeface="Raleway"/>
                <a:ea typeface="Raleway"/>
                <a:cs typeface="Raleway"/>
                <a:sym typeface="Raleway"/>
              </a:rPr>
              <a:t>sel ve Mantıksal Karar</a:t>
            </a:r>
            <a:r>
              <a:rPr lang="en-US" sz="2550" spc="-43">
                <a:solidFill>
                  <a:srgbClr val="203251"/>
                </a:solidFill>
                <a:latin typeface="Raleway"/>
                <a:ea typeface="Raleway"/>
                <a:cs typeface="Raleway"/>
                <a:sym typeface="Raleway"/>
              </a:rPr>
              <a:t> Y</a:t>
            </a:r>
            <a:r>
              <a:rPr lang="en-US" sz="2550" spc="-43">
                <a:solidFill>
                  <a:srgbClr val="203251"/>
                </a:solidFill>
                <a:latin typeface="Raleway"/>
                <a:ea typeface="Raleway"/>
                <a:cs typeface="Raleway"/>
                <a:sym typeface="Raleway"/>
              </a:rPr>
              <a:t>apılarının Entegrasyonu</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Ana</a:t>
            </a:r>
            <a:r>
              <a:rPr lang="en-US" sz="2000" spc="-34">
                <a:solidFill>
                  <a:srgbClr val="203251"/>
                </a:solidFill>
                <a:latin typeface="Raleway"/>
                <a:ea typeface="Raleway"/>
                <a:cs typeface="Raleway"/>
                <a:sym typeface="Raleway"/>
              </a:rPr>
              <a:t>liz sürecine mantıksal operatörlerin etki mekanizmasını dâhil etmek amacıyla mevcut kod dosyasının</a:t>
            </a:r>
            <a:r>
              <a:rPr lang="en-US" sz="2000" spc="-34">
                <a:solidFill>
                  <a:srgbClr val="203251"/>
                </a:solidFill>
                <a:latin typeface="Raleway"/>
                <a:ea typeface="Raleway"/>
                <a:cs typeface="Raleway"/>
                <a:sym typeface="Raleway"/>
              </a:rPr>
              <a:t> alt satırlarına sırasıyla aşağıdaki komut blokları ekleyiniz:</a:t>
            </a:r>
          </a:p>
        </p:txBody>
      </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475661" y="1790666"/>
            <a:ext cx="15783639" cy="8089115"/>
          </a:xfrm>
          <a:custGeom>
            <a:avLst/>
            <a:gdLst/>
            <a:ahLst/>
            <a:cxnLst/>
            <a:rect r="r" b="b" t="t" l="l"/>
            <a:pathLst>
              <a:path h="8089115" w="15783639">
                <a:moveTo>
                  <a:pt x="0" y="0"/>
                </a:moveTo>
                <a:lnTo>
                  <a:pt x="15783639" y="0"/>
                </a:lnTo>
                <a:lnTo>
                  <a:pt x="15783639" y="8089115"/>
                </a:lnTo>
                <a:lnTo>
                  <a:pt x="0" y="8089115"/>
                </a:lnTo>
                <a:lnTo>
                  <a:pt x="0" y="0"/>
                </a:lnTo>
                <a:close/>
              </a:path>
            </a:pathLst>
          </a:custGeom>
          <a:blipFill>
            <a:blip r:embed="rId2"/>
            <a:stretch>
              <a:fillRect l="0" t="0" r="0" b="0"/>
            </a:stretch>
          </a:blipFill>
        </p:spPr>
      </p:sp>
      <p:sp>
        <p:nvSpPr>
          <p:cNvPr name="TextBox 3" id="3"/>
          <p:cNvSpPr txBox="true"/>
          <p:nvPr/>
        </p:nvSpPr>
        <p:spPr>
          <a:xfrm rot="0">
            <a:off x="1028700" y="971550"/>
            <a:ext cx="16230600" cy="711200"/>
          </a:xfrm>
          <a:prstGeom prst="rect">
            <a:avLst/>
          </a:prstGeom>
        </p:spPr>
        <p:txBody>
          <a:bodyPr anchor="t" rtlCol="false" tIns="0" lIns="0" bIns="0" rIns="0">
            <a:spAutoFit/>
          </a:bodyPr>
          <a:lstStyle/>
          <a:p>
            <a:pPr algn="l" marL="431801" indent="-215900" lvl="1">
              <a:lnSpc>
                <a:spcPts val="2800"/>
              </a:lnSpc>
              <a:buFont typeface="Arial"/>
              <a:buChar char="•"/>
            </a:pPr>
            <a:r>
              <a:rPr lang="en-US" sz="2000" spc="-34">
                <a:solidFill>
                  <a:srgbClr val="203251"/>
                </a:solidFill>
                <a:latin typeface="Raleway"/>
                <a:ea typeface="Raleway"/>
                <a:cs typeface="Raleway"/>
                <a:sym typeface="Raleway"/>
              </a:rPr>
              <a:t>Düzen</a:t>
            </a:r>
            <a:r>
              <a:rPr lang="en-US" sz="2000" spc="-34">
                <a:solidFill>
                  <a:srgbClr val="203251"/>
                </a:solidFill>
                <a:latin typeface="Raleway"/>
                <a:ea typeface="Raleway"/>
                <a:cs typeface="Raleway"/>
                <a:sym typeface="Raleway"/>
              </a:rPr>
              <a:t>lenen kod dosyasını, sağ üstteki </a:t>
            </a:r>
            <a:r>
              <a:rPr lang="en-US" b="true" sz="2000" spc="-34">
                <a:solidFill>
                  <a:srgbClr val="203251"/>
                </a:solidFill>
                <a:latin typeface="Raleway Bold"/>
                <a:ea typeface="Raleway Bold"/>
                <a:cs typeface="Raleway Bold"/>
                <a:sym typeface="Raleway Bold"/>
              </a:rPr>
              <a:t>Run Python File</a:t>
            </a:r>
            <a:r>
              <a:rPr lang="en-US" sz="2000" spc="-34">
                <a:solidFill>
                  <a:srgbClr val="203251"/>
                </a:solidFill>
                <a:latin typeface="Raleway"/>
                <a:ea typeface="Raleway"/>
                <a:cs typeface="Raleway"/>
                <a:sym typeface="Raleway"/>
              </a:rPr>
              <a:t> butonuna tıklayarak yeniden çalıştırınız ve terminal ekranına yansıyan</a:t>
            </a:r>
            <a:r>
              <a:rPr lang="en-US" sz="2000" spc="-34">
                <a:solidFill>
                  <a:srgbClr val="203251"/>
                </a:solidFill>
                <a:latin typeface="Raleway"/>
                <a:ea typeface="Raleway"/>
                <a:cs typeface="Raleway"/>
                <a:sym typeface="Raleway"/>
              </a:rPr>
              <a:t> nihai çıktıları satır satır analiz ediniz.</a:t>
            </a:r>
          </a:p>
        </p:txBody>
      </p:sp>
      <p:grpSp>
        <p:nvGrpSpPr>
          <p:cNvPr name="Group 4" id="4"/>
          <p:cNvGrpSpPr/>
          <p:nvPr/>
        </p:nvGrpSpPr>
        <p:grpSpPr>
          <a:xfrm rot="0">
            <a:off x="16181718" y="2137596"/>
            <a:ext cx="520175" cy="358682"/>
            <a:chOff x="0" y="0"/>
            <a:chExt cx="137001" cy="94468"/>
          </a:xfrm>
        </p:grpSpPr>
        <p:sp>
          <p:nvSpPr>
            <p:cNvPr name="Freeform 5" id="5"/>
            <p:cNvSpPr/>
            <p:nvPr/>
          </p:nvSpPr>
          <p:spPr>
            <a:xfrm flipH="false" flipV="false" rot="0">
              <a:off x="0" y="0"/>
              <a:ext cx="137001" cy="94468"/>
            </a:xfrm>
            <a:custGeom>
              <a:avLst/>
              <a:gdLst/>
              <a:ahLst/>
              <a:cxnLst/>
              <a:rect r="r" b="b" t="t" l="l"/>
              <a:pathLst>
                <a:path h="94468" w="137001">
                  <a:moveTo>
                    <a:pt x="47234" y="0"/>
                  </a:moveTo>
                  <a:lnTo>
                    <a:pt x="89767" y="0"/>
                  </a:lnTo>
                  <a:cubicBezTo>
                    <a:pt x="115853" y="0"/>
                    <a:pt x="137001" y="21147"/>
                    <a:pt x="137001" y="47234"/>
                  </a:cubicBezTo>
                  <a:lnTo>
                    <a:pt x="137001" y="47234"/>
                  </a:lnTo>
                  <a:cubicBezTo>
                    <a:pt x="137001" y="59761"/>
                    <a:pt x="132024" y="71775"/>
                    <a:pt x="123166" y="80633"/>
                  </a:cubicBezTo>
                  <a:cubicBezTo>
                    <a:pt x="114308" y="89491"/>
                    <a:pt x="102294" y="94468"/>
                    <a:pt x="89767" y="94468"/>
                  </a:cubicBezTo>
                  <a:lnTo>
                    <a:pt x="47234" y="94468"/>
                  </a:lnTo>
                  <a:cubicBezTo>
                    <a:pt x="34707" y="94468"/>
                    <a:pt x="22693" y="89491"/>
                    <a:pt x="13834" y="80633"/>
                  </a:cubicBezTo>
                  <a:cubicBezTo>
                    <a:pt x="4976" y="71775"/>
                    <a:pt x="0" y="59761"/>
                    <a:pt x="0" y="47234"/>
                  </a:cubicBezTo>
                  <a:lnTo>
                    <a:pt x="0" y="47234"/>
                  </a:lnTo>
                  <a:cubicBezTo>
                    <a:pt x="0" y="34707"/>
                    <a:pt x="4976" y="22693"/>
                    <a:pt x="13834" y="13834"/>
                  </a:cubicBezTo>
                  <a:cubicBezTo>
                    <a:pt x="22693" y="4976"/>
                    <a:pt x="34707" y="0"/>
                    <a:pt x="47234" y="0"/>
                  </a:cubicBezTo>
                  <a:close/>
                </a:path>
              </a:pathLst>
            </a:custGeom>
            <a:ln w="38100" cap="sq">
              <a:solidFill>
                <a:srgbClr val="FF000A"/>
              </a:solidFill>
              <a:prstDash val="sysDot"/>
              <a:miter/>
            </a:ln>
          </p:spPr>
        </p:sp>
        <p:sp>
          <p:nvSpPr>
            <p:cNvPr name="TextBox 6" id="6"/>
            <p:cNvSpPr txBox="true"/>
            <p:nvPr/>
          </p:nvSpPr>
          <p:spPr>
            <a:xfrm>
              <a:off x="0" y="-66675"/>
              <a:ext cx="137001" cy="161143"/>
            </a:xfrm>
            <a:prstGeom prst="rect">
              <a:avLst/>
            </a:prstGeom>
          </p:spPr>
          <p:txBody>
            <a:bodyPr anchor="ctr" rtlCol="false" tIns="50800" lIns="50800" bIns="50800" rIns="50800"/>
            <a:lstStyle/>
            <a:p>
              <a:pPr algn="ctr">
                <a:lnSpc>
                  <a:spcPts val="3569"/>
                </a:lnSpc>
              </a:pPr>
            </a:p>
          </p:txBody>
        </p:sp>
      </p:grpSp>
      <p:sp>
        <p:nvSpPr>
          <p:cNvPr name="AutoShape 7" id="7"/>
          <p:cNvSpPr/>
          <p:nvPr/>
        </p:nvSpPr>
        <p:spPr>
          <a:xfrm flipH="true">
            <a:off x="9369201" y="2496278"/>
            <a:ext cx="7072604" cy="4844158"/>
          </a:xfrm>
          <a:prstGeom prst="line">
            <a:avLst/>
          </a:prstGeom>
          <a:ln cap="flat" w="38100">
            <a:solidFill>
              <a:srgbClr val="FF000A"/>
            </a:solidFill>
            <a:prstDash val="solid"/>
            <a:headEnd type="none" len="sm" w="sm"/>
            <a:tailEnd type="triangle" len="med" w="lg"/>
          </a:ln>
        </p:spPr>
      </p:sp>
    </p:spTree>
  </p:cSld>
  <p:clrMapOvr>
    <a:masterClrMapping/>
  </p:clrMapOvr>
</p:sld>
</file>

<file path=ppt/slides/slide13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2.3.2. İşlem Önceliği Kuralları</a:t>
            </a:r>
          </a:p>
        </p:txBody>
      </p:sp>
      <p:sp>
        <p:nvSpPr>
          <p:cNvPr name="TextBox 3" id="3"/>
          <p:cNvSpPr txBox="true"/>
          <p:nvPr/>
        </p:nvSpPr>
        <p:spPr>
          <a:xfrm rot="0">
            <a:off x="1028700" y="1752600"/>
            <a:ext cx="16230600" cy="34988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Kaynak kodlar içerisinde birden fazla operatörün aynı satırda ardışık olarak kullanılması durumunda, bilgisayarın hangi işlemi daha önce yürüteceğini belirleyen kurallar bütününe </a:t>
            </a:r>
            <a:r>
              <a:rPr lang="en-US" sz="2499" spc="-117" b="true">
                <a:solidFill>
                  <a:srgbClr val="424242"/>
                </a:solidFill>
                <a:latin typeface="Raleway Bold"/>
                <a:ea typeface="Raleway Bold"/>
                <a:cs typeface="Raleway Bold"/>
                <a:sym typeface="Raleway Bold"/>
              </a:rPr>
              <a:t>işlem önceliği (</a:t>
            </a:r>
            <a:r>
              <a:rPr lang="en-US" sz="2499" spc="-117">
                <a:solidFill>
                  <a:srgbClr val="424242"/>
                </a:solidFill>
                <a:latin typeface="Raleway"/>
                <a:ea typeface="Raleway"/>
                <a:cs typeface="Raleway"/>
                <a:sym typeface="Raleway"/>
              </a:rPr>
              <a:t>precedence</a:t>
            </a:r>
            <a:r>
              <a:rPr lang="en-US" sz="2499" spc="-117" b="true">
                <a:solidFill>
                  <a:srgbClr val="424242"/>
                </a:solidFill>
                <a:latin typeface="Raleway Bold"/>
                <a:ea typeface="Raleway Bold"/>
                <a:cs typeface="Raleway Bold"/>
                <a:sym typeface="Raleway Bold"/>
              </a:rPr>
              <a:t>)</a:t>
            </a:r>
            <a:r>
              <a:rPr lang="en-US" sz="2499" spc="-117">
                <a:solidFill>
                  <a:srgbClr val="424242"/>
                </a:solidFill>
                <a:latin typeface="Raleway"/>
                <a:ea typeface="Raleway"/>
                <a:cs typeface="Raleway"/>
                <a:sym typeface="Raleway"/>
              </a:rPr>
              <a:t> denir. </a:t>
            </a:r>
          </a:p>
          <a:p>
            <a:pPr algn="l">
              <a:lnSpc>
                <a:spcPts val="3499"/>
              </a:lnSpc>
            </a:pPr>
          </a:p>
          <a:p>
            <a:pPr algn="l">
              <a:lnSpc>
                <a:spcPts val="3499"/>
              </a:lnSpc>
            </a:pPr>
            <a:r>
              <a:rPr lang="en-US" sz="2499" spc="-117">
                <a:solidFill>
                  <a:srgbClr val="424242"/>
                </a:solidFill>
                <a:latin typeface="Raleway"/>
                <a:ea typeface="Raleway"/>
                <a:cs typeface="Raleway"/>
                <a:sym typeface="Raleway"/>
              </a:rPr>
              <a:t>Tıpkı geleneksel matematikteki çarpma işleminin toplama işlemine göre öncelikli olması gibi programlama dillerinde de her operatör grubunun hiyerarşik bir baskınlık sırası mevcuttur. </a:t>
            </a:r>
          </a:p>
          <a:p>
            <a:pPr algn="l">
              <a:lnSpc>
                <a:spcPts val="3499"/>
              </a:lnSpc>
            </a:pPr>
          </a:p>
          <a:p>
            <a:pPr algn="l">
              <a:lnSpc>
                <a:spcPts val="3499"/>
              </a:lnSpc>
            </a:pPr>
            <a:r>
              <a:rPr lang="en-US" sz="2499" spc="-117">
                <a:solidFill>
                  <a:srgbClr val="424242"/>
                </a:solidFill>
                <a:latin typeface="Raleway"/>
                <a:ea typeface="Raleway"/>
                <a:cs typeface="Raleway"/>
                <a:sym typeface="Raleway"/>
              </a:rPr>
              <a:t>Bu kuralların yazılımcı tarafından dikkate alınmaması, programın çalışma zamanında çökmesine yol açmasa da üretilen sonuçların yanlış hesaplanmasına b</a:t>
            </a:r>
            <a:r>
              <a:rPr lang="en-US" sz="2499" spc="-117">
                <a:solidFill>
                  <a:srgbClr val="424242"/>
                </a:solidFill>
                <a:latin typeface="Raleway"/>
                <a:ea typeface="Raleway"/>
                <a:cs typeface="Raleway"/>
                <a:sym typeface="Raleway"/>
              </a:rPr>
              <a:t>ir </a:t>
            </a:r>
            <a:r>
              <a:rPr lang="en-US" sz="2499" spc="-117">
                <a:solidFill>
                  <a:srgbClr val="424242"/>
                </a:solidFill>
                <a:latin typeface="Raleway"/>
                <a:ea typeface="Raleway"/>
                <a:cs typeface="Raleway"/>
                <a:sym typeface="Raleway"/>
              </a:rPr>
              <a:t>diğer ifadeyle mantıksal hatalara (logic errors) neden olur.</a:t>
            </a:r>
          </a:p>
        </p:txBody>
      </p:sp>
    </p:spTree>
  </p:cSld>
  <p:clrMapOvr>
    <a:masterClrMapping/>
  </p:clrMapOvr>
</p:sld>
</file>

<file path=ppt/slides/slide13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İşlem Önceliği Sırası (Yukarıdan Aşağıya):</a:t>
            </a:r>
          </a:p>
        </p:txBody>
      </p:sp>
      <p:graphicFrame>
        <p:nvGraphicFramePr>
          <p:cNvPr name="Table 3" id="3"/>
          <p:cNvGraphicFramePr>
            <a:graphicFrameLocks noGrp="true"/>
          </p:cNvGraphicFramePr>
          <p:nvPr/>
        </p:nvGraphicFramePr>
        <p:xfrm>
          <a:off x="1028700" y="1622425"/>
          <a:ext cx="16230600" cy="5514975"/>
        </p:xfrm>
        <a:graphic>
          <a:graphicData uri="http://schemas.openxmlformats.org/drawingml/2006/table">
            <a:tbl>
              <a:tblPr/>
              <a:tblGrid>
                <a:gridCol w="808514"/>
                <a:gridCol w="4657915"/>
                <a:gridCol w="2066536"/>
                <a:gridCol w="8697635"/>
              </a:tblGrid>
              <a:tr h="667904">
                <a:tc>
                  <a:txBody>
                    <a:bodyPr anchor="t" rtlCol="false"/>
                    <a:lstStyle/>
                    <a:p>
                      <a:pPr algn="l">
                        <a:lnSpc>
                          <a:spcPts val="3499"/>
                        </a:lnSpc>
                        <a:defRPr/>
                      </a:pPr>
                      <a:r>
                        <a:rPr lang="en-US" b="true" sz="2499">
                          <a:solidFill>
                            <a:srgbClr val="FFFFFF"/>
                          </a:solidFill>
                          <a:latin typeface="Raleway Bold"/>
                          <a:ea typeface="Raleway Bold"/>
                          <a:cs typeface="Raleway Bold"/>
                          <a:sym typeface="Raleway Bold"/>
                        </a:rPr>
                        <a:t>Sıra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D77676"/>
                    </a:solidFill>
                  </a:tcPr>
                </a:tc>
                <a:tc>
                  <a:txBody>
                    <a:bodyPr anchor="t" rtlCol="false"/>
                    <a:lstStyle/>
                    <a:p>
                      <a:pPr algn="l">
                        <a:lnSpc>
                          <a:spcPts val="3499"/>
                        </a:lnSpc>
                        <a:defRPr/>
                      </a:pPr>
                      <a:r>
                        <a:rPr lang="en-US" b="true" sz="2499">
                          <a:solidFill>
                            <a:srgbClr val="FFFFFF"/>
                          </a:solidFill>
                          <a:latin typeface="Raleway Bold"/>
                          <a:ea typeface="Raleway Bold"/>
                          <a:cs typeface="Raleway Bold"/>
                          <a:sym typeface="Raleway Bold"/>
                        </a:rPr>
                        <a:t>Operatör Grubu</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D77676"/>
                    </a:solidFill>
                  </a:tcPr>
                </a:tc>
                <a:tc>
                  <a:txBody>
                    <a:bodyPr anchor="t" rtlCol="false"/>
                    <a:lstStyle/>
                    <a:p>
                      <a:pPr algn="l">
                        <a:lnSpc>
                          <a:spcPts val="3499"/>
                        </a:lnSpc>
                        <a:defRPr/>
                      </a:pPr>
                      <a:r>
                        <a:rPr lang="en-US" b="true" sz="2499">
                          <a:solidFill>
                            <a:srgbClr val="FFFFFF"/>
                          </a:solidFill>
                          <a:latin typeface="Raleway Bold"/>
                          <a:ea typeface="Raleway Bold"/>
                          <a:cs typeface="Raleway Bold"/>
                          <a:sym typeface="Raleway Bold"/>
                        </a:rPr>
                        <a:t>Semboller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D77676"/>
                    </a:solidFill>
                  </a:tcPr>
                </a:tc>
                <a:tc>
                  <a:txBody>
                    <a:bodyPr anchor="t" rtlCol="false"/>
                    <a:lstStyle/>
                    <a:p>
                      <a:pPr algn="l">
                        <a:lnSpc>
                          <a:spcPts val="3499"/>
                        </a:lnSpc>
                        <a:defRPr/>
                      </a:pPr>
                      <a:r>
                        <a:rPr lang="en-US" b="true" sz="2499">
                          <a:solidFill>
                            <a:srgbClr val="FFFFFF"/>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D77676"/>
                    </a:solidFill>
                  </a:tcPr>
                </a:tc>
              </a:tr>
              <a:tr h="127855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1</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F2E0E0"/>
                    </a:solidFill>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Parantezler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En yüksek önceliğe sahiptir. Karmaşık aritmetik veya mantıksal ifadelerin öncelik sırasını manuel olarak değiştirmek ve kodu daha okunabilir kılmak amacıyla kullanılır.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48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2</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F2E0E0"/>
                    </a:solidFill>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Üs Alma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Sayısal kuvvet hesaplamaları, tüm aritmetik işlemlerden önce çalıştırılır.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48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3</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F2E0E0"/>
                    </a:solidFill>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Çarpma, Bölme, Taban Bölme, Mod</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 /, //,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Bu operatörler kendi aralarında aynı öncelik düzeyine sahiptir.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2489">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4</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F2E0E0"/>
                    </a:solidFill>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Toplama ve Çıkarma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 -</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Aritmetik operatörler arasında en son çalıştırılan gruptur.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2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5</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F2E0E0"/>
                    </a:solidFill>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Karşılaştırma Operatörleri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 !=, &gt;, &lt;, &gt;=, &lt;=</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Aritmetik hesaplamaların tamamlanmasının ardından ilişkisel denetimler devreye girer.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5523">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6</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solidFill>
                      <a:srgbClr val="F2E0E0"/>
                    </a:solidFill>
                  </a:tcPr>
                </a:tc>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Mantıksal Operatörler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not, and, or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Karar mekanizmalarında en son işlenen gruptur. Kendi içindeki hiyerarşi sırasıyla önce not, sonra and, en son or şeklindedir.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36.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40528"/>
            <a:ext cx="3205943" cy="3205943"/>
          </a:xfrm>
          <a:custGeom>
            <a:avLst/>
            <a:gdLst/>
            <a:ahLst/>
            <a:cxnLst/>
            <a:rect r="r" b="b" t="t" l="l"/>
            <a:pathLst>
              <a:path h="3205943" w="3205943">
                <a:moveTo>
                  <a:pt x="0" y="0"/>
                </a:moveTo>
                <a:lnTo>
                  <a:pt x="3205943" y="0"/>
                </a:lnTo>
                <a:lnTo>
                  <a:pt x="3205943" y="3205944"/>
                </a:lnTo>
                <a:lnTo>
                  <a:pt x="0" y="32059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64379" y="3803650"/>
            <a:ext cx="12794921" cy="2622550"/>
          </a:xfrm>
          <a:prstGeom prst="rect">
            <a:avLst/>
          </a:prstGeom>
        </p:spPr>
        <p:txBody>
          <a:bodyPr anchor="t" rtlCol="false" tIns="0" lIns="0" bIns="0" rIns="0">
            <a:spAutoFit/>
          </a:bodyPr>
          <a:lstStyle/>
          <a:p>
            <a:pPr algn="l">
              <a:lnSpc>
                <a:spcPts val="3499"/>
              </a:lnSpc>
            </a:pPr>
            <a:r>
              <a:rPr lang="en-US" sz="2499" spc="-117" b="true">
                <a:solidFill>
                  <a:srgbClr val="FF000A"/>
                </a:solidFill>
                <a:latin typeface="Raleway Bold"/>
                <a:ea typeface="Raleway Bold"/>
                <a:cs typeface="Raleway Bold"/>
                <a:sym typeface="Raleway Bold"/>
              </a:rPr>
              <a:t>Önemli Not: </a:t>
            </a:r>
          </a:p>
          <a:p>
            <a:pPr algn="l">
              <a:lnSpc>
                <a:spcPts val="3499"/>
              </a:lnSpc>
            </a:pPr>
          </a:p>
          <a:p>
            <a:pPr algn="l">
              <a:lnSpc>
                <a:spcPts val="3499"/>
              </a:lnSpc>
            </a:pPr>
            <a:r>
              <a:rPr lang="en-US" sz="2499" spc="-117">
                <a:solidFill>
                  <a:srgbClr val="424242"/>
                </a:solidFill>
                <a:latin typeface="Raleway"/>
                <a:ea typeface="Raleway"/>
                <a:cs typeface="Raleway"/>
                <a:sym typeface="Raleway"/>
              </a:rPr>
              <a:t>Eğer aynı kod satırında, öncelik derecesi birbiriyle tamamen eşit olan operatörler (örneğin yan yana hem çarpma hem de bölme) yer alıyorsa Python yorumlayıcısı işlemi standart olarak soldan sağa doğru ardışık bir hiyerarşiyle yürütür ancak üs alma (**) operatörü bu kuralın istisnasıdır ve aynı satırda ardışık kullanıldığında sağdan sola doğru değerlendirilir.</a:t>
            </a:r>
          </a:p>
        </p:txBody>
      </p:sp>
    </p:spTree>
  </p:cSld>
  <p:clrMapOvr>
    <a:masterClrMapping/>
  </p:clrMapOvr>
</p:sld>
</file>

<file path=ppt/slides/slide137.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 ÖRNEK 4: </a:t>
            </a:r>
            <a:r>
              <a:rPr lang="en-US" sz="3000" spc="-141">
                <a:solidFill>
                  <a:srgbClr val="424242"/>
                </a:solidFill>
                <a:latin typeface="Raleway"/>
                <a:ea typeface="Raleway"/>
                <a:cs typeface="Raleway"/>
                <a:sym typeface="Raleway"/>
              </a:rPr>
              <a:t>İŞLEM ÖNCELİĞİ ETKİSİ</a:t>
            </a:r>
          </a:p>
        </p:txBody>
      </p:sp>
      <p:sp>
        <p:nvSpPr>
          <p:cNvPr name="TextBox 3" id="3"/>
          <p:cNvSpPr txBox="true"/>
          <p:nvPr/>
        </p:nvSpPr>
        <p:spPr>
          <a:xfrm rot="0">
            <a:off x="1028700" y="1756117"/>
            <a:ext cx="16230600"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Kod-Asistan projesinde kullanıcının kilo ve boy verileri alınarak Vücut Kitle İndeksi (VKİ) hesaplanacaktır. </a:t>
            </a:r>
          </a:p>
          <a:p>
            <a:pPr algn="l">
              <a:lnSpc>
                <a:spcPts val="3499"/>
              </a:lnSpc>
            </a:pPr>
          </a:p>
          <a:p>
            <a:pPr algn="l">
              <a:lnSpc>
                <a:spcPts val="3499"/>
              </a:lnSpc>
            </a:pPr>
            <a:r>
              <a:rPr lang="en-US" sz="2499" spc="-117">
                <a:solidFill>
                  <a:srgbClr val="424242"/>
                </a:solidFill>
                <a:latin typeface="Raleway"/>
                <a:ea typeface="Raleway"/>
                <a:cs typeface="Raleway"/>
                <a:sym typeface="Raleway"/>
              </a:rPr>
              <a:t>VKİ formülü Kilo / (Boy x Boy) şeklindedir. Bilgisayar işlemcisinin karmaşık durumlarda hangi işlemi daha önce yürüteceğini belirleyen hiyerarşik yerleşimlerin ve parantez kullanımının, bilgisayar belleğindeki hesaplama sonuçlarını nasıl doğrudan değiştirdiği bu senaryo üzerinden test edilecektir.</a:t>
            </a:r>
          </a:p>
        </p:txBody>
      </p:sp>
      <p:sp>
        <p:nvSpPr>
          <p:cNvPr name="TextBox 4" id="4"/>
          <p:cNvSpPr txBox="true"/>
          <p:nvPr/>
        </p:nvSpPr>
        <p:spPr>
          <a:xfrm rot="0">
            <a:off x="1028700" y="4207217"/>
            <a:ext cx="16230600" cy="358775"/>
          </a:xfrm>
          <a:prstGeom prst="rect">
            <a:avLst/>
          </a:prstGeom>
        </p:spPr>
        <p:txBody>
          <a:bodyPr anchor="t" rtlCol="false" tIns="0" lIns="0" bIns="0" rIns="0">
            <a:spAutoFit/>
          </a:bodyPr>
          <a:lstStyle/>
          <a:p>
            <a:pPr algn="l" marL="431801" indent="-215900" lvl="1">
              <a:lnSpc>
                <a:spcPts val="2800"/>
              </a:lnSpc>
              <a:buFont typeface="Arial"/>
              <a:buChar char="•"/>
            </a:pPr>
            <a:r>
              <a:rPr lang="en-US" b="true" sz="2000" spc="-34">
                <a:solidFill>
                  <a:srgbClr val="203251"/>
                </a:solidFill>
                <a:latin typeface="Raleway Semi-Bold"/>
                <a:ea typeface="Raleway Semi-Bold"/>
                <a:cs typeface="Raleway Semi-Bold"/>
                <a:sym typeface="Raleway Semi-Bold"/>
              </a:rPr>
              <a:t>Ö</a:t>
            </a:r>
            <a:r>
              <a:rPr lang="en-US" b="true" sz="2000" spc="-34">
                <a:solidFill>
                  <a:srgbClr val="203251"/>
                </a:solidFill>
                <a:latin typeface="Raleway Semi-Bold"/>
                <a:ea typeface="Raleway Semi-Bold"/>
                <a:cs typeface="Raleway Semi-Bold"/>
                <a:sym typeface="Raleway Semi-Bold"/>
              </a:rPr>
              <a:t>rnek K</a:t>
            </a:r>
            <a:r>
              <a:rPr lang="en-US" b="true" sz="2000" spc="-34">
                <a:solidFill>
                  <a:srgbClr val="203251"/>
                </a:solidFill>
                <a:latin typeface="Raleway Semi-Bold"/>
                <a:ea typeface="Raleway Semi-Bold"/>
                <a:cs typeface="Raleway Semi-Bold"/>
                <a:sym typeface="Raleway Semi-Bold"/>
              </a:rPr>
              <a:t>od </a:t>
            </a:r>
            <a:r>
              <a:rPr lang="en-US" b="true" sz="2000" spc="-34">
                <a:solidFill>
                  <a:srgbClr val="203251"/>
                </a:solidFill>
                <a:latin typeface="Raleway Semi-Bold"/>
                <a:ea typeface="Raleway Semi-Bold"/>
                <a:cs typeface="Raleway Semi-Bold"/>
                <a:sym typeface="Raleway Semi-Bold"/>
              </a:rPr>
              <a:t>Bloku:</a:t>
            </a:r>
          </a:p>
        </p:txBody>
      </p:sp>
      <p:sp>
        <p:nvSpPr>
          <p:cNvPr name="Freeform 5" id="5"/>
          <p:cNvSpPr/>
          <p:nvPr/>
        </p:nvSpPr>
        <p:spPr>
          <a:xfrm flipH="false" flipV="false" rot="0">
            <a:off x="12450356" y="5542757"/>
            <a:ext cx="4177031" cy="403405"/>
          </a:xfrm>
          <a:custGeom>
            <a:avLst/>
            <a:gdLst/>
            <a:ahLst/>
            <a:cxnLst/>
            <a:rect r="r" b="b" t="t" l="l"/>
            <a:pathLst>
              <a:path h="403405" w="4177031">
                <a:moveTo>
                  <a:pt x="0" y="0"/>
                </a:moveTo>
                <a:lnTo>
                  <a:pt x="4177031" y="0"/>
                </a:lnTo>
                <a:lnTo>
                  <a:pt x="4177031" y="403405"/>
                </a:lnTo>
                <a:lnTo>
                  <a:pt x="0" y="403405"/>
                </a:lnTo>
                <a:lnTo>
                  <a:pt x="0" y="0"/>
                </a:lnTo>
                <a:close/>
              </a:path>
            </a:pathLst>
          </a:custGeom>
          <a:blipFill>
            <a:blip r:embed="rId2"/>
            <a:stretch>
              <a:fillRect l="0" t="-7451" r="0" b="0"/>
            </a:stretch>
          </a:blipFill>
        </p:spPr>
      </p:sp>
      <p:sp>
        <p:nvSpPr>
          <p:cNvPr name="Freeform 6" id="6"/>
          <p:cNvSpPr/>
          <p:nvPr/>
        </p:nvSpPr>
        <p:spPr>
          <a:xfrm flipH="false" flipV="false" rot="0">
            <a:off x="1173688" y="7615765"/>
            <a:ext cx="9856618" cy="2134197"/>
          </a:xfrm>
          <a:custGeom>
            <a:avLst/>
            <a:gdLst/>
            <a:ahLst/>
            <a:cxnLst/>
            <a:rect r="r" b="b" t="t" l="l"/>
            <a:pathLst>
              <a:path h="2134197" w="9856618">
                <a:moveTo>
                  <a:pt x="0" y="0"/>
                </a:moveTo>
                <a:lnTo>
                  <a:pt x="9856618" y="0"/>
                </a:lnTo>
                <a:lnTo>
                  <a:pt x="9856618" y="2134197"/>
                </a:lnTo>
                <a:lnTo>
                  <a:pt x="0" y="2134197"/>
                </a:lnTo>
                <a:lnTo>
                  <a:pt x="0" y="0"/>
                </a:lnTo>
                <a:close/>
              </a:path>
            </a:pathLst>
          </a:custGeom>
          <a:blipFill>
            <a:blip r:embed="rId3"/>
            <a:stretch>
              <a:fillRect l="0" t="0" r="0" b="0"/>
            </a:stretch>
          </a:blipFill>
        </p:spPr>
      </p:sp>
      <p:sp>
        <p:nvSpPr>
          <p:cNvPr name="Freeform 7" id="7"/>
          <p:cNvSpPr/>
          <p:nvPr/>
        </p:nvSpPr>
        <p:spPr>
          <a:xfrm flipH="false" flipV="false" rot="0">
            <a:off x="12450356" y="8456669"/>
            <a:ext cx="4177031" cy="452389"/>
          </a:xfrm>
          <a:custGeom>
            <a:avLst/>
            <a:gdLst/>
            <a:ahLst/>
            <a:cxnLst/>
            <a:rect r="r" b="b" t="t" l="l"/>
            <a:pathLst>
              <a:path h="452389" w="4177031">
                <a:moveTo>
                  <a:pt x="0" y="0"/>
                </a:moveTo>
                <a:lnTo>
                  <a:pt x="4177031" y="0"/>
                </a:lnTo>
                <a:lnTo>
                  <a:pt x="4177031" y="452389"/>
                </a:lnTo>
                <a:lnTo>
                  <a:pt x="0" y="452389"/>
                </a:lnTo>
                <a:lnTo>
                  <a:pt x="0" y="0"/>
                </a:lnTo>
                <a:close/>
              </a:path>
            </a:pathLst>
          </a:custGeom>
          <a:blipFill>
            <a:blip r:embed="rId4"/>
            <a:stretch>
              <a:fillRect l="0" t="0" r="0" b="-6374"/>
            </a:stretch>
          </a:blipFill>
        </p:spPr>
      </p:sp>
      <p:sp>
        <p:nvSpPr>
          <p:cNvPr name="Freeform 8" id="8"/>
          <p:cNvSpPr/>
          <p:nvPr/>
        </p:nvSpPr>
        <p:spPr>
          <a:xfrm flipH="false" flipV="false" rot="0">
            <a:off x="1173688" y="4725900"/>
            <a:ext cx="9856618" cy="2037119"/>
          </a:xfrm>
          <a:custGeom>
            <a:avLst/>
            <a:gdLst/>
            <a:ahLst/>
            <a:cxnLst/>
            <a:rect r="r" b="b" t="t" l="l"/>
            <a:pathLst>
              <a:path h="2037119" w="9856618">
                <a:moveTo>
                  <a:pt x="0" y="0"/>
                </a:moveTo>
                <a:lnTo>
                  <a:pt x="9856618" y="0"/>
                </a:lnTo>
                <a:lnTo>
                  <a:pt x="9856618" y="2037119"/>
                </a:lnTo>
                <a:lnTo>
                  <a:pt x="0" y="2037119"/>
                </a:lnTo>
                <a:lnTo>
                  <a:pt x="0" y="0"/>
                </a:lnTo>
                <a:close/>
              </a:path>
            </a:pathLst>
          </a:custGeom>
          <a:blipFill>
            <a:blip r:embed="rId5"/>
            <a:stretch>
              <a:fillRect l="0" t="0" r="-17942" b="0"/>
            </a:stretch>
          </a:blipFill>
        </p:spPr>
      </p:sp>
      <p:sp>
        <p:nvSpPr>
          <p:cNvPr name="AutoShape 9" id="9"/>
          <p:cNvSpPr/>
          <p:nvPr/>
        </p:nvSpPr>
        <p:spPr>
          <a:xfrm>
            <a:off x="10512260" y="8682864"/>
            <a:ext cx="1938097" cy="0"/>
          </a:xfrm>
          <a:prstGeom prst="line">
            <a:avLst/>
          </a:prstGeom>
          <a:ln cap="flat" w="38100">
            <a:solidFill>
              <a:srgbClr val="FF000A"/>
            </a:solidFill>
            <a:prstDash val="solid"/>
            <a:headEnd type="none" len="sm" w="sm"/>
            <a:tailEnd type="triangle" len="med" w="lg"/>
          </a:ln>
        </p:spPr>
      </p:sp>
      <p:sp>
        <p:nvSpPr>
          <p:cNvPr name="AutoShape 10" id="10"/>
          <p:cNvSpPr/>
          <p:nvPr/>
        </p:nvSpPr>
        <p:spPr>
          <a:xfrm flipV="true">
            <a:off x="10512260" y="5744459"/>
            <a:ext cx="1938097" cy="0"/>
          </a:xfrm>
          <a:prstGeom prst="line">
            <a:avLst/>
          </a:prstGeom>
          <a:ln cap="flat" w="38100">
            <a:solidFill>
              <a:srgbClr val="FF000A"/>
            </a:solidFill>
            <a:prstDash val="solid"/>
            <a:headEnd type="none" len="sm" w="sm"/>
            <a:tailEnd type="triangle" len="med" w="lg"/>
          </a:ln>
        </p:spPr>
      </p:sp>
      <p:sp>
        <p:nvSpPr>
          <p:cNvPr name="TextBox 11" id="11"/>
          <p:cNvSpPr txBox="true"/>
          <p:nvPr/>
        </p:nvSpPr>
        <p:spPr>
          <a:xfrm rot="0">
            <a:off x="11030306" y="8251064"/>
            <a:ext cx="905886" cy="431800"/>
          </a:xfrm>
          <a:prstGeom prst="rect">
            <a:avLst/>
          </a:prstGeom>
        </p:spPr>
        <p:txBody>
          <a:bodyPr anchor="t" rtlCol="false" tIns="0" lIns="0" bIns="0" rIns="0">
            <a:spAutoFit/>
          </a:bodyPr>
          <a:lstStyle/>
          <a:p>
            <a:pPr algn="ctr">
              <a:lnSpc>
                <a:spcPts val="3499"/>
              </a:lnSpc>
            </a:pPr>
            <a:r>
              <a:rPr lang="en-US" b="true" sz="2499" spc="-117">
                <a:solidFill>
                  <a:srgbClr val="FF000A"/>
                </a:solidFill>
                <a:latin typeface="Raleway Bold"/>
                <a:ea typeface="Raleway Bold"/>
                <a:cs typeface="Raleway Bold"/>
                <a:sym typeface="Raleway Bold"/>
              </a:rPr>
              <a:t>Çıktı</a:t>
            </a:r>
          </a:p>
        </p:txBody>
      </p:sp>
      <p:sp>
        <p:nvSpPr>
          <p:cNvPr name="TextBox 12" id="12"/>
          <p:cNvSpPr txBox="true"/>
          <p:nvPr/>
        </p:nvSpPr>
        <p:spPr>
          <a:xfrm rot="0">
            <a:off x="11030306" y="5312659"/>
            <a:ext cx="905886" cy="431800"/>
          </a:xfrm>
          <a:prstGeom prst="rect">
            <a:avLst/>
          </a:prstGeom>
        </p:spPr>
        <p:txBody>
          <a:bodyPr anchor="t" rtlCol="false" tIns="0" lIns="0" bIns="0" rIns="0">
            <a:spAutoFit/>
          </a:bodyPr>
          <a:lstStyle/>
          <a:p>
            <a:pPr algn="ctr">
              <a:lnSpc>
                <a:spcPts val="3499"/>
              </a:lnSpc>
            </a:pPr>
            <a:r>
              <a:rPr lang="en-US" b="true" sz="2499" spc="-117">
                <a:solidFill>
                  <a:srgbClr val="FF000A"/>
                </a:solidFill>
                <a:latin typeface="Raleway Bold"/>
                <a:ea typeface="Raleway Bold"/>
                <a:cs typeface="Raleway Bold"/>
                <a:sym typeface="Raleway Bold"/>
              </a:rPr>
              <a:t>Çıktı</a:t>
            </a:r>
          </a:p>
        </p:txBody>
      </p:sp>
    </p:spTree>
  </p:cSld>
  <p:clrMapOvr>
    <a:masterClrMapping/>
  </p:clrMapOvr>
</p:sld>
</file>

<file path=ppt/slides/slide138.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1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Bold"/>
                <a:ea typeface="Raleway Bold"/>
                <a:cs typeface="Raleway Bold"/>
                <a:sym typeface="Raleway Bold"/>
              </a:rPr>
              <a:t>Kod Analizi:</a:t>
            </a:r>
          </a:p>
        </p:txBody>
      </p:sp>
      <p:graphicFrame>
        <p:nvGraphicFramePr>
          <p:cNvPr name="Table 3" id="3"/>
          <p:cNvGraphicFramePr>
            <a:graphicFrameLocks noGrp="true"/>
          </p:cNvGraphicFramePr>
          <p:nvPr/>
        </p:nvGraphicFramePr>
        <p:xfrm>
          <a:off x="1028700" y="1622425"/>
          <a:ext cx="16230600" cy="2171700"/>
        </p:xfrm>
        <a:graphic>
          <a:graphicData uri="http://schemas.openxmlformats.org/drawingml/2006/table">
            <a:tbl>
              <a:tblPr/>
              <a:tblGrid>
                <a:gridCol w="2883149"/>
                <a:gridCol w="13347451"/>
              </a:tblGrid>
              <a:tr h="669687">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Çıkarım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574018">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Varsayılan Hiyerarşi</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Karmaşık hesaplama satırlarında Python yorumlayıcısının varsayılan hiyerarşisi dikkate alınmalıdır.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7995">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Parantez Kullanımı</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Hem kodun diğer yazılımcılar tarafından daha rahat okunabilmesi hem de olası mantık hatalarının engellenmesi adına öncelikli çalışması istenen bloklar mutlaka parantez ( ) içerisine alınarak güvence altına alınmalıdır.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39.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907595" y="2126470"/>
            <a:ext cx="14732484"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 öğrencinin üç farklı sınav notunun ortalamasını hesaplamak amacıyla kaynak koda </a:t>
            </a:r>
            <a:r>
              <a:rPr lang="en-US" sz="2499" spc="-117" b="true">
                <a:solidFill>
                  <a:srgbClr val="424242"/>
                </a:solidFill>
                <a:latin typeface="Raleway Bold"/>
                <a:ea typeface="Raleway Bold"/>
                <a:cs typeface="Raleway Bold"/>
                <a:sym typeface="Raleway Bold"/>
              </a:rPr>
              <a:t>ortalama = not1 + not2 + not3 / 3 </a:t>
            </a:r>
            <a:r>
              <a:rPr lang="en-US" sz="2499" spc="-117">
                <a:solidFill>
                  <a:srgbClr val="424242"/>
                </a:solidFill>
                <a:latin typeface="Raleway"/>
                <a:ea typeface="Raleway"/>
                <a:cs typeface="Raleway"/>
                <a:sym typeface="Raleway"/>
              </a:rPr>
              <a:t>satırı yazılmıştır. </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Bu kod satırı çalıştırıldığında Python yorumlayıcısı matematiksel olarak nasıl bir öncelik hatası yapar?</a:t>
            </a:r>
            <a:r>
              <a:rPr lang="en-US" sz="2499" spc="-117">
                <a:solidFill>
                  <a:srgbClr val="424242"/>
                </a:solidFill>
                <a:latin typeface="Raleway"/>
                <a:ea typeface="Raleway"/>
                <a:cs typeface="Raleway"/>
                <a:sym typeface="Raleway"/>
              </a:rPr>
              <a:t> </a:t>
            </a:r>
          </a:p>
          <a:p>
            <a:pPr algn="l">
              <a:lnSpc>
                <a:spcPts val="3499"/>
              </a:lnSpc>
            </a:pPr>
            <a:r>
              <a:rPr lang="en-US" sz="2499" spc="-117" b="true">
                <a:solidFill>
                  <a:srgbClr val="424242"/>
                </a:solidFill>
                <a:latin typeface="Raleway Bold"/>
                <a:ea typeface="Raleway Bold"/>
                <a:cs typeface="Raleway Bold"/>
                <a:sym typeface="Raleway Bold"/>
              </a:rPr>
              <a:t>Doğru ortalama sonucuna ulaşmak için kod satırı nasıl revize edilmelidir? </a:t>
            </a:r>
            <a:r>
              <a:rPr lang="en-US" sz="2499" spc="-117">
                <a:solidFill>
                  <a:srgbClr val="424242"/>
                </a:solidFill>
                <a:latin typeface="Raleway"/>
                <a:ea typeface="Raleway"/>
                <a:cs typeface="Raleway"/>
                <a:sym typeface="Raleway"/>
              </a:rPr>
              <a:t>Gerekçeleriyle açıklayınız.</a:t>
            </a:r>
          </a:p>
        </p:txBody>
      </p:sp>
      <p:sp>
        <p:nvSpPr>
          <p:cNvPr name="Freeform 3" id="3"/>
          <p:cNvSpPr/>
          <p:nvPr/>
        </p:nvSpPr>
        <p:spPr>
          <a:xfrm flipH="false" flipV="false" rot="0">
            <a:off x="5949966" y="4348970"/>
            <a:ext cx="6527893" cy="5124396"/>
          </a:xfrm>
          <a:custGeom>
            <a:avLst/>
            <a:gdLst/>
            <a:ahLst/>
            <a:cxnLst/>
            <a:rect r="r" b="b" t="t" l="l"/>
            <a:pathLst>
              <a:path h="5124396" w="6527893">
                <a:moveTo>
                  <a:pt x="0" y="0"/>
                </a:moveTo>
                <a:lnTo>
                  <a:pt x="6527892" y="0"/>
                </a:lnTo>
                <a:lnTo>
                  <a:pt x="6527892" y="5124396"/>
                </a:lnTo>
                <a:lnTo>
                  <a:pt x="0" y="5124396"/>
                </a:lnTo>
                <a:lnTo>
                  <a:pt x="0" y="0"/>
                </a:lnTo>
                <a:close/>
              </a:path>
            </a:pathLst>
          </a:custGeom>
          <a:blipFill>
            <a:blip r:embed="rId2"/>
            <a:stretch>
              <a:fillRect l="0" t="0" r="0" b="0"/>
            </a:stretch>
          </a:blipFill>
        </p:spPr>
      </p:sp>
      <p:sp>
        <p:nvSpPr>
          <p:cNvPr name="Freeform 4" id="4"/>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olid"/>
            <a:headEnd type="none" len="sm" w="sm"/>
            <a:tailEnd type="none" len="sm" w="sm"/>
          </a:ln>
        </p:spPr>
      </p:sp>
      <p:sp>
        <p:nvSpPr>
          <p:cNvPr name="TextBox 5" id="5"/>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Düşünelim-Tartışalım</a:t>
            </a:r>
          </a:p>
        </p:txBody>
      </p:sp>
    </p:spTree>
  </p:cSld>
  <p:clrMapOvr>
    <a:masterClrMapping/>
  </p:clrMapOvr>
</p:sld>
</file>

<file path=ppt/slides/slide140.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65960"/>
            <a:ext cx="18288000" cy="12252960"/>
          </a:xfrm>
          <a:custGeom>
            <a:avLst/>
            <a:gdLst/>
            <a:ahLst/>
            <a:cxnLst/>
            <a:rect r="r" b="b" t="t" l="l"/>
            <a:pathLst>
              <a:path h="12252960" w="18288000">
                <a:moveTo>
                  <a:pt x="0" y="0"/>
                </a:moveTo>
                <a:lnTo>
                  <a:pt x="18288000" y="0"/>
                </a:lnTo>
                <a:lnTo>
                  <a:pt x="18288000" y="12252960"/>
                </a:lnTo>
                <a:lnTo>
                  <a:pt x="0" y="12252960"/>
                </a:lnTo>
                <a:lnTo>
                  <a:pt x="0" y="0"/>
                </a:lnTo>
                <a:close/>
              </a:path>
            </a:pathLst>
          </a:custGeom>
          <a:blipFill>
            <a:blip r:embed="rId2">
              <a:alphaModFix amt="1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sz="3999" spc="-187" b="true">
                <a:solidFill>
                  <a:srgbClr val="424242"/>
                </a:solidFill>
                <a:latin typeface="Raleway Heavy"/>
                <a:ea typeface="Raleway Heavy"/>
                <a:cs typeface="Raleway Heavy"/>
                <a:sym typeface="Raleway Heavy"/>
              </a:rPr>
              <a:t>2.4. YAPAY ZEKÂ KOD DENETİMİ</a:t>
            </a:r>
          </a:p>
        </p:txBody>
      </p:sp>
      <p:sp>
        <p:nvSpPr>
          <p:cNvPr name="TextBox 4" id="4"/>
          <p:cNvSpPr txBox="true"/>
          <p:nvPr/>
        </p:nvSpPr>
        <p:spPr>
          <a:xfrm rot="0">
            <a:off x="1028700" y="1901213"/>
            <a:ext cx="16230600" cy="13081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azılım</a:t>
            </a:r>
            <a:r>
              <a:rPr lang="en-US" sz="2499" spc="-117">
                <a:solidFill>
                  <a:srgbClr val="424242"/>
                </a:solidFill>
                <a:latin typeface="Raleway"/>
                <a:ea typeface="Raleway"/>
                <a:cs typeface="Raleway"/>
                <a:sym typeface="Raleway"/>
              </a:rPr>
              <a:t> dünyasında büyük dil modelleri ve yapay zekâ teknolojileri; kaynak kod alternatifleri üretme, algoritm</a:t>
            </a:r>
            <a:r>
              <a:rPr lang="en-US" sz="2499" spc="-117">
                <a:solidFill>
                  <a:srgbClr val="424242"/>
                </a:solidFill>
                <a:latin typeface="Raleway"/>
                <a:ea typeface="Raleway"/>
                <a:cs typeface="Raleway"/>
                <a:sym typeface="Raleway"/>
              </a:rPr>
              <a:t>a t</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s</a:t>
            </a:r>
            <a:r>
              <a:rPr lang="en-US" sz="2499" spc="-117">
                <a:solidFill>
                  <a:srgbClr val="424242"/>
                </a:solidFill>
                <a:latin typeface="Raleway"/>
                <a:ea typeface="Raleway"/>
                <a:cs typeface="Raleway"/>
                <a:sym typeface="Raleway"/>
              </a:rPr>
              <a:t>arlama ve yazım hatalarını sap</a:t>
            </a:r>
            <a:r>
              <a:rPr lang="en-US" sz="2499" spc="-117">
                <a:solidFill>
                  <a:srgbClr val="424242"/>
                </a:solidFill>
                <a:latin typeface="Raleway"/>
                <a:ea typeface="Raleway"/>
                <a:cs typeface="Raleway"/>
                <a:sym typeface="Raleway"/>
              </a:rPr>
              <a:t>ta</a:t>
            </a:r>
            <a:r>
              <a:rPr lang="en-US" sz="2499" spc="-117">
                <a:solidFill>
                  <a:srgbClr val="424242"/>
                </a:solidFill>
                <a:latin typeface="Raleway"/>
                <a:ea typeface="Raleway"/>
                <a:cs typeface="Raleway"/>
                <a:sym typeface="Raleway"/>
              </a:rPr>
              <a:t>ma süreçlerinde y</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zılı</a:t>
            </a:r>
            <a:r>
              <a:rPr lang="en-US" sz="2499" spc="-117">
                <a:solidFill>
                  <a:srgbClr val="424242"/>
                </a:solidFill>
                <a:latin typeface="Raleway"/>
                <a:ea typeface="Raleway"/>
                <a:cs typeface="Raleway"/>
                <a:sym typeface="Raleway"/>
              </a:rPr>
              <a:t>m</a:t>
            </a:r>
            <a:r>
              <a:rPr lang="en-US" sz="2499" spc="-117">
                <a:solidFill>
                  <a:srgbClr val="424242"/>
                </a:solidFill>
                <a:latin typeface="Raleway"/>
                <a:ea typeface="Raleway"/>
                <a:cs typeface="Raleway"/>
                <a:sym typeface="Raleway"/>
              </a:rPr>
              <a:t>c</a:t>
            </a:r>
            <a:r>
              <a:rPr lang="en-US" sz="2499" spc="-117">
                <a:solidFill>
                  <a:srgbClr val="424242"/>
                </a:solidFill>
                <a:latin typeface="Raleway"/>
                <a:ea typeface="Raleway"/>
                <a:cs typeface="Raleway"/>
                <a:sym typeface="Raleway"/>
              </a:rPr>
              <a:t>ı</a:t>
            </a:r>
            <a:r>
              <a:rPr lang="en-US" sz="2499" spc="-117">
                <a:solidFill>
                  <a:srgbClr val="424242"/>
                </a:solidFill>
                <a:latin typeface="Raleway"/>
                <a:ea typeface="Raleway"/>
                <a:cs typeface="Raleway"/>
                <a:sym typeface="Raleway"/>
              </a:rPr>
              <a:t>la</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a rehberlik eden güçlü birer yardımcı hâline gelmiştir. Yapay zekâ mod</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ll</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in</a:t>
            </a:r>
            <a:r>
              <a:rPr lang="en-US" sz="2499" spc="-117">
                <a:solidFill>
                  <a:srgbClr val="424242"/>
                </a:solidFill>
                <a:latin typeface="Raleway"/>
                <a:ea typeface="Raleway"/>
                <a:cs typeface="Raleway"/>
                <a:sym typeface="Raleway"/>
              </a:rPr>
              <a:t>i</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kod üretebiliyor olması, üretilen bu kodların her zaman kararlı, verimli ve hatasız olduğu an</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amına gelmez.</a:t>
            </a:r>
          </a:p>
        </p:txBody>
      </p:sp>
      <p:sp>
        <p:nvSpPr>
          <p:cNvPr name="TextBox 5" id="5"/>
          <p:cNvSpPr txBox="true"/>
          <p:nvPr/>
        </p:nvSpPr>
        <p:spPr>
          <a:xfrm rot="0">
            <a:off x="1028700" y="3466488"/>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Yapay Zekâ Neden Her Zaman Doğru Değildir?</a:t>
            </a:r>
          </a:p>
        </p:txBody>
      </p:sp>
      <p:graphicFrame>
        <p:nvGraphicFramePr>
          <p:cNvPr name="Table 6" id="6"/>
          <p:cNvGraphicFramePr>
            <a:graphicFrameLocks noGrp="true"/>
          </p:cNvGraphicFramePr>
          <p:nvPr/>
        </p:nvGraphicFramePr>
        <p:xfrm>
          <a:off x="1028700" y="4160520"/>
          <a:ext cx="16230600" cy="3800475"/>
        </p:xfrm>
        <a:graphic>
          <a:graphicData uri="http://schemas.openxmlformats.org/drawingml/2006/table">
            <a:tbl>
              <a:tblPr/>
              <a:tblGrid>
                <a:gridCol w="3437771"/>
                <a:gridCol w="12792829"/>
              </a:tblGrid>
              <a:tr h="668425">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Sebep</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3499"/>
                        </a:lnSpc>
                        <a:defRPr/>
                      </a:pPr>
                      <a:r>
                        <a:rPr lang="en-US" b="true" sz="2499">
                          <a:solidFill>
                            <a:srgbClr val="000000"/>
                          </a:solidFill>
                          <a:latin typeface="Raleway Bold"/>
                          <a:ea typeface="Raleway Bold"/>
                          <a:cs typeface="Raleway Bold"/>
                          <a:sym typeface="Raleway Bold"/>
                        </a:rPr>
                        <a:t>Açıklama</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24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İnsan Düşüncesinin Derinliğine Sahip Değildir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Yapay zekâ araçları, insan düşüncesinin mimari ve mantıksal derinliğine sahip değildir.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926246">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Olasılıksal Üretim</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Büyük dil modelleri, eğitim verileri ve verilen bağlama dayanarak olası kod dizilerini üretir ancak kodun doğruluğunu veya güvenliğini garanti etmez.</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r h="1279557">
                <a:tc>
                  <a:txBody>
                    <a:bodyPr anchor="t" rtlCol="false"/>
                    <a:lstStyle/>
                    <a:p>
                      <a:pPr algn="l">
                        <a:lnSpc>
                          <a:spcPts val="2800"/>
                        </a:lnSpc>
                        <a:defRPr/>
                      </a:pPr>
                      <a:r>
                        <a:rPr lang="en-US" sz="2000" b="true">
                          <a:solidFill>
                            <a:srgbClr val="000000"/>
                          </a:solidFill>
                          <a:latin typeface="Raleway Bold"/>
                          <a:ea typeface="Raleway Bold"/>
                          <a:cs typeface="Raleway Bold"/>
                          <a:sym typeface="Raleway Bold"/>
                        </a:rPr>
                        <a:t>Halüsinasyon</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Raleway"/>
                          <a:ea typeface="Raleway"/>
                          <a:cs typeface="Raleway"/>
                          <a:sym typeface="Raleway"/>
                        </a:rPr>
                        <a:t>Bu teknik doğalarından ötürü, bazen gerçekte var olmayan komutları varmış gibi üretebilir ya da ilk bakışta doğru görünen fakat arka planda ciddi mantık hataları barındıran kod blokları ortaya çıkarabilir. Yazılım literatüründe bu duruma yapay zekâ halüsinasyonu (AI hallucination) adı verilir.</a:t>
                      </a:r>
                      <a:endParaRPr lang="en-US" sz="1100"/>
                    </a:p>
                  </a:txBody>
                  <a:tcPr marL="76200" marR="76200" marT="76200" marB="76200" anchor="ctr">
                    <a:lnL cmpd="sng" algn="ctr" cap="flat" w="9525">
                      <a:solidFill>
                        <a:srgbClr val="777777"/>
                      </a:solidFill>
                      <a:prstDash val="solid"/>
                      <a:round/>
                      <a:headEnd type="none" w="med" len="med"/>
                      <a:tailEnd type="none" w="med" len="med"/>
                    </a:lnL>
                    <a:lnR cmpd="sng" algn="ctr" cap="flat" w="9525">
                      <a:solidFill>
                        <a:srgbClr val="777777"/>
                      </a:solidFill>
                      <a:prstDash val="solid"/>
                      <a:round/>
                      <a:headEnd type="none" w="med" len="med"/>
                      <a:tailEnd type="none" w="med" len="med"/>
                    </a:lnR>
                    <a:lnT cmpd="sng" algn="ctr" cap="flat" w="9525">
                      <a:solidFill>
                        <a:srgbClr val="777777"/>
                      </a:solidFill>
                      <a:prstDash val="solid"/>
                      <a:round/>
                      <a:headEnd type="none" w="med" len="med"/>
                      <a:tailEnd type="none" w="med" len="med"/>
                    </a:lnT>
                    <a:lnB cmpd="sng" algn="ctr" cap="flat" w="9525">
                      <a:solidFill>
                        <a:srgbClr val="777777"/>
                      </a:solidFill>
                      <a:prstDash val="solid"/>
                      <a:round/>
                      <a:headEnd type="none" w="med" len="med"/>
                      <a:tailEnd type="none" w="med" len="med"/>
                    </a:lnB>
                  </a:tcPr>
                </a:tc>
              </a:tr>
            </a:tbl>
          </a:graphicData>
        </a:graphic>
      </p:graphicFrame>
    </p:spTree>
  </p:cSld>
  <p:clrMapOvr>
    <a:masterClrMapping/>
  </p:clrMapOvr>
</p:sld>
</file>

<file path=ppt/slides/slide141.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2.4.1. İnsan Denetimi İlkesi</a:t>
            </a:r>
          </a:p>
        </p:txBody>
      </p:sp>
      <p:sp>
        <p:nvSpPr>
          <p:cNvPr name="TextBox 3" id="3"/>
          <p:cNvSpPr txBox="true"/>
          <p:nvPr/>
        </p:nvSpPr>
        <p:spPr>
          <a:xfrm rot="0">
            <a:off x="1028700" y="1783635"/>
            <a:ext cx="16230600" cy="43751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Yapay zekânın ürettiği kaynak kodların barındırabileceği mantıksal, aritmetiksel kusurların veya söz dizimi kusurlarının yazılımı kararsızlaştırmasını önlemek adına endüstriyel standartlarda </a:t>
            </a:r>
            <a:r>
              <a:rPr lang="en-US" sz="2499" spc="-117" b="true">
                <a:solidFill>
                  <a:srgbClr val="424242"/>
                </a:solidFill>
                <a:latin typeface="Raleway Semi-Bold"/>
                <a:ea typeface="Raleway Semi-Bold"/>
                <a:cs typeface="Raleway Semi-Bold"/>
                <a:sym typeface="Raleway Semi-Bold"/>
              </a:rPr>
              <a:t>İnsan Denetimi (Human-in-the-Loop)</a:t>
            </a:r>
            <a:r>
              <a:rPr lang="en-US" sz="2499" spc="-117">
                <a:solidFill>
                  <a:srgbClr val="424242"/>
                </a:solidFill>
                <a:latin typeface="Raleway"/>
                <a:ea typeface="Raleway"/>
                <a:cs typeface="Raleway"/>
                <a:sym typeface="Raleway"/>
              </a:rPr>
              <a:t> prensibi uygulanır.</a:t>
            </a:r>
          </a:p>
          <a:p>
            <a:pPr algn="l">
              <a:lnSpc>
                <a:spcPts val="3499"/>
              </a:lnSpc>
            </a:pPr>
          </a:p>
          <a:p>
            <a:pPr algn="l">
              <a:lnSpc>
                <a:spcPts val="3499"/>
              </a:lnSpc>
            </a:pPr>
            <a:r>
              <a:rPr lang="en-US" sz="2499" spc="-117" b="true">
                <a:solidFill>
                  <a:srgbClr val="424242"/>
                </a:solidFill>
                <a:latin typeface="Raleway Semi-Bold"/>
                <a:ea typeface="Raleway Semi-Bold"/>
                <a:cs typeface="Raleway Semi-Bold"/>
                <a:sym typeface="Raleway Semi-Bold"/>
              </a:rPr>
              <a:t>İnsan Denetimi Prensibi:</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Yapay zekâyı karar verici mutlak bir otorite olarak değil yalnızca bir üretim asistanı olarak konumlandırır.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Bu yaklaşıma göre yapay zekâ tarafından üretilen her bir kod satırı, algoritma mimarı olan insan tarafından satır satır denetlenmelidir.</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Kod, üretim sistemine alınmadan önce insan tarafından incelenmeli ve güvenli bir test ortamında çalıştırılarak doğrulanmalıdır.</a:t>
            </a:r>
          </a:p>
          <a:p>
            <a:pPr algn="l">
              <a:lnSpc>
                <a:spcPts val="3499"/>
              </a:lnSpc>
            </a:pPr>
          </a:p>
        </p:txBody>
      </p:sp>
    </p:spTree>
  </p:cSld>
  <p:clrMapOvr>
    <a:masterClrMapping/>
  </p:clrMapOvr>
</p:sld>
</file>

<file path=ppt/slides/slide142.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2.4.2. Yapay Zekâ Destekli Yazılım Geliştirmede Sorumluluk Sınırı</a:t>
            </a:r>
          </a:p>
        </p:txBody>
      </p:sp>
      <p:sp>
        <p:nvSpPr>
          <p:cNvPr name="TextBox 3" id="3"/>
          <p:cNvSpPr txBox="true"/>
          <p:nvPr/>
        </p:nvSpPr>
        <p:spPr>
          <a:xfrm rot="0">
            <a:off x="1028700" y="1783635"/>
            <a:ext cx="16230600"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 yazılım projesinde yapay zekâ yardımı alınsa dahi kodun kararlı çalışmasından, veri türlerinin doğru seçilmesinden ve işlem önceliği kurallarının hatasız işletilmesinden doğrudan algoritmayı tasarlay</a:t>
            </a:r>
            <a:r>
              <a:rPr lang="en-US" sz="2499" spc="-117">
                <a:solidFill>
                  <a:srgbClr val="424242"/>
                </a:solidFill>
                <a:latin typeface="Raleway"/>
                <a:ea typeface="Raleway"/>
                <a:cs typeface="Raleway"/>
                <a:sym typeface="Raleway"/>
              </a:rPr>
              <a:t>an </a:t>
            </a:r>
            <a:r>
              <a:rPr lang="en-US" sz="2499" spc="-117">
                <a:solidFill>
                  <a:srgbClr val="424242"/>
                </a:solidFill>
                <a:latin typeface="Raleway"/>
                <a:ea typeface="Raleway"/>
                <a:cs typeface="Raleway"/>
                <a:sym typeface="Raleway"/>
              </a:rPr>
              <a:t>yazılı</a:t>
            </a:r>
            <a:r>
              <a:rPr lang="en-US" sz="2499" spc="-117">
                <a:solidFill>
                  <a:srgbClr val="424242"/>
                </a:solidFill>
                <a:latin typeface="Raleway"/>
                <a:ea typeface="Raleway"/>
                <a:cs typeface="Raleway"/>
                <a:sym typeface="Raleway"/>
              </a:rPr>
              <a:t>m</a:t>
            </a:r>
            <a:r>
              <a:rPr lang="en-US" sz="2499" spc="-117">
                <a:solidFill>
                  <a:srgbClr val="424242"/>
                </a:solidFill>
                <a:latin typeface="Raleway"/>
                <a:ea typeface="Raleway"/>
                <a:cs typeface="Raleway"/>
                <a:sym typeface="Raleway"/>
              </a:rPr>
              <a:t>cı</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s</a:t>
            </a:r>
            <a:r>
              <a:rPr lang="en-US" sz="2499" spc="-117">
                <a:solidFill>
                  <a:srgbClr val="424242"/>
                </a:solidFill>
                <a:latin typeface="Raleway"/>
                <a:ea typeface="Raleway"/>
                <a:cs typeface="Raleway"/>
                <a:sym typeface="Raleway"/>
              </a:rPr>
              <a:t>o</a:t>
            </a:r>
            <a:r>
              <a:rPr lang="en-US" sz="2499" spc="-117">
                <a:solidFill>
                  <a:srgbClr val="424242"/>
                </a:solidFill>
                <a:latin typeface="Raleway"/>
                <a:ea typeface="Raleway"/>
                <a:cs typeface="Raleway"/>
                <a:sym typeface="Raleway"/>
              </a:rPr>
              <a:t>rumludur.</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Yapay zekânın sunduğu önerileri körü körüne koda dâhil etmek, projenin çökmesine veya bellek kayıplarına yol açabilir. Profesyonel bir bilişim uzmanı, asistanın ürettiği ham kodları birer taslak kabul ederek kendi teknik bilgisi ve insan zekâsıyla kodlara nihai şeklini verir.</a:t>
            </a:r>
          </a:p>
        </p:txBody>
      </p:sp>
    </p:spTree>
  </p:cSld>
  <p:clrMapOvr>
    <a:masterClrMapping/>
  </p:clrMapOvr>
</p:sld>
</file>

<file path=ppt/slides/slide143.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907595" y="2126470"/>
            <a:ext cx="14732484" cy="218440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Bir web sitesinin üyelik modülü için yapay zekâya kod ü</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t</a:t>
            </a:r>
            <a:r>
              <a:rPr lang="en-US" sz="2499" spc="-117">
                <a:solidFill>
                  <a:srgbClr val="424242"/>
                </a:solidFill>
                <a:latin typeface="Raleway"/>
                <a:ea typeface="Raleway"/>
                <a:cs typeface="Raleway"/>
                <a:sym typeface="Raleway"/>
              </a:rPr>
              <a:t>tiri</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diğinde y</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p</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zekâ</a:t>
            </a:r>
            <a:r>
              <a:rPr lang="en-US" sz="2499" spc="-117">
                <a:solidFill>
                  <a:srgbClr val="424242"/>
                </a:solidFill>
                <a:latin typeface="Raleway"/>
                <a:ea typeface="Raleway"/>
                <a:cs typeface="Raleway"/>
                <a:sym typeface="Raleway"/>
              </a:rPr>
              <a:t>n</a:t>
            </a:r>
            <a:r>
              <a:rPr lang="en-US" sz="2499" spc="-117">
                <a:solidFill>
                  <a:srgbClr val="424242"/>
                </a:solidFill>
                <a:latin typeface="Raleway"/>
                <a:ea typeface="Raleway"/>
                <a:cs typeface="Raleway"/>
                <a:sym typeface="Raleway"/>
              </a:rPr>
              <a:t>ı</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değişke</a:t>
            </a:r>
            <a:r>
              <a:rPr lang="en-US" sz="2499" spc="-117">
                <a:solidFill>
                  <a:srgbClr val="424242"/>
                </a:solidFill>
                <a:latin typeface="Raleway"/>
                <a:ea typeface="Raleway"/>
                <a:cs typeface="Raleway"/>
                <a:sym typeface="Raleway"/>
              </a:rPr>
              <a:t>n </a:t>
            </a:r>
            <a:r>
              <a:rPr lang="en-US" sz="2499" spc="-117">
                <a:solidFill>
                  <a:srgbClr val="424242"/>
                </a:solidFill>
                <a:latin typeface="Raleway"/>
                <a:ea typeface="Raleway"/>
                <a:cs typeface="Raleway"/>
                <a:sym typeface="Raleway"/>
              </a:rPr>
              <a:t>isimlerini kurallara</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ay</a:t>
            </a:r>
            <a:r>
              <a:rPr lang="en-US" sz="2499" spc="-117">
                <a:solidFill>
                  <a:srgbClr val="424242"/>
                </a:solidFill>
                <a:latin typeface="Raleway"/>
                <a:ea typeface="Raleway"/>
                <a:cs typeface="Raleway"/>
                <a:sym typeface="Raleway"/>
              </a:rPr>
              <a:t>kırı </a:t>
            </a:r>
            <a:r>
              <a:rPr lang="en-US" sz="2499" spc="-117">
                <a:solidFill>
                  <a:srgbClr val="424242"/>
                </a:solidFill>
                <a:latin typeface="Raleway"/>
                <a:ea typeface="Raleway"/>
                <a:cs typeface="Raleway"/>
                <a:sym typeface="Raleway"/>
              </a:rPr>
              <a:t>o</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ra</a:t>
            </a:r>
            <a:r>
              <a:rPr lang="en-US" sz="2499" spc="-117">
                <a:solidFill>
                  <a:srgbClr val="424242"/>
                </a:solidFill>
                <a:latin typeface="Raleway"/>
                <a:ea typeface="Raleway"/>
                <a:cs typeface="Raleway"/>
                <a:sym typeface="Raleway"/>
              </a:rPr>
              <a:t>k</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b</a:t>
            </a:r>
            <a:r>
              <a:rPr lang="en-US" sz="2499" spc="-117">
                <a:solidFill>
                  <a:srgbClr val="424242"/>
                </a:solidFill>
                <a:latin typeface="Raleway"/>
                <a:ea typeface="Raleway"/>
                <a:cs typeface="Raleway"/>
                <a:sym typeface="Raleway"/>
              </a:rPr>
              <a:t>o</a:t>
            </a:r>
            <a:r>
              <a:rPr lang="en-US" sz="2499" spc="-117">
                <a:solidFill>
                  <a:srgbClr val="424242"/>
                </a:solidFill>
                <a:latin typeface="Raleway"/>
                <a:ea typeface="Raleway"/>
                <a:cs typeface="Raleway"/>
                <a:sym typeface="Raleway"/>
              </a:rPr>
              <a:t>şluklu</a:t>
            </a:r>
            <a:r>
              <a:rPr lang="en-US" sz="2499" spc="-117">
                <a:solidFill>
                  <a:srgbClr val="424242"/>
                </a:solidFill>
                <a:latin typeface="Raleway"/>
                <a:ea typeface="Raleway"/>
                <a:cs typeface="Raleway"/>
                <a:sym typeface="Raleway"/>
              </a:rPr>
              <a:t> </a:t>
            </a:r>
            <a:r>
              <a:rPr lang="en-US" sz="2499" spc="-117">
                <a:solidFill>
                  <a:srgbClr val="424242"/>
                </a:solidFill>
                <a:latin typeface="Raleway"/>
                <a:ea typeface="Raleway"/>
                <a:cs typeface="Raleway"/>
                <a:sym typeface="Raleway"/>
              </a:rPr>
              <a:t>ve</a:t>
            </a: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a </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aka</a:t>
            </a:r>
            <a:r>
              <a:rPr lang="en-US" sz="2499" spc="-117">
                <a:solidFill>
                  <a:srgbClr val="424242"/>
                </a:solidFill>
                <a:latin typeface="Raleway"/>
                <a:ea typeface="Raleway"/>
                <a:cs typeface="Raleway"/>
                <a:sym typeface="Raleway"/>
              </a:rPr>
              <a:t>mla</a:t>
            </a:r>
            <a:r>
              <a:rPr lang="en-US" sz="2499" spc="-117">
                <a:solidFill>
                  <a:srgbClr val="424242"/>
                </a:solidFill>
                <a:latin typeface="Raleway"/>
                <a:ea typeface="Raleway"/>
                <a:cs typeface="Raleway"/>
                <a:sym typeface="Raleway"/>
              </a:rPr>
              <a:t> başla</a:t>
            </a:r>
            <a:r>
              <a:rPr lang="en-US" sz="2499" spc="-117">
                <a:solidFill>
                  <a:srgbClr val="424242"/>
                </a:solidFill>
                <a:latin typeface="Raleway"/>
                <a:ea typeface="Raleway"/>
                <a:cs typeface="Raleway"/>
                <a:sym typeface="Raleway"/>
              </a:rPr>
              <a:t>y</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ca</a:t>
            </a:r>
            <a:r>
              <a:rPr lang="en-US" sz="2499" spc="-117">
                <a:solidFill>
                  <a:srgbClr val="424242"/>
                </a:solidFill>
                <a:latin typeface="Raleway"/>
                <a:ea typeface="Raleway"/>
                <a:cs typeface="Raleway"/>
                <a:sym typeface="Raleway"/>
              </a:rPr>
              <a:t>k ş</a:t>
            </a:r>
            <a:r>
              <a:rPr lang="en-US" sz="2499" spc="-117">
                <a:solidFill>
                  <a:srgbClr val="424242"/>
                </a:solidFill>
                <a:latin typeface="Raleway"/>
                <a:ea typeface="Raleway"/>
                <a:cs typeface="Raleway"/>
                <a:sym typeface="Raleway"/>
              </a:rPr>
              <a:t>e</a:t>
            </a:r>
            <a:r>
              <a:rPr lang="en-US" sz="2499" spc="-117">
                <a:solidFill>
                  <a:srgbClr val="424242"/>
                </a:solidFill>
                <a:latin typeface="Raleway"/>
                <a:ea typeface="Raleway"/>
                <a:cs typeface="Raleway"/>
                <a:sym typeface="Raleway"/>
              </a:rPr>
              <a:t>k</a:t>
            </a:r>
            <a:r>
              <a:rPr lang="en-US" sz="2499" spc="-117">
                <a:solidFill>
                  <a:srgbClr val="424242"/>
                </a:solidFill>
                <a:latin typeface="Raleway"/>
                <a:ea typeface="Raleway"/>
                <a:cs typeface="Raleway"/>
                <a:sym typeface="Raleway"/>
              </a:rPr>
              <a:t>i</a:t>
            </a:r>
            <a:r>
              <a:rPr lang="en-US" sz="2499" spc="-117">
                <a:solidFill>
                  <a:srgbClr val="424242"/>
                </a:solidFill>
                <a:latin typeface="Raleway"/>
                <a:ea typeface="Raleway"/>
                <a:cs typeface="Raleway"/>
                <a:sym typeface="Raleway"/>
              </a:rPr>
              <a:t>ld</a:t>
            </a:r>
            <a:r>
              <a:rPr lang="en-US" sz="2499" spc="-117">
                <a:solidFill>
                  <a:srgbClr val="424242"/>
                </a:solidFill>
                <a:latin typeface="Raleway"/>
                <a:ea typeface="Raleway"/>
                <a:cs typeface="Raleway"/>
                <a:sym typeface="Raleway"/>
              </a:rPr>
              <a:t>e </a:t>
            </a:r>
            <a:r>
              <a:rPr lang="en-US" sz="2499" spc="-117">
                <a:solidFill>
                  <a:srgbClr val="424242"/>
                </a:solidFill>
                <a:latin typeface="Raleway"/>
                <a:ea typeface="Raleway"/>
                <a:cs typeface="Raleway"/>
                <a:sym typeface="Raleway"/>
              </a:rPr>
              <a:t>tas</a:t>
            </a:r>
            <a:r>
              <a:rPr lang="en-US" sz="2499" spc="-117">
                <a:solidFill>
                  <a:srgbClr val="424242"/>
                </a:solidFill>
                <a:latin typeface="Raleway"/>
                <a:ea typeface="Raleway"/>
                <a:cs typeface="Raleway"/>
                <a:sym typeface="Raleway"/>
              </a:rPr>
              <a:t>ar</a:t>
            </a:r>
            <a:r>
              <a:rPr lang="en-US" sz="2499" spc="-117">
                <a:solidFill>
                  <a:srgbClr val="424242"/>
                </a:solidFill>
                <a:latin typeface="Raleway"/>
                <a:ea typeface="Raleway"/>
                <a:cs typeface="Raleway"/>
                <a:sym typeface="Raleway"/>
              </a:rPr>
              <a:t>l</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dığı</a:t>
            </a:r>
            <a:r>
              <a:rPr lang="en-US" sz="2499" spc="-117">
                <a:solidFill>
                  <a:srgbClr val="424242"/>
                </a:solidFill>
                <a:latin typeface="Raleway"/>
                <a:ea typeface="Raleway"/>
                <a:cs typeface="Raleway"/>
                <a:sym typeface="Raleway"/>
              </a:rPr>
              <a:t>n</a:t>
            </a:r>
            <a:r>
              <a:rPr lang="en-US" sz="2499" spc="-117">
                <a:solidFill>
                  <a:srgbClr val="424242"/>
                </a:solidFill>
                <a:latin typeface="Raleway"/>
                <a:ea typeface="Raleway"/>
                <a:cs typeface="Raleway"/>
                <a:sym typeface="Raleway"/>
              </a:rPr>
              <a:t>ı v</a:t>
            </a:r>
            <a:r>
              <a:rPr lang="en-US" sz="2499" spc="-117">
                <a:solidFill>
                  <a:srgbClr val="424242"/>
                </a:solidFill>
                <a:latin typeface="Raleway"/>
                <a:ea typeface="Raleway"/>
                <a:cs typeface="Raleway"/>
                <a:sym typeface="Raleway"/>
              </a:rPr>
              <a:t>a</a:t>
            </a:r>
            <a:r>
              <a:rPr lang="en-US" sz="2499" spc="-117">
                <a:solidFill>
                  <a:srgbClr val="424242"/>
                </a:solidFill>
                <a:latin typeface="Raleway"/>
                <a:ea typeface="Raleway"/>
                <a:cs typeface="Raleway"/>
                <a:sym typeface="Raleway"/>
              </a:rPr>
              <a:t>r</a:t>
            </a:r>
            <a:r>
              <a:rPr lang="en-US" sz="2499" spc="-117">
                <a:solidFill>
                  <a:srgbClr val="424242"/>
                </a:solidFill>
                <a:latin typeface="Raleway"/>
                <a:ea typeface="Raleway"/>
                <a:cs typeface="Raleway"/>
                <a:sym typeface="Raleway"/>
              </a:rPr>
              <a:t>s</a:t>
            </a:r>
            <a:r>
              <a:rPr lang="en-US" sz="2499" spc="-117">
                <a:solidFill>
                  <a:srgbClr val="424242"/>
                </a:solidFill>
                <a:latin typeface="Raleway"/>
                <a:ea typeface="Raleway"/>
                <a:cs typeface="Raleway"/>
                <a:sym typeface="Raleway"/>
              </a:rPr>
              <a:t>ay</a:t>
            </a:r>
            <a:r>
              <a:rPr lang="en-US" sz="2499" spc="-117">
                <a:solidFill>
                  <a:srgbClr val="424242"/>
                </a:solidFill>
                <a:latin typeface="Raleway"/>
                <a:ea typeface="Raleway"/>
                <a:cs typeface="Raleway"/>
                <a:sym typeface="Raleway"/>
              </a:rPr>
              <a:t>ı</a:t>
            </a:r>
            <a:r>
              <a:rPr lang="en-US" sz="2499" spc="-117">
                <a:solidFill>
                  <a:srgbClr val="424242"/>
                </a:solidFill>
                <a:latin typeface="Raleway"/>
                <a:ea typeface="Raleway"/>
                <a:cs typeface="Raleway"/>
                <a:sym typeface="Raleway"/>
              </a:rPr>
              <a:t>nız.</a:t>
            </a:r>
            <a:r>
              <a:rPr lang="en-US" sz="2499" spc="-117">
                <a:solidFill>
                  <a:srgbClr val="424242"/>
                </a:solidFill>
                <a:latin typeface="Raleway"/>
                <a:ea typeface="Raleway"/>
                <a:cs typeface="Raleway"/>
                <a:sym typeface="Raleway"/>
              </a:rPr>
              <a:t> </a:t>
            </a:r>
          </a:p>
          <a:p>
            <a:pPr algn="l">
              <a:lnSpc>
                <a:spcPts val="3499"/>
              </a:lnSpc>
            </a:pPr>
          </a:p>
          <a:p>
            <a:pPr algn="l">
              <a:lnSpc>
                <a:spcPts val="3499"/>
              </a:lnSpc>
            </a:pPr>
            <a:r>
              <a:rPr lang="en-US" sz="2499" spc="-117" b="true">
                <a:solidFill>
                  <a:srgbClr val="424242"/>
                </a:solidFill>
                <a:latin typeface="Raleway Bold"/>
                <a:ea typeface="Raleway Bold"/>
                <a:cs typeface="Raleway Bold"/>
                <a:sym typeface="Raleway Bold"/>
              </a:rPr>
              <a:t>İnsan Denetimi prensibi doğrultusunda bu kod blokunu doğrudan sisteme aktarmak yerine nasıl bir süreç işletilmelidir? </a:t>
            </a:r>
            <a:r>
              <a:rPr lang="en-US" sz="2499" spc="-117">
                <a:solidFill>
                  <a:srgbClr val="424242"/>
                </a:solidFill>
                <a:latin typeface="Raleway"/>
                <a:ea typeface="Raleway"/>
                <a:cs typeface="Raleway"/>
                <a:sym typeface="Raleway"/>
              </a:rPr>
              <a:t>Gerekçeleriyle açıklayınız.</a:t>
            </a:r>
          </a:p>
        </p:txBody>
      </p:sp>
      <p:sp>
        <p:nvSpPr>
          <p:cNvPr name="Freeform 3" id="3"/>
          <p:cNvSpPr/>
          <p:nvPr/>
        </p:nvSpPr>
        <p:spPr>
          <a:xfrm flipH="false" flipV="false" rot="0">
            <a:off x="5949966" y="4348970"/>
            <a:ext cx="6527893" cy="5124396"/>
          </a:xfrm>
          <a:custGeom>
            <a:avLst/>
            <a:gdLst/>
            <a:ahLst/>
            <a:cxnLst/>
            <a:rect r="r" b="b" t="t" l="l"/>
            <a:pathLst>
              <a:path h="5124396" w="6527893">
                <a:moveTo>
                  <a:pt x="0" y="0"/>
                </a:moveTo>
                <a:lnTo>
                  <a:pt x="6527892" y="0"/>
                </a:lnTo>
                <a:lnTo>
                  <a:pt x="6527892" y="5124396"/>
                </a:lnTo>
                <a:lnTo>
                  <a:pt x="0" y="5124396"/>
                </a:lnTo>
                <a:lnTo>
                  <a:pt x="0" y="0"/>
                </a:lnTo>
                <a:close/>
              </a:path>
            </a:pathLst>
          </a:custGeom>
          <a:blipFill>
            <a:blip r:embed="rId2"/>
            <a:stretch>
              <a:fillRect l="0" t="0" r="0" b="0"/>
            </a:stretch>
          </a:blipFill>
        </p:spPr>
      </p:sp>
      <p:sp>
        <p:nvSpPr>
          <p:cNvPr name="Freeform 4" id="4"/>
          <p:cNvSpPr/>
          <p:nvPr/>
        </p:nvSpPr>
        <p:spPr>
          <a:xfrm>
            <a:off x="1184213" y="1216025"/>
            <a:ext cx="16019449" cy="8252077"/>
          </a:xfrm>
          <a:custGeom>
            <a:avLst/>
            <a:gdLst/>
            <a:ahLst/>
            <a:cxnLst/>
            <a:rect r="r" b="b" t="t" l="l"/>
            <a:pathLst>
              <a:path h="8252077" w="16019449">
                <a:moveTo>
                  <a:pt x="11882904" y="0"/>
                </a:moveTo>
                <a:lnTo>
                  <a:pt x="15790849" y="0"/>
                </a:lnTo>
                <a:cubicBezTo>
                  <a:pt x="15917101" y="0"/>
                  <a:pt x="16019449" y="102348"/>
                  <a:pt x="16019449" y="228600"/>
                </a:cubicBezTo>
                <a:lnTo>
                  <a:pt x="16019449" y="8023477"/>
                </a:lnTo>
                <a:cubicBezTo>
                  <a:pt x="16019449" y="8084106"/>
                  <a:pt x="15995365" y="8142251"/>
                  <a:pt x="15952493" y="8185121"/>
                </a:cubicBezTo>
                <a:cubicBezTo>
                  <a:pt x="15909623" y="8227992"/>
                  <a:pt x="15851477" y="8252077"/>
                  <a:pt x="15790849" y="8252077"/>
                </a:cubicBezTo>
                <a:lnTo>
                  <a:pt x="228600" y="8252077"/>
                </a:lnTo>
                <a:cubicBezTo>
                  <a:pt x="102348" y="8252077"/>
                  <a:pt x="0" y="8149729"/>
                  <a:pt x="0" y="8023477"/>
                </a:cubicBezTo>
                <a:lnTo>
                  <a:pt x="0" y="228600"/>
                </a:lnTo>
                <a:cubicBezTo>
                  <a:pt x="0" y="167972"/>
                  <a:pt x="24085" y="109826"/>
                  <a:pt x="66955" y="66955"/>
                </a:cubicBezTo>
                <a:cubicBezTo>
                  <a:pt x="109826" y="24085"/>
                  <a:pt x="167972" y="0"/>
                  <a:pt x="228600" y="0"/>
                </a:cubicBezTo>
                <a:lnTo>
                  <a:pt x="4176494" y="0"/>
                </a:lnTo>
              </a:path>
            </a:pathLst>
          </a:custGeom>
          <a:ln cap="rnd" w="57150">
            <a:solidFill>
              <a:srgbClr val="D68514"/>
            </a:solidFill>
            <a:prstDash val="solid"/>
            <a:headEnd type="none" len="sm" w="sm"/>
            <a:tailEnd type="none" len="sm" w="sm"/>
          </a:ln>
        </p:spPr>
      </p:sp>
      <p:sp>
        <p:nvSpPr>
          <p:cNvPr name="TextBox 5" id="5"/>
          <p:cNvSpPr txBox="true"/>
          <p:nvPr/>
        </p:nvSpPr>
        <p:spPr>
          <a:xfrm rot="0">
            <a:off x="1168524" y="722313"/>
            <a:ext cx="16090776" cy="873125"/>
          </a:xfrm>
          <a:prstGeom prst="rect">
            <a:avLst/>
          </a:prstGeom>
        </p:spPr>
        <p:txBody>
          <a:bodyPr anchor="t" rtlCol="false" tIns="0" lIns="0" bIns="0" rIns="0">
            <a:spAutoFit/>
          </a:bodyPr>
          <a:lstStyle/>
          <a:p>
            <a:pPr algn="ctr">
              <a:lnSpc>
                <a:spcPts val="7000"/>
              </a:lnSpc>
            </a:pPr>
            <a:r>
              <a:rPr lang="en-US" b="true" sz="5000" spc="-235">
                <a:solidFill>
                  <a:srgbClr val="D68514"/>
                </a:solidFill>
                <a:latin typeface="Raleway Heavy"/>
                <a:ea typeface="Raleway Heavy"/>
                <a:cs typeface="Raleway Heavy"/>
                <a:sym typeface="Raleway Heavy"/>
              </a:rPr>
              <a:t>Düşünelim-Tartışalım</a:t>
            </a:r>
          </a:p>
        </p:txBody>
      </p:sp>
    </p:spTree>
  </p:cSld>
  <p:clrMapOvr>
    <a:masterClrMapping/>
  </p:clrMapOvr>
</p:sld>
</file>

<file path=ppt/slides/slide144.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066180" y="1028700"/>
            <a:ext cx="2193120" cy="2182155"/>
          </a:xfrm>
          <a:custGeom>
            <a:avLst/>
            <a:gdLst/>
            <a:ahLst/>
            <a:cxnLst/>
            <a:rect r="r" b="b" t="t" l="l"/>
            <a:pathLst>
              <a:path h="2182155" w="2193120">
                <a:moveTo>
                  <a:pt x="0" y="0"/>
                </a:moveTo>
                <a:lnTo>
                  <a:pt x="2193120" y="0"/>
                </a:lnTo>
                <a:lnTo>
                  <a:pt x="2193120" y="2182155"/>
                </a:lnTo>
                <a:lnTo>
                  <a:pt x="0" y="2182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62025"/>
            <a:ext cx="14248571" cy="523875"/>
          </a:xfrm>
          <a:prstGeom prst="rect">
            <a:avLst/>
          </a:prstGeom>
        </p:spPr>
        <p:txBody>
          <a:bodyPr anchor="t" rtlCol="false" tIns="0" lIns="0" bIns="0" rIns="0">
            <a:spAutoFit/>
          </a:bodyPr>
          <a:lstStyle/>
          <a:p>
            <a:pPr algn="l">
              <a:lnSpc>
                <a:spcPts val="4200"/>
              </a:lnSpc>
            </a:pPr>
            <a:r>
              <a:rPr lang="en-US" sz="3000" spc="-51" b="true">
                <a:solidFill>
                  <a:srgbClr val="6AA7DB"/>
                </a:solidFill>
                <a:latin typeface="Raleway Bold"/>
                <a:ea typeface="Raleway Bold"/>
                <a:cs typeface="Raleway Bold"/>
                <a:sym typeface="Raleway Bold"/>
              </a:rPr>
              <a:t>UYGULAMA 8: </a:t>
            </a:r>
            <a:r>
              <a:rPr lang="en-US" sz="3000" spc="-51" b="true">
                <a:solidFill>
                  <a:srgbClr val="203251"/>
                </a:solidFill>
                <a:latin typeface="Raleway Bold"/>
                <a:ea typeface="Raleway Bold"/>
                <a:cs typeface="Raleway Bold"/>
                <a:sym typeface="Raleway Bold"/>
              </a:rPr>
              <a:t>YAPAY ZEKÂ KOD DOĞRULAMA VE TÜR HATASI DENETİMİ</a:t>
            </a:r>
          </a:p>
        </p:txBody>
      </p:sp>
      <p:sp>
        <p:nvSpPr>
          <p:cNvPr name="TextBox 4" id="4"/>
          <p:cNvSpPr txBox="true"/>
          <p:nvPr/>
        </p:nvSpPr>
        <p:spPr>
          <a:xfrm rot="0">
            <a:off x="1028700" y="1845633"/>
            <a:ext cx="13314268" cy="492633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Bold"/>
                <a:ea typeface="Raleway Bold"/>
                <a:cs typeface="Raleway Bold"/>
                <a:sym typeface="Raleway Bold"/>
              </a:rPr>
              <a:t>Uygulamanın Amacı: </a:t>
            </a:r>
            <a:r>
              <a:rPr lang="en-US" sz="2550" spc="-43">
                <a:solidFill>
                  <a:srgbClr val="203251"/>
                </a:solidFill>
                <a:latin typeface="Raleway"/>
                <a:ea typeface="Raleway"/>
                <a:cs typeface="Raleway"/>
                <a:sym typeface="Raleway"/>
              </a:rPr>
              <a:t>Yapay zekâ tarafından üretilen ham kaynak kodlarını İnsan Denetimi prensibiyle incelemek, kodun içindeki veri türü ve işlem önceliği hatalarını araştırmacı ve sorgulayıcı bir yaklaşımla saptayarak hatasız algoritmayı yeniden yapılandırmak</a:t>
            </a:r>
          </a:p>
          <a:p>
            <a:pPr algn="l">
              <a:lnSpc>
                <a:spcPts val="3569"/>
              </a:lnSpc>
            </a:pPr>
          </a:p>
          <a:p>
            <a:pPr algn="l">
              <a:lnSpc>
                <a:spcPts val="3569"/>
              </a:lnSpc>
            </a:pPr>
            <a:r>
              <a:rPr lang="en-US" sz="2550" spc="-43" b="true">
                <a:solidFill>
                  <a:srgbClr val="203251"/>
                </a:solidFill>
                <a:latin typeface="Raleway Bold"/>
                <a:ea typeface="Raleway Bold"/>
                <a:cs typeface="Raleway Bold"/>
                <a:sym typeface="Raleway Bold"/>
              </a:rPr>
              <a:t>Problem Senaryosu: </a:t>
            </a:r>
            <a:r>
              <a:rPr lang="en-US" sz="2550" spc="-43">
                <a:solidFill>
                  <a:srgbClr val="203251"/>
                </a:solidFill>
                <a:latin typeface="Raleway"/>
                <a:ea typeface="Raleway"/>
                <a:cs typeface="Raleway"/>
                <a:sym typeface="Raleway"/>
              </a:rPr>
              <a:t>Kod-Asistan projesinin mini matematik modülü için bir yapay zekâ asistanından ham kod taslağı talep edilmiştir. Yapay zekâ, kullanıcıdan iki sayı alıp ortalamasını ekrana döndüren bir program hazırlamıştır. Bu kod bloku, insan süzgecinden geçirilmeden doğrudan sisteme dâhil edilirse programın veri türü uyuşmazlığı nedeniyle hata üreteceği saptanmıştır. Sizden beklenen araştırmacı bir kimlikle bu kod blokundaki tür hatasını sorgulayıp bulmanız, eksik bırakılan işlem önceliği parantezlerini koda yerleştirerek programı kararlı hâle getirmenizdir.</a:t>
            </a:r>
          </a:p>
        </p:txBody>
      </p:sp>
    </p:spTree>
  </p:cSld>
  <p:clrMapOvr>
    <a:masterClrMapping/>
  </p:clrMapOvr>
</p:sld>
</file>

<file path=ppt/slides/slide145.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Yapay Zekâ Tarafından Üretilen H</a:t>
            </a:r>
            <a:r>
              <a:rPr lang="en-US" sz="2550" spc="-43" b="true">
                <a:solidFill>
                  <a:srgbClr val="203251"/>
                </a:solidFill>
                <a:latin typeface="Raleway Semi-Bold"/>
                <a:ea typeface="Raleway Semi-Bold"/>
                <a:cs typeface="Raleway Semi-Bold"/>
                <a:sym typeface="Raleway Semi-Bold"/>
              </a:rPr>
              <a:t>am Taslak (</a:t>
            </a:r>
            <a:r>
              <a:rPr lang="en-US" sz="2550" spc="-43">
                <a:solidFill>
                  <a:srgbClr val="203251"/>
                </a:solidFill>
                <a:latin typeface="Raleway"/>
                <a:ea typeface="Raleway"/>
                <a:cs typeface="Raleway"/>
                <a:sym typeface="Raleway"/>
              </a:rPr>
              <a:t>Hatalı Kod</a:t>
            </a:r>
            <a:r>
              <a:rPr lang="en-US" sz="2550" spc="-43" b="true">
                <a:solidFill>
                  <a:srgbClr val="203251"/>
                </a:solidFill>
                <a:latin typeface="Raleway Semi-Bold"/>
                <a:ea typeface="Raleway Semi-Bold"/>
                <a:cs typeface="Raleway Semi-Bold"/>
                <a:sym typeface="Raleway Semi-Bold"/>
              </a:rPr>
              <a:t>):</a:t>
            </a:r>
          </a:p>
        </p:txBody>
      </p:sp>
      <p:grpSp>
        <p:nvGrpSpPr>
          <p:cNvPr name="Group 3" id="3"/>
          <p:cNvGrpSpPr/>
          <p:nvPr/>
        </p:nvGrpSpPr>
        <p:grpSpPr>
          <a:xfrm rot="0">
            <a:off x="1708973" y="1640205"/>
            <a:ext cx="14870054" cy="2152467"/>
            <a:chOff x="0" y="0"/>
            <a:chExt cx="3916393" cy="566905"/>
          </a:xfrm>
        </p:grpSpPr>
        <p:sp>
          <p:nvSpPr>
            <p:cNvPr name="Freeform 4" id="4"/>
            <p:cNvSpPr/>
            <p:nvPr/>
          </p:nvSpPr>
          <p:spPr>
            <a:xfrm flipH="false" flipV="false" rot="0">
              <a:off x="0" y="0"/>
              <a:ext cx="3916393" cy="566905"/>
            </a:xfrm>
            <a:custGeom>
              <a:avLst/>
              <a:gdLst/>
              <a:ahLst/>
              <a:cxnLst/>
              <a:rect r="r" b="b" t="t" l="l"/>
              <a:pathLst>
                <a:path h="566905" w="3916393">
                  <a:moveTo>
                    <a:pt x="8851" y="0"/>
                  </a:moveTo>
                  <a:lnTo>
                    <a:pt x="3907542" y="0"/>
                  </a:lnTo>
                  <a:cubicBezTo>
                    <a:pt x="3909890" y="0"/>
                    <a:pt x="3912141" y="932"/>
                    <a:pt x="3913801" y="2592"/>
                  </a:cubicBezTo>
                  <a:cubicBezTo>
                    <a:pt x="3915461" y="4252"/>
                    <a:pt x="3916393" y="6503"/>
                    <a:pt x="3916393" y="8851"/>
                  </a:cubicBezTo>
                  <a:lnTo>
                    <a:pt x="3916393" y="558054"/>
                  </a:lnTo>
                  <a:cubicBezTo>
                    <a:pt x="3916393" y="560401"/>
                    <a:pt x="3915461" y="562653"/>
                    <a:pt x="3913801" y="564313"/>
                  </a:cubicBezTo>
                  <a:cubicBezTo>
                    <a:pt x="3912141" y="565972"/>
                    <a:pt x="3909890" y="566905"/>
                    <a:pt x="3907542" y="566905"/>
                  </a:cubicBezTo>
                  <a:lnTo>
                    <a:pt x="8851" y="566905"/>
                  </a:lnTo>
                  <a:cubicBezTo>
                    <a:pt x="3963" y="566905"/>
                    <a:pt x="0" y="562942"/>
                    <a:pt x="0" y="558054"/>
                  </a:cubicBezTo>
                  <a:lnTo>
                    <a:pt x="0" y="8851"/>
                  </a:lnTo>
                  <a:cubicBezTo>
                    <a:pt x="0" y="6503"/>
                    <a:pt x="932" y="4252"/>
                    <a:pt x="2592" y="2592"/>
                  </a:cubicBezTo>
                  <a:cubicBezTo>
                    <a:pt x="4252" y="932"/>
                    <a:pt x="6503" y="0"/>
                    <a:pt x="8851" y="0"/>
                  </a:cubicBezTo>
                  <a:close/>
                </a:path>
              </a:pathLst>
            </a:custGeom>
            <a:solidFill>
              <a:srgbClr val="F2F2F2"/>
            </a:solidFill>
          </p:spPr>
        </p:sp>
        <p:sp>
          <p:nvSpPr>
            <p:cNvPr name="TextBox 5" id="5"/>
            <p:cNvSpPr txBox="true"/>
            <p:nvPr/>
          </p:nvSpPr>
          <p:spPr>
            <a:xfrm>
              <a:off x="0" y="-57150"/>
              <a:ext cx="3916393" cy="624055"/>
            </a:xfrm>
            <a:prstGeom prst="rect">
              <a:avLst/>
            </a:prstGeom>
          </p:spPr>
          <p:txBody>
            <a:bodyPr anchor="ctr" rtlCol="false" tIns="50800" lIns="50800" bIns="50800" rIns="50800"/>
            <a:lstStyle/>
            <a:p>
              <a:pPr algn="l">
                <a:lnSpc>
                  <a:spcPts val="2800"/>
                </a:lnSpc>
              </a:pPr>
              <a:r>
                <a:rPr lang="en-US" sz="2000" spc="-94">
                  <a:solidFill>
                    <a:srgbClr val="000000"/>
                  </a:solidFill>
                  <a:latin typeface="Raleway"/>
                  <a:ea typeface="Raleway"/>
                  <a:cs typeface="Raleway"/>
                  <a:sym typeface="Raleway"/>
                </a:rPr>
                <a:t>      </a:t>
              </a:r>
              <a:r>
                <a:rPr lang="en-US" sz="2000" spc="-94">
                  <a:solidFill>
                    <a:srgbClr val="BEBEBE"/>
                  </a:solidFill>
                  <a:latin typeface="Raleway"/>
                  <a:ea typeface="Raleway"/>
                  <a:cs typeface="Raleway"/>
                  <a:sym typeface="Raleway"/>
                </a:rPr>
                <a:t> # Kod-Asistan v0.2 - Yapay Zekânın Ürettiği Hatalı Taslak</a:t>
              </a:r>
            </a:p>
            <a:p>
              <a:pPr algn="l">
                <a:lnSpc>
                  <a:spcPts val="2800"/>
                </a:lnSpc>
              </a:pPr>
              <a:r>
                <a:rPr lang="en-US" sz="2000" spc="-94">
                  <a:solidFill>
                    <a:srgbClr val="000000"/>
                  </a:solidFill>
                  <a:latin typeface="Raleway"/>
                  <a:ea typeface="Raleway"/>
                  <a:cs typeface="Raleway"/>
                  <a:sym typeface="Raleway"/>
                </a:rPr>
                <a:t>       sayi1 = input("Birinci sayıyı giriniz: ")</a:t>
              </a:r>
            </a:p>
            <a:p>
              <a:pPr algn="l">
                <a:lnSpc>
                  <a:spcPts val="2800"/>
                </a:lnSpc>
              </a:pPr>
              <a:r>
                <a:rPr lang="en-US" sz="2000" spc="-94">
                  <a:solidFill>
                    <a:srgbClr val="000000"/>
                  </a:solidFill>
                  <a:latin typeface="Raleway"/>
                  <a:ea typeface="Raleway"/>
                  <a:cs typeface="Raleway"/>
                  <a:sym typeface="Raleway"/>
                </a:rPr>
                <a:t>       sayi2 = input("İkinci sayıyı giriniz: ")</a:t>
              </a:r>
            </a:p>
            <a:p>
              <a:pPr algn="l">
                <a:lnSpc>
                  <a:spcPts val="2800"/>
                </a:lnSpc>
              </a:pPr>
              <a:r>
                <a:rPr lang="en-US" sz="2000" spc="-94">
                  <a:solidFill>
                    <a:srgbClr val="000000"/>
                  </a:solidFill>
                  <a:latin typeface="Raleway"/>
                  <a:ea typeface="Raleway"/>
                  <a:cs typeface="Raleway"/>
                  <a:sym typeface="Raleway"/>
                </a:rPr>
                <a:t>       ortalama = sayi1 + sayi2 / 2</a:t>
              </a:r>
            </a:p>
            <a:p>
              <a:pPr algn="l">
                <a:lnSpc>
                  <a:spcPts val="2800"/>
                </a:lnSpc>
              </a:pPr>
              <a:r>
                <a:rPr lang="en-US" sz="2000" spc="-94">
                  <a:solidFill>
                    <a:srgbClr val="000000"/>
                  </a:solidFill>
                  <a:latin typeface="Raleway"/>
                  <a:ea typeface="Raleway"/>
                  <a:cs typeface="Raleway"/>
                  <a:sym typeface="Raleway"/>
                </a:rPr>
                <a:t>       print("Girdiğiniz sayıların ortalaması:", ortalama)</a:t>
              </a:r>
            </a:p>
          </p:txBody>
        </p:sp>
      </p:grpSp>
    </p:spTree>
  </p:cSld>
  <p:clrMapOvr>
    <a:masterClrMapping/>
  </p:clrMapOvr>
</p:sld>
</file>

<file path=ppt/slides/slide146.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3314268" cy="44958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Uygulamanın A</a:t>
            </a:r>
            <a:r>
              <a:rPr lang="en-US" sz="2550" spc="-43" b="true">
                <a:solidFill>
                  <a:srgbClr val="203251"/>
                </a:solidFill>
                <a:latin typeface="Raleway Semi-Bold"/>
                <a:ea typeface="Raleway Semi-Bold"/>
                <a:cs typeface="Raleway Semi-Bold"/>
                <a:sym typeface="Raleway Semi-Bold"/>
              </a:rPr>
              <a:t>şamaları:</a:t>
            </a:r>
          </a:p>
        </p:txBody>
      </p:sp>
      <p:sp>
        <p:nvSpPr>
          <p:cNvPr name="TextBox 3" id="3"/>
          <p:cNvSpPr txBox="true"/>
          <p:nvPr/>
        </p:nvSpPr>
        <p:spPr>
          <a:xfrm rot="0">
            <a:off x="1028700" y="1653747"/>
            <a:ext cx="16230600" cy="221869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1. Aşama: </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K</a:t>
            </a:r>
            <a:r>
              <a:rPr lang="en-US" sz="2000" spc="-34">
                <a:solidFill>
                  <a:srgbClr val="203251"/>
                </a:solidFill>
                <a:latin typeface="Raleway"/>
                <a:ea typeface="Raleway"/>
                <a:cs typeface="Raleway"/>
                <a:sym typeface="Raleway"/>
              </a:rPr>
              <a:t>od editörünüzde yapay_zeka_denetimi.py adında yeni bir Python dosyası o</a:t>
            </a:r>
            <a:r>
              <a:rPr lang="en-US" sz="2000" spc="-34">
                <a:solidFill>
                  <a:srgbClr val="203251"/>
                </a:solidFill>
                <a:latin typeface="Raleway"/>
                <a:ea typeface="Raleway"/>
                <a:cs typeface="Raleway"/>
                <a:sym typeface="Raleway"/>
              </a:rPr>
              <a:t>luşturarak hatalı kod taslağını yazıp çalıştırınız.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Terminal ekranında sayılar girildiğinde, programın ürettiği hatayı ve matematiksel kusurları sorgulayarak problemin kök nedenini saptayınız.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Veri türü dönüşümü ve işlem önceliği eksikliklerini gidererek kodu güvenli hâle getiriniz.</a:t>
            </a:r>
          </a:p>
          <a:p>
            <a:pPr algn="l" marL="431801" indent="-215900" lvl="1">
              <a:lnSpc>
                <a:spcPts val="2800"/>
              </a:lnSpc>
              <a:buFont typeface="Arial"/>
              <a:buChar char="•"/>
            </a:pPr>
            <a:r>
              <a:rPr lang="en-US" sz="2000" spc="-34">
                <a:solidFill>
                  <a:srgbClr val="203251"/>
                </a:solidFill>
                <a:latin typeface="Raleway"/>
                <a:ea typeface="Raleway"/>
                <a:cs typeface="Raleway"/>
                <a:sym typeface="Raleway"/>
              </a:rPr>
              <a:t>Hatasız hâle getirdiğiniz kararlı kodunuzu, "Yapay zekâ kodundaki tür hatası ve işlem önceliği kusuru İnsan Denetimi prensibiyle giderildi." sürüm notuyla dijital deponuza yükleyiniz.</a:t>
            </a:r>
          </a:p>
        </p:txBody>
      </p:sp>
    </p:spTree>
  </p:cSld>
  <p:clrMapOvr>
    <a:masterClrMapping/>
  </p:clrMapOvr>
</p:sld>
</file>

<file path=ppt/slides/slide147.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523875"/>
          </a:xfrm>
          <a:prstGeom prst="rect">
            <a:avLst/>
          </a:prstGeom>
        </p:spPr>
        <p:txBody>
          <a:bodyPr anchor="t" rtlCol="false" tIns="0" lIns="0" bIns="0" rIns="0">
            <a:spAutoFit/>
          </a:bodyPr>
          <a:lstStyle/>
          <a:p>
            <a:pPr algn="l">
              <a:lnSpc>
                <a:spcPts val="4200"/>
              </a:lnSpc>
            </a:pPr>
            <a:r>
              <a:rPr lang="en-US" sz="3000" spc="-141" b="true">
                <a:solidFill>
                  <a:srgbClr val="424242"/>
                </a:solidFill>
                <a:latin typeface="Raleway Heavy"/>
                <a:ea typeface="Raleway Heavy"/>
                <a:cs typeface="Raleway Heavy"/>
                <a:sym typeface="Raleway Heavy"/>
              </a:rPr>
              <a:t>📝 SIRA SİZDE 2 (</a:t>
            </a:r>
            <a:r>
              <a:rPr lang="en-US" sz="3000" spc="-141">
                <a:solidFill>
                  <a:srgbClr val="424242"/>
                </a:solidFill>
                <a:latin typeface="Raleway"/>
                <a:ea typeface="Raleway"/>
                <a:cs typeface="Raleway"/>
                <a:sym typeface="Raleway"/>
              </a:rPr>
              <a:t>Ünite Değerlendirmesi</a:t>
            </a:r>
            <a:r>
              <a:rPr lang="en-US" sz="3000" spc="-141" b="true">
                <a:solidFill>
                  <a:srgbClr val="424242"/>
                </a:solidFill>
                <a:latin typeface="Raleway Heavy"/>
                <a:ea typeface="Raleway Heavy"/>
                <a:cs typeface="Raleway Heavy"/>
                <a:sym typeface="Raleway Heavy"/>
              </a:rPr>
              <a:t>)</a:t>
            </a:r>
          </a:p>
        </p:txBody>
      </p:sp>
      <p:sp>
        <p:nvSpPr>
          <p:cNvPr name="TextBox 3" id="3"/>
          <p:cNvSpPr txBox="true"/>
          <p:nvPr/>
        </p:nvSpPr>
        <p:spPr>
          <a:xfrm rot="0">
            <a:off x="1028700" y="1653747"/>
            <a:ext cx="16230600" cy="3583305"/>
          </a:xfrm>
          <a:prstGeom prst="rect">
            <a:avLst/>
          </a:prstGeom>
        </p:spPr>
        <p:txBody>
          <a:bodyPr anchor="t" rtlCol="false" tIns="0" lIns="0" bIns="0" rIns="0">
            <a:spAutoFit/>
          </a:bodyPr>
          <a:lstStyle/>
          <a:p>
            <a:pPr algn="l" marL="550545" indent="-275272" lvl="1">
              <a:lnSpc>
                <a:spcPts val="3569"/>
              </a:lnSpc>
              <a:buAutoNum type="arabicPeriod" startAt="1"/>
            </a:pPr>
            <a:r>
              <a:rPr lang="en-US" b="true" sz="2550" spc="-43">
                <a:solidFill>
                  <a:srgbClr val="203251"/>
                </a:solidFill>
                <a:latin typeface="Raleway Semi-Bold"/>
                <a:ea typeface="Raleway Semi-Bold"/>
                <a:cs typeface="Raleway Semi-Bold"/>
                <a:sym typeface="Raleway Semi-Bold"/>
              </a:rPr>
              <a:t>Temel Programlama Yapıları</a:t>
            </a:r>
            <a:r>
              <a:rPr lang="en-US" sz="2550" spc="-43">
                <a:solidFill>
                  <a:srgbClr val="203251"/>
                </a:solidFill>
                <a:latin typeface="Raleway"/>
                <a:ea typeface="Raleway"/>
                <a:cs typeface="Raleway"/>
                <a:sym typeface="Raleway"/>
              </a:rPr>
              <a:t> öğrenme birimi boyunca gerçekleştirdiğiniz tüm kodlama etkinliklerini, geliştirdiğiniz algoritmaları, veri tipi dönüşümleriyle ilgili çalışmalarınızı ve Kod-Asistan çalışmalarınızı gözünüzün önünden geçiriniz.</a:t>
            </a:r>
          </a:p>
          <a:p>
            <a:pPr algn="l" marL="550545" indent="-275272" lvl="1">
              <a:lnSpc>
                <a:spcPts val="3569"/>
              </a:lnSpc>
              <a:buAutoNum type="arabicPeriod" startAt="1"/>
            </a:pPr>
            <a:r>
              <a:rPr lang="en-US" sz="2550" spc="-43">
                <a:solidFill>
                  <a:srgbClr val="203251"/>
                </a:solidFill>
                <a:latin typeface="Raleway"/>
                <a:ea typeface="Raleway"/>
                <a:cs typeface="Raleway"/>
                <a:sym typeface="Raleway"/>
              </a:rPr>
              <a:t>Aşağıda üç farklı geometrik sembolle tanımlanan alanlardaki (Üçgen, Kare, Çember) yönlendirme sorularını dikkatlice okuyunuz.</a:t>
            </a:r>
          </a:p>
          <a:p>
            <a:pPr algn="l" marL="550545" indent="-275272" lvl="1">
              <a:lnSpc>
                <a:spcPts val="3569"/>
              </a:lnSpc>
              <a:buAutoNum type="arabicPeriod" startAt="1"/>
            </a:pPr>
            <a:r>
              <a:rPr lang="en-US" sz="2550" spc="-43">
                <a:solidFill>
                  <a:srgbClr val="203251"/>
                </a:solidFill>
                <a:latin typeface="Raleway"/>
                <a:ea typeface="Raleway"/>
                <a:cs typeface="Raleway"/>
                <a:sym typeface="Raleway"/>
              </a:rPr>
              <a:t>Öğrenme birimi konularıyla ilgili öğrendiklerinizden hareketle kendi öğrenme yolculuğunuzu yansıtan içten ve özgün cevaplarınızı verilen boşluklara yazınız.</a:t>
            </a:r>
          </a:p>
          <a:p>
            <a:pPr algn="l">
              <a:lnSpc>
                <a:spcPts val="3569"/>
              </a:lnSpc>
            </a:pPr>
          </a:p>
        </p:txBody>
      </p:sp>
    </p:spTree>
  </p:cSld>
  <p:clrMapOvr>
    <a:masterClrMapping/>
  </p:clrMapOvr>
</p:sld>
</file>

<file path=ppt/slides/slide148.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313563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ÜÇGEN: Zihnimde Şekillenen 3 Temel Kazanım</a:t>
            </a:r>
          </a:p>
          <a:p>
            <a:pPr algn="l">
              <a:lnSpc>
                <a:spcPts val="3569"/>
              </a:lnSpc>
            </a:pPr>
            <a:r>
              <a:rPr lang="en-US" sz="2550" spc="-43">
                <a:solidFill>
                  <a:srgbClr val="203251"/>
                </a:solidFill>
                <a:latin typeface="Raleway"/>
                <a:ea typeface="Raleway"/>
                <a:cs typeface="Raleway"/>
                <a:sym typeface="Raleway"/>
              </a:rPr>
              <a:t>Bu öğrenme biriminin sonunda artık tam anlamıyla uzmanlaştığımı düşündüğüm, başkasına hiç zorlanmadan anlatabileceğim </a:t>
            </a:r>
            <a:r>
              <a:rPr lang="en-US" sz="2550" spc="-43" b="true">
                <a:solidFill>
                  <a:srgbClr val="203251"/>
                </a:solidFill>
                <a:latin typeface="Raleway Semi-Bold"/>
                <a:ea typeface="Raleway Semi-Bold"/>
                <a:cs typeface="Raleway Semi-Bold"/>
                <a:sym typeface="Raleway Semi-Bold"/>
              </a:rPr>
              <a:t>3 temel algoritmik beceri / bilgi</a:t>
            </a:r>
            <a:r>
              <a:rPr lang="en-US" sz="2550" spc="-43">
                <a:solidFill>
                  <a:srgbClr val="203251"/>
                </a:solidFill>
                <a:latin typeface="Raleway"/>
                <a:ea typeface="Raleway"/>
                <a:cs typeface="Raleway"/>
                <a:sym typeface="Raleway"/>
              </a:rPr>
              <a:t> şunlardır:</a:t>
            </a:r>
          </a:p>
          <a:p>
            <a:pPr algn="l" marL="550545" indent="-275272" lvl="1">
              <a:lnSpc>
                <a:spcPts val="3569"/>
              </a:lnSpc>
              <a:buAutoNum type="arabicPeriod" startAt="1"/>
            </a:pPr>
            <a:r>
              <a:rPr lang="en-US" sz="2550" spc="-43">
                <a:solidFill>
                  <a:srgbClr val="203251"/>
                </a:solidFill>
                <a:latin typeface="Raleway"/>
                <a:ea typeface="Raleway"/>
                <a:cs typeface="Raleway"/>
                <a:sym typeface="Raleway"/>
              </a:rPr>
              <a:t>....................................................................................</a:t>
            </a:r>
          </a:p>
          <a:p>
            <a:pPr algn="l" marL="550545" indent="-275272" lvl="1">
              <a:lnSpc>
                <a:spcPts val="3569"/>
              </a:lnSpc>
              <a:buAutoNum type="arabicPeriod" startAt="1"/>
            </a:pPr>
            <a:r>
              <a:rPr lang="en-US" sz="2550" spc="-43">
                <a:solidFill>
                  <a:srgbClr val="203251"/>
                </a:solidFill>
                <a:latin typeface="Raleway"/>
                <a:ea typeface="Raleway"/>
                <a:cs typeface="Raleway"/>
                <a:sym typeface="Raleway"/>
              </a:rPr>
              <a:t>....................................................................................</a:t>
            </a:r>
          </a:p>
          <a:p>
            <a:pPr algn="l" marL="550545" indent="-275272" lvl="1">
              <a:lnSpc>
                <a:spcPts val="3569"/>
              </a:lnSpc>
              <a:buAutoNum type="arabicPeriod" startAt="1"/>
            </a:pPr>
            <a:r>
              <a:rPr lang="en-US" sz="2550" spc="-43">
                <a:solidFill>
                  <a:srgbClr val="203251"/>
                </a:solidFill>
                <a:latin typeface="Raleway"/>
                <a:ea typeface="Raleway"/>
                <a:cs typeface="Raleway"/>
                <a:sym typeface="Raleway"/>
              </a:rPr>
              <a:t>....................................................................................</a:t>
            </a:r>
          </a:p>
          <a:p>
            <a:pPr algn="l">
              <a:lnSpc>
                <a:spcPts val="3569"/>
              </a:lnSpc>
            </a:pPr>
          </a:p>
        </p:txBody>
      </p:sp>
    </p:spTree>
  </p:cSld>
  <p:clrMapOvr>
    <a:masterClrMapping/>
  </p:clrMapOvr>
</p:sld>
</file>

<file path=ppt/slides/slide149.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2687955"/>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KARE: Zihnimi "Köşeye Sıkıştıran" ve Netleşmesi Gereken Pürüzler</a:t>
            </a:r>
          </a:p>
          <a:p>
            <a:pPr algn="l">
              <a:lnSpc>
                <a:spcPts val="3569"/>
              </a:lnSpc>
            </a:pPr>
            <a:r>
              <a:rPr lang="en-US" sz="2550" spc="-43">
                <a:solidFill>
                  <a:srgbClr val="203251"/>
                </a:solidFill>
                <a:latin typeface="Raleway"/>
                <a:ea typeface="Raleway"/>
                <a:cs typeface="Raleway"/>
                <a:sym typeface="Raleway"/>
              </a:rPr>
              <a:t>Kodlama ortamında kod yazarken, input() fonksiyonundaki veri türü tuzağını yönetirken, karmaşık işlem önceliği hiyerarşilerini kurgularken veya mantıksal operatörleri bağlarken beni hâlâ zorlayan, zihnimde tam olarak oturmayan ve </a:t>
            </a:r>
            <a:r>
              <a:rPr lang="en-US" sz="2550" spc="-43" b="true">
                <a:solidFill>
                  <a:srgbClr val="203251"/>
                </a:solidFill>
                <a:latin typeface="Raleway Semi-Bold"/>
                <a:ea typeface="Raleway Semi-Bold"/>
                <a:cs typeface="Raleway Semi-Bold"/>
                <a:sym typeface="Raleway Semi-Bold"/>
              </a:rPr>
              <a:t>öğretmenime sormam gereken köşeli / pürüzlü noktalar</a:t>
            </a:r>
            <a:r>
              <a:rPr lang="en-US" sz="2550" spc="-43">
                <a:solidFill>
                  <a:srgbClr val="203251"/>
                </a:solidFill>
                <a:latin typeface="Raleway"/>
                <a:ea typeface="Raleway"/>
                <a:cs typeface="Raleway"/>
                <a:sym typeface="Raleway"/>
              </a:rPr>
              <a:t> şunlardır:</a:t>
            </a:r>
          </a:p>
          <a:p>
            <a:pPr algn="l" marL="550545" indent="-275272" lvl="1">
              <a:lnSpc>
                <a:spcPts val="3569"/>
              </a:lnSpc>
              <a:buFont typeface="Arial"/>
              <a:buChar char="•"/>
            </a:pPr>
            <a:r>
              <a:rPr lang="en-US" sz="2550" spc="-43">
                <a:solidFill>
                  <a:srgbClr val="203251"/>
                </a:solidFill>
                <a:latin typeface="Raleway"/>
                <a:ea typeface="Raleway"/>
                <a:cs typeface="Raleway"/>
                <a:sym typeface="Raleway"/>
              </a:rPr>
              <a:t>....................................................................................</a:t>
            </a:r>
          </a:p>
          <a:p>
            <a:pPr algn="l">
              <a:lnSpc>
                <a:spcPts val="3569"/>
              </a:lnSpc>
            </a:pPr>
          </a:p>
        </p:txBody>
      </p:sp>
    </p:spTree>
  </p:cSld>
  <p:clrMapOvr>
    <a:masterClrMapping/>
  </p:clrMapOvr>
</p:sld>
</file>

<file path=ppt/slides/slide150.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3135630"/>
          </a:xfrm>
          <a:prstGeom prst="rect">
            <a:avLst/>
          </a:prstGeom>
        </p:spPr>
        <p:txBody>
          <a:bodyPr anchor="t" rtlCol="false" tIns="0" lIns="0" bIns="0" rIns="0">
            <a:spAutoFit/>
          </a:bodyPr>
          <a:lstStyle/>
          <a:p>
            <a:pPr algn="l">
              <a:lnSpc>
                <a:spcPts val="3569"/>
              </a:lnSpc>
            </a:pPr>
            <a:r>
              <a:rPr lang="en-US" sz="2550" spc="-43" b="true">
                <a:solidFill>
                  <a:srgbClr val="203251"/>
                </a:solidFill>
                <a:latin typeface="Raleway Semi-Bold"/>
                <a:ea typeface="Raleway Semi-Bold"/>
                <a:cs typeface="Raleway Semi-Bold"/>
                <a:sym typeface="Raleway Semi-Bold"/>
              </a:rPr>
              <a:t>ÇEMBER: Zihnimde Dönen ve Hayata Değer Katan Etik Boyut</a:t>
            </a:r>
          </a:p>
          <a:p>
            <a:pPr algn="l">
              <a:lnSpc>
                <a:spcPts val="3569"/>
              </a:lnSpc>
            </a:pPr>
            <a:r>
              <a:rPr lang="en-US" sz="2550" spc="-43">
                <a:solidFill>
                  <a:srgbClr val="203251"/>
                </a:solidFill>
                <a:latin typeface="Raleway"/>
                <a:ea typeface="Raleway"/>
                <a:cs typeface="Raleway"/>
                <a:sym typeface="Raleway"/>
              </a:rPr>
              <a:t>Yazılım dünyasında kod üretirken yapay zekâ halüsinasyonlarına karşı İnsan Denetimi prensibini işletmenin önemi, dijital depoda dürüstlük / sistematik ilkeleri ve yapay zekâyı bir asistan olarak konumlandırırken taşınması gereken mesleki sorumluluklar hakkında </a:t>
            </a:r>
            <a:r>
              <a:rPr lang="en-US" sz="2550" spc="-43" b="true">
                <a:solidFill>
                  <a:srgbClr val="203251"/>
                </a:solidFill>
                <a:latin typeface="Raleway Semi-Bold"/>
                <a:ea typeface="Raleway Semi-Bold"/>
                <a:cs typeface="Raleway Semi-Bold"/>
                <a:sym typeface="Raleway Semi-Bold"/>
              </a:rPr>
              <a:t>zihnimde yer eden ve hayatım boyunca dikkat edeceğim temel düşünce</a:t>
            </a:r>
            <a:r>
              <a:rPr lang="en-US" sz="2550" spc="-43">
                <a:solidFill>
                  <a:srgbClr val="203251"/>
                </a:solidFill>
                <a:latin typeface="Raleway"/>
                <a:ea typeface="Raleway"/>
                <a:cs typeface="Raleway"/>
                <a:sym typeface="Raleway"/>
              </a:rPr>
              <a:t> şudur:</a:t>
            </a:r>
          </a:p>
          <a:p>
            <a:pPr algn="l" marL="550545" indent="-275272" lvl="1">
              <a:lnSpc>
                <a:spcPts val="3569"/>
              </a:lnSpc>
              <a:buFont typeface="Arial"/>
              <a:buChar char="•"/>
            </a:pPr>
            <a:r>
              <a:rPr lang="en-US" sz="2550" spc="-43">
                <a:solidFill>
                  <a:srgbClr val="203251"/>
                </a:solidFill>
                <a:latin typeface="Raleway"/>
                <a:ea typeface="Raleway"/>
                <a:cs typeface="Raleway"/>
                <a:sym typeface="Raleway"/>
              </a:rPr>
              <a:t>....................................................................................</a:t>
            </a:r>
          </a:p>
          <a:p>
            <a:pPr algn="l">
              <a:lnSpc>
                <a:spcPts val="3569"/>
              </a:lnSpc>
            </a:pPr>
          </a:p>
        </p:txBody>
      </p:sp>
    </p:spTree>
  </p:cSld>
  <p:clrMapOvr>
    <a:masterClrMapping/>
  </p:clrMapOvr>
</p:sld>
</file>

<file path=ppt/slides/slide151.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52500"/>
            <a:ext cx="16230600" cy="679450"/>
          </a:xfrm>
          <a:prstGeom prst="rect">
            <a:avLst/>
          </a:prstGeom>
        </p:spPr>
        <p:txBody>
          <a:bodyPr anchor="t" rtlCol="false" tIns="0" lIns="0" bIns="0" rIns="0">
            <a:spAutoFit/>
          </a:bodyPr>
          <a:lstStyle/>
          <a:p>
            <a:pPr algn="l">
              <a:lnSpc>
                <a:spcPts val="5599"/>
              </a:lnSpc>
            </a:pPr>
            <a:r>
              <a:rPr lang="en-US" sz="3999" spc="-187" b="true">
                <a:solidFill>
                  <a:srgbClr val="424242"/>
                </a:solidFill>
                <a:latin typeface="Raleway Heavy"/>
                <a:ea typeface="Raleway Heavy"/>
                <a:cs typeface="Raleway Heavy"/>
                <a:sym typeface="Raleway Heavy"/>
              </a:rPr>
              <a:t>📌 BU ÜNİTEDE NELER ÖĞRENDİK? (GENİŞ ÖZET)</a:t>
            </a:r>
          </a:p>
        </p:txBody>
      </p:sp>
      <p:sp>
        <p:nvSpPr>
          <p:cNvPr name="TextBox 3" id="3"/>
          <p:cNvSpPr txBox="true"/>
          <p:nvPr/>
        </p:nvSpPr>
        <p:spPr>
          <a:xfrm rot="0">
            <a:off x="1028700" y="1901213"/>
            <a:ext cx="16230600" cy="6127750"/>
          </a:xfrm>
          <a:prstGeom prst="rect">
            <a:avLst/>
          </a:prstGeom>
        </p:spPr>
        <p:txBody>
          <a:bodyPr anchor="t" rtlCol="false" tIns="0" lIns="0" bIns="0" rIns="0">
            <a:spAutoFit/>
          </a:bodyPr>
          <a:lstStyle/>
          <a:p>
            <a:pPr algn="l">
              <a:lnSpc>
                <a:spcPts val="3499"/>
              </a:lnSpc>
            </a:pPr>
            <a:r>
              <a:rPr lang="en-US" sz="2499" spc="-117">
                <a:solidFill>
                  <a:srgbClr val="424242"/>
                </a:solidFill>
                <a:latin typeface="Raleway"/>
                <a:ea typeface="Raleway"/>
                <a:cs typeface="Raleway"/>
                <a:sym typeface="Raleway"/>
              </a:rPr>
              <a:t>Bu ünite boyunca programlamanın temel yapı taşlarını, Python dilinin çalışma prensiplerini ve veri işleme süreçlerini derinlemesine öğrendiniz. İşte bu ünitede edindiğiniz kazanımların kapsamlı bir özeti:</a:t>
            </a:r>
          </a:p>
          <a:p>
            <a:pPr algn="l">
              <a:lnSpc>
                <a:spcPts val="3499"/>
              </a:lnSpc>
            </a:pPr>
          </a:p>
          <a:p>
            <a:pPr algn="l">
              <a:lnSpc>
                <a:spcPts val="3499"/>
              </a:lnSpc>
            </a:pPr>
            <a:r>
              <a:rPr lang="en-US" sz="2499" spc="-117" b="true">
                <a:solidFill>
                  <a:srgbClr val="424242"/>
                </a:solidFill>
                <a:latin typeface="Raleway Semi-Bold"/>
                <a:ea typeface="Raleway Semi-Bold"/>
                <a:cs typeface="Raleway Semi-Bold"/>
                <a:sym typeface="Raleway Semi-Bold"/>
              </a:rPr>
              <a:t>1. Programlama Dilleri ve Çalışma Mantığı:</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Program</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yazılım</a:t>
            </a:r>
            <a:r>
              <a:rPr lang="en-US" sz="2499" spc="-117">
                <a:solidFill>
                  <a:srgbClr val="424242"/>
                </a:solidFill>
                <a:latin typeface="Raleway"/>
                <a:ea typeface="Raleway"/>
                <a:cs typeface="Raleway"/>
                <a:sym typeface="Raleway"/>
              </a:rPr>
              <a:t> kavramları arasındaki farkı (program sıralı komutlar dizisi, yazılım ise belgeleri ve kütüphaneleri de kapsayan bütüncül yapı)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Programlama dillerinin seviyelerini</a:t>
            </a:r>
            <a:r>
              <a:rPr lang="en-US" sz="2499" spc="-117">
                <a:solidFill>
                  <a:srgbClr val="424242"/>
                </a:solidFill>
                <a:latin typeface="Raleway"/>
                <a:ea typeface="Raleway"/>
                <a:cs typeface="Raleway"/>
                <a:sym typeface="Raleway"/>
              </a:rPr>
              <a:t> (düşük seviyeli Assembly, orta seviyeli C/C++, yüksek seviyeli Python) ve bu seviyelerin anlaşılırlık, hız, donanım kontrolü ve taşınabilirlik açısından farklarını kavradınız.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Derleyici</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yorumlayıcı</a:t>
            </a:r>
            <a:r>
              <a:rPr lang="en-US" sz="2499" spc="-117">
                <a:solidFill>
                  <a:srgbClr val="424242"/>
                </a:solidFill>
                <a:latin typeface="Raleway"/>
                <a:ea typeface="Raleway"/>
                <a:cs typeface="Raleway"/>
                <a:sym typeface="Raleway"/>
              </a:rPr>
              <a:t> arasındaki temel farkı öğrendiniz: Derleyici kodu bir bütün olarak makine diline çevirir ve hata varsa hiç çalıştırmaz; yorumlayıcı ise kodu satır satır okuyup çalıştırır ve hatanın olduğu satıra gelene kadar önceki satırları çalıştırır.</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Python</a:t>
            </a:r>
            <a:r>
              <a:rPr lang="en-US" sz="2499" spc="-117">
                <a:solidFill>
                  <a:srgbClr val="424242"/>
                </a:solidFill>
                <a:latin typeface="Raleway"/>
                <a:ea typeface="Raleway"/>
                <a:cs typeface="Raleway"/>
                <a:sym typeface="Raleway"/>
              </a:rPr>
              <a:t> dilinin özelliklerini (yüksek seviyeli, yorumlanabilen, geniş kütüphane desteği) ve tarihsel kökenlerini (Guido van Rossum, 1991) öğrendiniz.</a:t>
            </a:r>
          </a:p>
          <a:p>
            <a:pPr algn="l">
              <a:lnSpc>
                <a:spcPts val="3499"/>
              </a:lnSpc>
            </a:pPr>
          </a:p>
        </p:txBody>
      </p:sp>
    </p:spTree>
  </p:cSld>
  <p:clrMapOvr>
    <a:masterClrMapping/>
  </p:clrMapOvr>
</p:sld>
</file>

<file path=ppt/slides/slide152.xml><?xml version="1.0" encoding="utf-8"?>
<p:sld xmlns:p="http://schemas.openxmlformats.org/presentationml/2006/main" xmlns:a="http://schemas.openxmlformats.org/drawingml/2006/main" xmlns:r="http://schemas.openxmlformats.org/officeDocument/2006/relationships">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91948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Semi-Bold"/>
                <a:ea typeface="Raleway Semi-Bold"/>
                <a:cs typeface="Raleway Semi-Bold"/>
                <a:sym typeface="Raleway Semi-Bold"/>
              </a:rPr>
              <a:t>2. Geliştirme Ortamları ve Kurulum:</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Python'ı resmî kaynaktan (</a:t>
            </a:r>
            <a:r>
              <a:rPr lang="en-US" sz="2499" spc="-117" u="sng">
                <a:solidFill>
                  <a:srgbClr val="424242"/>
                </a:solidFill>
                <a:latin typeface="Raleway"/>
                <a:ea typeface="Raleway"/>
                <a:cs typeface="Raleway"/>
                <a:sym typeface="Raleway"/>
                <a:hlinkClick r:id="rId2" tooltip="https://python.org"/>
              </a:rPr>
              <a:t>python.org</a:t>
            </a:r>
            <a:r>
              <a:rPr lang="en-US" sz="2499" spc="-117">
                <a:solidFill>
                  <a:srgbClr val="424242"/>
                </a:solidFill>
                <a:latin typeface="Raleway"/>
                <a:ea typeface="Raleway"/>
                <a:cs typeface="Raleway"/>
                <a:sym typeface="Raleway"/>
              </a:rPr>
              <a:t>) güvenle indirip kurmayı ve Add python.exe to PATH seçeneğinin önemini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Etkileşimli Kabuk (Interactive Shell)</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IDLE</a:t>
            </a:r>
            <a:r>
              <a:rPr lang="en-US" sz="2499" spc="-117">
                <a:solidFill>
                  <a:srgbClr val="424242"/>
                </a:solidFill>
                <a:latin typeface="Raleway"/>
                <a:ea typeface="Raleway"/>
                <a:cs typeface="Raleway"/>
                <a:sym typeface="Raleway"/>
              </a:rPr>
              <a:t> arasındaki farkı, hangi durumlarda hangisini kullanmanız gerektiğini kavradınız.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Kaynak Kod Editörleri</a:t>
            </a:r>
            <a:r>
              <a:rPr lang="en-US" sz="2499" spc="-117">
                <a:solidFill>
                  <a:srgbClr val="424242"/>
                </a:solidFill>
                <a:latin typeface="Raleway"/>
                <a:ea typeface="Raleway"/>
                <a:cs typeface="Raleway"/>
                <a:sym typeface="Raleway"/>
              </a:rPr>
              <a:t> (VS Code) ve </a:t>
            </a:r>
            <a:r>
              <a:rPr lang="en-US" b="true" sz="2499" spc="-117">
                <a:solidFill>
                  <a:srgbClr val="424242"/>
                </a:solidFill>
                <a:latin typeface="Raleway Semi-Bold"/>
                <a:ea typeface="Raleway Semi-Bold"/>
                <a:cs typeface="Raleway Semi-Bold"/>
                <a:sym typeface="Raleway Semi-Bold"/>
              </a:rPr>
              <a:t>IDE</a:t>
            </a:r>
            <a:r>
              <a:rPr lang="en-US" sz="2499" spc="-117">
                <a:solidFill>
                  <a:srgbClr val="424242"/>
                </a:solidFill>
                <a:latin typeface="Raleway"/>
                <a:ea typeface="Raleway"/>
                <a:cs typeface="Raleway"/>
                <a:sym typeface="Raleway"/>
              </a:rPr>
              <a:t> (PyCharm) arasındaki farkları, akıllı kod tamamlama, söz dizimi denetimi ve proje yönetimi gibi özellikleri öğrendiniz.</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VS Code kurulumunu yapmayı, Python eklentisini eklemeyi ve projeyi GitHub'a yüklemeyi deneyimlediniz.</a:t>
            </a:r>
          </a:p>
          <a:p>
            <a:pPr algn="l">
              <a:lnSpc>
                <a:spcPts val="3499"/>
              </a:lnSpc>
            </a:pPr>
          </a:p>
          <a:p>
            <a:pPr algn="l">
              <a:lnSpc>
                <a:spcPts val="3499"/>
              </a:lnSpc>
            </a:pPr>
            <a:r>
              <a:rPr lang="en-US" sz="2499" spc="-117" b="true">
                <a:solidFill>
                  <a:srgbClr val="424242"/>
                </a:solidFill>
                <a:latin typeface="Raleway Semi-Bold"/>
                <a:ea typeface="Raleway Semi-Bold"/>
                <a:cs typeface="Raleway Semi-Bold"/>
                <a:sym typeface="Raleway Semi-Bold"/>
              </a:rPr>
              <a:t>3. Değişkenler, Sabitler ve Veri Türleri:</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Değişken</a:t>
            </a:r>
            <a:r>
              <a:rPr lang="en-US" sz="2499" spc="-117">
                <a:solidFill>
                  <a:srgbClr val="424242"/>
                </a:solidFill>
                <a:latin typeface="Raleway"/>
                <a:ea typeface="Raleway"/>
                <a:cs typeface="Raleway"/>
                <a:sym typeface="Raleway"/>
              </a:rPr>
              <a:t> kavramını ve </a:t>
            </a:r>
            <a:r>
              <a:rPr lang="en-US" b="true" sz="2499" spc="-117">
                <a:solidFill>
                  <a:srgbClr val="424242"/>
                </a:solidFill>
                <a:latin typeface="Raleway Semi-Bold"/>
                <a:ea typeface="Raleway Semi-Bold"/>
                <a:cs typeface="Raleway Semi-Bold"/>
                <a:sym typeface="Raleway Semi-Bold"/>
              </a:rPr>
              <a:t>değişken tanımlama kurallarını</a:t>
            </a:r>
            <a:r>
              <a:rPr lang="en-US" sz="2499" spc="-117">
                <a:solidFill>
                  <a:srgbClr val="424242"/>
                </a:solidFill>
                <a:latin typeface="Raleway"/>
                <a:ea typeface="Raleway"/>
                <a:cs typeface="Raleway"/>
                <a:sym typeface="Raleway"/>
              </a:rPr>
              <a:t> (rakamla başlayamaz, boşluk içeremez, özel sembol barındıramaz, büyük-küçük harf duyarlıdır)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Yılan Gösterimi (snake_case)</a:t>
            </a:r>
            <a:r>
              <a:rPr lang="en-US" sz="2499" spc="-117">
                <a:solidFill>
                  <a:srgbClr val="424242"/>
                </a:solidFill>
                <a:latin typeface="Raleway"/>
                <a:ea typeface="Raleway"/>
                <a:cs typeface="Raleway"/>
                <a:sym typeface="Raleway"/>
              </a:rPr>
              <a:t> ve </a:t>
            </a:r>
            <a:r>
              <a:rPr lang="en-US" b="true" sz="2499" spc="-117">
                <a:solidFill>
                  <a:srgbClr val="424242"/>
                </a:solidFill>
                <a:latin typeface="Raleway Semi-Bold"/>
                <a:ea typeface="Raleway Semi-Bold"/>
                <a:cs typeface="Raleway Semi-Bold"/>
                <a:sym typeface="Raleway Semi-Bold"/>
              </a:rPr>
              <a:t>Deve Gösterimi (camelCase)</a:t>
            </a:r>
            <a:r>
              <a:rPr lang="en-US" sz="2499" spc="-117">
                <a:solidFill>
                  <a:srgbClr val="424242"/>
                </a:solidFill>
                <a:latin typeface="Raleway"/>
                <a:ea typeface="Raleway"/>
                <a:cs typeface="Raleway"/>
                <a:sym typeface="Raleway"/>
              </a:rPr>
              <a:t> arasındaki farkı, Python'da hangisinin tercih edildiğini ve nedenini (PEP 8) kavradınız.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Sabit (constant)</a:t>
            </a:r>
            <a:r>
              <a:rPr lang="en-US" sz="2499" spc="-117">
                <a:solidFill>
                  <a:srgbClr val="424242"/>
                </a:solidFill>
                <a:latin typeface="Raleway"/>
                <a:ea typeface="Raleway"/>
                <a:cs typeface="Raleway"/>
                <a:sym typeface="Raleway"/>
              </a:rPr>
              <a:t> kavramını, Python'da katı bir const mekanizması olmadığını ancak büyük harf ve alt çizgi kuralıyla (MAKSIMUM_DENEME) sabitlerin belirtildiğini öğrendiniz.</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Dört temel </a:t>
            </a:r>
            <a:r>
              <a:rPr lang="en-US" b="true" sz="2499" spc="-117">
                <a:solidFill>
                  <a:srgbClr val="424242"/>
                </a:solidFill>
                <a:latin typeface="Raleway Semi-Bold"/>
                <a:ea typeface="Raleway Semi-Bold"/>
                <a:cs typeface="Raleway Semi-Bold"/>
                <a:sym typeface="Raleway Semi-Bold"/>
              </a:rPr>
              <a:t>veri türünü</a:t>
            </a:r>
            <a:r>
              <a:rPr lang="en-US" sz="2499" spc="-117">
                <a:solidFill>
                  <a:srgbClr val="424242"/>
                </a:solidFill>
                <a:latin typeface="Raleway"/>
                <a:ea typeface="Raleway"/>
                <a:cs typeface="Raleway"/>
                <a:sym typeface="Raleway"/>
              </a:rPr>
              <a:t> (int, float, str, bool) ve bu türlerin hangi verileri sakladığını, type() fonksiyonuyla nasıl denetlendiğini öğrendiniz.</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Python'un </a:t>
            </a:r>
            <a:r>
              <a:rPr lang="en-US" b="true" sz="2499" spc="-117">
                <a:solidFill>
                  <a:srgbClr val="424242"/>
                </a:solidFill>
                <a:latin typeface="Raleway Semi-Bold"/>
                <a:ea typeface="Raleway Semi-Bold"/>
                <a:cs typeface="Raleway Semi-Bold"/>
                <a:sym typeface="Raleway Semi-Bold"/>
              </a:rPr>
              <a:t>dinamik tipli</a:t>
            </a:r>
            <a:r>
              <a:rPr lang="en-US" sz="2499" spc="-117">
                <a:solidFill>
                  <a:srgbClr val="424242"/>
                </a:solidFill>
                <a:latin typeface="Raleway"/>
                <a:ea typeface="Raleway"/>
                <a:cs typeface="Raleway"/>
                <a:sym typeface="Raleway"/>
              </a:rPr>
              <a:t> bir dil olduğunu, yani bir değişkenin veri türünün atanan değere göre otomatik belirlendiğini ve değişebileceğini kavradınız.</a:t>
            </a:r>
          </a:p>
          <a:p>
            <a:pPr algn="l">
              <a:lnSpc>
                <a:spcPts val="3499"/>
              </a:lnSpc>
            </a:pPr>
          </a:p>
        </p:txBody>
      </p:sp>
    </p:spTree>
  </p:cSld>
  <p:clrMapOvr>
    <a:masterClrMapping/>
  </p:clrMapOvr>
</p:sld>
</file>

<file path=ppt/slides/slide153.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744220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Semi-Bold"/>
                <a:ea typeface="Raleway Semi-Bold"/>
                <a:cs typeface="Raleway Semi-Bold"/>
                <a:sym typeface="Raleway Semi-Bold"/>
              </a:rPr>
              <a:t>4. Kullanıcı Etkileşimi ve Tür Dönüşümü:</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input()</a:t>
            </a:r>
            <a:r>
              <a:rPr lang="en-US" sz="2499" spc="-117">
                <a:solidFill>
                  <a:srgbClr val="424242"/>
                </a:solidFill>
                <a:latin typeface="Raleway"/>
                <a:ea typeface="Raleway"/>
                <a:cs typeface="Raleway"/>
                <a:sym typeface="Raleway"/>
              </a:rPr>
              <a:t> fonksiyonunun çalışma mantığını (akışı durdurma, girdi bekleme, veriyi str türünde döndürme)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print()</a:t>
            </a:r>
            <a:r>
              <a:rPr lang="en-US" sz="2499" spc="-117">
                <a:solidFill>
                  <a:srgbClr val="424242"/>
                </a:solidFill>
                <a:latin typeface="Raleway"/>
                <a:ea typeface="Raleway"/>
                <a:cs typeface="Raleway"/>
                <a:sym typeface="Raleway"/>
              </a:rPr>
              <a:t> fonksiyonunun farklı kullanım biçimlerini (virgülle ayırma, + ile birleştirme, f-String) ve sep / end parametrelerinin işlevlerini kavradınız.</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input() ile alınan verilerin varsayılan olarak metinsel (str) olduğunu ve sayısal işlemler için int() veya float() fonksiyonlarıyla dönüştürülmesi gerektiğini deneyimlediniz.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Tür dönüşüm fonksiyonlarını</a:t>
            </a:r>
            <a:r>
              <a:rPr lang="en-US" sz="2499" spc="-117">
                <a:solidFill>
                  <a:srgbClr val="424242"/>
                </a:solidFill>
                <a:latin typeface="Raleway"/>
                <a:ea typeface="Raleway"/>
                <a:cs typeface="Raleway"/>
                <a:sym typeface="Raleway"/>
              </a:rPr>
              <a:t> (int(), float(), str(), bool()) ve sınır durumlarını (örneğin int("99.9") hata verirken int(float("99.9")) çalışır) öğrendiniz.</a:t>
            </a:r>
          </a:p>
          <a:p>
            <a:pPr algn="l">
              <a:lnSpc>
                <a:spcPts val="3499"/>
              </a:lnSpc>
            </a:pPr>
          </a:p>
          <a:p>
            <a:pPr algn="l">
              <a:lnSpc>
                <a:spcPts val="3499"/>
              </a:lnSpc>
            </a:pPr>
            <a:r>
              <a:rPr lang="en-US" sz="2499" spc="-117" b="true">
                <a:solidFill>
                  <a:srgbClr val="424242"/>
                </a:solidFill>
                <a:latin typeface="Raleway Semi-Bold"/>
                <a:ea typeface="Raleway Semi-Bold"/>
                <a:cs typeface="Raleway Semi-Bold"/>
                <a:sym typeface="Raleway Semi-Bold"/>
              </a:rPr>
              <a:t>5. Operatörler ve İşlem Önceliği:</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Aritmetik operatörleri</a:t>
            </a:r>
            <a:r>
              <a:rPr lang="en-US" sz="2499" spc="-117">
                <a:solidFill>
                  <a:srgbClr val="424242"/>
                </a:solidFill>
                <a:latin typeface="Raleway"/>
                <a:ea typeface="Raleway"/>
                <a:cs typeface="Raleway"/>
                <a:sym typeface="Raleway"/>
              </a:rPr>
              <a:t> (+, -, *, /, //, %, **) ve bunların bellek davranışlarını (bölmenin her zaman float üretmesi, tam bölmenin ondalık kısmı atması)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Karşılaştırma operatörlerini</a:t>
            </a:r>
            <a:r>
              <a:rPr lang="en-US" sz="2499" spc="-117">
                <a:solidFill>
                  <a:srgbClr val="424242"/>
                </a:solidFill>
                <a:latin typeface="Raleway"/>
                <a:ea typeface="Raleway"/>
                <a:cs typeface="Raleway"/>
                <a:sym typeface="Raleway"/>
              </a:rPr>
              <a:t> (==, !=, &gt;, &lt;, &gt;=, &lt;=) ve bu operatörlerin her zaman bool (True/False) değeri ürettiğini kavradınız.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Mantıksal operatörleri</a:t>
            </a:r>
            <a:r>
              <a:rPr lang="en-US" sz="2499" spc="-117">
                <a:solidFill>
                  <a:srgbClr val="424242"/>
                </a:solidFill>
                <a:latin typeface="Raleway"/>
                <a:ea typeface="Raleway"/>
                <a:cs typeface="Raleway"/>
                <a:sym typeface="Raleway"/>
              </a:rPr>
              <a:t> (and, or, not) ve birleşik koşulların nasıl değerlendirildiğini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İşlem önceliği</a:t>
            </a:r>
            <a:r>
              <a:rPr lang="en-US" sz="2499" spc="-117">
                <a:solidFill>
                  <a:srgbClr val="424242"/>
                </a:solidFill>
                <a:latin typeface="Raleway"/>
                <a:ea typeface="Raleway"/>
                <a:cs typeface="Raleway"/>
                <a:sym typeface="Raleway"/>
              </a:rPr>
              <a:t> kurallarını (parantez &gt; üs alma &gt; çarpma/bölme &gt; toplama/çıkarma &gt; karşılaştırma &gt; mantıksal) ve bu kuralların göz ardı edilmesinin mantık hatalarına yol açacağını gördünüz.</a:t>
            </a:r>
          </a:p>
          <a:p>
            <a:pPr algn="l">
              <a:lnSpc>
                <a:spcPts val="3499"/>
              </a:lnSpc>
            </a:pPr>
          </a:p>
        </p:txBody>
      </p:sp>
    </p:spTree>
  </p:cSld>
  <p:clrMapOvr>
    <a:masterClrMapping/>
  </p:clrMapOvr>
</p:sld>
</file>

<file path=ppt/slides/slide154.xml><?xml version="1.0" encoding="utf-8"?>
<p:sld xmlns:p="http://schemas.openxmlformats.org/presentationml/2006/main" xmlns:a="http://schemas.openxmlformats.org/drawingml/2006/main">
  <p:cSld>
    <p:bg>
      <p:bgPr>
        <a:solidFill>
          <a:srgbClr val="F9FCFF"/>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230600" cy="4375150"/>
          </a:xfrm>
          <a:prstGeom prst="rect">
            <a:avLst/>
          </a:prstGeom>
        </p:spPr>
        <p:txBody>
          <a:bodyPr anchor="t" rtlCol="false" tIns="0" lIns="0" bIns="0" rIns="0">
            <a:spAutoFit/>
          </a:bodyPr>
          <a:lstStyle/>
          <a:p>
            <a:pPr algn="l">
              <a:lnSpc>
                <a:spcPts val="3499"/>
              </a:lnSpc>
            </a:pPr>
            <a:r>
              <a:rPr lang="en-US" sz="2499" spc="-117" b="true">
                <a:solidFill>
                  <a:srgbClr val="424242"/>
                </a:solidFill>
                <a:latin typeface="Raleway Semi-Bold"/>
                <a:ea typeface="Raleway Semi-Bold"/>
                <a:cs typeface="Raleway Semi-Bold"/>
                <a:sym typeface="Raleway Semi-Bold"/>
              </a:rPr>
              <a:t>6. Yapay Zekâ ve Etik:</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Yapay zekâ araçlarının bir </a:t>
            </a:r>
            <a:r>
              <a:rPr lang="en-US" b="true" sz="2499" spc="-117">
                <a:solidFill>
                  <a:srgbClr val="424242"/>
                </a:solidFill>
                <a:latin typeface="Raleway Semi-Bold"/>
                <a:ea typeface="Raleway Semi-Bold"/>
                <a:cs typeface="Raleway Semi-Bold"/>
                <a:sym typeface="Raleway Semi-Bold"/>
              </a:rPr>
              <a:t>eş-geliştirici (pair-programmer)</a:t>
            </a:r>
            <a:r>
              <a:rPr lang="en-US" sz="2499" spc="-117">
                <a:solidFill>
                  <a:srgbClr val="424242"/>
                </a:solidFill>
                <a:latin typeface="Raleway"/>
                <a:ea typeface="Raleway"/>
                <a:cs typeface="Raleway"/>
                <a:sym typeface="Raleway"/>
              </a:rPr>
              <a:t> olarak nasıl kullanılabileceğini, ancak ürettikleri çıktıların her zaman </a:t>
            </a:r>
            <a:r>
              <a:rPr lang="en-US" b="true" sz="2499" spc="-117">
                <a:solidFill>
                  <a:srgbClr val="424242"/>
                </a:solidFill>
                <a:latin typeface="Raleway Semi-Bold"/>
                <a:ea typeface="Raleway Semi-Bold"/>
                <a:cs typeface="Raleway Semi-Bold"/>
                <a:sym typeface="Raleway Semi-Bold"/>
              </a:rPr>
              <a:t>İnsan Denetimi (Human-in-the-Loop)</a:t>
            </a:r>
            <a:r>
              <a:rPr lang="en-US" sz="2499" spc="-117">
                <a:solidFill>
                  <a:srgbClr val="424242"/>
                </a:solidFill>
                <a:latin typeface="Raleway"/>
                <a:ea typeface="Raleway"/>
                <a:cs typeface="Raleway"/>
                <a:sym typeface="Raleway"/>
              </a:rPr>
              <a:t> süzgecinden geçirilmesi gerektiğini öğrendiniz.</a:t>
            </a:r>
          </a:p>
          <a:p>
            <a:pPr algn="l" marL="539749" indent="-269875" lvl="1">
              <a:lnSpc>
                <a:spcPts val="3499"/>
              </a:lnSpc>
              <a:buFont typeface="Arial"/>
              <a:buChar char="•"/>
            </a:pPr>
            <a:r>
              <a:rPr lang="en-US" b="true" sz="2499" spc="-117">
                <a:solidFill>
                  <a:srgbClr val="424242"/>
                </a:solidFill>
                <a:latin typeface="Raleway Semi-Bold"/>
                <a:ea typeface="Raleway Semi-Bold"/>
                <a:cs typeface="Raleway Semi-Bold"/>
                <a:sym typeface="Raleway Semi-Bold"/>
              </a:rPr>
              <a:t>Yapay zekâ halüsinasyonu</a:t>
            </a:r>
            <a:r>
              <a:rPr lang="en-US" sz="2499" spc="-117">
                <a:solidFill>
                  <a:srgbClr val="424242"/>
                </a:solidFill>
                <a:latin typeface="Raleway"/>
                <a:ea typeface="Raleway"/>
                <a:cs typeface="Raleway"/>
                <a:sym typeface="Raleway"/>
              </a:rPr>
              <a:t> kavramını (gerçekte var olmayan komutları varmış gibi üretme) ve bu durumun yaratabileceği riskleri kavradınız.</a:t>
            </a:r>
          </a:p>
          <a:p>
            <a:pPr algn="l" marL="539749" indent="-269875" lvl="1">
              <a:lnSpc>
                <a:spcPts val="3499"/>
              </a:lnSpc>
              <a:buFont typeface="Arial"/>
              <a:buChar char="•"/>
            </a:pPr>
            <a:r>
              <a:rPr lang="en-US" sz="2499" spc="-117">
                <a:solidFill>
                  <a:srgbClr val="424242"/>
                </a:solidFill>
                <a:latin typeface="Raleway"/>
                <a:ea typeface="Raleway"/>
                <a:cs typeface="Raleway"/>
                <a:sym typeface="Raleway"/>
              </a:rPr>
              <a:t>Yapay zekâ destekli yazılım geliştirmede </a:t>
            </a:r>
            <a:r>
              <a:rPr lang="en-US" b="true" sz="2499" spc="-117">
                <a:solidFill>
                  <a:srgbClr val="424242"/>
                </a:solidFill>
                <a:latin typeface="Raleway Semi-Bold"/>
                <a:ea typeface="Raleway Semi-Bold"/>
                <a:cs typeface="Raleway Semi-Bold"/>
                <a:sym typeface="Raleway Semi-Bold"/>
              </a:rPr>
              <a:t>sorumluluk sınırını</a:t>
            </a:r>
            <a:r>
              <a:rPr lang="en-US" sz="2499" spc="-117">
                <a:solidFill>
                  <a:srgbClr val="424242"/>
                </a:solidFill>
                <a:latin typeface="Raleway"/>
                <a:ea typeface="Raleway"/>
                <a:cs typeface="Raleway"/>
                <a:sym typeface="Raleway"/>
              </a:rPr>
              <a:t> (kodun kararlı çalışmasından doğrudan yazılımcının sorumlu olması) öğrendiniz.</a:t>
            </a:r>
          </a:p>
          <a:p>
            <a:pPr algn="l">
              <a:lnSpc>
                <a:spcPts val="3499"/>
              </a:lnSpc>
            </a:pPr>
            <a:r>
              <a:rPr lang="en-US" sz="2499" spc="-117">
                <a:solidFill>
                  <a:srgbClr val="424242"/>
                </a:solidFill>
                <a:latin typeface="Raleway"/>
                <a:ea typeface="Raleway"/>
                <a:cs typeface="Raleway"/>
                <a:sym typeface="Raleway"/>
              </a:rPr>
              <a:t>Bu ünitede edindiğiniz tüm bu bilgi ve beceriler, dönem boyunca geliştireceğiniz </a:t>
            </a:r>
            <a:r>
              <a:rPr lang="en-US" sz="2499" spc="-117" b="true">
                <a:solidFill>
                  <a:srgbClr val="424242"/>
                </a:solidFill>
                <a:latin typeface="Raleway Semi-Bold"/>
                <a:ea typeface="Raleway Semi-Bold"/>
                <a:cs typeface="Raleway Semi-Bold"/>
                <a:sym typeface="Raleway Semi-Bold"/>
              </a:rPr>
              <a:t>Kod-Asistan</a:t>
            </a:r>
            <a:r>
              <a:rPr lang="en-US" sz="2499" spc="-117">
                <a:solidFill>
                  <a:srgbClr val="424242"/>
                </a:solidFill>
                <a:latin typeface="Raleway"/>
                <a:ea typeface="Raleway"/>
                <a:cs typeface="Raleway"/>
                <a:sym typeface="Raleway"/>
              </a:rPr>
              <a:t> projesinin sağlam bir temele oturmasını sağlayacak ve gelecekteki tüm programlama serüveniniz için size yol gösterecektir.</a:t>
            </a:r>
          </a:p>
          <a:p>
            <a:pPr algn="l">
              <a:lnSpc>
                <a:spcPts val="349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DAHX_FIifac</dc:identifier>
  <dcterms:modified xsi:type="dcterms:W3CDTF">2011-08-01T06:04:30Z</dcterms:modified>
  <cp:revision>1</cp:revision>
  <dc:title>Programlama Temelleri</dc:title>
</cp:coreProperties>
</file>